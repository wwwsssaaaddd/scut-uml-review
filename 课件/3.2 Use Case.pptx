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bookmarkIdSeed="2">
  <p:sldMasterIdLst>
    <p:sldMasterId id="2147483824" r:id="rId6"/>
  </p:sldMasterIdLst>
  <p:notesMasterIdLst>
    <p:notesMasterId r:id="rId51"/>
  </p:notesMasterIdLst>
  <p:handoutMasterIdLst>
    <p:handoutMasterId r:id="rId52"/>
  </p:handoutMasterIdLst>
  <p:sldIdLst>
    <p:sldId id="256" r:id="rId7"/>
    <p:sldId id="288" r:id="rId8"/>
    <p:sldId id="317" r:id="rId9"/>
    <p:sldId id="385" r:id="rId10"/>
    <p:sldId id="345" r:id="rId11"/>
    <p:sldId id="399" r:id="rId12"/>
    <p:sldId id="398" r:id="rId13"/>
    <p:sldId id="383" r:id="rId14"/>
    <p:sldId id="357" r:id="rId15"/>
    <p:sldId id="390" r:id="rId16"/>
    <p:sldId id="387" r:id="rId17"/>
    <p:sldId id="388" r:id="rId18"/>
    <p:sldId id="400" r:id="rId19"/>
    <p:sldId id="396" r:id="rId20"/>
    <p:sldId id="389" r:id="rId21"/>
    <p:sldId id="358" r:id="rId22"/>
    <p:sldId id="361" r:id="rId23"/>
    <p:sldId id="401" r:id="rId24"/>
    <p:sldId id="394" r:id="rId25"/>
    <p:sldId id="391" r:id="rId26"/>
    <p:sldId id="392" r:id="rId27"/>
    <p:sldId id="393" r:id="rId28"/>
    <p:sldId id="379" r:id="rId29"/>
    <p:sldId id="380" r:id="rId30"/>
    <p:sldId id="402" r:id="rId31"/>
    <p:sldId id="350" r:id="rId32"/>
    <p:sldId id="351" r:id="rId33"/>
    <p:sldId id="352" r:id="rId34"/>
    <p:sldId id="405" r:id="rId35"/>
    <p:sldId id="354" r:id="rId36"/>
    <p:sldId id="355" r:id="rId37"/>
    <p:sldId id="403" r:id="rId38"/>
    <p:sldId id="348" r:id="rId39"/>
    <p:sldId id="346" r:id="rId40"/>
    <p:sldId id="347" r:id="rId41"/>
    <p:sldId id="381" r:id="rId42"/>
    <p:sldId id="404" r:id="rId43"/>
    <p:sldId id="371" r:id="rId44"/>
    <p:sldId id="372" r:id="rId45"/>
    <p:sldId id="377" r:id="rId46"/>
    <p:sldId id="373" r:id="rId47"/>
    <p:sldId id="378" r:id="rId48"/>
    <p:sldId id="333" r:id="rId49"/>
    <p:sldId id="273" r:id="rId5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DEAF3"/>
    <a:srgbClr val="5B9BD5"/>
    <a:srgbClr val="000000"/>
    <a:srgbClr val="5583AC"/>
    <a:srgbClr val="C9C9C9"/>
    <a:srgbClr val="F2F2F2"/>
    <a:srgbClr val="DDDDDD"/>
    <a:srgbClr val="7F9EB8"/>
    <a:srgbClr val="4286BF"/>
    <a:srgbClr val="739F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94818" autoAdjust="0"/>
  </p:normalViewPr>
  <p:slideViewPr>
    <p:cSldViewPr>
      <p:cViewPr varScale="1">
        <p:scale>
          <a:sx n="107" d="100"/>
          <a:sy n="107" d="100"/>
        </p:scale>
        <p:origin x="174" y="588"/>
      </p:cViewPr>
      <p:guideLst>
        <p:guide orient="horz" pos="2160"/>
        <p:guide pos="3840"/>
      </p:guideLst>
    </p:cSldViewPr>
  </p:slideViewPr>
  <p:notesTextViewPr>
    <p:cViewPr>
      <p:scale>
        <a:sx n="200" d="100"/>
        <a:sy n="200" d="100"/>
      </p:scale>
      <p:origin x="0" y="0"/>
    </p:cViewPr>
  </p:notesTextViewPr>
  <p:sorterViewPr>
    <p:cViewPr>
      <p:scale>
        <a:sx n="100" d="100"/>
        <a:sy n="100" d="100"/>
      </p:scale>
      <p:origin x="0" y="-7266"/>
    </p:cViewPr>
  </p:sorterViewPr>
  <p:notesViewPr>
    <p:cSldViewPr>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8EA1D00-F704-410D-8822-8E7F2FD0F3F4}" type="datetimeFigureOut">
              <a:rPr lang="zh-CN" altLang="en-US"/>
              <a:pPr>
                <a:defRPr/>
              </a:pPr>
              <a:t>2026/3/25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310FA45-57B3-46FF-9187-A5D22EEEA9F9}" type="slidenum">
              <a:rPr lang="zh-CN" altLang="en-US"/>
              <a:pPr>
                <a:defRPr/>
              </a:pPr>
              <a:t>‹#›</a:t>
            </a:fld>
            <a:endParaRPr lang="zh-CN" altLang="en-US"/>
          </a:p>
        </p:txBody>
      </p:sp>
    </p:spTree>
    <p:extLst>
      <p:ext uri="{BB962C8B-B14F-4D97-AF65-F5344CB8AC3E}">
        <p14:creationId xmlns:p14="http://schemas.microsoft.com/office/powerpoint/2010/main" val="40760340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25814F6A-3EEF-4727-864D-CF28325BAA64}" type="datetimeFigureOut">
              <a:rPr lang="zh-CN" altLang="en-US"/>
              <a:pPr>
                <a:defRPr/>
              </a:pPr>
              <a:t>2026/3/25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EE2F72D-D5C7-4DF3-B4ED-3587E774A382}" type="slidenum">
              <a:rPr lang="zh-CN" altLang="en-US"/>
              <a:pPr>
                <a:defRPr/>
              </a:pPr>
              <a:t>‹#›</a:t>
            </a:fld>
            <a:endParaRPr lang="zh-CN" altLang="en-US"/>
          </a:p>
        </p:txBody>
      </p:sp>
    </p:spTree>
    <p:extLst>
      <p:ext uri="{BB962C8B-B14F-4D97-AF65-F5344CB8AC3E}">
        <p14:creationId xmlns:p14="http://schemas.microsoft.com/office/powerpoint/2010/main" val="26081919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mk:@MSITStore:D:\arnold%20&#20010;&#20154;&#36164;&#26009;\XY\&#25945;&#23398;&#25913;&#38761;&#39033;&#30446;\2015\MOOC\MOOC-LLN\&#21442;&#32771;&#20070;\AGILE\Applying%20UML%20and%20Patterns%20An%20Introduction%20to%20Object-Oriented%20Analysis%20and%20Design%20and%20Iterative%20Development%20(3rd%20Edition).chm::/0131489062/biblio01.html#biblio01entry11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这节课，我们一起学习</a:t>
            </a:r>
            <a:endParaRPr lang="en-US" altLang="zh-CN" dirty="0"/>
          </a:p>
          <a:p>
            <a:r>
              <a:rPr lang="zh-CN" altLang="en-US" dirty="0"/>
              <a:t>第 </a:t>
            </a:r>
            <a:r>
              <a:rPr lang="en-US" altLang="zh-CN" dirty="0"/>
              <a:t>3.2 </a:t>
            </a:r>
            <a:r>
              <a:rPr lang="zh-CN" altLang="en-US" dirty="0"/>
              <a:t>章节 第 </a:t>
            </a:r>
            <a:r>
              <a:rPr lang="en-US" altLang="zh-CN" dirty="0"/>
              <a:t>8 </a:t>
            </a:r>
            <a:r>
              <a:rPr lang="zh-CN" altLang="en-US" dirty="0"/>
              <a:t>个知识域，用例</a:t>
            </a:r>
            <a:endParaRPr lang="en-US" altLang="zh-CN" dirty="0">
              <a:solidFill>
                <a:srgbClr val="FF0000"/>
              </a:solidFill>
            </a:endParaRPr>
          </a:p>
          <a:p>
            <a:endParaRPr lang="en-US" altLang="zh-CN" baseline="0" dirty="0">
              <a:solidFill>
                <a:srgbClr val="FF0000"/>
              </a:solidFill>
            </a:endParaRPr>
          </a:p>
          <a:p>
            <a:r>
              <a:rPr lang="en-US" altLang="zh-CN" baseline="0" dirty="0">
                <a:solidFill>
                  <a:srgbClr val="FF0000"/>
                </a:solidFill>
              </a:rPr>
              <a:t>//</a:t>
            </a:r>
            <a:r>
              <a:rPr lang="zh-CN" altLang="en-US" baseline="0" dirty="0">
                <a:solidFill>
                  <a:srgbClr val="FF0000"/>
                </a:solidFill>
              </a:rPr>
              <a:t>下面是备注</a:t>
            </a:r>
            <a:endParaRPr lang="en-US" altLang="zh-CN" baseline="0" dirty="0">
              <a:solidFill>
                <a:srgbClr val="FF0000"/>
              </a:solidFill>
            </a:endParaRPr>
          </a:p>
          <a:p>
            <a:r>
              <a:rPr lang="zh-CN" altLang="en-US" dirty="0"/>
              <a:t>对应课本第 </a:t>
            </a:r>
            <a:r>
              <a:rPr lang="en-US" altLang="zh-CN" dirty="0"/>
              <a:t>6 </a:t>
            </a:r>
            <a:r>
              <a:rPr lang="zh-CN" altLang="en-US" dirty="0"/>
              <a:t>章</a:t>
            </a:r>
            <a:r>
              <a:rPr lang="zh-CN" altLang="en-US" baseline="0" dirty="0"/>
              <a:t> </a:t>
            </a:r>
            <a:r>
              <a:rPr lang="en-US" altLang="zh-CN" baseline="0" dirty="0"/>
              <a:t>P45-75 </a:t>
            </a:r>
          </a:p>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0</a:t>
            </a:fld>
            <a:endParaRPr lang="zh-CN" altLang="en-US"/>
          </a:p>
        </p:txBody>
      </p:sp>
    </p:spTree>
    <p:extLst>
      <p:ext uri="{BB962C8B-B14F-4D97-AF65-F5344CB8AC3E}">
        <p14:creationId xmlns:p14="http://schemas.microsoft.com/office/powerpoint/2010/main" val="2024940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dirty="0"/>
              <a:t>本次课的目标是</a:t>
            </a:r>
            <a:endParaRPr lang="en-US" altLang="zh-CN" dirty="0"/>
          </a:p>
          <a:p>
            <a:pPr marL="0" indent="0">
              <a:buFont typeface="Arial" panose="020B0604020202020204" pitchFamily="34" charset="0"/>
              <a:buNone/>
            </a:pPr>
            <a:r>
              <a:rPr lang="en-US" altLang="zh-CN" dirty="0"/>
              <a:t>1 </a:t>
            </a:r>
            <a:r>
              <a:rPr lang="zh-CN" altLang="en-US" dirty="0"/>
              <a:t>说明基本的需求概念</a:t>
            </a:r>
            <a:endParaRPr lang="en-US" altLang="zh-CN" dirty="0"/>
          </a:p>
          <a:p>
            <a:pPr marL="0" indent="0">
              <a:buFont typeface="Arial" panose="020B0604020202020204" pitchFamily="34" charset="0"/>
              <a:buNone/>
            </a:pPr>
            <a:r>
              <a:rPr lang="zh-CN" altLang="en-US" dirty="0"/>
              <a:t>以及它们如何影响分析与设计</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2 </a:t>
            </a:r>
            <a:r>
              <a:rPr lang="zh-CN" altLang="en-US" dirty="0"/>
              <a:t>作为分析与设计的出发点</a:t>
            </a:r>
            <a:endParaRPr lang="en-US" altLang="zh-CN" dirty="0"/>
          </a:p>
          <a:p>
            <a:pPr marL="0" indent="0">
              <a:buFont typeface="Arial" panose="020B0604020202020204" pitchFamily="34" charset="0"/>
              <a:buNone/>
            </a:pPr>
            <a:r>
              <a:rPr lang="zh-CN" altLang="en-US" dirty="0"/>
              <a:t>展示如何阅读和解释需求制品</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3 </a:t>
            </a:r>
            <a:r>
              <a:rPr lang="zh-CN" altLang="en-US" dirty="0"/>
              <a:t>确定和编写用例</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4 </a:t>
            </a:r>
            <a:r>
              <a:rPr lang="zh-CN" altLang="en-US" dirty="0"/>
              <a:t>使用摘要、非正式和详述等用例形式的基本式样</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5 </a:t>
            </a:r>
            <a:r>
              <a:rPr lang="zh-CN" altLang="en-US" dirty="0"/>
              <a:t>将测试应用于确定适当的用例上</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6 </a:t>
            </a:r>
            <a:r>
              <a:rPr lang="zh-CN" altLang="en-US" dirty="0"/>
              <a:t>将用例分析与迭代开发联系起来</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a:t>
            </a:fld>
            <a:endParaRPr lang="zh-CN" altLang="en-US"/>
          </a:p>
        </p:txBody>
      </p:sp>
    </p:spTree>
    <p:extLst>
      <p:ext uri="{BB962C8B-B14F-4D97-AF65-F5344CB8AC3E}">
        <p14:creationId xmlns:p14="http://schemas.microsoft.com/office/powerpoint/2010/main" val="136269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a:t>
            </a:r>
            <a:endParaRPr lang="en-US" altLang="zh-CN" dirty="0"/>
          </a:p>
          <a:p>
            <a:r>
              <a:rPr lang="zh-CN" altLang="en-US" dirty="0"/>
              <a:t>通过一个摘要形式的用例实例</a:t>
            </a:r>
            <a:endParaRPr lang="en-US" altLang="zh-CN" dirty="0"/>
          </a:p>
          <a:p>
            <a:r>
              <a:rPr lang="zh-CN" altLang="en-US" dirty="0"/>
              <a:t>介绍用例</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a:t>
            </a:fld>
            <a:endParaRPr lang="zh-CN" altLang="en-US"/>
          </a:p>
        </p:txBody>
      </p:sp>
    </p:spTree>
    <p:extLst>
      <p:ext uri="{BB962C8B-B14F-4D97-AF65-F5344CB8AC3E}">
        <p14:creationId xmlns:p14="http://schemas.microsoft.com/office/powerpoint/2010/main" val="2165482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UP</a:t>
            </a:r>
            <a:r>
              <a:rPr lang="en-US" altLang="zh-CN" baseline="0" dirty="0"/>
              <a:t> </a:t>
            </a:r>
            <a:r>
              <a:rPr lang="zh-CN" altLang="en-US" baseline="0" dirty="0"/>
              <a:t>场景下的需求</a:t>
            </a:r>
            <a:endParaRPr lang="en-US" altLang="zh-CN" baseline="0" dirty="0"/>
          </a:p>
          <a:p>
            <a:r>
              <a:rPr lang="zh-CN" altLang="en-US" baseline="0" dirty="0"/>
              <a:t>需求的目的是</a:t>
            </a:r>
            <a:endParaRPr lang="en-US" altLang="zh-CN" baseline="0" dirty="0"/>
          </a:p>
          <a:p>
            <a:r>
              <a:rPr lang="zh-CN" altLang="en-US" baseline="0" dirty="0"/>
              <a:t>建立和维护客户与其它涉众</a:t>
            </a:r>
            <a:endParaRPr lang="en-US" altLang="zh-CN" baseline="0" dirty="0"/>
          </a:p>
          <a:p>
            <a:r>
              <a:rPr lang="zh-CN" altLang="en-US" baseline="0" dirty="0"/>
              <a:t>关于系统应该做什么的协议</a:t>
            </a:r>
            <a:endParaRPr lang="en-US" altLang="zh-CN" baseline="0" dirty="0"/>
          </a:p>
          <a:p>
            <a:endParaRPr lang="en-US" altLang="zh-CN" baseline="0" dirty="0"/>
          </a:p>
          <a:p>
            <a:r>
              <a:rPr lang="zh-CN" altLang="en-US" baseline="0" dirty="0"/>
              <a:t>为系统开发者提供</a:t>
            </a:r>
            <a:endParaRPr lang="en-US" altLang="zh-CN" baseline="0" dirty="0"/>
          </a:p>
          <a:p>
            <a:r>
              <a:rPr lang="zh-CN" altLang="en-US" baseline="0" dirty="0"/>
              <a:t>对系统需求更好的理解</a:t>
            </a:r>
            <a:endParaRPr lang="en-US" altLang="zh-CN" baseline="0" dirty="0"/>
          </a:p>
          <a:p>
            <a:endParaRPr lang="en-US" altLang="zh-CN" baseline="0" dirty="0"/>
          </a:p>
          <a:p>
            <a:r>
              <a:rPr lang="zh-CN" altLang="en-US" baseline="0" dirty="0"/>
              <a:t>界定系统的范围</a:t>
            </a:r>
            <a:endParaRPr lang="en-US" altLang="zh-CN" baseline="0" dirty="0"/>
          </a:p>
          <a:p>
            <a:endParaRPr lang="en-US" altLang="zh-CN" baseline="0" dirty="0"/>
          </a:p>
          <a:p>
            <a:r>
              <a:rPr lang="zh-CN" altLang="en-US" baseline="0" dirty="0"/>
              <a:t>提供规划迭代技术内容的基础</a:t>
            </a:r>
            <a:endParaRPr lang="en-US" altLang="zh-CN" baseline="0" dirty="0"/>
          </a:p>
          <a:p>
            <a:endParaRPr lang="en-US" altLang="zh-CN" baseline="0" dirty="0"/>
          </a:p>
          <a:p>
            <a:r>
              <a:rPr lang="zh-CN" altLang="en-US" baseline="0" dirty="0"/>
              <a:t>定义系统的用户界面</a:t>
            </a:r>
            <a:endParaRPr lang="en-US" altLang="zh-CN" baseline="0" dirty="0"/>
          </a:p>
          <a:p>
            <a:endParaRPr lang="en-US" altLang="zh-CN" baseline="0" dirty="0"/>
          </a:p>
          <a:p>
            <a:r>
              <a:rPr lang="en-US" altLang="zh-CN" baseline="0" dirty="0"/>
              <a:t>UP</a:t>
            </a:r>
            <a:r>
              <a:rPr lang="zh-CN" altLang="en-US" baseline="0" dirty="0"/>
              <a:t>在需求科目中定义了</a:t>
            </a:r>
            <a:endParaRPr lang="en-US" altLang="zh-CN" baseline="0" dirty="0"/>
          </a:p>
          <a:p>
            <a:r>
              <a:rPr lang="zh-CN" altLang="en-US" baseline="0" dirty="0"/>
              <a:t>用例模型为基础的需求</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a:t>
            </a:fld>
            <a:endParaRPr lang="zh-CN" altLang="en-US"/>
          </a:p>
        </p:txBody>
      </p:sp>
    </p:spTree>
    <p:extLst>
      <p:ext uri="{BB962C8B-B14F-4D97-AF65-F5344CB8AC3E}">
        <p14:creationId xmlns:p14="http://schemas.microsoft.com/office/powerpoint/2010/main" val="3959691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通俗地讲，用例是文本形式的情节描述</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用以说明某参与者使用系统以实现某些目标</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如图所示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UP </a:t>
            </a:r>
            <a:r>
              <a:rPr lang="zh-CN" altLang="en-US" dirty="0"/>
              <a:t>制品的影响力 </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说明了</a:t>
            </a:r>
            <a:r>
              <a:rPr lang="en-US" altLang="zh-CN" dirty="0"/>
              <a:t>UP</a:t>
            </a:r>
            <a:r>
              <a:rPr lang="zh-CN" altLang="en-US" dirty="0"/>
              <a:t>制品之间的关系</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重点关注 黑框部分 特别强调了</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文本摘要形式的用例</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处理销售用例</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该用例说明了</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顾客携带所购商品到达收银柜台</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直至</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顾客从系统得到购物小票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然后携带商品离开</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等一系列活动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在这个描述中，涉及到了</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有关用例的基本概念</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参与者 例如</a:t>
            </a:r>
            <a:r>
              <a:rPr lang="zh-CN" altLang="en-US" baseline="0" dirty="0"/>
              <a:t> 顾客</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场景    例如 顾客携带所购商品到达收银柜台</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用例活动和活动结果等</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另外，用例也可以</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通过用例图来辅助表示 </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如红色框标注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用例规约以及相关的辅助图</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例如：用例图，系统时序图，活动图等</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构成了用例模型</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最后，与用例相关的需求制品 </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如图 绿色部分的标注 所示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用例之外的需求制品</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我们已经在</a:t>
            </a:r>
            <a:r>
              <a:rPr lang="en-US" altLang="zh-CN" dirty="0"/>
              <a:t>3.1</a:t>
            </a:r>
            <a:r>
              <a:rPr lang="zh-CN" altLang="en-US" dirty="0"/>
              <a:t>节做过介绍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请大家回忆</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用例模型及其相关的其它需求制品</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是 </a:t>
            </a:r>
            <a:r>
              <a:rPr lang="en-US" altLang="zh-CN" dirty="0"/>
              <a:t>OOA/D </a:t>
            </a:r>
            <a:r>
              <a:rPr lang="zh-CN" altLang="en-US" dirty="0"/>
              <a:t>的出发点</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备注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处理销售用例</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顾客携带所购商品到达收银柜台</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收银员使用 </a:t>
            </a:r>
            <a:r>
              <a:rPr lang="en-US" altLang="zh-CN" dirty="0"/>
              <a:t>POS </a:t>
            </a:r>
            <a:r>
              <a:rPr lang="zh-CN" altLang="en-US" dirty="0"/>
              <a:t>系统记录每件商品</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系统连续显示累计金额</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并逐行显示细目</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顾客输入支付信息</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系统对支付信息进行验证和记录</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系统更新库存信息</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顾客从系统得到购物小票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然后携带商品离开</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a:t>
            </a:fld>
            <a:endParaRPr lang="zh-CN" altLang="en-US"/>
          </a:p>
        </p:txBody>
      </p:sp>
    </p:spTree>
    <p:extLst>
      <p:ext uri="{BB962C8B-B14F-4D97-AF65-F5344CB8AC3E}">
        <p14:creationId xmlns:p14="http://schemas.microsoft.com/office/powerpoint/2010/main" val="557948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这些用例就是需求</a:t>
            </a:r>
            <a:endParaRPr lang="en-US" altLang="zh-CN" dirty="0"/>
          </a:p>
          <a:p>
            <a:r>
              <a:rPr lang="zh-CN" altLang="en-US" dirty="0"/>
              <a:t>主要说明系统如何工作的功能性或行为性需求</a:t>
            </a:r>
            <a:endParaRPr lang="en-US" altLang="zh-CN" dirty="0"/>
          </a:p>
          <a:p>
            <a:endParaRPr lang="en-US" altLang="zh-CN" dirty="0"/>
          </a:p>
          <a:p>
            <a:r>
              <a:rPr lang="zh-CN" altLang="en-US" dirty="0"/>
              <a:t>按照 </a:t>
            </a:r>
            <a:r>
              <a:rPr lang="en-US" altLang="zh-CN" dirty="0"/>
              <a:t>FURPS+ </a:t>
            </a:r>
            <a:r>
              <a:rPr lang="zh-CN" altLang="en-US" dirty="0"/>
              <a:t>需求类型</a:t>
            </a:r>
            <a:endParaRPr lang="en-US" altLang="zh-CN" dirty="0"/>
          </a:p>
          <a:p>
            <a:r>
              <a:rPr lang="zh-CN" altLang="en-US" dirty="0"/>
              <a:t>用例强调了</a:t>
            </a:r>
            <a:r>
              <a:rPr lang="en-US" altLang="zh-CN" dirty="0"/>
              <a:t>F</a:t>
            </a:r>
            <a:r>
              <a:rPr lang="zh-CN" altLang="en-US" dirty="0"/>
              <a:t>，即功能性或行为性</a:t>
            </a:r>
            <a:endParaRPr lang="en-US" altLang="zh-CN" dirty="0"/>
          </a:p>
          <a:p>
            <a:r>
              <a:rPr lang="zh-CN" altLang="en-US" dirty="0"/>
              <a:t>但也可以用于其他类型</a:t>
            </a:r>
            <a:endParaRPr lang="en-US" altLang="zh-CN" dirty="0"/>
          </a:p>
          <a:p>
            <a:r>
              <a:rPr lang="zh-CN" altLang="en-US" dirty="0"/>
              <a:t>特别是与用例紧密相关的那些类型</a:t>
            </a:r>
            <a:endParaRPr lang="en-US" altLang="zh-CN" dirty="0"/>
          </a:p>
          <a:p>
            <a:endParaRPr lang="en-US" altLang="zh-CN" dirty="0"/>
          </a:p>
          <a:p>
            <a:r>
              <a:rPr lang="zh-CN" altLang="en-US" dirty="0"/>
              <a:t>在</a:t>
            </a:r>
            <a:r>
              <a:rPr lang="en-US" altLang="zh-CN" dirty="0"/>
              <a:t>UP</a:t>
            </a:r>
            <a:r>
              <a:rPr lang="zh-CN" altLang="en-US" dirty="0"/>
              <a:t>和许多现代的方法中</a:t>
            </a:r>
            <a:r>
              <a:rPr lang="zh-CN" altLang="en-US" baseline="0" dirty="0"/>
              <a:t> </a:t>
            </a:r>
            <a:endParaRPr lang="en-US" altLang="zh-CN" baseline="0" dirty="0"/>
          </a:p>
          <a:p>
            <a:r>
              <a:rPr lang="zh-CN" altLang="en-US" baseline="0" dirty="0"/>
              <a:t>用例是发现和定义需求的核心机制</a:t>
            </a:r>
            <a:endParaRPr lang="en-US" altLang="zh-CN" baseline="0" dirty="0"/>
          </a:p>
          <a:p>
            <a:endParaRPr lang="en-US" altLang="zh-CN" baseline="0" dirty="0"/>
          </a:p>
          <a:p>
            <a:r>
              <a:rPr lang="en-US" altLang="zh-CN" baseline="0" dirty="0" err="1"/>
              <a:t>Couckburn</a:t>
            </a:r>
            <a:r>
              <a:rPr lang="en-US" altLang="zh-CN" baseline="0" dirty="0"/>
              <a:t> </a:t>
            </a:r>
            <a:r>
              <a:rPr lang="zh-CN" altLang="en-US" baseline="0" dirty="0"/>
              <a:t>提出了一种相关的观点</a:t>
            </a:r>
            <a:endParaRPr lang="en-US" altLang="zh-CN" baseline="0" dirty="0"/>
          </a:p>
          <a:p>
            <a:r>
              <a:rPr lang="zh-CN" altLang="en-US" baseline="0" dirty="0"/>
              <a:t>认为 用例定义了系统行为的契约</a:t>
            </a:r>
            <a:endParaRPr lang="en-US" altLang="zh-CN" baseline="0" dirty="0"/>
          </a:p>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5</a:t>
            </a:fld>
            <a:endParaRPr lang="zh-CN" altLang="en-US"/>
          </a:p>
        </p:txBody>
      </p:sp>
    </p:spTree>
    <p:extLst>
      <p:ext uri="{BB962C8B-B14F-4D97-AF65-F5344CB8AC3E}">
        <p14:creationId xmlns:p14="http://schemas.microsoft.com/office/powerpoint/2010/main" val="2896696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下面介绍</a:t>
            </a:r>
            <a:endParaRPr lang="en-US" altLang="zh-CN" dirty="0"/>
          </a:p>
          <a:p>
            <a:r>
              <a:rPr lang="zh-CN" altLang="en-US" dirty="0"/>
              <a:t>用例的关键概念</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6</a:t>
            </a:fld>
            <a:endParaRPr lang="zh-CN" altLang="en-US"/>
          </a:p>
        </p:txBody>
      </p:sp>
    </p:spTree>
    <p:extLst>
      <p:ext uri="{BB962C8B-B14F-4D97-AF65-F5344CB8AC3E}">
        <p14:creationId xmlns:p14="http://schemas.microsoft.com/office/powerpoint/2010/main" val="4113923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系统的行为</a:t>
            </a:r>
            <a:endParaRPr lang="en-US" altLang="zh-CN" dirty="0"/>
          </a:p>
          <a:p>
            <a:r>
              <a:rPr lang="zh-CN" altLang="en-US" dirty="0"/>
              <a:t>有关系统如何活动和响应</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它是对外可见而且可以测试的系统活动</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zh-CN" altLang="en-US" dirty="0"/>
              <a:t>系统行为可以通过一些用例来捕捉</a:t>
            </a:r>
            <a:endParaRPr lang="en-US" altLang="zh-CN" dirty="0"/>
          </a:p>
          <a:p>
            <a:r>
              <a:rPr lang="zh-CN" altLang="en-US" dirty="0"/>
              <a:t>这些用例描述系统，系统所处环境</a:t>
            </a:r>
            <a:endParaRPr lang="en-US" altLang="zh-CN" dirty="0"/>
          </a:p>
          <a:p>
            <a:r>
              <a:rPr lang="zh-CN" altLang="en-US" dirty="0"/>
              <a:t>以及系统与环境之间的关系</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7</a:t>
            </a:fld>
            <a:endParaRPr lang="zh-CN" altLang="en-US"/>
          </a:p>
        </p:txBody>
      </p:sp>
    </p:spTree>
    <p:extLst>
      <p:ext uri="{BB962C8B-B14F-4D97-AF65-F5344CB8AC3E}">
        <p14:creationId xmlns:p14="http://schemas.microsoft.com/office/powerpoint/2010/main" val="2333946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参与者是某些具有行为的事物</a:t>
            </a:r>
            <a:endParaRPr lang="en-US" altLang="zh-CN" dirty="0"/>
          </a:p>
          <a:p>
            <a:r>
              <a:rPr lang="zh-CN" altLang="en-US" dirty="0"/>
              <a:t>可以是人（通过角色标识）</a:t>
            </a:r>
            <a:endParaRPr lang="en-US" altLang="zh-CN" dirty="0"/>
          </a:p>
          <a:p>
            <a:r>
              <a:rPr lang="zh-CN" altLang="en-US" dirty="0"/>
              <a:t>计算机系统或组织，例如收银员</a:t>
            </a:r>
            <a:endParaRPr lang="en-US" altLang="zh-CN" dirty="0"/>
          </a:p>
          <a:p>
            <a:endParaRPr lang="en-US" altLang="zh-CN" dirty="0"/>
          </a:p>
          <a:p>
            <a:r>
              <a:rPr lang="zh-CN" altLang="en-US" dirty="0"/>
              <a:t>参与者可以分为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主要参与者 协助参与者</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和幕后参与者三大类</a:t>
            </a:r>
            <a:endParaRPr lang="en-US" altLang="zh-CN" dirty="0"/>
          </a:p>
          <a:p>
            <a:r>
              <a:rPr lang="en-US" altLang="zh-CN" dirty="0"/>
              <a:t>//</a:t>
            </a:r>
            <a:r>
              <a:rPr lang="zh-CN" altLang="en-US" baseline="0" dirty="0"/>
              <a:t>以下是备注</a:t>
            </a:r>
            <a:endParaRPr lang="en-US" altLang="zh-CN" dirty="0"/>
          </a:p>
          <a:p>
            <a:r>
              <a:rPr lang="zh-CN" altLang="en-US" dirty="0"/>
              <a:t>主要参与者</a:t>
            </a:r>
            <a:endParaRPr lang="en-US" altLang="zh-CN" dirty="0"/>
          </a:p>
          <a:p>
            <a:r>
              <a:rPr lang="en-US" altLang="zh-CN" dirty="0"/>
              <a:t>	</a:t>
            </a:r>
            <a:r>
              <a:rPr lang="zh-CN" altLang="en-US" dirty="0"/>
              <a:t>具有用户目标 并通过使用 所讨论系统 的服务完成  </a:t>
            </a:r>
            <a:endParaRPr lang="en-US" altLang="zh-CN" dirty="0"/>
          </a:p>
          <a:p>
            <a:r>
              <a:rPr lang="en-US" altLang="zh-CN" dirty="0"/>
              <a:t>	</a:t>
            </a:r>
            <a:r>
              <a:rPr lang="zh-CN" altLang="en-US" dirty="0"/>
              <a:t>例如 收银员</a:t>
            </a:r>
            <a:endParaRPr lang="en-US" altLang="zh-CN" dirty="0"/>
          </a:p>
          <a:p>
            <a:r>
              <a:rPr lang="en-US" altLang="zh-CN" dirty="0"/>
              <a:t>	</a:t>
            </a:r>
            <a:r>
              <a:rPr lang="zh-CN" altLang="en-US" dirty="0"/>
              <a:t>其目的是发现驱动用例的用户目标 </a:t>
            </a:r>
            <a:endParaRPr lang="en-US" altLang="zh-CN" dirty="0"/>
          </a:p>
          <a:p>
            <a:r>
              <a:rPr lang="zh-CN" altLang="en-US" dirty="0"/>
              <a:t>协助参与者</a:t>
            </a:r>
            <a:endParaRPr lang="en-US" altLang="zh-CN" dirty="0"/>
          </a:p>
          <a:p>
            <a:r>
              <a:rPr lang="en-US" altLang="zh-CN" dirty="0"/>
              <a:t>	</a:t>
            </a:r>
            <a:r>
              <a:rPr lang="zh-CN" altLang="en-US" dirty="0"/>
              <a:t>为所讨论系统提供服务 例如信息服务</a:t>
            </a:r>
            <a:endParaRPr lang="en-US" altLang="zh-CN" dirty="0"/>
          </a:p>
          <a:p>
            <a:r>
              <a:rPr lang="en-US" altLang="zh-CN" dirty="0"/>
              <a:t>	</a:t>
            </a:r>
            <a:r>
              <a:rPr lang="zh-CN" altLang="en-US" dirty="0"/>
              <a:t>其目的是明确外部接口和协议 例如 自动付费授权服务</a:t>
            </a:r>
            <a:endParaRPr lang="en-US" altLang="zh-CN" dirty="0"/>
          </a:p>
          <a:p>
            <a:r>
              <a:rPr lang="en-US" altLang="zh-CN" dirty="0"/>
              <a:t>	</a:t>
            </a:r>
            <a:r>
              <a:rPr lang="zh-CN" altLang="en-US" dirty="0"/>
              <a:t>协助参与者通常是计算机系统，但也可以是组织或人</a:t>
            </a:r>
            <a:endParaRPr lang="en-US" altLang="zh-CN" dirty="0"/>
          </a:p>
          <a:p>
            <a:r>
              <a:rPr lang="zh-CN" altLang="en-US" dirty="0"/>
              <a:t>幕后参与者</a:t>
            </a:r>
            <a:endParaRPr lang="en-US" altLang="zh-CN" dirty="0"/>
          </a:p>
          <a:p>
            <a:r>
              <a:rPr lang="en-US" altLang="zh-CN" dirty="0"/>
              <a:t>	</a:t>
            </a:r>
            <a:r>
              <a:rPr lang="zh-CN" altLang="en-US" dirty="0"/>
              <a:t>在用例行为中具有影响或利益</a:t>
            </a:r>
            <a:r>
              <a:rPr lang="zh-CN" altLang="en-US" baseline="0" dirty="0"/>
              <a:t> 但不是主要或协助参与者 </a:t>
            </a:r>
            <a:endParaRPr lang="en-US" altLang="zh-CN" baseline="0" dirty="0"/>
          </a:p>
          <a:p>
            <a:r>
              <a:rPr lang="en-US" altLang="zh-CN" baseline="0" dirty="0"/>
              <a:t>	</a:t>
            </a:r>
            <a:r>
              <a:rPr lang="zh-CN" altLang="en-US" baseline="0" dirty="0"/>
              <a:t>例如政府税收机构</a:t>
            </a:r>
            <a:endParaRPr lang="en-US" altLang="zh-CN" dirty="0"/>
          </a:p>
          <a:p>
            <a:r>
              <a:rPr lang="en-US" altLang="zh-CN" dirty="0"/>
              <a:t>	</a:t>
            </a:r>
            <a:r>
              <a:rPr lang="zh-CN" altLang="en-US" dirty="0"/>
              <a:t>其目的是确保确定并满足所有必要的重要事物</a:t>
            </a:r>
            <a:r>
              <a:rPr lang="zh-CN" altLang="en-US" baseline="0" dirty="0"/>
              <a:t> </a:t>
            </a:r>
            <a:endParaRPr lang="en-US" altLang="zh-CN" baseline="0" dirty="0"/>
          </a:p>
          <a:p>
            <a:r>
              <a:rPr lang="en-US" altLang="zh-CN" baseline="0" dirty="0"/>
              <a:t>	</a:t>
            </a:r>
            <a:r>
              <a:rPr lang="zh-CN" altLang="en-US" baseline="0" dirty="0"/>
              <a:t>如果不明确对幕后参与者进行命名 </a:t>
            </a:r>
            <a:endParaRPr lang="en-US" altLang="zh-CN" baseline="0" dirty="0"/>
          </a:p>
          <a:p>
            <a:r>
              <a:rPr lang="en-US" altLang="zh-CN" baseline="0" dirty="0"/>
              <a:t>	</a:t>
            </a:r>
            <a:r>
              <a:rPr lang="zh-CN" altLang="en-US" baseline="0" dirty="0"/>
              <a:t>则有时很容易忽略其影响或利益</a:t>
            </a:r>
            <a:endParaRPr lang="zh-CN" altLang="en-US" dirty="0"/>
          </a:p>
          <a:p>
            <a:endParaRPr lang="en-US" altLang="zh-CN" dirty="0"/>
          </a:p>
          <a:p>
            <a:endParaRPr lang="en-US" altLang="zh-CN" dirty="0"/>
          </a:p>
          <a:p>
            <a:r>
              <a:rPr lang="en-US" altLang="zh-CN" dirty="0"/>
              <a:t>Scenarios</a:t>
            </a:r>
          </a:p>
          <a:p>
            <a:pPr lvl="1"/>
            <a:r>
              <a:rPr lang="en-US" altLang="zh-CN" sz="2000" dirty="0"/>
              <a:t>A scenario is a specific sequence of actions and interactions between actors and the system; it is also called a use case instance. It is one particular story of using a system, or one path through the use case; for example, the scenario of successfully purchasing items with cash, or the scenario of failing to purchase items because of a credit payment denial.</a:t>
            </a:r>
          </a:p>
          <a:p>
            <a:r>
              <a:rPr lang="en-US" altLang="zh-CN" dirty="0"/>
              <a:t>Use Cases</a:t>
            </a:r>
          </a:p>
          <a:p>
            <a:pPr lvl="1"/>
            <a:r>
              <a:rPr lang="en-US" altLang="zh-CN" sz="2000" dirty="0"/>
              <a:t>A use case is a collection of related success and failure scenarios that describe an actor using a system to support a goal. </a:t>
            </a:r>
          </a:p>
          <a:p>
            <a:pPr lvl="1"/>
            <a:r>
              <a:rPr lang="en-US" altLang="zh-CN" sz="2000" dirty="0"/>
              <a:t>A set of use-case instances, where each instance is a sequence of actions a system performs that yields an observable result of value to a particular actor [</a:t>
            </a:r>
            <a:r>
              <a:rPr lang="en-US" altLang="zh-CN" sz="2000" dirty="0">
                <a:hlinkClick r:id="rId3" action="ppaction://hlinkfile"/>
              </a:rPr>
              <a:t>RUP</a:t>
            </a:r>
            <a:r>
              <a:rPr lang="en-US" altLang="zh-CN" sz="2000" dirty="0"/>
              <a:t>].</a:t>
            </a:r>
          </a:p>
          <a:p>
            <a:pPr lvl="1"/>
            <a:endParaRPr lang="zh-CN" altLang="en-US" sz="2000" dirty="0"/>
          </a:p>
          <a:p>
            <a:endParaRPr lang="en-US" altLang="zh-CN" dirty="0"/>
          </a:p>
          <a:p>
            <a:endParaRPr lang="en-US" altLang="zh-CN" dirty="0"/>
          </a:p>
          <a:p>
            <a:r>
              <a:rPr lang="zh-CN" altLang="en-US" dirty="0"/>
              <a:t>参与者是某些具有行为的事物</a:t>
            </a:r>
            <a:endParaRPr lang="en-US" altLang="zh-CN" dirty="0"/>
          </a:p>
          <a:p>
            <a:r>
              <a:rPr lang="zh-CN" altLang="en-US" dirty="0"/>
              <a:t>可以是人（通过角色标识）</a:t>
            </a:r>
            <a:endParaRPr lang="en-US" altLang="zh-CN" dirty="0"/>
          </a:p>
          <a:p>
            <a:r>
              <a:rPr lang="zh-CN" altLang="en-US" dirty="0"/>
              <a:t>计算机系统或组织，例如收银员</a:t>
            </a:r>
            <a:endParaRPr lang="en-US" altLang="zh-CN" dirty="0"/>
          </a:p>
          <a:p>
            <a:endParaRPr lang="en-US" altLang="zh-CN" dirty="0"/>
          </a:p>
          <a:p>
            <a:r>
              <a:rPr lang="zh-CN" altLang="en-US" dirty="0"/>
              <a:t>场景是参与者与系统之间的</a:t>
            </a:r>
            <a:endParaRPr lang="en-US" altLang="zh-CN" dirty="0"/>
          </a:p>
          <a:p>
            <a:r>
              <a:rPr lang="zh-CN" altLang="en-US" dirty="0"/>
              <a:t>一系列特定的活动和交互</a:t>
            </a:r>
            <a:endParaRPr lang="en-US" altLang="zh-CN" dirty="0"/>
          </a:p>
          <a:p>
            <a:r>
              <a:rPr lang="zh-CN" altLang="en-US" dirty="0"/>
              <a:t>也称为用例实例</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8</a:t>
            </a:fld>
            <a:endParaRPr lang="zh-CN" altLang="en-US"/>
          </a:p>
        </p:txBody>
      </p:sp>
    </p:spTree>
    <p:extLst>
      <p:ext uri="{BB962C8B-B14F-4D97-AF65-F5344CB8AC3E}">
        <p14:creationId xmlns:p14="http://schemas.microsoft.com/office/powerpoint/2010/main" val="1828721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用例的事件流</a:t>
            </a:r>
            <a:endParaRPr lang="en-US" altLang="zh-CN" dirty="0"/>
          </a:p>
          <a:p>
            <a:r>
              <a:rPr lang="zh-CN" altLang="en-US" dirty="0"/>
              <a:t>包括正常的（也称为基本的 或 主成功的）事件流 </a:t>
            </a:r>
            <a:endParaRPr lang="en-US" altLang="zh-CN" dirty="0"/>
          </a:p>
          <a:p>
            <a:r>
              <a:rPr lang="zh-CN" altLang="en-US" dirty="0"/>
              <a:t>和一些替代的事件流</a:t>
            </a:r>
            <a:endParaRPr lang="en-US" altLang="zh-CN" dirty="0"/>
          </a:p>
          <a:p>
            <a:endParaRPr lang="en-US" altLang="zh-CN" dirty="0"/>
          </a:p>
          <a:p>
            <a:r>
              <a:rPr lang="zh-CN" altLang="en-US" dirty="0"/>
              <a:t>替代的事件流分为</a:t>
            </a:r>
            <a:endParaRPr lang="en-US" altLang="zh-CN" dirty="0"/>
          </a:p>
          <a:p>
            <a:r>
              <a:rPr lang="zh-CN" altLang="en-US" dirty="0"/>
              <a:t>规则的和不规则的事件流</a:t>
            </a:r>
            <a:endParaRPr lang="en-US" altLang="zh-CN" dirty="0"/>
          </a:p>
          <a:p>
            <a:r>
              <a:rPr lang="zh-CN" altLang="en-US" dirty="0"/>
              <a:t>和处理错误情况的异常事件流</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9</a:t>
            </a:fld>
            <a:endParaRPr lang="zh-CN" altLang="en-US"/>
          </a:p>
        </p:txBody>
      </p:sp>
    </p:spTree>
    <p:extLst>
      <p:ext uri="{BB962C8B-B14F-4D97-AF65-F5344CB8AC3E}">
        <p14:creationId xmlns:p14="http://schemas.microsoft.com/office/powerpoint/2010/main" val="3405023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场景是参与者与系统之间的</a:t>
            </a:r>
            <a:endParaRPr lang="en-US" altLang="zh-CN" dirty="0"/>
          </a:p>
          <a:p>
            <a:r>
              <a:rPr lang="zh-CN" altLang="en-US" dirty="0"/>
              <a:t>一系列特定的活动和交互</a:t>
            </a:r>
            <a:endParaRPr lang="en-US" altLang="zh-CN" dirty="0"/>
          </a:p>
          <a:p>
            <a:r>
              <a:rPr lang="zh-CN" altLang="en-US" dirty="0"/>
              <a:t>也称为用例实例</a:t>
            </a:r>
            <a:endParaRPr lang="en-US" altLang="zh-CN" dirty="0"/>
          </a:p>
          <a:p>
            <a:endParaRPr lang="en-US" altLang="zh-CN" dirty="0"/>
          </a:p>
          <a:p>
            <a:r>
              <a:rPr lang="en-US" altLang="zh-CN" dirty="0"/>
              <a:t>//</a:t>
            </a:r>
            <a:r>
              <a:rPr lang="zh-CN" altLang="en-US" dirty="0"/>
              <a:t>备注</a:t>
            </a:r>
            <a:endParaRPr lang="en-US" altLang="zh-CN"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dirty="0"/>
              <a:t>It is one particular story of using a system, or one path through the use case; for example, the scenario of successfully purchasing items with cash, or the scenario of failing to purchase items because of a credit payment denial.</a:t>
            </a: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10</a:t>
            </a:fld>
            <a:endParaRPr lang="zh-CN" altLang="en-US"/>
          </a:p>
        </p:txBody>
      </p:sp>
    </p:spTree>
    <p:extLst>
      <p:ext uri="{BB962C8B-B14F-4D97-AF65-F5344CB8AC3E}">
        <p14:creationId xmlns:p14="http://schemas.microsoft.com/office/powerpoint/2010/main" val="4284310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a:t>
            </a:r>
            <a:endParaRPr lang="en-US" altLang="zh-CN" dirty="0"/>
          </a:p>
          <a:p>
            <a:r>
              <a:rPr lang="zh-CN" altLang="en-US" dirty="0"/>
              <a:t>用例是一组</a:t>
            </a:r>
            <a:endParaRPr lang="en-US" altLang="zh-CN" dirty="0"/>
          </a:p>
          <a:p>
            <a:r>
              <a:rPr lang="zh-CN" altLang="en-US" dirty="0"/>
              <a:t>相关的成功或失败的场景集合</a:t>
            </a:r>
            <a:endParaRPr lang="en-US" altLang="zh-CN" dirty="0"/>
          </a:p>
          <a:p>
            <a:r>
              <a:rPr lang="zh-CN" altLang="en-US" dirty="0"/>
              <a:t>用来描述参与者</a:t>
            </a:r>
            <a:endParaRPr lang="en-US" altLang="zh-CN" dirty="0"/>
          </a:p>
          <a:p>
            <a:r>
              <a:rPr lang="zh-CN" altLang="en-US" dirty="0"/>
              <a:t>如何使用系统来实现其目标</a:t>
            </a:r>
            <a:endParaRPr lang="en-US" altLang="zh-CN" dirty="0"/>
          </a:p>
          <a:p>
            <a:endParaRPr lang="en-US" altLang="zh-CN" dirty="0"/>
          </a:p>
          <a:p>
            <a:r>
              <a:rPr lang="zh-CN" altLang="en-US" dirty="0"/>
              <a:t>一组用例的实例</a:t>
            </a:r>
            <a:endParaRPr lang="en-US" altLang="zh-CN" dirty="0"/>
          </a:p>
          <a:p>
            <a:r>
              <a:rPr lang="zh-CN" altLang="en-US" dirty="0"/>
              <a:t>其中每个实例都是</a:t>
            </a:r>
            <a:endParaRPr lang="en-US" altLang="zh-CN" dirty="0"/>
          </a:p>
          <a:p>
            <a:r>
              <a:rPr lang="zh-CN" altLang="en-US" dirty="0"/>
              <a:t>系统执行的一系列活动</a:t>
            </a:r>
            <a:endParaRPr lang="en-US" altLang="zh-CN" dirty="0"/>
          </a:p>
          <a:p>
            <a:r>
              <a:rPr lang="zh-CN" altLang="en-US" dirty="0"/>
              <a:t>这些活动产生了</a:t>
            </a:r>
            <a:endParaRPr lang="en-US" altLang="zh-CN" dirty="0"/>
          </a:p>
          <a:p>
            <a:r>
              <a:rPr lang="zh-CN" altLang="en-US" dirty="0"/>
              <a:t>对某个参与者而言</a:t>
            </a:r>
            <a:endParaRPr lang="en-US" altLang="zh-CN" dirty="0"/>
          </a:p>
          <a:p>
            <a:r>
              <a:rPr lang="zh-CN" altLang="en-US" dirty="0"/>
              <a:t>可观察的返回值</a:t>
            </a:r>
            <a:endParaRPr lang="en-US" altLang="zh-CN" dirty="0"/>
          </a:p>
          <a:p>
            <a:endParaRPr lang="en-US" altLang="zh-CN" dirty="0"/>
          </a:p>
          <a:p>
            <a:r>
              <a:rPr lang="zh-CN" altLang="en-US" dirty="0"/>
              <a:t>在</a:t>
            </a:r>
            <a:r>
              <a:rPr lang="en-US" altLang="zh-CN" dirty="0"/>
              <a:t>UML</a:t>
            </a:r>
            <a:r>
              <a:rPr lang="zh-CN" altLang="en-US" dirty="0"/>
              <a:t>中使用</a:t>
            </a:r>
            <a:endParaRPr lang="en-US" altLang="zh-CN" dirty="0"/>
          </a:p>
          <a:p>
            <a:r>
              <a:rPr lang="zh-CN" altLang="en-US" dirty="0"/>
              <a:t>象一个鸡蛋的</a:t>
            </a:r>
            <a:endParaRPr lang="en-US" altLang="zh-CN" dirty="0"/>
          </a:p>
          <a:p>
            <a:r>
              <a:rPr lang="zh-CN" altLang="en-US" dirty="0"/>
              <a:t>椭圆</a:t>
            </a:r>
            <a:r>
              <a:rPr lang="zh-CN" altLang="en-US" baseline="0" dirty="0"/>
              <a:t>表示</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11</a:t>
            </a:fld>
            <a:endParaRPr lang="zh-CN" altLang="en-US"/>
          </a:p>
        </p:txBody>
      </p:sp>
    </p:spTree>
    <p:extLst>
      <p:ext uri="{BB962C8B-B14F-4D97-AF65-F5344CB8AC3E}">
        <p14:creationId xmlns:p14="http://schemas.microsoft.com/office/powerpoint/2010/main" val="2274673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处理退货用例</a:t>
            </a:r>
            <a:endParaRPr lang="en-US" altLang="zh-CN" dirty="0"/>
          </a:p>
          <a:p>
            <a:r>
              <a:rPr lang="zh-CN" altLang="en-US" dirty="0"/>
              <a:t>一种非正式形式的用例实例</a:t>
            </a:r>
            <a:endParaRPr lang="en-US" altLang="zh-CN" dirty="0"/>
          </a:p>
          <a:p>
            <a:r>
              <a:rPr lang="zh-CN" altLang="en-US" dirty="0"/>
              <a:t>主成功场景</a:t>
            </a:r>
            <a:endParaRPr lang="en-US" altLang="zh-CN" dirty="0"/>
          </a:p>
          <a:p>
            <a:r>
              <a:rPr lang="en-US" altLang="zh-CN" dirty="0"/>
              <a:t>   </a:t>
            </a:r>
            <a:r>
              <a:rPr lang="zh-CN" altLang="en-US" dirty="0"/>
              <a:t>顾客成功退货</a:t>
            </a:r>
            <a:endParaRPr lang="en-US" altLang="zh-CN" dirty="0"/>
          </a:p>
          <a:p>
            <a:r>
              <a:rPr lang="zh-CN" altLang="en-US" dirty="0"/>
              <a:t>替换场景</a:t>
            </a:r>
            <a:endParaRPr lang="en-US" altLang="zh-CN" dirty="0"/>
          </a:p>
          <a:p>
            <a:r>
              <a:rPr lang="en-US" altLang="zh-CN" dirty="0"/>
              <a:t>   </a:t>
            </a:r>
            <a:r>
              <a:rPr lang="zh-CN" altLang="en-US" dirty="0"/>
              <a:t>由于信用卡或者</a:t>
            </a:r>
            <a:r>
              <a:rPr lang="en-US" altLang="zh-CN" dirty="0"/>
              <a:t>POS</a:t>
            </a:r>
            <a:r>
              <a:rPr lang="zh-CN" altLang="en-US" dirty="0"/>
              <a:t>系统的问题</a:t>
            </a:r>
            <a:endParaRPr lang="en-US" altLang="zh-CN" dirty="0"/>
          </a:p>
          <a:p>
            <a:r>
              <a:rPr lang="en-US" altLang="zh-CN" dirty="0"/>
              <a:t>   </a:t>
            </a:r>
            <a:r>
              <a:rPr lang="zh-CN" altLang="en-US" dirty="0"/>
              <a:t>不能够正常退货</a:t>
            </a:r>
            <a:endParaRPr lang="en-US" altLang="zh-CN" dirty="0"/>
          </a:p>
          <a:p>
            <a:r>
              <a:rPr lang="en-US" altLang="zh-CN" dirty="0"/>
              <a:t> </a:t>
            </a:r>
            <a:r>
              <a:rPr lang="en-US" altLang="zh-CN" baseline="0" dirty="0"/>
              <a:t>  </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12</a:t>
            </a:fld>
            <a:endParaRPr lang="zh-CN" altLang="en-US"/>
          </a:p>
        </p:txBody>
      </p:sp>
    </p:spTree>
    <p:extLst>
      <p:ext uri="{BB962C8B-B14F-4D97-AF65-F5344CB8AC3E}">
        <p14:creationId xmlns:p14="http://schemas.microsoft.com/office/powerpoint/2010/main" val="2551546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用例能够以不同格式</a:t>
            </a:r>
            <a:endParaRPr lang="en-US" altLang="zh-CN" dirty="0"/>
          </a:p>
          <a:p>
            <a:r>
              <a:rPr lang="zh-CN" altLang="en-US" dirty="0"/>
              <a:t>或形式化程度进行编写</a:t>
            </a:r>
            <a:endParaRPr lang="en-US" altLang="zh-CN" dirty="0"/>
          </a:p>
          <a:p>
            <a:r>
              <a:rPr lang="zh-CN" altLang="en-US" dirty="0"/>
              <a:t>有三种常用形式：摘要、非正式和详述三种形式</a:t>
            </a:r>
            <a:endParaRPr lang="en-US" altLang="zh-CN" dirty="0"/>
          </a:p>
          <a:p>
            <a:endParaRPr lang="en-US" altLang="zh-CN" dirty="0"/>
          </a:p>
          <a:p>
            <a:r>
              <a:rPr lang="en-US" altLang="zh-CN" dirty="0"/>
              <a:t>//</a:t>
            </a:r>
            <a:r>
              <a:rPr lang="zh-CN" altLang="en-US" dirty="0"/>
              <a:t>下面备注</a:t>
            </a:r>
            <a:endParaRPr lang="en-US" altLang="zh-CN" dirty="0"/>
          </a:p>
          <a:p>
            <a:r>
              <a:rPr lang="zh-CN" altLang="en-US" dirty="0"/>
              <a:t>摘要</a:t>
            </a:r>
            <a:endParaRPr lang="en-US" altLang="zh-CN" dirty="0"/>
          </a:p>
          <a:p>
            <a:r>
              <a:rPr lang="en-US" altLang="zh-CN" baseline="0" dirty="0"/>
              <a:t>  </a:t>
            </a:r>
            <a:r>
              <a:rPr lang="zh-CN" altLang="en-US" baseline="0" dirty="0"/>
              <a:t>简洁的一段式概要</a:t>
            </a:r>
            <a:endParaRPr lang="en-US" altLang="zh-CN" baseline="0" dirty="0"/>
          </a:p>
          <a:p>
            <a:r>
              <a:rPr lang="zh-CN" altLang="en-US" baseline="0" dirty="0"/>
              <a:t>  通常用于主成功场景</a:t>
            </a:r>
            <a:endParaRPr lang="en-US" altLang="zh-CN" baseline="0" dirty="0"/>
          </a:p>
          <a:p>
            <a:r>
              <a:rPr lang="en-US" altLang="zh-CN" dirty="0"/>
              <a:t>  </a:t>
            </a:r>
            <a:r>
              <a:rPr lang="zh-CN" altLang="en-US" dirty="0"/>
              <a:t>何时使用？在早期需求分析过程中，为快速了解主题和范围</a:t>
            </a:r>
            <a:endParaRPr lang="en-US" altLang="zh-CN" dirty="0"/>
          </a:p>
          <a:p>
            <a:r>
              <a:rPr lang="en-US" altLang="zh-CN" baseline="0" dirty="0"/>
              <a:t>  </a:t>
            </a:r>
            <a:r>
              <a:rPr lang="zh-CN" altLang="en-US" baseline="0" dirty="0"/>
              <a:t>可能只需要几分钟进行编写</a:t>
            </a:r>
            <a:endParaRPr lang="en-US" altLang="zh-CN" baseline="0" dirty="0"/>
          </a:p>
          <a:p>
            <a:r>
              <a:rPr lang="zh-CN" altLang="en-US" baseline="0" dirty="0"/>
              <a:t>例如 前例中的处理销售用例</a:t>
            </a:r>
            <a:endParaRPr lang="en-US" altLang="zh-CN" dirty="0"/>
          </a:p>
          <a:p>
            <a:endParaRPr lang="en-US" altLang="zh-CN" dirty="0"/>
          </a:p>
          <a:p>
            <a:r>
              <a:rPr lang="zh-CN" altLang="en-US" dirty="0"/>
              <a:t>非正式</a:t>
            </a:r>
            <a:endParaRPr lang="en-US" altLang="zh-CN" dirty="0"/>
          </a:p>
          <a:p>
            <a:pPr lvl="1"/>
            <a:r>
              <a:rPr lang="zh-CN" altLang="en-US" dirty="0"/>
              <a:t>非正式的段落格式，用几个段落覆盖不同的场景</a:t>
            </a:r>
            <a:endParaRPr lang="en-US" altLang="zh-CN" dirty="0"/>
          </a:p>
          <a:p>
            <a:pPr lvl="1"/>
            <a:r>
              <a:rPr lang="zh-CN" altLang="en-US" dirty="0"/>
              <a:t>例如课本中的处理退货例子</a:t>
            </a:r>
            <a:endParaRPr lang="en-US" altLang="zh-CN" dirty="0"/>
          </a:p>
          <a:p>
            <a:pPr lvl="1"/>
            <a:r>
              <a:rPr lang="zh-CN" altLang="en-US" dirty="0"/>
              <a:t>何时使用？同上</a:t>
            </a:r>
            <a:r>
              <a:rPr lang="en-US" altLang="zh-CN" dirty="0"/>
              <a:t>	</a:t>
            </a:r>
          </a:p>
          <a:p>
            <a:r>
              <a:rPr lang="zh-CN" altLang="en-US" dirty="0"/>
              <a:t>详述</a:t>
            </a:r>
            <a:endParaRPr lang="en-US" altLang="zh-CN" dirty="0"/>
          </a:p>
          <a:p>
            <a:r>
              <a:rPr lang="zh-CN" altLang="en-US" dirty="0"/>
              <a:t>详细编写所有步骤及各种变化</a:t>
            </a:r>
            <a:endParaRPr lang="en-US" altLang="zh-CN" dirty="0"/>
          </a:p>
          <a:p>
            <a:r>
              <a:rPr lang="zh-CN" altLang="en-US" dirty="0"/>
              <a:t>同时具有补充部分</a:t>
            </a:r>
            <a:endParaRPr lang="en-US" altLang="zh-CN" dirty="0"/>
          </a:p>
          <a:p>
            <a:r>
              <a:rPr lang="zh-CN" altLang="en-US" dirty="0"/>
              <a:t>如前置条件和成功保证</a:t>
            </a:r>
            <a:endParaRPr lang="en-US" altLang="zh-CN" dirty="0"/>
          </a:p>
          <a:p>
            <a:pPr marL="457200" marR="0" lvl="2" indent="0" algn="l" defTabSz="914400" rtl="0" eaLnBrk="0" fontAlgn="base" latinLnBrk="0" hangingPunct="0">
              <a:lnSpc>
                <a:spcPct val="100000"/>
              </a:lnSpc>
              <a:spcBef>
                <a:spcPct val="30000"/>
              </a:spcBef>
              <a:spcAft>
                <a:spcPct val="0"/>
              </a:spcAft>
              <a:buClrTx/>
              <a:buSzTx/>
              <a:buFontTx/>
              <a:buNone/>
              <a:tabLst/>
              <a:defRPr/>
            </a:pPr>
            <a:r>
              <a:rPr lang="zh-CN" altLang="en-US" dirty="0"/>
              <a:t>何时使用？</a:t>
            </a:r>
            <a:endParaRPr lang="en-US" altLang="zh-CN" dirty="0"/>
          </a:p>
          <a:p>
            <a:pPr marL="457200" marR="0" lvl="2" indent="0" algn="l" defTabSz="914400" rtl="0" eaLnBrk="0" fontAlgn="base" latinLnBrk="0" hangingPunct="0">
              <a:lnSpc>
                <a:spcPct val="100000"/>
              </a:lnSpc>
              <a:spcBef>
                <a:spcPct val="30000"/>
              </a:spcBef>
              <a:spcAft>
                <a:spcPct val="0"/>
              </a:spcAft>
              <a:buClrTx/>
              <a:buSzTx/>
              <a:buFontTx/>
              <a:buNone/>
              <a:tabLst/>
              <a:defRPr/>
            </a:pPr>
            <a:r>
              <a:rPr lang="zh-CN" altLang="en-US" dirty="0"/>
              <a:t>确定并以摘要形式编写了大量用例之后</a:t>
            </a:r>
            <a:endParaRPr lang="en-US" altLang="zh-CN" dirty="0"/>
          </a:p>
          <a:p>
            <a:pPr marL="457200" marR="0" lvl="2" indent="0" algn="l" defTabSz="914400" rtl="0" eaLnBrk="0" fontAlgn="base" latinLnBrk="0" hangingPunct="0">
              <a:lnSpc>
                <a:spcPct val="100000"/>
              </a:lnSpc>
              <a:spcBef>
                <a:spcPct val="30000"/>
              </a:spcBef>
              <a:spcAft>
                <a:spcPct val="0"/>
              </a:spcAft>
              <a:buClrTx/>
              <a:buSzTx/>
              <a:buFontTx/>
              <a:buNone/>
              <a:tabLst/>
              <a:defRPr/>
            </a:pPr>
            <a:r>
              <a:rPr lang="zh-CN" altLang="en-US" dirty="0"/>
              <a:t>在第一次需求讨论会中</a:t>
            </a:r>
            <a:endParaRPr lang="en-US" altLang="zh-CN" dirty="0"/>
          </a:p>
          <a:p>
            <a:pPr marL="457200" marR="0" lvl="2" indent="0" algn="l" defTabSz="914400" rtl="0" eaLnBrk="0" fontAlgn="base" latinLnBrk="0" hangingPunct="0">
              <a:lnSpc>
                <a:spcPct val="100000"/>
              </a:lnSpc>
              <a:spcBef>
                <a:spcPct val="30000"/>
              </a:spcBef>
              <a:spcAft>
                <a:spcPct val="0"/>
              </a:spcAft>
              <a:buClrTx/>
              <a:buSzTx/>
              <a:buFontTx/>
              <a:buNone/>
              <a:tabLst/>
              <a:defRPr/>
            </a:pPr>
            <a:r>
              <a:rPr lang="zh-CN" altLang="en-US" dirty="0"/>
              <a:t>详细地编写其中少量的</a:t>
            </a:r>
            <a:endParaRPr lang="en-US" altLang="zh-CN" dirty="0"/>
          </a:p>
          <a:p>
            <a:pPr marL="457200" marR="0" lvl="2" indent="0" algn="l" defTabSz="914400" rtl="0" eaLnBrk="0" fontAlgn="base" latinLnBrk="0" hangingPunct="0">
              <a:lnSpc>
                <a:spcPct val="100000"/>
              </a:lnSpc>
              <a:spcBef>
                <a:spcPct val="30000"/>
              </a:spcBef>
              <a:spcAft>
                <a:spcPct val="0"/>
              </a:spcAft>
              <a:buClrTx/>
              <a:buSzTx/>
              <a:buFontTx/>
              <a:buNone/>
              <a:tabLst/>
              <a:defRPr/>
            </a:pPr>
            <a:r>
              <a:rPr lang="zh-CN" altLang="en-US" dirty="0"/>
              <a:t>具有重要架构意义和高价值的用例</a:t>
            </a:r>
            <a:r>
              <a:rPr lang="en-US" altLang="zh-CN" dirty="0"/>
              <a:t>	</a:t>
            </a: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13</a:t>
            </a:fld>
            <a:endParaRPr lang="zh-CN" altLang="en-US"/>
          </a:p>
        </p:txBody>
      </p:sp>
    </p:spTree>
    <p:extLst>
      <p:ext uri="{BB962C8B-B14F-4D97-AF65-F5344CB8AC3E}">
        <p14:creationId xmlns:p14="http://schemas.microsoft.com/office/powerpoint/2010/main" val="1468303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用例模型是系统的期望功能</a:t>
            </a:r>
            <a:endParaRPr lang="en-US" altLang="zh-CN" dirty="0"/>
          </a:p>
          <a:p>
            <a:r>
              <a:rPr lang="zh-CN" altLang="en-US" dirty="0"/>
              <a:t>包括用例及其环境（参与者）</a:t>
            </a:r>
            <a:endParaRPr lang="en-US" altLang="zh-CN" dirty="0"/>
          </a:p>
          <a:p>
            <a:r>
              <a:rPr lang="zh-CN" altLang="en-US" dirty="0"/>
              <a:t>基本上 他是一组用例文本</a:t>
            </a:r>
            <a:endParaRPr lang="en-US" altLang="zh-CN" dirty="0"/>
          </a:p>
          <a:p>
            <a:r>
              <a:rPr lang="zh-CN" altLang="en-US" dirty="0"/>
              <a:t>是系统功能与环境的模型</a:t>
            </a:r>
            <a:endParaRPr lang="en-US" altLang="zh-CN" dirty="0"/>
          </a:p>
          <a:p>
            <a:r>
              <a:rPr lang="zh-CN" altLang="en-US" dirty="0"/>
              <a:t>可以采用</a:t>
            </a:r>
            <a:r>
              <a:rPr lang="en-US" altLang="zh-CN" dirty="0"/>
              <a:t>UML</a:t>
            </a:r>
            <a:r>
              <a:rPr lang="zh-CN" altLang="en-US" baseline="0" dirty="0"/>
              <a:t>用例图来建模表示</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14</a:t>
            </a:fld>
            <a:endParaRPr lang="zh-CN" altLang="en-US"/>
          </a:p>
        </p:txBody>
      </p:sp>
    </p:spTree>
    <p:extLst>
      <p:ext uri="{BB962C8B-B14F-4D97-AF65-F5344CB8AC3E}">
        <p14:creationId xmlns:p14="http://schemas.microsoft.com/office/powerpoint/2010/main" val="4267726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下面做个小结</a:t>
            </a:r>
            <a:endParaRPr lang="en-US" altLang="zh-CN" dirty="0"/>
          </a:p>
          <a:p>
            <a:endParaRPr lang="en-US" altLang="zh-CN" dirty="0"/>
          </a:p>
          <a:p>
            <a:r>
              <a:rPr lang="zh-CN" altLang="en-US" dirty="0"/>
              <a:t>用例是一些文本</a:t>
            </a:r>
            <a:endParaRPr lang="en-US" altLang="zh-CN" dirty="0"/>
          </a:p>
          <a:p>
            <a:r>
              <a:rPr lang="zh-CN" altLang="en-US" dirty="0"/>
              <a:t>而非图形</a:t>
            </a:r>
            <a:endParaRPr lang="en-US" altLang="zh-CN" dirty="0"/>
          </a:p>
          <a:p>
            <a:r>
              <a:rPr lang="zh-CN" altLang="en-US" dirty="0"/>
              <a:t>用例建模主要是编写文本的活动</a:t>
            </a:r>
            <a:endParaRPr lang="en-US" altLang="zh-CN" dirty="0"/>
          </a:p>
          <a:p>
            <a:r>
              <a:rPr lang="zh-CN" altLang="en-US" dirty="0"/>
              <a:t>而非制图</a:t>
            </a:r>
            <a:endParaRPr lang="en-US" altLang="zh-CN" dirty="0"/>
          </a:p>
          <a:p>
            <a:endParaRPr lang="en-US" altLang="zh-CN" dirty="0"/>
          </a:p>
          <a:p>
            <a:r>
              <a:rPr lang="zh-CN" altLang="en-US" dirty="0"/>
              <a:t>用例模型不是</a:t>
            </a:r>
            <a:r>
              <a:rPr lang="en-US" altLang="zh-CN" dirty="0"/>
              <a:t>UP</a:t>
            </a:r>
            <a:r>
              <a:rPr lang="zh-CN" altLang="en-US" dirty="0"/>
              <a:t>的唯一需求制品</a:t>
            </a:r>
            <a:endParaRPr lang="en-US" altLang="zh-CN" dirty="0"/>
          </a:p>
          <a:p>
            <a:r>
              <a:rPr lang="zh-CN" altLang="en-US" dirty="0"/>
              <a:t>此外</a:t>
            </a:r>
            <a:r>
              <a:rPr lang="zh-CN" altLang="en-US" baseline="0" dirty="0"/>
              <a:t> 还有</a:t>
            </a:r>
            <a:endParaRPr lang="en-US" altLang="zh-CN" baseline="0" dirty="0"/>
          </a:p>
          <a:p>
            <a:r>
              <a:rPr lang="zh-CN" altLang="en-US" baseline="0" dirty="0"/>
              <a:t>补充规约，词汇表，设想和业务规则等</a:t>
            </a:r>
            <a:endParaRPr lang="en-US" altLang="zh-CN" baseline="0" dirty="0"/>
          </a:p>
          <a:p>
            <a:r>
              <a:rPr lang="zh-CN" altLang="en-US" baseline="0" dirty="0"/>
              <a:t>但这些制品对于面向对象分析和设计而言</a:t>
            </a:r>
            <a:endParaRPr lang="en-US" altLang="zh-CN" baseline="0" dirty="0"/>
          </a:p>
          <a:p>
            <a:r>
              <a:rPr lang="zh-CN" altLang="en-US" baseline="0" dirty="0"/>
              <a:t>居于次要位置</a:t>
            </a:r>
            <a:endParaRPr lang="en-US" altLang="zh-CN" baseline="0" dirty="0"/>
          </a:p>
          <a:p>
            <a:endParaRPr lang="en-US" altLang="zh-CN" baseline="0" dirty="0"/>
          </a:p>
          <a:p>
            <a:r>
              <a:rPr lang="zh-CN" altLang="en-US" baseline="0" dirty="0"/>
              <a:t>用例并不是面向对象的，但用例是</a:t>
            </a:r>
            <a:endParaRPr lang="en-US" altLang="zh-CN" baseline="0" dirty="0"/>
          </a:p>
          <a:p>
            <a:r>
              <a:rPr lang="zh-CN" altLang="en-US" baseline="0" dirty="0"/>
              <a:t>面向对象分析与设计经典方法的主要需求</a:t>
            </a:r>
            <a:endParaRPr lang="en-US" altLang="zh-CN" baseline="0"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15</a:t>
            </a:fld>
            <a:endParaRPr lang="zh-CN" altLang="en-US"/>
          </a:p>
        </p:txBody>
      </p:sp>
    </p:spTree>
    <p:extLst>
      <p:ext uri="{BB962C8B-B14F-4D97-AF65-F5344CB8AC3E}">
        <p14:creationId xmlns:p14="http://schemas.microsoft.com/office/powerpoint/2010/main" val="855926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用例模型的好处</a:t>
            </a:r>
            <a:endParaRPr lang="en-US" altLang="zh-CN" dirty="0"/>
          </a:p>
          <a:p>
            <a:r>
              <a:rPr lang="en-US" altLang="zh-CN" dirty="0"/>
              <a:t>1 </a:t>
            </a:r>
            <a:r>
              <a:rPr lang="zh-CN" altLang="en-US" dirty="0"/>
              <a:t>促进沟通</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用例强调了终端用户的目标和观点</a:t>
            </a:r>
          </a:p>
          <a:p>
            <a:r>
              <a:rPr lang="zh-CN" altLang="en-US" dirty="0"/>
              <a:t>有助于让终端用户和领域专家</a:t>
            </a:r>
            <a:endParaRPr lang="en-US" altLang="zh-CN" dirty="0"/>
          </a:p>
          <a:p>
            <a:r>
              <a:rPr lang="zh-CN" altLang="en-US" dirty="0"/>
              <a:t>参与到软件项目中来</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促进团队成员对需求的充分沟通</a:t>
            </a:r>
            <a:endParaRPr lang="en-US" altLang="zh-CN" dirty="0"/>
          </a:p>
          <a:p>
            <a:endParaRPr lang="en-US" altLang="zh-CN" dirty="0"/>
          </a:p>
          <a:p>
            <a:r>
              <a:rPr lang="en-US" altLang="zh-CN" dirty="0"/>
              <a:t>2 </a:t>
            </a:r>
            <a:r>
              <a:rPr lang="zh-CN" altLang="en-US" dirty="0"/>
              <a:t>有助于标识</a:t>
            </a:r>
            <a:endParaRPr lang="en-US" altLang="zh-CN" dirty="0"/>
          </a:p>
          <a:p>
            <a:r>
              <a:rPr lang="zh-CN" altLang="en-US" dirty="0"/>
              <a:t>有助于保持简洁，并使领域专家或需求提供者</a:t>
            </a:r>
            <a:endParaRPr lang="en-US" altLang="zh-CN" dirty="0"/>
          </a:p>
          <a:p>
            <a:r>
              <a:rPr lang="zh-CN" altLang="en-US" dirty="0"/>
              <a:t>能够自己编写或参与编写用例</a:t>
            </a:r>
            <a:endParaRPr lang="en-US" altLang="zh-CN" dirty="0"/>
          </a:p>
          <a:p>
            <a:endParaRPr lang="en-US" altLang="zh-CN" dirty="0"/>
          </a:p>
          <a:p>
            <a:r>
              <a:rPr lang="en-US" altLang="zh-CN" dirty="0"/>
              <a:t>3 </a:t>
            </a:r>
            <a:r>
              <a:rPr lang="zh-CN" altLang="en-US" dirty="0"/>
              <a:t>有助于验证</a:t>
            </a:r>
            <a:endParaRPr lang="en-US" altLang="zh-CN" dirty="0"/>
          </a:p>
          <a:p>
            <a:r>
              <a:rPr lang="zh-CN" altLang="en-US" dirty="0"/>
              <a:t>有助于验证正确性</a:t>
            </a:r>
            <a:endParaRPr lang="en-US" altLang="zh-CN" dirty="0"/>
          </a:p>
          <a:p>
            <a:r>
              <a:rPr lang="zh-CN" altLang="en-US" dirty="0"/>
              <a:t>例如需求的正确性</a:t>
            </a:r>
            <a:r>
              <a:rPr lang="zh-CN" altLang="en-US" baseline="0" dirty="0"/>
              <a:t> 一致性和完整性</a:t>
            </a:r>
            <a:endParaRPr lang="en-US" altLang="zh-CN" baseline="0" dirty="0"/>
          </a:p>
          <a:p>
            <a:r>
              <a:rPr lang="zh-CN" altLang="en-US" baseline="0" dirty="0"/>
              <a:t>需求与设计和实现的一致性等</a:t>
            </a:r>
            <a:endParaRPr lang="en-US" altLang="zh-CN" baseline="0" dirty="0"/>
          </a:p>
          <a:p>
            <a:endParaRPr lang="en-US" altLang="zh-CN" baseline="0" dirty="0"/>
          </a:p>
          <a:p>
            <a:r>
              <a:rPr lang="zh-CN" altLang="en-US" baseline="0" dirty="0"/>
              <a:t>大家可以而且应该在实践中</a:t>
            </a:r>
            <a:endParaRPr lang="en-US" altLang="zh-CN" baseline="0" dirty="0"/>
          </a:p>
          <a:p>
            <a:r>
              <a:rPr lang="zh-CN" altLang="en-US" baseline="0" dirty="0"/>
              <a:t>进一步体会用例的好处</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16</a:t>
            </a:fld>
            <a:endParaRPr lang="zh-CN" altLang="en-US"/>
          </a:p>
        </p:txBody>
      </p:sp>
    </p:spTree>
    <p:extLst>
      <p:ext uri="{BB962C8B-B14F-4D97-AF65-F5344CB8AC3E}">
        <p14:creationId xmlns:p14="http://schemas.microsoft.com/office/powerpoint/2010/main" val="2231774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a:t>
            </a:r>
            <a:endParaRPr lang="en-US" altLang="zh-CN" dirty="0"/>
          </a:p>
          <a:p>
            <a:r>
              <a:rPr lang="zh-CN" altLang="en-US" dirty="0"/>
              <a:t>通过一个详细描述的用例 </a:t>
            </a:r>
            <a:endParaRPr lang="en-US" altLang="zh-CN" dirty="0"/>
          </a:p>
          <a:p>
            <a:r>
              <a:rPr lang="zh-CN" altLang="en-US" dirty="0"/>
              <a:t>介绍用例规约</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17</a:t>
            </a:fld>
            <a:endParaRPr lang="zh-CN" altLang="en-US"/>
          </a:p>
        </p:txBody>
      </p:sp>
    </p:spTree>
    <p:extLst>
      <p:ext uri="{BB962C8B-B14F-4D97-AF65-F5344CB8AC3E}">
        <p14:creationId xmlns:p14="http://schemas.microsoft.com/office/powerpoint/2010/main" val="1505124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用例的组成部分</a:t>
            </a:r>
          </a:p>
          <a:p>
            <a:r>
              <a:rPr lang="zh-CN" altLang="en-US" dirty="0"/>
              <a:t>用例名称</a:t>
            </a:r>
            <a:endParaRPr lang="en-US" altLang="zh-CN" dirty="0"/>
          </a:p>
          <a:p>
            <a:endParaRPr lang="en-US" altLang="zh-CN" dirty="0"/>
          </a:p>
          <a:p>
            <a:r>
              <a:rPr lang="zh-CN" altLang="en-US" dirty="0"/>
              <a:t>范围</a:t>
            </a:r>
            <a:endParaRPr lang="en-US" altLang="zh-CN" dirty="0"/>
          </a:p>
          <a:p>
            <a:r>
              <a:rPr lang="zh-CN" altLang="en-US" dirty="0"/>
              <a:t>级别</a:t>
            </a:r>
            <a:endParaRPr lang="en-US" altLang="zh-CN" dirty="0"/>
          </a:p>
          <a:p>
            <a:r>
              <a:rPr lang="zh-CN" altLang="en-US" dirty="0"/>
              <a:t>主要参与者</a:t>
            </a:r>
            <a:endParaRPr lang="en-US" altLang="zh-CN" dirty="0"/>
          </a:p>
          <a:p>
            <a:r>
              <a:rPr lang="zh-CN" altLang="en-US" dirty="0"/>
              <a:t>涉众及其关注点</a:t>
            </a:r>
            <a:endParaRPr lang="en-US" altLang="zh-CN" dirty="0"/>
          </a:p>
          <a:p>
            <a:r>
              <a:rPr lang="zh-CN" altLang="en-US" dirty="0"/>
              <a:t>前置条件</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成功保证（后置条件）</a:t>
            </a:r>
            <a:endParaRPr lang="en-US" altLang="zh-CN" dirty="0"/>
          </a:p>
          <a:p>
            <a:r>
              <a:rPr lang="zh-CN" altLang="en-US" dirty="0"/>
              <a:t>主成功场景</a:t>
            </a:r>
            <a:endParaRPr lang="en-US" altLang="zh-CN" dirty="0"/>
          </a:p>
          <a:p>
            <a:r>
              <a:rPr lang="zh-CN" altLang="en-US" dirty="0"/>
              <a:t>扩展</a:t>
            </a:r>
            <a:endParaRPr lang="en-US" altLang="zh-CN" dirty="0"/>
          </a:p>
          <a:p>
            <a:r>
              <a:rPr lang="zh-CN" altLang="en-US" dirty="0"/>
              <a:t>特殊需求</a:t>
            </a:r>
            <a:endParaRPr lang="en-US" altLang="zh-CN" dirty="0"/>
          </a:p>
          <a:p>
            <a:r>
              <a:rPr lang="zh-CN" altLang="en-US" dirty="0"/>
              <a:t>技术和数据变元表</a:t>
            </a:r>
            <a:endParaRPr lang="en-US" altLang="zh-CN" dirty="0"/>
          </a:p>
          <a:p>
            <a:r>
              <a:rPr lang="zh-CN" altLang="en-US" dirty="0"/>
              <a:t>发生频率</a:t>
            </a:r>
            <a:endParaRPr lang="en-US" altLang="zh-CN" dirty="0"/>
          </a:p>
          <a:p>
            <a:r>
              <a:rPr lang="zh-CN" altLang="en-US" dirty="0"/>
              <a:t>杂项</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18</a:t>
            </a:fld>
            <a:endParaRPr lang="zh-CN" altLang="en-US"/>
          </a:p>
        </p:txBody>
      </p:sp>
    </p:spTree>
    <p:extLst>
      <p:ext uri="{BB962C8B-B14F-4D97-AF65-F5344CB8AC3E}">
        <p14:creationId xmlns:p14="http://schemas.microsoft.com/office/powerpoint/2010/main" val="3871832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POS </a:t>
            </a:r>
            <a:r>
              <a:rPr lang="zh-CN" altLang="en-US" dirty="0"/>
              <a:t>例子 （部分）详细的用例规约</a:t>
            </a:r>
            <a:endParaRPr lang="en-US" altLang="zh-CN" dirty="0"/>
          </a:p>
          <a:p>
            <a:r>
              <a:rPr lang="zh-CN" altLang="en-US" dirty="0"/>
              <a:t>这部分内容将采用 翻转课堂 方式教学</a:t>
            </a:r>
            <a:endParaRPr lang="en-US" altLang="zh-CN" dirty="0"/>
          </a:p>
          <a:p>
            <a:endParaRPr lang="en-US" altLang="zh-CN" dirty="0"/>
          </a:p>
          <a:p>
            <a:r>
              <a:rPr lang="zh-CN" altLang="en-US" dirty="0"/>
              <a:t>为了了解更多细节内容</a:t>
            </a:r>
            <a:r>
              <a:rPr lang="zh-CN" altLang="en-US" baseline="0" dirty="0"/>
              <a:t> </a:t>
            </a:r>
            <a:endParaRPr lang="en-US" altLang="zh-CN" baseline="0" dirty="0"/>
          </a:p>
          <a:p>
            <a:r>
              <a:rPr lang="zh-CN" altLang="en-US" baseline="0" dirty="0"/>
              <a:t>请参考 补充规约</a:t>
            </a:r>
            <a:r>
              <a:rPr lang="en-US" altLang="zh-CN" dirty="0"/>
              <a:t>.</a:t>
            </a:r>
            <a:r>
              <a:rPr lang="en-US" altLang="zh-CN" dirty="0" err="1"/>
              <a:t>docx</a:t>
            </a:r>
            <a:r>
              <a:rPr lang="en-US" altLang="zh-CN" baseline="0" dirty="0"/>
              <a:t> </a:t>
            </a:r>
            <a:r>
              <a:rPr lang="zh-CN" altLang="en-US" baseline="0" dirty="0"/>
              <a:t>文档</a:t>
            </a:r>
            <a:endParaRPr lang="en-US" altLang="zh-CN" baseline="0" dirty="0"/>
          </a:p>
          <a:p>
            <a:r>
              <a:rPr lang="zh-CN" altLang="en-US" dirty="0"/>
              <a:t>请阅读 </a:t>
            </a:r>
            <a:r>
              <a:rPr lang="zh-CN" altLang="en-US" baseline="0" dirty="0"/>
              <a:t>补充</a:t>
            </a:r>
            <a:r>
              <a:rPr lang="zh-CN" altLang="en-US" dirty="0"/>
              <a:t>规约 的例子，回答下面的问题</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阅读下面</a:t>
            </a:r>
            <a:r>
              <a:rPr lang="en-US" altLang="zh-CN" baseline="0" dirty="0"/>
              <a:t>PPT</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19</a:t>
            </a:fld>
            <a:endParaRPr lang="zh-CN" altLang="en-US"/>
          </a:p>
        </p:txBody>
      </p:sp>
    </p:spTree>
    <p:extLst>
      <p:ext uri="{BB962C8B-B14F-4D97-AF65-F5344CB8AC3E}">
        <p14:creationId xmlns:p14="http://schemas.microsoft.com/office/powerpoint/2010/main" val="3612995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a:t>
            </a:r>
            <a:r>
              <a:rPr lang="zh-CN" altLang="en-US" baseline="0" dirty="0"/>
              <a:t> </a:t>
            </a:r>
            <a:r>
              <a:rPr lang="en-US" altLang="zh-CN" baseline="0" dirty="0"/>
              <a:t>UC1</a:t>
            </a:r>
            <a:r>
              <a:rPr lang="zh-CN" altLang="en-US" baseline="0" dirty="0"/>
              <a:t>：处理销售的翻转课堂的问题</a:t>
            </a:r>
            <a:endParaRPr lang="en-US" altLang="zh-CN" baseline="0" dirty="0"/>
          </a:p>
          <a:p>
            <a:endParaRPr lang="en-US" altLang="zh-CN" baseline="0" dirty="0"/>
          </a:p>
          <a:p>
            <a:r>
              <a:rPr lang="zh-CN" altLang="en-US" baseline="0" dirty="0"/>
              <a:t>请根据详细风格描述的用例</a:t>
            </a:r>
            <a:r>
              <a:rPr lang="en-US" altLang="zh-CN" baseline="0" dirty="0"/>
              <a:t>1</a:t>
            </a:r>
          </a:p>
          <a:p>
            <a:r>
              <a:rPr lang="zh-CN" altLang="en-US" baseline="0" dirty="0"/>
              <a:t>说明用例模板各个组成部分的含义</a:t>
            </a:r>
            <a:endParaRPr lang="en-US" altLang="zh-CN" baseline="0" dirty="0"/>
          </a:p>
          <a:p>
            <a:endParaRPr lang="en-US" altLang="zh-CN" baseline="0" dirty="0"/>
          </a:p>
          <a:p>
            <a:r>
              <a:rPr lang="zh-CN" altLang="en-US" baseline="0" dirty="0"/>
              <a:t>请为</a:t>
            </a:r>
            <a:r>
              <a:rPr lang="en-US" altLang="zh-CN" baseline="0" dirty="0"/>
              <a:t>UC1</a:t>
            </a:r>
          </a:p>
          <a:p>
            <a:r>
              <a:rPr lang="zh-CN" altLang="en-US" baseline="0" dirty="0"/>
              <a:t>额外给出</a:t>
            </a:r>
            <a:r>
              <a:rPr lang="en-US" altLang="zh-CN" baseline="0" dirty="0"/>
              <a:t>1</a:t>
            </a:r>
            <a:r>
              <a:rPr lang="zh-CN" altLang="en-US" baseline="0" dirty="0"/>
              <a:t>个成功或失败</a:t>
            </a:r>
            <a:endParaRPr lang="en-US" altLang="zh-CN" baseline="0" dirty="0"/>
          </a:p>
          <a:p>
            <a:r>
              <a:rPr lang="zh-CN" altLang="en-US" baseline="0" dirty="0"/>
              <a:t>替换场景的场景实例</a:t>
            </a:r>
            <a:endParaRPr lang="en-US" altLang="zh-CN" baseline="0" dirty="0"/>
          </a:p>
          <a:p>
            <a:endParaRPr lang="en-US" altLang="zh-CN" baseline="0" dirty="0"/>
          </a:p>
          <a:p>
            <a:r>
              <a:rPr lang="zh-CN" altLang="en-US" baseline="0" dirty="0"/>
              <a:t>考虑需求</a:t>
            </a:r>
            <a:endParaRPr lang="en-US" altLang="zh-CN" baseline="0" dirty="0"/>
          </a:p>
          <a:p>
            <a:r>
              <a:rPr lang="zh-CN" altLang="en-US" baseline="0" dirty="0"/>
              <a:t>客户要求显示商品描述和价格</a:t>
            </a:r>
            <a:endParaRPr lang="en-US" altLang="zh-CN" baseline="0" dirty="0"/>
          </a:p>
          <a:p>
            <a:endParaRPr lang="en-US" altLang="zh-CN" baseline="0" dirty="0"/>
          </a:p>
          <a:p>
            <a:r>
              <a:rPr lang="zh-CN" altLang="en-US" baseline="0" dirty="0"/>
              <a:t>那么该需求应在哪里捕获</a:t>
            </a:r>
            <a:endParaRPr lang="en-US" altLang="zh-CN" baseline="0" dirty="0"/>
          </a:p>
          <a:p>
            <a:r>
              <a:rPr lang="en-US" altLang="zh-CN" baseline="0" dirty="0"/>
              <a:t>UC1</a:t>
            </a:r>
            <a:r>
              <a:rPr lang="zh-CN" altLang="en-US" baseline="0" dirty="0"/>
              <a:t>用例的扩展</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aseline="0" dirty="0"/>
              <a:t>UC1</a:t>
            </a:r>
            <a:r>
              <a:rPr lang="zh-CN" altLang="en-US" baseline="0" dirty="0"/>
              <a:t>用例的特别需求</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补充规约</a:t>
            </a:r>
            <a:endParaRPr lang="en-US" altLang="zh-CN" baseline="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en-US" altLang="zh-CN" baseline="0"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20</a:t>
            </a:fld>
            <a:endParaRPr lang="zh-CN" altLang="en-US"/>
          </a:p>
        </p:txBody>
      </p:sp>
    </p:spTree>
    <p:extLst>
      <p:ext uri="{BB962C8B-B14F-4D97-AF65-F5344CB8AC3E}">
        <p14:creationId xmlns:p14="http://schemas.microsoft.com/office/powerpoint/2010/main" val="3252737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请带上某个涉众的帽子</a:t>
            </a:r>
            <a:endParaRPr lang="en-US" altLang="zh-CN" dirty="0"/>
          </a:p>
          <a:p>
            <a:r>
              <a:rPr lang="zh-CN" altLang="en-US" dirty="0"/>
              <a:t>表达该涉众的关注点</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21</a:t>
            </a:fld>
            <a:endParaRPr lang="zh-CN" altLang="en-US"/>
          </a:p>
        </p:txBody>
      </p:sp>
    </p:spTree>
    <p:extLst>
      <p:ext uri="{BB962C8B-B14F-4D97-AF65-F5344CB8AC3E}">
        <p14:creationId xmlns:p14="http://schemas.microsoft.com/office/powerpoint/2010/main" val="1384216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请回答在扩展事件流中</a:t>
            </a:r>
            <a:endParaRPr lang="en-US" altLang="zh-CN" dirty="0"/>
          </a:p>
          <a:p>
            <a:r>
              <a:rPr lang="en-US" altLang="zh-CN" dirty="0"/>
              <a:t>*</a:t>
            </a:r>
            <a:r>
              <a:rPr lang="en-US" altLang="zh-CN" baseline="0" dirty="0"/>
              <a:t> </a:t>
            </a:r>
            <a:r>
              <a:rPr lang="zh-CN" altLang="en-US" baseline="0" dirty="0"/>
              <a:t>表示什么含义？</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22</a:t>
            </a:fld>
            <a:endParaRPr lang="zh-CN" altLang="en-US"/>
          </a:p>
        </p:txBody>
      </p:sp>
    </p:spTree>
    <p:extLst>
      <p:ext uri="{BB962C8B-B14F-4D97-AF65-F5344CB8AC3E}">
        <p14:creationId xmlns:p14="http://schemas.microsoft.com/office/powerpoint/2010/main" val="2605172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这是处理销售用例的其它内容</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23</a:t>
            </a:fld>
            <a:endParaRPr lang="zh-CN" altLang="en-US"/>
          </a:p>
        </p:txBody>
      </p:sp>
    </p:spTree>
    <p:extLst>
      <p:ext uri="{BB962C8B-B14F-4D97-AF65-F5344CB8AC3E}">
        <p14:creationId xmlns:p14="http://schemas.microsoft.com/office/powerpoint/2010/main" val="3117564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a:t>
            </a:r>
            <a:endParaRPr lang="en-US" altLang="zh-CN" dirty="0"/>
          </a:p>
          <a:p>
            <a:r>
              <a:rPr lang="zh-CN" altLang="en-US" dirty="0"/>
              <a:t>介绍关于用例的准则</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24</a:t>
            </a:fld>
            <a:endParaRPr lang="zh-CN" altLang="en-US"/>
          </a:p>
        </p:txBody>
      </p:sp>
    </p:spTree>
    <p:extLst>
      <p:ext uri="{BB962C8B-B14F-4D97-AF65-F5344CB8AC3E}">
        <p14:creationId xmlns:p14="http://schemas.microsoft.com/office/powerpoint/2010/main" val="3921458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编写用例的准则</a:t>
            </a:r>
            <a:endParaRPr lang="en-US" altLang="zh-CN" dirty="0"/>
          </a:p>
          <a:p>
            <a:r>
              <a:rPr lang="zh-CN" altLang="en-US" dirty="0"/>
              <a:t>以本质风格编写用例</a:t>
            </a:r>
            <a:endParaRPr lang="en-US" altLang="zh-CN" dirty="0"/>
          </a:p>
          <a:p>
            <a:r>
              <a:rPr lang="zh-CN" altLang="en-US" dirty="0"/>
              <a:t>摒除用户界面</a:t>
            </a:r>
            <a:endParaRPr lang="en-US" altLang="zh-CN" dirty="0"/>
          </a:p>
          <a:p>
            <a:r>
              <a:rPr lang="zh-CN" altLang="en-US" dirty="0"/>
              <a:t>并且关注参与者的意图</a:t>
            </a:r>
            <a:endParaRPr lang="en-US" altLang="zh-CN" dirty="0"/>
          </a:p>
          <a:p>
            <a:endParaRPr lang="en-US" altLang="zh-CN" dirty="0"/>
          </a:p>
          <a:p>
            <a:r>
              <a:rPr lang="zh-CN" altLang="en-US" dirty="0"/>
              <a:t>编写简洁的用例</a:t>
            </a:r>
            <a:endParaRPr lang="en-US" altLang="zh-CN" dirty="0"/>
          </a:p>
          <a:p>
            <a:endParaRPr lang="en-US" altLang="zh-CN" dirty="0"/>
          </a:p>
          <a:p>
            <a:r>
              <a:rPr lang="zh-CN" altLang="en-US" dirty="0"/>
              <a:t>编写黑盒用例</a:t>
            </a:r>
            <a:endParaRPr lang="en-US" altLang="zh-CN" dirty="0"/>
          </a:p>
          <a:p>
            <a:endParaRPr lang="en-US" altLang="zh-CN" dirty="0"/>
          </a:p>
          <a:p>
            <a:r>
              <a:rPr lang="zh-CN" altLang="en-US" dirty="0"/>
              <a:t>采用参与者和参与者目标的视角</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25</a:t>
            </a:fld>
            <a:endParaRPr lang="zh-CN" altLang="en-US"/>
          </a:p>
        </p:txBody>
      </p:sp>
    </p:spTree>
    <p:extLst>
      <p:ext uri="{BB962C8B-B14F-4D97-AF65-F5344CB8AC3E}">
        <p14:creationId xmlns:p14="http://schemas.microsoft.com/office/powerpoint/2010/main" val="3099052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为满足主要参与者的目标而</a:t>
            </a:r>
            <a:endParaRPr lang="en-US" altLang="zh-CN" dirty="0"/>
          </a:p>
          <a:p>
            <a:r>
              <a:rPr lang="zh-CN" altLang="en-US" dirty="0"/>
              <a:t>定义用例</a:t>
            </a:r>
            <a:endParaRPr lang="en-US" altLang="zh-CN" dirty="0"/>
          </a:p>
          <a:p>
            <a:r>
              <a:rPr lang="zh-CN" altLang="en-US" dirty="0"/>
              <a:t>因此，基本的过程如下</a:t>
            </a:r>
            <a:endParaRPr lang="en-US" altLang="zh-CN" dirty="0"/>
          </a:p>
          <a:p>
            <a:r>
              <a:rPr lang="en-US" altLang="zh-CN" dirty="0"/>
              <a:t>1</a:t>
            </a:r>
            <a:r>
              <a:rPr lang="zh-CN" altLang="en-US" dirty="0"/>
              <a:t>）选择系统边界</a:t>
            </a:r>
            <a:endParaRPr lang="en-US" altLang="zh-CN" dirty="0"/>
          </a:p>
          <a:p>
            <a:r>
              <a:rPr lang="en-US" altLang="zh-CN" dirty="0"/>
              <a:t>2</a:t>
            </a:r>
            <a:r>
              <a:rPr lang="zh-CN" altLang="en-US" dirty="0"/>
              <a:t>）确定主要参与者</a:t>
            </a:r>
            <a:endParaRPr lang="en-US" altLang="zh-CN" dirty="0"/>
          </a:p>
          <a:p>
            <a:r>
              <a:rPr lang="en-US" altLang="zh-CN" dirty="0"/>
              <a:t>3</a:t>
            </a:r>
            <a:r>
              <a:rPr lang="zh-CN" altLang="en-US" dirty="0"/>
              <a:t>）确定每个主要参与者的目标</a:t>
            </a:r>
            <a:endParaRPr lang="en-US" altLang="zh-CN" dirty="0"/>
          </a:p>
          <a:p>
            <a:r>
              <a:rPr lang="en-US" altLang="zh-CN" dirty="0"/>
              <a:t>4</a:t>
            </a:r>
            <a:r>
              <a:rPr lang="zh-CN" altLang="en-US" dirty="0"/>
              <a:t>）定义满足用户目标的用例，根据其目标对用例命名</a:t>
            </a:r>
            <a:endParaRPr lang="en-US" altLang="zh-CN" dirty="0"/>
          </a:p>
          <a:p>
            <a:endParaRPr lang="en-US" altLang="zh-CN" dirty="0"/>
          </a:p>
          <a:p>
            <a:r>
              <a:rPr lang="zh-CN" altLang="en-US" dirty="0"/>
              <a:t>在</a:t>
            </a:r>
            <a:r>
              <a:rPr lang="en-US" altLang="zh-CN" dirty="0"/>
              <a:t>UP</a:t>
            </a:r>
            <a:r>
              <a:rPr lang="zh-CN" altLang="en-US" dirty="0"/>
              <a:t>中，在开始阶段</a:t>
            </a:r>
            <a:endParaRPr lang="en-US" altLang="zh-CN" dirty="0"/>
          </a:p>
          <a:p>
            <a:r>
              <a:rPr lang="zh-CN" altLang="en-US" dirty="0"/>
              <a:t>不必完整或准确地定义</a:t>
            </a:r>
            <a:endParaRPr lang="en-US" altLang="zh-CN" dirty="0"/>
          </a:p>
          <a:p>
            <a:r>
              <a:rPr lang="zh-CN" altLang="en-US" dirty="0"/>
              <a:t>所有目标或用例</a:t>
            </a:r>
            <a:endParaRPr lang="en-US" altLang="zh-CN" dirty="0"/>
          </a:p>
          <a:p>
            <a:r>
              <a:rPr lang="zh-CN" altLang="en-US" dirty="0"/>
              <a:t>这是不断深入发掘的过程</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26</a:t>
            </a:fld>
            <a:endParaRPr lang="zh-CN" altLang="en-US"/>
          </a:p>
        </p:txBody>
      </p:sp>
    </p:spTree>
    <p:extLst>
      <p:ext uri="{BB962C8B-B14F-4D97-AF65-F5344CB8AC3E}">
        <p14:creationId xmlns:p14="http://schemas.microsoft.com/office/powerpoint/2010/main" val="1372846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对于本案例研究，</a:t>
            </a:r>
            <a:r>
              <a:rPr lang="en-US" altLang="zh-CN" dirty="0"/>
              <a:t>POS</a:t>
            </a:r>
            <a:r>
              <a:rPr lang="zh-CN" altLang="en-US" dirty="0"/>
              <a:t>系统是被设计的系统</a:t>
            </a:r>
            <a:endParaRPr lang="en-US" altLang="zh-CN" dirty="0"/>
          </a:p>
          <a:p>
            <a:r>
              <a:rPr lang="zh-CN" altLang="en-US" dirty="0"/>
              <a:t>任何系统之外的事物都在系统边界之外</a:t>
            </a:r>
            <a:endParaRPr lang="en-US" altLang="zh-CN" dirty="0"/>
          </a:p>
          <a:p>
            <a:r>
              <a:rPr lang="zh-CN" altLang="en-US" dirty="0"/>
              <a:t>包括收银员、支付授权系统等</a:t>
            </a:r>
            <a:endParaRPr lang="en-US" altLang="zh-CN" dirty="0"/>
          </a:p>
          <a:p>
            <a:endParaRPr lang="en-US" altLang="zh-CN" dirty="0"/>
          </a:p>
          <a:p>
            <a:r>
              <a:rPr lang="zh-CN" altLang="en-US" dirty="0"/>
              <a:t>如果被设计系统的边界定义不清晰</a:t>
            </a:r>
            <a:endParaRPr lang="en-US" altLang="zh-CN" dirty="0"/>
          </a:p>
          <a:p>
            <a:r>
              <a:rPr lang="zh-CN" altLang="en-US" dirty="0"/>
              <a:t>那么可以通过此后对系统外部</a:t>
            </a:r>
            <a:endParaRPr lang="en-US" altLang="zh-CN" dirty="0"/>
          </a:p>
          <a:p>
            <a:r>
              <a:rPr lang="zh-CN" altLang="en-US" dirty="0"/>
              <a:t>主要参与者和协助参与者的定义加以明确</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27</a:t>
            </a:fld>
            <a:endParaRPr lang="zh-CN" altLang="en-US"/>
          </a:p>
        </p:txBody>
      </p:sp>
    </p:spTree>
    <p:extLst>
      <p:ext uri="{BB962C8B-B14F-4D97-AF65-F5344CB8AC3E}">
        <p14:creationId xmlns:p14="http://schemas.microsoft.com/office/powerpoint/2010/main" val="1651183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下列问题有助于确定</a:t>
            </a:r>
            <a:endParaRPr lang="en-US" altLang="zh-CN" dirty="0"/>
          </a:p>
          <a:p>
            <a:r>
              <a:rPr lang="zh-CN" altLang="en-US" dirty="0"/>
              <a:t>其他可能会遗漏的参与者和目标</a:t>
            </a:r>
            <a:endParaRPr lang="en-US" altLang="zh-CN" dirty="0"/>
          </a:p>
          <a:p>
            <a:r>
              <a:rPr lang="zh-CN" altLang="en-US" dirty="0"/>
              <a:t>谁来启动和停止系统？</a:t>
            </a:r>
            <a:endParaRPr lang="en-US" altLang="zh-CN" dirty="0"/>
          </a:p>
          <a:p>
            <a:r>
              <a:rPr lang="zh-CN" altLang="en-US" dirty="0"/>
              <a:t>谁来完成用户管理和安全管理？</a:t>
            </a:r>
            <a:endParaRPr lang="en-US" altLang="zh-CN" dirty="0"/>
          </a:p>
          <a:p>
            <a:r>
              <a:rPr lang="zh-CN" altLang="en-US" dirty="0"/>
              <a:t>谁来完成系统管理？</a:t>
            </a:r>
            <a:endParaRPr lang="en-US" altLang="zh-CN" dirty="0"/>
          </a:p>
          <a:p>
            <a:r>
              <a:rPr lang="zh-CN" altLang="en-US" dirty="0"/>
              <a:t>“时间”是参与者吗？因为系统要响应时间事件</a:t>
            </a:r>
            <a:endParaRPr lang="en-US" altLang="zh-CN" dirty="0"/>
          </a:p>
          <a:p>
            <a:r>
              <a:rPr lang="zh-CN" altLang="en-US" dirty="0"/>
              <a:t>而完成某些活动</a:t>
            </a:r>
            <a:endParaRPr lang="en-US" altLang="zh-CN" dirty="0"/>
          </a:p>
          <a:p>
            <a:r>
              <a:rPr lang="zh-CN" altLang="en-US" dirty="0"/>
              <a:t>当系统失败时</a:t>
            </a:r>
            <a:endParaRPr lang="en-US" altLang="zh-CN" dirty="0"/>
          </a:p>
          <a:p>
            <a:r>
              <a:rPr lang="zh-CN" altLang="en-US" dirty="0"/>
              <a:t>是否存在监控进程将系统重新启动？</a:t>
            </a:r>
            <a:endParaRPr lang="en-US" altLang="zh-CN" dirty="0"/>
          </a:p>
          <a:p>
            <a:r>
              <a:rPr lang="zh-CN" altLang="en-US" dirty="0"/>
              <a:t>软件升级是如何处理的？是“推模式”还是“拉”模式？</a:t>
            </a:r>
            <a:endParaRPr lang="en-US" altLang="zh-CN" dirty="0"/>
          </a:p>
          <a:p>
            <a:r>
              <a:rPr lang="zh-CN" altLang="en-US" dirty="0"/>
              <a:t>除了人作为主要参与者外，还有其它外部的软件或自动机器系统</a:t>
            </a:r>
            <a:endParaRPr lang="en-US" altLang="zh-CN" dirty="0"/>
          </a:p>
          <a:p>
            <a:r>
              <a:rPr lang="zh-CN" altLang="en-US" dirty="0"/>
              <a:t>调用该系统的服务吗？</a:t>
            </a:r>
            <a:endParaRPr lang="en-US" altLang="zh-CN" dirty="0"/>
          </a:p>
          <a:p>
            <a:endParaRPr lang="en-US" altLang="zh-CN" dirty="0"/>
          </a:p>
          <a:p>
            <a:r>
              <a:rPr lang="zh-CN" altLang="en-US" dirty="0"/>
              <a:t>谁来考察系统活动或性能？</a:t>
            </a:r>
            <a:endParaRPr lang="en-US" altLang="zh-CN" dirty="0"/>
          </a:p>
          <a:p>
            <a:r>
              <a:rPr lang="zh-CN" altLang="en-US" dirty="0"/>
              <a:t>谁来考察日志？</a:t>
            </a:r>
            <a:endParaRPr lang="en-US" altLang="zh-CN" dirty="0"/>
          </a:p>
          <a:p>
            <a:r>
              <a:rPr lang="zh-CN" altLang="en-US" dirty="0"/>
              <a:t>是否可以远程检索？</a:t>
            </a:r>
            <a:endParaRPr lang="en-US" altLang="zh-CN" dirty="0"/>
          </a:p>
          <a:p>
            <a:r>
              <a:rPr lang="zh-CN" altLang="en-US" dirty="0"/>
              <a:t>系统发生错误或故障时应通知谁？</a:t>
            </a:r>
            <a:endParaRPr lang="en-US" altLang="zh-CN" dirty="0"/>
          </a:p>
          <a:p>
            <a:endParaRPr lang="en-US" altLang="zh-CN" dirty="0"/>
          </a:p>
          <a:p>
            <a:r>
              <a:rPr lang="zh-CN" altLang="en-US" dirty="0"/>
              <a:t>至少有两种方法可以组织参与者和目标</a:t>
            </a:r>
            <a:endParaRPr lang="en-US" altLang="zh-CN" dirty="0"/>
          </a:p>
          <a:p>
            <a:r>
              <a:rPr lang="zh-CN" altLang="en-US" dirty="0"/>
              <a:t>绘制用例图，以目标作为用例名称</a:t>
            </a:r>
            <a:endParaRPr lang="en-US" altLang="zh-CN" dirty="0"/>
          </a:p>
          <a:p>
            <a:r>
              <a:rPr lang="zh-CN" altLang="en-US" dirty="0"/>
              <a:t>首先写出参与者</a:t>
            </a:r>
            <a:r>
              <a:rPr lang="en-US" altLang="zh-CN" dirty="0"/>
              <a:t>-</a:t>
            </a:r>
            <a:r>
              <a:rPr lang="zh-CN" altLang="en-US" dirty="0"/>
              <a:t>目标列表，复查并精化之，然后绘制用例图</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28</a:t>
            </a:fld>
            <a:endParaRPr lang="zh-CN" altLang="en-US"/>
          </a:p>
        </p:txBody>
      </p:sp>
    </p:spTree>
    <p:extLst>
      <p:ext uri="{BB962C8B-B14F-4D97-AF65-F5344CB8AC3E}">
        <p14:creationId xmlns:p14="http://schemas.microsoft.com/office/powerpoint/2010/main" val="2041511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一般来说</a:t>
            </a:r>
            <a:endParaRPr lang="en-US" altLang="zh-CN" dirty="0"/>
          </a:p>
          <a:p>
            <a:r>
              <a:rPr lang="zh-CN" altLang="en-US" dirty="0"/>
              <a:t>为每个用户目标分别定义用例</a:t>
            </a:r>
            <a:endParaRPr lang="en-US" altLang="zh-CN" dirty="0"/>
          </a:p>
          <a:p>
            <a:r>
              <a:rPr lang="zh-CN" altLang="en-US" dirty="0"/>
              <a:t>用例的名称应该和用户目标类似</a:t>
            </a:r>
            <a:endParaRPr lang="en-US" altLang="zh-CN" dirty="0"/>
          </a:p>
          <a:p>
            <a:r>
              <a:rPr lang="zh-CN" altLang="en-US" dirty="0"/>
              <a:t>例如，</a:t>
            </a:r>
            <a:endParaRPr lang="en-US" altLang="zh-CN" dirty="0"/>
          </a:p>
          <a:p>
            <a:r>
              <a:rPr lang="zh-CN" altLang="en-US" dirty="0"/>
              <a:t>目标 处理销售；</a:t>
            </a:r>
            <a:r>
              <a:rPr lang="zh-CN" altLang="en-US" baseline="0" dirty="0"/>
              <a:t> </a:t>
            </a:r>
            <a:endParaRPr lang="en-US" altLang="zh-CN" baseline="0" dirty="0"/>
          </a:p>
          <a:p>
            <a:r>
              <a:rPr lang="zh-CN" altLang="en-US" baseline="0" dirty="0"/>
              <a:t>用例：处理销售</a:t>
            </a:r>
            <a:endParaRPr lang="en-US" altLang="zh-CN" dirty="0"/>
          </a:p>
          <a:p>
            <a:endParaRPr lang="en-US" altLang="zh-CN" dirty="0"/>
          </a:p>
          <a:p>
            <a:r>
              <a:rPr lang="zh-CN" altLang="en-US" dirty="0"/>
              <a:t>通常一个目标对应一个用例</a:t>
            </a:r>
            <a:endParaRPr lang="en-US" altLang="zh-CN" dirty="0"/>
          </a:p>
          <a:p>
            <a:r>
              <a:rPr lang="zh-CN" altLang="en-US" dirty="0"/>
              <a:t>但常见一个例外的情况是</a:t>
            </a:r>
            <a:endParaRPr lang="en-US" altLang="zh-CN" dirty="0"/>
          </a:p>
          <a:p>
            <a:r>
              <a:rPr lang="zh-CN" altLang="en-US" dirty="0"/>
              <a:t>将分散的 </a:t>
            </a:r>
            <a:r>
              <a:rPr lang="en-US" altLang="zh-CN" dirty="0"/>
              <a:t>CRUD</a:t>
            </a:r>
            <a:r>
              <a:rPr lang="en-US" altLang="zh-CN" baseline="0" dirty="0"/>
              <a:t> </a:t>
            </a:r>
            <a:r>
              <a:rPr lang="zh-CN" altLang="en-US" baseline="0" dirty="0"/>
              <a:t>创建、检索、更新和删除目标</a:t>
            </a:r>
            <a:endParaRPr lang="en-US" altLang="zh-CN" baseline="0" dirty="0"/>
          </a:p>
          <a:p>
            <a:r>
              <a:rPr lang="zh-CN" altLang="en-US" baseline="0" dirty="0"/>
              <a:t>合并为一个</a:t>
            </a:r>
            <a:r>
              <a:rPr lang="en-US" altLang="zh-CN" baseline="0" dirty="0"/>
              <a:t>CRUD</a:t>
            </a:r>
            <a:r>
              <a:rPr lang="zh-CN" altLang="en-US" baseline="0" dirty="0"/>
              <a:t>用例，并习惯性地称为管理</a:t>
            </a:r>
            <a:r>
              <a:rPr lang="en-US" altLang="zh-CN" dirty="0"/>
              <a:t>&lt;X&gt;.</a:t>
            </a:r>
          </a:p>
          <a:p>
            <a:r>
              <a:rPr lang="zh-CN" altLang="en-US" dirty="0"/>
              <a:t>例如，管理用户用例可以同时满足</a:t>
            </a:r>
            <a:r>
              <a:rPr lang="zh-CN" altLang="en-US" baseline="0" dirty="0"/>
              <a:t> 编辑用户 删除用户等目标</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29</a:t>
            </a:fld>
            <a:endParaRPr lang="zh-CN" altLang="en-US"/>
          </a:p>
        </p:txBody>
      </p:sp>
    </p:spTree>
    <p:extLst>
      <p:ext uri="{BB962C8B-B14F-4D97-AF65-F5344CB8AC3E}">
        <p14:creationId xmlns:p14="http://schemas.microsoft.com/office/powerpoint/2010/main" val="2807415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什么样的测试有助于发现有用的用例</a:t>
            </a:r>
            <a:endParaRPr lang="en-US" altLang="zh-CN" dirty="0"/>
          </a:p>
          <a:p>
            <a:r>
              <a:rPr lang="zh-CN" altLang="en-US" dirty="0"/>
              <a:t>老板测试</a:t>
            </a:r>
            <a:endParaRPr lang="en-US" altLang="zh-CN" dirty="0"/>
          </a:p>
          <a:p>
            <a:pPr lvl="1"/>
            <a:r>
              <a:rPr lang="zh-CN" altLang="en-US" dirty="0"/>
              <a:t>如果用例 不会通过老板测试</a:t>
            </a:r>
            <a:endParaRPr lang="en-US" altLang="zh-CN" dirty="0"/>
          </a:p>
          <a:p>
            <a:pPr lvl="1"/>
            <a:r>
              <a:rPr lang="zh-CN" altLang="en-US" dirty="0"/>
              <a:t>这意味着 该用例与达到可量化价值的结果 没有太大的关系</a:t>
            </a:r>
            <a:endParaRPr lang="en-US" altLang="zh-CN" dirty="0"/>
          </a:p>
          <a:p>
            <a:r>
              <a:rPr lang="en-US" altLang="zh-CN" dirty="0"/>
              <a:t>EBP </a:t>
            </a:r>
            <a:r>
              <a:rPr lang="zh-CN" altLang="en-US" dirty="0"/>
              <a:t>测试</a:t>
            </a:r>
            <a:endParaRPr lang="en-US" altLang="zh-CN" dirty="0"/>
          </a:p>
          <a:p>
            <a:pPr lvl="1"/>
            <a:r>
              <a:rPr lang="en-US" altLang="zh-CN" dirty="0"/>
              <a:t>EBP </a:t>
            </a:r>
            <a:r>
              <a:rPr lang="zh-CN" altLang="en-US" dirty="0"/>
              <a:t>是一个人在某个时刻 某个地点执行的任务</a:t>
            </a:r>
            <a:endParaRPr lang="en-US" altLang="zh-CN" dirty="0"/>
          </a:p>
          <a:p>
            <a:pPr lvl="1"/>
            <a:r>
              <a:rPr lang="zh-CN" altLang="en-US" dirty="0"/>
              <a:t>用以响应业务事件</a:t>
            </a:r>
            <a:endParaRPr lang="en-US" altLang="zh-CN" dirty="0"/>
          </a:p>
          <a:p>
            <a:pPr lvl="1"/>
            <a:r>
              <a:rPr lang="zh-CN" altLang="en-US" baseline="0" dirty="0"/>
              <a:t>该任务能够增加可量化的业务价值</a:t>
            </a:r>
            <a:endParaRPr lang="en-US" altLang="zh-CN" dirty="0"/>
          </a:p>
          <a:p>
            <a:r>
              <a:rPr lang="zh-CN" altLang="en-US" dirty="0"/>
              <a:t>规模测试</a:t>
            </a:r>
            <a:endParaRPr lang="en-US" altLang="zh-CN" dirty="0"/>
          </a:p>
          <a:p>
            <a:pPr lvl="1"/>
            <a:r>
              <a:rPr lang="zh-CN" altLang="en-US" dirty="0"/>
              <a:t>用例通常包含多个步骤</a:t>
            </a:r>
            <a:endParaRPr lang="en-US" altLang="zh-CN" dirty="0"/>
          </a:p>
          <a:p>
            <a:pPr lvl="1"/>
            <a:r>
              <a:rPr lang="zh-CN" altLang="en-US" dirty="0"/>
              <a:t>在详述形式的用例中，通常需要</a:t>
            </a:r>
            <a:r>
              <a:rPr lang="en-US" altLang="zh-CN" dirty="0"/>
              <a:t>3-10</a:t>
            </a:r>
            <a:r>
              <a:rPr lang="zh-CN" altLang="en-US" dirty="0"/>
              <a:t>文本</a:t>
            </a:r>
            <a:endParaRPr lang="en-US" altLang="zh-CN" dirty="0"/>
          </a:p>
          <a:p>
            <a:pPr lvl="1"/>
            <a:r>
              <a:rPr lang="zh-CN" altLang="en-US" dirty="0"/>
              <a:t>换言之，如果一个待标识的用例只包含很少的简单步骤</a:t>
            </a:r>
            <a:endParaRPr lang="en-US" altLang="zh-CN" dirty="0"/>
          </a:p>
          <a:p>
            <a:pPr lvl="1"/>
            <a:r>
              <a:rPr lang="zh-CN" altLang="en-US" dirty="0"/>
              <a:t>那么，该用例很可能只是某个用例的步骤，而不应该单独成为一个用例</a:t>
            </a:r>
            <a:endParaRPr lang="en-US" altLang="zh-CN" dirty="0"/>
          </a:p>
          <a:p>
            <a:pPr lvl="1"/>
            <a:endParaRPr lang="en-US" altLang="zh-CN" dirty="0"/>
          </a:p>
          <a:p>
            <a:pPr lvl="1"/>
            <a:r>
              <a:rPr lang="zh-CN" altLang="en-US" dirty="0"/>
              <a:t>下面哪个是有效的用例</a:t>
            </a:r>
            <a:endParaRPr lang="en-US" altLang="zh-CN" dirty="0"/>
          </a:p>
          <a:p>
            <a:pPr lvl="1"/>
            <a:r>
              <a:rPr lang="en-US" altLang="zh-CN" dirty="0"/>
              <a:t>1 </a:t>
            </a:r>
            <a:r>
              <a:rPr lang="zh-CN" altLang="en-US" dirty="0"/>
              <a:t>就供应者合同进行协商</a:t>
            </a:r>
            <a:endParaRPr lang="en-US" altLang="zh-CN" dirty="0"/>
          </a:p>
          <a:p>
            <a:pPr lvl="1"/>
            <a:r>
              <a:rPr lang="zh-CN" altLang="en-US" dirty="0"/>
              <a:t>比</a:t>
            </a:r>
            <a:r>
              <a:rPr lang="en-US" altLang="zh-CN" dirty="0"/>
              <a:t>EBP</a:t>
            </a:r>
            <a:r>
              <a:rPr lang="zh-CN" altLang="en-US" dirty="0"/>
              <a:t>更加广泛，用时更长。更适合作为业务用例，而非系统用例</a:t>
            </a:r>
            <a:endParaRPr lang="en-US" altLang="zh-CN" dirty="0"/>
          </a:p>
          <a:p>
            <a:pPr lvl="1"/>
            <a:r>
              <a:rPr lang="en-US" altLang="zh-CN" dirty="0"/>
              <a:t>2 </a:t>
            </a:r>
            <a:r>
              <a:rPr lang="zh-CN" altLang="en-US" dirty="0"/>
              <a:t>处理退货</a:t>
            </a:r>
            <a:endParaRPr lang="en-US" altLang="zh-CN" dirty="0"/>
          </a:p>
          <a:p>
            <a:pPr lvl="1"/>
            <a:r>
              <a:rPr lang="zh-CN" altLang="en-US" dirty="0"/>
              <a:t>能够通过老板测试 看上去与</a:t>
            </a:r>
            <a:r>
              <a:rPr lang="en-US" altLang="zh-CN" dirty="0"/>
              <a:t>EBP</a:t>
            </a:r>
            <a:r>
              <a:rPr lang="zh-CN" altLang="en-US" dirty="0"/>
              <a:t>类似，规模合适</a:t>
            </a:r>
            <a:endParaRPr lang="en-US" altLang="zh-CN" dirty="0"/>
          </a:p>
          <a:p>
            <a:pPr lvl="1"/>
            <a:r>
              <a:rPr lang="en-US" altLang="zh-CN" dirty="0"/>
              <a:t>3 </a:t>
            </a:r>
            <a:r>
              <a:rPr lang="zh-CN" altLang="en-US" dirty="0"/>
              <a:t>登录</a:t>
            </a:r>
            <a:endParaRPr lang="en-US" altLang="zh-CN" dirty="0"/>
          </a:p>
          <a:p>
            <a:pPr lvl="1"/>
            <a:r>
              <a:rPr lang="zh-CN" altLang="en-US" dirty="0"/>
              <a:t>如果你一整天都在登录，显然老板不会满意</a:t>
            </a:r>
            <a:endParaRPr lang="en-US" altLang="zh-CN" dirty="0"/>
          </a:p>
          <a:p>
            <a:pPr lvl="1"/>
            <a:r>
              <a:rPr lang="en-US" altLang="zh-CN" dirty="0"/>
              <a:t>4 </a:t>
            </a:r>
            <a:r>
              <a:rPr lang="zh-CN" altLang="en-US" dirty="0"/>
              <a:t>在游戏板上移动棋子</a:t>
            </a:r>
            <a:endParaRPr lang="en-US" altLang="zh-CN" dirty="0"/>
          </a:p>
          <a:p>
            <a:pPr lvl="1"/>
            <a:r>
              <a:rPr lang="zh-CN" altLang="en-US" dirty="0"/>
              <a:t>单一步骤，不能通过规模测试</a:t>
            </a:r>
            <a:endParaRPr lang="en-US" altLang="zh-CN" dirty="0"/>
          </a:p>
          <a:p>
            <a:pPr lvl="1"/>
            <a:r>
              <a:rPr lang="zh-CN" altLang="en-US" dirty="0"/>
              <a:t>因此，综上所述，处理退货 是有效的用例</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30</a:t>
            </a:fld>
            <a:endParaRPr lang="zh-CN" altLang="en-US"/>
          </a:p>
        </p:txBody>
      </p:sp>
    </p:spTree>
    <p:extLst>
      <p:ext uri="{BB962C8B-B14F-4D97-AF65-F5344CB8AC3E}">
        <p14:creationId xmlns:p14="http://schemas.microsoft.com/office/powerpoint/2010/main" val="1004941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下面介绍</a:t>
            </a:r>
            <a:endParaRPr lang="en-US" altLang="zh-CN" dirty="0"/>
          </a:p>
          <a:p>
            <a:endParaRPr lang="en-US" altLang="zh-CN" dirty="0"/>
          </a:p>
          <a:p>
            <a:r>
              <a:rPr lang="zh-CN" altLang="en-US" dirty="0"/>
              <a:t>用例：应用</a:t>
            </a:r>
            <a:r>
              <a:rPr lang="en-US" altLang="zh-CN" dirty="0"/>
              <a:t>UML</a:t>
            </a:r>
            <a:r>
              <a:rPr lang="zh-CN" altLang="en-US" dirty="0"/>
              <a:t>表示法的一个案例研究</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31</a:t>
            </a:fld>
            <a:endParaRPr lang="zh-CN" altLang="en-US"/>
          </a:p>
        </p:txBody>
      </p:sp>
    </p:spTree>
    <p:extLst>
      <p:ext uri="{BB962C8B-B14F-4D97-AF65-F5344CB8AC3E}">
        <p14:creationId xmlns:p14="http://schemas.microsoft.com/office/powerpoint/2010/main" val="1071779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可以采用用例图</a:t>
            </a:r>
            <a:endParaRPr lang="en-US" altLang="zh-CN" dirty="0"/>
          </a:p>
          <a:p>
            <a:r>
              <a:rPr lang="zh-CN" altLang="en-US" dirty="0"/>
              <a:t>对课程</a:t>
            </a:r>
            <a:r>
              <a:rPr lang="en-US" altLang="zh-CN" dirty="0"/>
              <a:t>2.1</a:t>
            </a:r>
            <a:r>
              <a:rPr lang="zh-CN" altLang="en-US" dirty="0"/>
              <a:t>节介绍的锄大地游戏案例</a:t>
            </a:r>
            <a:endParaRPr lang="en-US" altLang="zh-CN" dirty="0"/>
          </a:p>
          <a:p>
            <a:r>
              <a:rPr lang="zh-CN" altLang="en-US" dirty="0"/>
              <a:t>进行建模</a:t>
            </a:r>
            <a:endParaRPr lang="en-US" altLang="zh-CN" dirty="0"/>
          </a:p>
          <a:p>
            <a:endParaRPr lang="en-US" altLang="zh-CN" dirty="0"/>
          </a:p>
          <a:p>
            <a:r>
              <a:rPr lang="zh-CN" altLang="en-US" dirty="0"/>
              <a:t>如图所示</a:t>
            </a:r>
            <a:endParaRPr lang="en-US" altLang="zh-CN" dirty="0"/>
          </a:p>
          <a:p>
            <a:r>
              <a:rPr lang="zh-CN" altLang="en-US" dirty="0"/>
              <a:t>游戏玩家</a:t>
            </a:r>
            <a:endParaRPr lang="en-US" altLang="zh-CN" dirty="0"/>
          </a:p>
          <a:p>
            <a:r>
              <a:rPr lang="zh-CN" altLang="en-US" dirty="0"/>
              <a:t>通过用例</a:t>
            </a:r>
            <a:r>
              <a:rPr lang="zh-CN" altLang="en-US" baseline="0" dirty="0"/>
              <a:t> </a:t>
            </a:r>
            <a:r>
              <a:rPr lang="en-US" altLang="zh-CN" baseline="0" dirty="0"/>
              <a:t>Play CDD Game</a:t>
            </a:r>
          </a:p>
          <a:p>
            <a:r>
              <a:rPr lang="zh-CN" altLang="en-US" baseline="0" dirty="0"/>
              <a:t>与</a:t>
            </a:r>
            <a:r>
              <a:rPr lang="en-US" altLang="zh-CN" baseline="0" dirty="0"/>
              <a:t>CDD</a:t>
            </a:r>
            <a:r>
              <a:rPr lang="zh-CN" altLang="en-US" baseline="0" dirty="0"/>
              <a:t>系统进行交互</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32</a:t>
            </a:fld>
            <a:endParaRPr lang="zh-CN" altLang="en-US"/>
          </a:p>
        </p:txBody>
      </p:sp>
    </p:spTree>
    <p:extLst>
      <p:ext uri="{BB962C8B-B14F-4D97-AF65-F5344CB8AC3E}">
        <p14:creationId xmlns:p14="http://schemas.microsoft.com/office/powerpoint/2010/main" val="1867360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采用前面描述方法</a:t>
            </a:r>
            <a:endParaRPr lang="en-US" altLang="zh-CN" dirty="0"/>
          </a:p>
          <a:p>
            <a:r>
              <a:rPr lang="zh-CN" altLang="en-US" dirty="0"/>
              <a:t>可以创建用例文本</a:t>
            </a:r>
            <a:endParaRPr lang="en-US" altLang="zh-CN" dirty="0"/>
          </a:p>
          <a:p>
            <a:endParaRPr lang="en-US" altLang="zh-CN" dirty="0"/>
          </a:p>
          <a:p>
            <a:r>
              <a:rPr lang="zh-CN" altLang="en-US" dirty="0"/>
              <a:t>假设我们设计一款离线的扑克牌游戏</a:t>
            </a:r>
            <a:endParaRPr lang="en-US" altLang="zh-CN" dirty="0"/>
          </a:p>
          <a:p>
            <a:r>
              <a:rPr lang="zh-CN" altLang="en-US" dirty="0"/>
              <a:t>名字简称为 </a:t>
            </a:r>
            <a:r>
              <a:rPr lang="en-US" altLang="zh-CN" dirty="0"/>
              <a:t>CDD</a:t>
            </a:r>
          </a:p>
          <a:p>
            <a:r>
              <a:rPr lang="zh-CN" altLang="en-US" dirty="0"/>
              <a:t>玩家和 </a:t>
            </a:r>
            <a:r>
              <a:rPr lang="en-US" altLang="zh-CN" dirty="0"/>
              <a:t>3 </a:t>
            </a:r>
            <a:r>
              <a:rPr lang="zh-CN" altLang="en-US" dirty="0"/>
              <a:t>个机器人玩友</a:t>
            </a:r>
            <a:r>
              <a:rPr lang="zh-CN" altLang="en-US" baseline="0" dirty="0"/>
              <a:t> </a:t>
            </a:r>
            <a:endParaRPr lang="en-US" altLang="zh-CN" baseline="0" dirty="0"/>
          </a:p>
          <a:p>
            <a:r>
              <a:rPr lang="zh-CN" altLang="en-US" baseline="0" dirty="0"/>
              <a:t>在牌桌上 使用 </a:t>
            </a:r>
            <a:r>
              <a:rPr lang="en-US" altLang="zh-CN" baseline="0" dirty="0"/>
              <a:t>52 </a:t>
            </a:r>
            <a:r>
              <a:rPr lang="zh-CN" altLang="en-US" baseline="0" dirty="0"/>
              <a:t>张牌（去掉 大、小 王）</a:t>
            </a:r>
            <a:endParaRPr lang="en-US" altLang="zh-CN" baseline="0" dirty="0"/>
          </a:p>
          <a:p>
            <a:r>
              <a:rPr lang="zh-CN" altLang="en-US" baseline="0" dirty="0"/>
              <a:t>进行游戏</a:t>
            </a:r>
            <a:endParaRPr lang="en-US" altLang="zh-CN" baseline="0" dirty="0"/>
          </a:p>
          <a:p>
            <a:endParaRPr lang="en-US" altLang="zh-CN" dirty="0"/>
          </a:p>
          <a:p>
            <a:r>
              <a:rPr lang="zh-CN" altLang="en-US" dirty="0"/>
              <a:t>开始游戏玩家可以选择</a:t>
            </a:r>
            <a:r>
              <a:rPr lang="en-US" altLang="zh-CN" dirty="0"/>
              <a:t>3</a:t>
            </a:r>
            <a:r>
              <a:rPr lang="zh-CN" altLang="en-US" dirty="0"/>
              <a:t>个机器人玩友开始游戏</a:t>
            </a:r>
            <a:endParaRPr lang="en-US" altLang="zh-CN" dirty="0"/>
          </a:p>
          <a:p>
            <a:r>
              <a:rPr lang="zh-CN" altLang="en-US" dirty="0"/>
              <a:t>另外，玩家可以通过输入昵称，设置背景音乐</a:t>
            </a:r>
            <a:endParaRPr lang="en-US" altLang="zh-CN" dirty="0"/>
          </a:p>
          <a:p>
            <a:r>
              <a:rPr lang="zh-CN" altLang="en-US" dirty="0"/>
              <a:t>初始化游戏</a:t>
            </a:r>
            <a:endParaRPr lang="en-US" altLang="zh-CN" dirty="0"/>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进行某个轮次游戏</a:t>
            </a:r>
            <a:endParaRPr lang="en-US" altLang="zh-CN" dirty="0"/>
          </a:p>
          <a:p>
            <a:r>
              <a:rPr lang="zh-CN" altLang="en-US" dirty="0"/>
              <a:t>当玩家开始与</a:t>
            </a:r>
            <a:r>
              <a:rPr lang="en-US" altLang="zh-CN" dirty="0"/>
              <a:t>3</a:t>
            </a:r>
            <a:r>
              <a:rPr lang="zh-CN" altLang="en-US" dirty="0"/>
              <a:t>个机器人玩友开始游戏时</a:t>
            </a:r>
            <a:endParaRPr lang="en-US" altLang="zh-CN" dirty="0"/>
          </a:p>
          <a:p>
            <a:r>
              <a:rPr lang="zh-CN" altLang="en-US" dirty="0"/>
              <a:t>系统随机向</a:t>
            </a:r>
            <a:r>
              <a:rPr lang="en-US" altLang="zh-CN" dirty="0"/>
              <a:t>4</a:t>
            </a:r>
            <a:r>
              <a:rPr lang="zh-CN" altLang="en-US" dirty="0"/>
              <a:t>个参与者发</a:t>
            </a:r>
            <a:r>
              <a:rPr lang="en-US" altLang="zh-CN" dirty="0"/>
              <a:t>13</a:t>
            </a:r>
            <a:r>
              <a:rPr lang="zh-CN" altLang="en-US" dirty="0"/>
              <a:t>张牌</a:t>
            </a:r>
            <a:endParaRPr lang="en-US" altLang="zh-CN" dirty="0"/>
          </a:p>
          <a:p>
            <a:r>
              <a:rPr lang="zh-CN" altLang="en-US" dirty="0"/>
              <a:t>当玩家接管牌并出牌时</a:t>
            </a:r>
            <a:endParaRPr lang="en-US" altLang="zh-CN" dirty="0"/>
          </a:p>
          <a:p>
            <a:r>
              <a:rPr lang="zh-CN" altLang="en-US" dirty="0"/>
              <a:t>玩家选择一组牌并且出牌</a:t>
            </a:r>
            <a:endParaRPr lang="en-US" altLang="zh-CN" dirty="0"/>
          </a:p>
          <a:p>
            <a:endParaRPr lang="en-US" altLang="zh-CN" dirty="0"/>
          </a:p>
          <a:p>
            <a:r>
              <a:rPr lang="zh-CN" altLang="en-US" dirty="0"/>
              <a:t>牌的组合应该通过牌型验证</a:t>
            </a:r>
            <a:endParaRPr lang="en-US" altLang="zh-CN" dirty="0"/>
          </a:p>
          <a:p>
            <a:r>
              <a:rPr lang="zh-CN" altLang="en-US" dirty="0"/>
              <a:t>这些牌型通过锄大地游戏规则来确定</a:t>
            </a:r>
            <a:endParaRPr lang="en-US" altLang="zh-CN" dirty="0"/>
          </a:p>
          <a:p>
            <a:r>
              <a:rPr lang="zh-CN" altLang="en-US" dirty="0"/>
              <a:t>当任何一个参与者出示了手中所有的牌</a:t>
            </a:r>
            <a:endParaRPr lang="en-US" altLang="zh-CN" dirty="0"/>
          </a:p>
          <a:p>
            <a:r>
              <a:rPr lang="zh-CN" altLang="en-US" dirty="0"/>
              <a:t>那么该轮次的游戏结束</a:t>
            </a:r>
            <a:endParaRPr lang="en-US" altLang="zh-CN" dirty="0"/>
          </a:p>
          <a:p>
            <a:r>
              <a:rPr lang="zh-CN" altLang="en-US" dirty="0"/>
              <a:t>系统根据游戏规则计分</a:t>
            </a:r>
            <a:endParaRPr lang="en-US" altLang="zh-CN" dirty="0"/>
          </a:p>
          <a:p>
            <a:endParaRPr lang="en-US" altLang="zh-CN" dirty="0"/>
          </a:p>
          <a:p>
            <a:r>
              <a:rPr lang="zh-CN" altLang="en-US" dirty="0"/>
              <a:t>结束某轮次的游戏</a:t>
            </a:r>
            <a:endParaRPr lang="en-US" altLang="zh-CN" dirty="0"/>
          </a:p>
          <a:p>
            <a:r>
              <a:rPr lang="zh-CN" altLang="en-US" dirty="0"/>
              <a:t>任何一个玩家出示完手中的牌 表示该轮次游戏结束</a:t>
            </a:r>
            <a:endParaRPr lang="en-US" altLang="zh-CN" dirty="0"/>
          </a:p>
          <a:p>
            <a:r>
              <a:rPr lang="zh-CN" altLang="en-US" dirty="0"/>
              <a:t>这时，系统将根据游戏规则计算分数</a:t>
            </a:r>
            <a:endParaRPr lang="en-US" altLang="zh-CN" dirty="0"/>
          </a:p>
          <a:p>
            <a:r>
              <a:rPr lang="zh-CN" altLang="en-US" dirty="0"/>
              <a:t>并且，玩家可以决定继续游戏或者退出游戏</a:t>
            </a:r>
            <a:endParaRPr lang="en-US" altLang="zh-CN" dirty="0"/>
          </a:p>
          <a:p>
            <a:endParaRPr lang="en-US" altLang="zh-CN" dirty="0"/>
          </a:p>
          <a:p>
            <a:r>
              <a:rPr lang="zh-CN" altLang="en-US" dirty="0"/>
              <a:t>如果玩家在某个轮次游戏结束之前离开游戏</a:t>
            </a:r>
            <a:endParaRPr lang="en-US" altLang="zh-CN" dirty="0"/>
          </a:p>
          <a:p>
            <a:r>
              <a:rPr lang="zh-CN" altLang="en-US" dirty="0"/>
              <a:t>玩家将被罚款</a:t>
            </a:r>
            <a:endParaRPr lang="en-US" altLang="zh-CN" dirty="0"/>
          </a:p>
          <a:p>
            <a:r>
              <a:rPr lang="zh-CN" altLang="en-US" dirty="0"/>
              <a:t>系统将根据积分</a:t>
            </a:r>
            <a:endParaRPr lang="en-US" altLang="zh-CN" dirty="0"/>
          </a:p>
          <a:p>
            <a:r>
              <a:rPr lang="zh-CN" altLang="en-US" dirty="0"/>
              <a:t>对所有的注册用户进行排名</a:t>
            </a:r>
            <a:endParaRPr lang="en-US" altLang="zh-CN" dirty="0"/>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以下备注</a:t>
            </a:r>
            <a:endParaRPr lang="en-US" altLang="zh-CN" dirty="0"/>
          </a:p>
          <a:p>
            <a:endParaRPr lang="en-US" altLang="zh-CN" dirty="0"/>
          </a:p>
          <a:p>
            <a:r>
              <a:rPr lang="zh-CN" altLang="en-US" dirty="0"/>
              <a:t>请参考</a:t>
            </a:r>
            <a:r>
              <a:rPr lang="en-US" altLang="zh-CN" dirty="0"/>
              <a:t>UML</a:t>
            </a:r>
            <a:r>
              <a:rPr lang="zh-CN" altLang="en-US" dirty="0"/>
              <a:t>活动图</a:t>
            </a:r>
            <a:endParaRPr lang="en-US" altLang="zh-CN" dirty="0"/>
          </a:p>
          <a:p>
            <a:endParaRPr lang="en-US" altLang="zh-CN" dirty="0"/>
          </a:p>
          <a:p>
            <a:r>
              <a:rPr lang="en-US" altLang="zh-CN" dirty="0"/>
              <a:t>CDD </a:t>
            </a:r>
            <a:r>
              <a:rPr lang="zh-CN" altLang="en-US" dirty="0"/>
              <a:t>扑克牌游戏的规则 需要记录在这里吗？</a:t>
            </a:r>
            <a:endParaRPr lang="en-US" altLang="zh-CN" dirty="0"/>
          </a:p>
          <a:p>
            <a:r>
              <a:rPr lang="zh-CN" altLang="en-US" dirty="0"/>
              <a:t>首先，游戏规则是领域规则</a:t>
            </a:r>
            <a:endParaRPr lang="en-US" altLang="zh-CN" dirty="0"/>
          </a:p>
          <a:p>
            <a:r>
              <a:rPr lang="zh-CN" altLang="en-US" dirty="0"/>
              <a:t>有时也称为业务规则</a:t>
            </a:r>
            <a:endParaRPr lang="en-US" altLang="zh-CN" dirty="0"/>
          </a:p>
          <a:p>
            <a:r>
              <a:rPr lang="zh-CN" altLang="en-US" dirty="0"/>
              <a:t>在</a:t>
            </a:r>
            <a:r>
              <a:rPr lang="en-US" altLang="zh-CN" dirty="0"/>
              <a:t>UP</a:t>
            </a:r>
            <a:r>
              <a:rPr lang="zh-CN" altLang="en-US" dirty="0"/>
              <a:t>中</a:t>
            </a:r>
            <a:r>
              <a:rPr lang="zh-CN" altLang="en-US" baseline="0" dirty="0"/>
              <a:t> 领域规则可以作为补充性规格说明的一部分</a:t>
            </a:r>
            <a:endParaRPr lang="en-US" altLang="zh-CN" baseline="0" dirty="0"/>
          </a:p>
          <a:p>
            <a:endParaRPr lang="en-US" altLang="zh-CN" baseline="0" dirty="0"/>
          </a:p>
          <a:p>
            <a:endParaRPr lang="en-US" altLang="zh-CN" baseline="0"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33</a:t>
            </a:fld>
            <a:endParaRPr lang="zh-CN" altLang="en-US"/>
          </a:p>
        </p:txBody>
      </p:sp>
    </p:spTree>
    <p:extLst>
      <p:ext uri="{BB962C8B-B14F-4D97-AF65-F5344CB8AC3E}">
        <p14:creationId xmlns:p14="http://schemas.microsoft.com/office/powerpoint/2010/main" val="16711682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UML</a:t>
            </a:r>
            <a:r>
              <a:rPr lang="zh-CN" altLang="zh-CN" sz="1200" kern="1200" dirty="0">
                <a:solidFill>
                  <a:schemeClr val="tx1"/>
                </a:solidFill>
                <a:effectLst/>
                <a:latin typeface="+mn-lt"/>
                <a:ea typeface="+mn-ea"/>
                <a:cs typeface="+mn-cs"/>
              </a:rPr>
              <a:t>活动图</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能够直观展示</a:t>
            </a:r>
            <a:r>
              <a:rPr lang="en-US" altLang="zh-CN" sz="1200" kern="1200" dirty="0">
                <a:solidFill>
                  <a:schemeClr val="tx1"/>
                </a:solidFill>
                <a:effectLst/>
                <a:latin typeface="+mn-lt"/>
                <a:ea typeface="+mn-ea"/>
                <a:cs typeface="+mn-cs"/>
              </a:rPr>
              <a:t>UC2</a:t>
            </a:r>
            <a:r>
              <a:rPr lang="zh-CN" altLang="zh-CN" sz="1200" kern="1200" dirty="0">
                <a:solidFill>
                  <a:schemeClr val="tx1"/>
                </a:solidFill>
                <a:effectLst/>
                <a:latin typeface="+mn-lt"/>
                <a:ea typeface="+mn-ea"/>
                <a:cs typeface="+mn-cs"/>
              </a:rPr>
              <a:t>的事件流</a:t>
            </a:r>
          </a:p>
          <a:p>
            <a:r>
              <a:rPr lang="zh-CN" altLang="zh-CN" sz="1200" kern="1200" dirty="0">
                <a:solidFill>
                  <a:schemeClr val="tx1"/>
                </a:solidFill>
                <a:effectLst/>
                <a:latin typeface="+mn-lt"/>
                <a:ea typeface="+mn-ea"/>
                <a:cs typeface="+mn-cs"/>
              </a:rPr>
              <a:t>主事件流包括</a:t>
            </a:r>
          </a:p>
          <a:p>
            <a:r>
              <a:rPr lang="zh-CN" altLang="zh-CN" sz="1200" kern="1200" dirty="0">
                <a:solidFill>
                  <a:schemeClr val="tx1"/>
                </a:solidFill>
                <a:effectLst/>
                <a:latin typeface="+mn-lt"/>
                <a:ea typeface="+mn-ea"/>
                <a:cs typeface="+mn-cs"/>
              </a:rPr>
              <a:t>开始游戏</a:t>
            </a:r>
          </a:p>
          <a:p>
            <a:r>
              <a:rPr lang="zh-CN" altLang="zh-CN" sz="1200" kern="1200" dirty="0">
                <a:solidFill>
                  <a:schemeClr val="tx1"/>
                </a:solidFill>
                <a:effectLst/>
                <a:latin typeface="+mn-lt"/>
                <a:ea typeface="+mn-ea"/>
                <a:cs typeface="+mn-cs"/>
              </a:rPr>
              <a:t>进行某个轮次游戏</a:t>
            </a:r>
          </a:p>
          <a:p>
            <a:r>
              <a:rPr lang="zh-CN" altLang="zh-CN" sz="1200" kern="1200" dirty="0">
                <a:solidFill>
                  <a:schemeClr val="tx1"/>
                </a:solidFill>
                <a:effectLst/>
                <a:latin typeface="+mn-lt"/>
                <a:ea typeface="+mn-ea"/>
                <a:cs typeface="+mn-cs"/>
              </a:rPr>
              <a:t>结束某个轮次游戏</a:t>
            </a:r>
          </a:p>
          <a:p>
            <a:r>
              <a:rPr lang="zh-CN" altLang="zh-CN" sz="1200" kern="1200" dirty="0">
                <a:solidFill>
                  <a:schemeClr val="tx1"/>
                </a:solidFill>
                <a:effectLst/>
                <a:latin typeface="+mn-lt"/>
                <a:ea typeface="+mn-ea"/>
                <a:cs typeface="+mn-cs"/>
              </a:rPr>
              <a:t>退出游戏等</a:t>
            </a:r>
          </a:p>
          <a:p>
            <a:r>
              <a:rPr lang="zh-CN" altLang="zh-CN" sz="1200" kern="1200" dirty="0">
                <a:solidFill>
                  <a:schemeClr val="tx1"/>
                </a:solidFill>
                <a:effectLst/>
                <a:latin typeface="+mn-lt"/>
                <a:ea typeface="+mn-ea"/>
                <a:cs typeface="+mn-cs"/>
              </a:rPr>
              <a:t>替代事件流</a:t>
            </a:r>
          </a:p>
          <a:p>
            <a:r>
              <a:rPr lang="zh-CN" altLang="zh-CN" sz="1200" kern="1200" dirty="0">
                <a:solidFill>
                  <a:schemeClr val="tx1"/>
                </a:solidFill>
                <a:effectLst/>
                <a:latin typeface="+mn-lt"/>
                <a:ea typeface="+mn-ea"/>
                <a:cs typeface="+mn-cs"/>
              </a:rPr>
              <a:t>是其中的一条逃跑路线</a:t>
            </a:r>
            <a:endParaRPr lang="en-US"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34</a:t>
            </a:fld>
            <a:endParaRPr lang="zh-CN" altLang="en-US"/>
          </a:p>
        </p:txBody>
      </p:sp>
    </p:spTree>
    <p:extLst>
      <p:ext uri="{BB962C8B-B14F-4D97-AF65-F5344CB8AC3E}">
        <p14:creationId xmlns:p14="http://schemas.microsoft.com/office/powerpoint/2010/main" val="4075442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创建用例图是貌似简单的</a:t>
            </a:r>
            <a:endParaRPr lang="en-US" altLang="zh-CN" dirty="0"/>
          </a:p>
          <a:p>
            <a:r>
              <a:rPr lang="zh-CN" altLang="en-US" dirty="0"/>
              <a:t>非平凡工作，不同的人对同一个系统</a:t>
            </a:r>
            <a:endParaRPr lang="en-US" altLang="zh-CN" dirty="0"/>
          </a:p>
          <a:p>
            <a:r>
              <a:rPr lang="zh-CN" altLang="en-US" dirty="0"/>
              <a:t>会产生不同的用例图</a:t>
            </a:r>
            <a:endParaRPr lang="en-US" altLang="zh-CN" dirty="0"/>
          </a:p>
          <a:p>
            <a:endParaRPr lang="en-US" altLang="zh-CN" dirty="0"/>
          </a:p>
          <a:p>
            <a:r>
              <a:rPr lang="zh-CN" altLang="en-US" dirty="0"/>
              <a:t>例如，有同学提出</a:t>
            </a:r>
            <a:endParaRPr lang="en-US" altLang="zh-CN" dirty="0"/>
          </a:p>
          <a:p>
            <a:r>
              <a:rPr lang="zh-CN" altLang="en-US" dirty="0"/>
              <a:t>锄大地游戏案例的主要用例图可以使用</a:t>
            </a:r>
            <a:endParaRPr lang="en-US" altLang="zh-CN" dirty="0"/>
          </a:p>
          <a:p>
            <a:r>
              <a:rPr lang="zh-CN" altLang="en-US" dirty="0"/>
              <a:t>这两个图来表示</a:t>
            </a:r>
            <a:endParaRPr lang="en-US" altLang="zh-CN" dirty="0"/>
          </a:p>
          <a:p>
            <a:r>
              <a:rPr lang="zh-CN" altLang="en-US" dirty="0"/>
              <a:t>请同学们思考到底对于锄大地游戏案例的需求分析而言</a:t>
            </a:r>
            <a:endParaRPr lang="en-US" altLang="zh-CN" dirty="0"/>
          </a:p>
          <a:p>
            <a:r>
              <a:rPr lang="zh-CN" altLang="en-US" dirty="0"/>
              <a:t>哪个用例图更加合适呢？</a:t>
            </a:r>
            <a:endParaRPr lang="en-US" altLang="zh-CN" dirty="0"/>
          </a:p>
          <a:p>
            <a:endParaRPr lang="en-US" altLang="zh-CN" dirty="0"/>
          </a:p>
          <a:p>
            <a:r>
              <a:rPr lang="zh-CN" altLang="en-US" dirty="0"/>
              <a:t>还有，有同学提出</a:t>
            </a:r>
            <a:endParaRPr lang="en-US" altLang="zh-CN" dirty="0"/>
          </a:p>
          <a:p>
            <a:r>
              <a:rPr lang="zh-CN" altLang="en-US" dirty="0"/>
              <a:t>可以使用</a:t>
            </a:r>
            <a:endParaRPr lang="en-US" altLang="zh-CN" dirty="0"/>
          </a:p>
          <a:p>
            <a:r>
              <a:rPr lang="zh-CN" altLang="en-US" dirty="0"/>
              <a:t>这个“活动图</a:t>
            </a:r>
            <a:r>
              <a:rPr lang="en-US" altLang="zh-CN" dirty="0"/>
              <a:t>”</a:t>
            </a:r>
            <a:r>
              <a:rPr lang="zh-CN" altLang="en-US" dirty="0"/>
              <a:t>来细化描述用例</a:t>
            </a:r>
            <a:endParaRPr lang="en-US" altLang="zh-CN" dirty="0"/>
          </a:p>
          <a:p>
            <a:r>
              <a:rPr lang="zh-CN" altLang="en-US" dirty="0"/>
              <a:t>因为能体现开始游戏，接管牌</a:t>
            </a:r>
            <a:endParaRPr lang="en-US" altLang="zh-CN" dirty="0"/>
          </a:p>
          <a:p>
            <a:r>
              <a:rPr lang="zh-CN" altLang="en-US" dirty="0"/>
              <a:t>过和出牌等用户动作</a:t>
            </a:r>
            <a:endParaRPr lang="en-US" altLang="zh-CN" dirty="0"/>
          </a:p>
          <a:p>
            <a:endParaRPr lang="en-US" altLang="zh-CN" dirty="0"/>
          </a:p>
          <a:p>
            <a:r>
              <a:rPr lang="zh-CN" altLang="en-US" dirty="0"/>
              <a:t>这些结果与前面呈现的结果有所不同</a:t>
            </a:r>
            <a:endParaRPr lang="en-US" altLang="zh-CN" dirty="0"/>
          </a:p>
          <a:p>
            <a:r>
              <a:rPr lang="zh-CN" altLang="en-US" dirty="0"/>
              <a:t>那么如何确定哪个用例图更加有效呢？</a:t>
            </a:r>
            <a:endParaRPr lang="en-US" altLang="zh-CN" dirty="0"/>
          </a:p>
          <a:p>
            <a:r>
              <a:rPr lang="zh-CN" altLang="en-US" dirty="0"/>
              <a:t>这是需要同学们在需求讨论会上</a:t>
            </a:r>
            <a:endParaRPr lang="en-US" altLang="zh-CN" dirty="0"/>
          </a:p>
          <a:p>
            <a:r>
              <a:rPr lang="zh-CN" altLang="en-US" dirty="0"/>
              <a:t>在实践中，不断灵活应用本次课提供的指导原则</a:t>
            </a:r>
            <a:endParaRPr lang="en-US" altLang="zh-CN" dirty="0"/>
          </a:p>
          <a:p>
            <a:r>
              <a:rPr lang="zh-CN" altLang="en-US" dirty="0"/>
              <a:t>才能逐渐掌握</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35</a:t>
            </a:fld>
            <a:endParaRPr lang="zh-CN" altLang="en-US"/>
          </a:p>
        </p:txBody>
      </p:sp>
    </p:spTree>
    <p:extLst>
      <p:ext uri="{BB962C8B-B14F-4D97-AF65-F5344CB8AC3E}">
        <p14:creationId xmlns:p14="http://schemas.microsoft.com/office/powerpoint/2010/main" val="2156742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下面介绍</a:t>
            </a:r>
            <a:endParaRPr lang="en-US" altLang="zh-CN" dirty="0"/>
          </a:p>
          <a:p>
            <a:r>
              <a:rPr lang="zh-CN" altLang="en-US" dirty="0"/>
              <a:t>过程：迭代方法中的用例</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36</a:t>
            </a:fld>
            <a:endParaRPr lang="zh-CN" altLang="en-US"/>
          </a:p>
        </p:txBody>
      </p:sp>
    </p:spTree>
    <p:extLst>
      <p:ext uri="{BB962C8B-B14F-4D97-AF65-F5344CB8AC3E}">
        <p14:creationId xmlns:p14="http://schemas.microsoft.com/office/powerpoint/2010/main" val="2157931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过程：在迭代方法中如何使用用例？</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用例是</a:t>
            </a:r>
            <a:r>
              <a:rPr lang="en-US" altLang="zh-CN" dirty="0"/>
              <a:t>UP</a:t>
            </a:r>
            <a:r>
              <a:rPr lang="zh-CN" altLang="en-US" dirty="0"/>
              <a:t>和其它众多迭代方法的核心</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UP</a:t>
            </a:r>
            <a:r>
              <a:rPr lang="zh-CN" altLang="en-US" dirty="0"/>
              <a:t>提倡用例驱动开发</a:t>
            </a:r>
            <a:r>
              <a:rPr lang="zh-CN" altLang="en-US" baseline="0" dirty="0"/>
              <a:t> 这意味着</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功能需求首先记录在用例（用例模型）中</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无论如何使用</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其它需求技术 例如功能列表都是次要的</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用例是迭代计划的重要部分</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迭代的工作是通过选择一些用例场景或整个用例来（部分地）</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定义的 同时，用例是预算的关键输入</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用例实现驱动设计 也就是说 小组设计协作对象和子系统 是为了执行或实现用例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用例通常会影响用户手册的组织</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功能或系统测试应当符合用例的场景</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为重要用例的最常用场景 创建</a:t>
            </a:r>
            <a:r>
              <a:rPr lang="en-US" altLang="zh-CN" baseline="0" dirty="0"/>
              <a:t>UI</a:t>
            </a:r>
            <a:r>
              <a:rPr lang="zh-CN" altLang="en-US" baseline="0" dirty="0"/>
              <a:t>导航或快捷方式</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可以方便执行常用任务</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37</a:t>
            </a:fld>
            <a:endParaRPr lang="zh-CN" altLang="en-US"/>
          </a:p>
        </p:txBody>
      </p:sp>
    </p:spTree>
    <p:extLst>
      <p:ext uri="{BB962C8B-B14F-4D97-AF65-F5344CB8AC3E}">
        <p14:creationId xmlns:p14="http://schemas.microsoft.com/office/powerpoint/2010/main" val="12085152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 </a:t>
            </a:r>
            <a:r>
              <a:rPr lang="en-US" altLang="zh-CN" dirty="0"/>
              <a:t>6-2 </a:t>
            </a:r>
            <a:r>
              <a:rPr lang="zh-CN" altLang="en-US" dirty="0"/>
              <a:t>跨越早期迭代的需求工作任务示例</a:t>
            </a:r>
            <a:endParaRPr lang="en-US" altLang="zh-CN" dirty="0"/>
          </a:p>
          <a:p>
            <a:r>
              <a:rPr lang="zh-CN" altLang="en-US" dirty="0"/>
              <a:t>此例非实际解决方案</a:t>
            </a:r>
            <a:endParaRPr lang="en-US" altLang="zh-CN" dirty="0"/>
          </a:p>
          <a:p>
            <a:r>
              <a:rPr lang="zh-CN" altLang="en-US" dirty="0"/>
              <a:t>值得注意的是 </a:t>
            </a:r>
            <a:endParaRPr lang="en-US" altLang="zh-CN" dirty="0"/>
          </a:p>
          <a:p>
            <a:r>
              <a:rPr lang="zh-CN" altLang="en-US" dirty="0"/>
              <a:t>当仅仅定义了约</a:t>
            </a:r>
            <a:r>
              <a:rPr lang="en-US" altLang="zh-CN" dirty="0"/>
              <a:t>10%</a:t>
            </a:r>
            <a:r>
              <a:rPr lang="zh-CN" altLang="en-US" dirty="0"/>
              <a:t>的需求时</a:t>
            </a:r>
            <a:endParaRPr lang="en-US" altLang="zh-CN" dirty="0"/>
          </a:p>
          <a:p>
            <a:r>
              <a:rPr lang="zh-CN" altLang="en-US" dirty="0"/>
              <a:t>技术小组就开始构建系统的产品化核心</a:t>
            </a:r>
            <a:endParaRPr lang="en-US" altLang="zh-CN" dirty="0"/>
          </a:p>
          <a:p>
            <a:r>
              <a:rPr lang="zh-CN" altLang="en-US" dirty="0"/>
              <a:t>并且该小组刻意拖延了进一步的深入需求工作</a:t>
            </a:r>
            <a:endParaRPr lang="en-US" altLang="zh-CN" dirty="0"/>
          </a:p>
          <a:p>
            <a:r>
              <a:rPr lang="zh-CN" altLang="en-US" dirty="0"/>
              <a:t>直到第一次迭代接近结束时为止</a:t>
            </a:r>
            <a:endParaRPr lang="en-US" altLang="zh-CN" dirty="0"/>
          </a:p>
          <a:p>
            <a:endParaRPr lang="en-US" altLang="zh-CN" dirty="0"/>
          </a:p>
          <a:p>
            <a:r>
              <a:rPr lang="en-US" altLang="zh-CN" dirty="0"/>
              <a:t>//</a:t>
            </a:r>
            <a:r>
              <a:rPr lang="zh-CN" altLang="en-US" dirty="0"/>
              <a:t>下面是备注</a:t>
            </a:r>
            <a:endParaRPr lang="en-US" altLang="zh-CN" dirty="0"/>
          </a:p>
          <a:p>
            <a:r>
              <a:rPr lang="zh-CN" altLang="en-US" dirty="0"/>
              <a:t>这正是迭代开发与瀑布过程的关键区别</a:t>
            </a:r>
            <a:endParaRPr lang="en-US" altLang="zh-CN" dirty="0"/>
          </a:p>
          <a:p>
            <a:r>
              <a:rPr lang="zh-CN" altLang="en-US" dirty="0"/>
              <a:t>在了解所有需求之前</a:t>
            </a:r>
            <a:endParaRPr lang="en-US" altLang="zh-CN" dirty="0"/>
          </a:p>
          <a:p>
            <a:r>
              <a:rPr lang="zh-CN" altLang="en-US" dirty="0"/>
              <a:t>迅速开展对系统核心的产品级开发</a:t>
            </a:r>
            <a:endParaRPr lang="en-US" altLang="zh-CN" dirty="0"/>
          </a:p>
          <a:p>
            <a:endParaRPr lang="en-US" altLang="zh-CN" dirty="0"/>
          </a:p>
          <a:p>
            <a:r>
              <a:rPr lang="zh-CN" altLang="en-US" dirty="0"/>
              <a:t>在细化阶段的第一次迭代接近结束时</a:t>
            </a:r>
            <a:endParaRPr lang="en-US" altLang="zh-CN" dirty="0"/>
          </a:p>
          <a:p>
            <a:r>
              <a:rPr lang="zh-CN" altLang="en-US" dirty="0"/>
              <a:t>举行第</a:t>
            </a:r>
            <a:r>
              <a:rPr lang="en-US" altLang="zh-CN" dirty="0"/>
              <a:t>2</a:t>
            </a:r>
            <a:r>
              <a:rPr lang="zh-CN" altLang="en-US" dirty="0"/>
              <a:t>次需求讨论会</a:t>
            </a:r>
            <a:endParaRPr lang="en-US" altLang="zh-CN" dirty="0"/>
          </a:p>
          <a:p>
            <a:r>
              <a:rPr lang="zh-CN" altLang="en-US" dirty="0"/>
              <a:t>通过此次讨论会 </a:t>
            </a:r>
            <a:endParaRPr lang="en-US" altLang="zh-CN" dirty="0"/>
          </a:p>
          <a:p>
            <a:r>
              <a:rPr lang="zh-CN" altLang="en-US" dirty="0"/>
              <a:t>详细编写了约</a:t>
            </a:r>
            <a:r>
              <a:rPr lang="en-US" altLang="zh-CN" dirty="0"/>
              <a:t>30%</a:t>
            </a:r>
            <a:r>
              <a:rPr lang="zh-CN" altLang="en-US" dirty="0"/>
              <a:t>的用例。</a:t>
            </a:r>
            <a:endParaRPr lang="en-US" altLang="zh-CN" dirty="0"/>
          </a:p>
          <a:p>
            <a:r>
              <a:rPr lang="zh-CN" altLang="en-US" dirty="0"/>
              <a:t>这种交错的需求分析得益于对少量的软件构建的反馈</a:t>
            </a:r>
            <a:endParaRPr lang="en-US" altLang="zh-CN" dirty="0"/>
          </a:p>
          <a:p>
            <a:r>
              <a:rPr lang="zh-CN" altLang="en-US" dirty="0"/>
              <a:t>这种反馈包括用户评估、测试和所改进的“知其所不知”</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下面详细讨论表</a:t>
            </a:r>
            <a:r>
              <a:rPr lang="en-US" altLang="zh-CN" dirty="0"/>
              <a:t>6-1</a:t>
            </a:r>
            <a:r>
              <a:rPr lang="zh-CN" altLang="en-US" dirty="0"/>
              <a:t>中提供的信息</a:t>
            </a:r>
            <a:endParaRPr lang="en-US" altLang="zh-CN" dirty="0"/>
          </a:p>
          <a:p>
            <a:r>
              <a:rPr lang="zh-CN" altLang="en-US" dirty="0"/>
              <a:t>首先是初始阶段如何编写用例</a:t>
            </a:r>
            <a:endParaRPr lang="en-US" altLang="zh-CN" dirty="0"/>
          </a:p>
          <a:p>
            <a:endParaRPr lang="en-US" altLang="zh-CN" dirty="0"/>
          </a:p>
          <a:p>
            <a:r>
              <a:rPr lang="zh-CN" altLang="en-US" dirty="0"/>
              <a:t>在对</a:t>
            </a:r>
            <a:r>
              <a:rPr lang="en-US" altLang="zh-CN" dirty="0"/>
              <a:t>POS</a:t>
            </a:r>
            <a:r>
              <a:rPr lang="zh-CN" altLang="en-US" dirty="0"/>
              <a:t>系统的早期调查中</a:t>
            </a:r>
            <a:endParaRPr lang="en-US" altLang="zh-CN" dirty="0"/>
          </a:p>
          <a:p>
            <a:r>
              <a:rPr lang="zh-CN" altLang="en-US" dirty="0"/>
              <a:t>假设有为期 </a:t>
            </a:r>
            <a:r>
              <a:rPr lang="en-US" altLang="zh-CN" dirty="0"/>
              <a:t>2 </a:t>
            </a:r>
            <a:r>
              <a:rPr lang="zh-CN" altLang="en-US" dirty="0"/>
              <a:t>天的需求讨论会</a:t>
            </a:r>
            <a:endParaRPr lang="en-US" altLang="zh-CN" dirty="0"/>
          </a:p>
          <a:p>
            <a:endParaRPr lang="en-US" altLang="zh-CN" dirty="0"/>
          </a:p>
          <a:p>
            <a:r>
              <a:rPr lang="zh-CN" altLang="en-US" dirty="0"/>
              <a:t>定义大多数用例的名称</a:t>
            </a:r>
            <a:endParaRPr lang="en-US" altLang="zh-CN" dirty="0"/>
          </a:p>
          <a:p>
            <a:r>
              <a:rPr lang="zh-CN" altLang="en-US" dirty="0"/>
              <a:t>以摘要形式 编写</a:t>
            </a:r>
            <a:endParaRPr lang="en-US" altLang="zh-CN" dirty="0"/>
          </a:p>
          <a:p>
            <a:endParaRPr lang="en-US" altLang="zh-CN" dirty="0"/>
          </a:p>
          <a:p>
            <a:r>
              <a:rPr lang="zh-CN" altLang="en-US" dirty="0"/>
              <a:t>从高阶列表中选择</a:t>
            </a:r>
            <a:r>
              <a:rPr lang="en-US" altLang="zh-CN" baseline="0" dirty="0"/>
              <a:t> </a:t>
            </a:r>
            <a:r>
              <a:rPr lang="en-US" altLang="zh-CN" dirty="0"/>
              <a:t>10% </a:t>
            </a:r>
            <a:r>
              <a:rPr lang="zh-CN" altLang="en-US" dirty="0"/>
              <a:t>的需求</a:t>
            </a:r>
            <a:endParaRPr lang="en-US" altLang="zh-CN" dirty="0"/>
          </a:p>
          <a:p>
            <a:r>
              <a:rPr lang="zh-CN" altLang="en-US" baseline="0" dirty="0"/>
              <a:t>这些用例具有重要的架构意义 风险和高业务价值</a:t>
            </a:r>
            <a:endParaRPr lang="en-US" altLang="zh-CN" baseline="0" dirty="0"/>
          </a:p>
          <a:p>
            <a:r>
              <a:rPr lang="zh-CN" altLang="en-US" dirty="0"/>
              <a:t>例如 </a:t>
            </a:r>
            <a:r>
              <a:rPr lang="en-US" altLang="zh-CN" dirty="0"/>
              <a:t>POS</a:t>
            </a:r>
            <a:r>
              <a:rPr lang="zh-CN" altLang="en-US" dirty="0"/>
              <a:t>系统的处理销售、处理退货等</a:t>
            </a:r>
            <a:endParaRPr lang="en-US" altLang="zh-CN" dirty="0"/>
          </a:p>
          <a:p>
            <a:endParaRPr lang="en-US" altLang="zh-CN" dirty="0"/>
          </a:p>
          <a:p>
            <a:r>
              <a:rPr lang="zh-CN" altLang="en-US" dirty="0"/>
              <a:t>其次实在细化阶段如何编写用例</a:t>
            </a:r>
            <a:endParaRPr lang="en-US" altLang="zh-CN" dirty="0"/>
          </a:p>
          <a:p>
            <a:r>
              <a:rPr lang="zh-CN" altLang="en-US" dirty="0"/>
              <a:t>细化阶段包括多次实践定量的迭代（如图所示</a:t>
            </a:r>
            <a:r>
              <a:rPr lang="zh-CN" altLang="en-US" baseline="0" dirty="0"/>
              <a:t>  </a:t>
            </a:r>
            <a:r>
              <a:rPr lang="en-US" altLang="zh-CN" baseline="0" dirty="0"/>
              <a:t>4 </a:t>
            </a:r>
            <a:r>
              <a:rPr lang="zh-CN" altLang="en-US" baseline="0" dirty="0"/>
              <a:t>次迭代</a:t>
            </a:r>
            <a:r>
              <a:rPr lang="zh-CN" altLang="en-US" dirty="0"/>
              <a:t>）</a:t>
            </a:r>
            <a:endParaRPr lang="en-US" altLang="zh-CN" dirty="0"/>
          </a:p>
          <a:p>
            <a:r>
              <a:rPr lang="zh-CN" altLang="en-US" baseline="0" dirty="0"/>
              <a:t>在 构建</a:t>
            </a:r>
            <a:r>
              <a:rPr lang="en-US" altLang="zh-CN" baseline="0" dirty="0"/>
              <a:t>-</a:t>
            </a:r>
            <a:r>
              <a:rPr lang="zh-CN" altLang="en-US" baseline="0" dirty="0"/>
              <a:t>反馈</a:t>
            </a:r>
            <a:r>
              <a:rPr lang="en-US" altLang="zh-CN" baseline="0" dirty="0"/>
              <a:t>-</a:t>
            </a:r>
            <a:r>
              <a:rPr lang="zh-CN" altLang="en-US" baseline="0" dirty="0"/>
              <a:t>调整 的循环中 逐步确定 </a:t>
            </a:r>
            <a:r>
              <a:rPr lang="en-US" altLang="zh-CN" baseline="0" dirty="0"/>
              <a:t>80%-90% </a:t>
            </a:r>
            <a:r>
              <a:rPr lang="zh-CN" altLang="en-US" baseline="0" dirty="0"/>
              <a:t>的需求</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逐步解决那些具有风险和不稳定的核心问题</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获得稳定的，具有高风险、高价值和重要架构意义的设计模型</a:t>
            </a:r>
            <a:endParaRPr lang="en-US" altLang="zh-CN" baseline="0" dirty="0"/>
          </a:p>
          <a:p>
            <a:r>
              <a:rPr lang="zh-CN" altLang="en-US" baseline="0" dirty="0"/>
              <a:t>逐步地构建具有高风险 高价值</a:t>
            </a:r>
            <a:endParaRPr lang="en-US" altLang="zh-CN" baseline="0" dirty="0"/>
          </a:p>
          <a:p>
            <a:r>
              <a:rPr lang="zh-CN" altLang="en-US" baseline="0" dirty="0"/>
              <a:t>或具有重要架构意义的部分系统</a:t>
            </a:r>
            <a:r>
              <a:rPr lang="en-US" altLang="zh-CN" baseline="0" dirty="0"/>
              <a:t> </a:t>
            </a:r>
          </a:p>
          <a:p>
            <a:r>
              <a:rPr lang="zh-CN" altLang="en-US" baseline="0" dirty="0"/>
              <a:t>例如，大概 </a:t>
            </a:r>
            <a:r>
              <a:rPr lang="en-US" altLang="zh-CN" baseline="0" dirty="0"/>
              <a:t>15% </a:t>
            </a:r>
            <a:r>
              <a:rPr lang="zh-CN" altLang="en-US" baseline="0" dirty="0"/>
              <a:t>左右的最终系统</a:t>
            </a:r>
            <a:endParaRPr lang="en-US" altLang="zh-CN" baseline="0" dirty="0"/>
          </a:p>
          <a:p>
            <a:r>
              <a:rPr lang="zh-CN" altLang="en-US" baseline="0" dirty="0"/>
              <a:t>这时，我们可以提交合理的</a:t>
            </a:r>
            <a:endParaRPr lang="en-US" altLang="zh-CN" baseline="0" dirty="0"/>
          </a:p>
          <a:p>
            <a:r>
              <a:rPr lang="zh-CN" altLang="en-US" baseline="0" dirty="0"/>
              <a:t>总体项目进程、主要里程碑、工作量和成本预算了</a:t>
            </a:r>
            <a:endParaRPr lang="en-US" altLang="zh-CN" baseline="0" dirty="0"/>
          </a:p>
          <a:p>
            <a:endParaRPr lang="en-US" altLang="zh-CN" baseline="0" dirty="0"/>
          </a:p>
          <a:p>
            <a:r>
              <a:rPr lang="zh-CN" altLang="en-US" baseline="0" dirty="0"/>
              <a:t>剩余的一些次要的 </a:t>
            </a:r>
            <a:r>
              <a:rPr lang="en-US" altLang="zh-CN" baseline="0" dirty="0"/>
              <a:t>10-20% </a:t>
            </a:r>
            <a:r>
              <a:rPr lang="zh-CN" altLang="en-US" baseline="0" dirty="0"/>
              <a:t>的用例</a:t>
            </a:r>
            <a:endParaRPr lang="en-US" altLang="zh-CN" baseline="0" dirty="0"/>
          </a:p>
          <a:p>
            <a:r>
              <a:rPr lang="zh-CN" altLang="en-US" baseline="0" dirty="0"/>
              <a:t>将在时间定量的构造阶段中</a:t>
            </a:r>
            <a:endParaRPr lang="en-US" altLang="zh-CN" baseline="0" dirty="0"/>
          </a:p>
          <a:p>
            <a:r>
              <a:rPr lang="zh-CN" altLang="en-US" baseline="0" dirty="0"/>
              <a:t>通过举行少数、简短的需求讨论会来创建</a:t>
            </a:r>
            <a:endParaRPr lang="en-US" altLang="zh-CN" baseline="0" dirty="0"/>
          </a:p>
          <a:p>
            <a:endParaRPr lang="en-US" altLang="zh-CN" baseline="0" dirty="0"/>
          </a:p>
          <a:p>
            <a:endParaRPr lang="en-US" altLang="zh-CN" baseline="0"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38</a:t>
            </a:fld>
            <a:endParaRPr lang="zh-CN" altLang="en-US"/>
          </a:p>
        </p:txBody>
      </p:sp>
    </p:spTree>
    <p:extLst>
      <p:ext uri="{BB962C8B-B14F-4D97-AF65-F5344CB8AC3E}">
        <p14:creationId xmlns:p14="http://schemas.microsoft.com/office/powerpoint/2010/main" val="33270291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a:t>
            </a:r>
            <a:endParaRPr lang="en-US" altLang="zh-CN" dirty="0"/>
          </a:p>
          <a:p>
            <a:r>
              <a:rPr lang="zh-CN" altLang="en-US" dirty="0"/>
              <a:t>给出了编写用例在时间和地点方面的建议</a:t>
            </a:r>
            <a:endParaRPr lang="en-US" altLang="zh-CN" dirty="0"/>
          </a:p>
          <a:p>
            <a:endParaRPr lang="en-US" altLang="zh-CN" dirty="0"/>
          </a:p>
          <a:p>
            <a:r>
              <a:rPr lang="zh-CN" altLang="en-US" dirty="0"/>
              <a:t>何时？</a:t>
            </a:r>
            <a:endParaRPr lang="en-US" altLang="zh-CN" dirty="0"/>
          </a:p>
          <a:p>
            <a:r>
              <a:rPr lang="zh-CN" altLang="en-US" dirty="0"/>
              <a:t>在初始过程中进行 </a:t>
            </a:r>
            <a:r>
              <a:rPr lang="en-US" altLang="zh-CN" dirty="0"/>
              <a:t>1 </a:t>
            </a:r>
            <a:r>
              <a:rPr lang="zh-CN" altLang="en-US" dirty="0"/>
              <a:t>次</a:t>
            </a:r>
            <a:endParaRPr lang="en-US" altLang="zh-CN" dirty="0"/>
          </a:p>
          <a:p>
            <a:r>
              <a:rPr lang="zh-CN" altLang="en-US" dirty="0"/>
              <a:t>简短的，不要试图定义或完善所有需求</a:t>
            </a:r>
            <a:endParaRPr lang="en-US" altLang="zh-CN" dirty="0"/>
          </a:p>
          <a:p>
            <a:endParaRPr lang="en-US" altLang="zh-CN" dirty="0"/>
          </a:p>
          <a:p>
            <a:r>
              <a:rPr lang="zh-CN" altLang="en-US" dirty="0"/>
              <a:t>何地？</a:t>
            </a:r>
            <a:endParaRPr lang="en-US" altLang="zh-CN" dirty="0"/>
          </a:p>
          <a:p>
            <a:r>
              <a:rPr lang="zh-CN" altLang="en-US" dirty="0"/>
              <a:t>在 </a:t>
            </a:r>
            <a:r>
              <a:rPr lang="en-US" altLang="zh-CN" dirty="0"/>
              <a:t>UP</a:t>
            </a:r>
            <a:r>
              <a:rPr lang="en-US" altLang="zh-CN" baseline="0" dirty="0"/>
              <a:t> </a:t>
            </a:r>
            <a:r>
              <a:rPr lang="zh-CN" altLang="en-US" baseline="0" dirty="0"/>
              <a:t>中，提倡</a:t>
            </a:r>
            <a:r>
              <a:rPr lang="zh-CN" altLang="en-US" dirty="0"/>
              <a:t>在需求讨论会上 编写用例</a:t>
            </a:r>
            <a:endParaRPr lang="en-US" altLang="zh-CN" dirty="0"/>
          </a:p>
          <a:p>
            <a:endParaRPr lang="en-US" altLang="zh-CN" dirty="0"/>
          </a:p>
          <a:p>
            <a:endParaRPr lang="en-US" altLang="zh-CN" dirty="0"/>
          </a:p>
          <a:p>
            <a:r>
              <a:rPr lang="zh-CN" altLang="en-US" dirty="0"/>
              <a:t>如何做？</a:t>
            </a:r>
            <a:endParaRPr lang="en-US" altLang="zh-CN" dirty="0"/>
          </a:p>
          <a:p>
            <a:r>
              <a:rPr lang="zh-CN" altLang="en-US" dirty="0"/>
              <a:t>采用相关软件和硬件工具完成用例编写</a:t>
            </a:r>
            <a:endParaRPr lang="en-US" altLang="zh-CN" dirty="0"/>
          </a:p>
          <a:p>
            <a:endParaRPr lang="en-US" altLang="zh-CN" dirty="0"/>
          </a:p>
          <a:p>
            <a:r>
              <a:rPr lang="zh-CN" altLang="en-US" dirty="0"/>
              <a:t>何人？</a:t>
            </a:r>
            <a:endParaRPr lang="en-US" altLang="zh-CN" dirty="0"/>
          </a:p>
          <a:p>
            <a:r>
              <a:rPr lang="zh-CN" altLang="en-US" dirty="0"/>
              <a:t>许多人将作为需求定义者</a:t>
            </a:r>
            <a:endParaRPr lang="en-US" altLang="zh-CN" dirty="0"/>
          </a:p>
          <a:p>
            <a:r>
              <a:rPr lang="zh-CN" altLang="en-US" dirty="0"/>
              <a:t>以帮助编写用例，这些人包括</a:t>
            </a:r>
            <a:endParaRPr lang="en-US" altLang="zh-CN" dirty="0"/>
          </a:p>
          <a:p>
            <a:r>
              <a:rPr lang="zh-CN" altLang="en-US" dirty="0"/>
              <a:t>最终用户 开发人员 客户 系统分析员 软件架构师等</a:t>
            </a:r>
            <a:endParaRPr lang="en-US" altLang="zh-CN" dirty="0"/>
          </a:p>
          <a:p>
            <a:endParaRPr lang="en-US" altLang="zh-CN" dirty="0"/>
          </a:p>
          <a:p>
            <a:r>
              <a:rPr lang="zh-CN" altLang="en-US" dirty="0"/>
              <a:t>由系统分析员领导 并负责 需求定义</a:t>
            </a:r>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39</a:t>
            </a:fld>
            <a:endParaRPr lang="zh-CN" altLang="en-US"/>
          </a:p>
        </p:txBody>
      </p:sp>
    </p:spTree>
    <p:extLst>
      <p:ext uri="{BB962C8B-B14F-4D97-AF65-F5344CB8AC3E}">
        <p14:creationId xmlns:p14="http://schemas.microsoft.com/office/powerpoint/2010/main" val="39009991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UP </a:t>
            </a:r>
            <a:r>
              <a:rPr lang="zh-CN" altLang="en-US" dirty="0"/>
              <a:t>制品及其时限示例（</a:t>
            </a:r>
            <a:r>
              <a:rPr lang="en-US" altLang="zh-CN" dirty="0"/>
              <a:t>S:</a:t>
            </a:r>
            <a:r>
              <a:rPr lang="zh-CN" altLang="en-US" dirty="0"/>
              <a:t>开始；</a:t>
            </a:r>
            <a:r>
              <a:rPr lang="en-US" altLang="zh-CN" dirty="0"/>
              <a:t>r</a:t>
            </a:r>
            <a:r>
              <a:rPr lang="zh-CN" altLang="en-US" dirty="0"/>
              <a:t>：精化）</a:t>
            </a:r>
            <a:endParaRPr lang="en-US" altLang="zh-CN" dirty="0"/>
          </a:p>
          <a:p>
            <a:r>
              <a:rPr lang="zh-CN" altLang="en-US" dirty="0"/>
              <a:t>表 </a:t>
            </a:r>
            <a:r>
              <a:rPr lang="en-US" altLang="zh-CN" dirty="0"/>
              <a:t>6-2 </a:t>
            </a:r>
            <a:r>
              <a:rPr lang="zh-CN" altLang="en-US" dirty="0"/>
              <a:t>描述了一些</a:t>
            </a:r>
            <a:r>
              <a:rPr lang="en-US" altLang="zh-CN" dirty="0"/>
              <a:t>UP</a:t>
            </a:r>
            <a:r>
              <a:rPr lang="zh-CN" altLang="en-US" dirty="0"/>
              <a:t>制品，及其开始和精化的时间表示例</a:t>
            </a:r>
            <a:endParaRPr lang="en-US" altLang="zh-CN" dirty="0"/>
          </a:p>
          <a:p>
            <a:endParaRPr lang="en-US" altLang="zh-CN" dirty="0"/>
          </a:p>
          <a:p>
            <a:r>
              <a:rPr lang="zh-CN" altLang="en-US" dirty="0"/>
              <a:t>用例模型始于初始阶段</a:t>
            </a:r>
            <a:endParaRPr lang="en-US" altLang="zh-CN" dirty="0"/>
          </a:p>
          <a:p>
            <a:r>
              <a:rPr lang="zh-CN" altLang="en-US" dirty="0"/>
              <a:t>在这个阶段大概 只详细编写了 </a:t>
            </a:r>
            <a:r>
              <a:rPr lang="en-US" altLang="zh-CN" dirty="0"/>
              <a:t>10% </a:t>
            </a:r>
            <a:r>
              <a:rPr lang="zh-CN" altLang="en-US" dirty="0"/>
              <a:t>具有重要架构意义的用例</a:t>
            </a:r>
            <a:endParaRPr lang="en-US" altLang="zh-CN" dirty="0"/>
          </a:p>
          <a:p>
            <a:r>
              <a:rPr lang="zh-CN" altLang="en-US" dirty="0"/>
              <a:t>大部分用例在细化阶段的迭代中进行编写</a:t>
            </a:r>
            <a:endParaRPr lang="en-US" altLang="zh-CN" dirty="0"/>
          </a:p>
          <a:p>
            <a:r>
              <a:rPr lang="zh-CN" altLang="en-US" dirty="0"/>
              <a:t>在细化阶段结束时</a:t>
            </a:r>
            <a:r>
              <a:rPr lang="zh-CN" altLang="en-US" baseline="0" dirty="0"/>
              <a:t> </a:t>
            </a:r>
            <a:endParaRPr lang="en-US" altLang="zh-CN" baseline="0" dirty="0"/>
          </a:p>
          <a:p>
            <a:r>
              <a:rPr lang="zh-CN" altLang="en-US" baseline="0" dirty="0"/>
              <a:t>将完成大量详细用例和其它需求（在补充性规格说明中编写）</a:t>
            </a:r>
            <a:endParaRPr lang="en-US" altLang="zh-CN" baseline="0" dirty="0"/>
          </a:p>
          <a:p>
            <a:r>
              <a:rPr lang="zh-CN" altLang="en-US" baseline="0" dirty="0"/>
              <a:t>并为整个项目的预算提供真实的依据</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40</a:t>
            </a:fld>
            <a:endParaRPr lang="zh-CN" altLang="en-US"/>
          </a:p>
        </p:txBody>
      </p:sp>
    </p:spTree>
    <p:extLst>
      <p:ext uri="{BB962C8B-B14F-4D97-AF65-F5344CB8AC3E}">
        <p14:creationId xmlns:p14="http://schemas.microsoft.com/office/powerpoint/2010/main" val="13095927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如前面所述</a:t>
            </a:r>
            <a:endParaRPr lang="en-US" altLang="zh-CN" dirty="0"/>
          </a:p>
          <a:p>
            <a:r>
              <a:rPr lang="zh-CN" altLang="en-US" dirty="0"/>
              <a:t>初始阶段不需要以详述形式编写所有用例</a:t>
            </a:r>
            <a:endParaRPr lang="en-US" altLang="zh-CN" dirty="0"/>
          </a:p>
          <a:p>
            <a:r>
              <a:rPr lang="en-US" altLang="zh-CN" sz="1200" dirty="0"/>
              <a:t>POS</a:t>
            </a:r>
            <a:r>
              <a:rPr lang="en-US" altLang="zh-CN" sz="1200" baseline="0" dirty="0"/>
              <a:t> </a:t>
            </a:r>
            <a:r>
              <a:rPr lang="zh-CN" altLang="en-US" sz="1200" dirty="0"/>
              <a:t>系统</a:t>
            </a:r>
            <a:r>
              <a:rPr lang="zh-CN" altLang="en-US" dirty="0"/>
              <a:t>案例研究</a:t>
            </a:r>
            <a:endParaRPr lang="en-US" altLang="zh-CN" dirty="0"/>
          </a:p>
          <a:p>
            <a:r>
              <a:rPr lang="zh-CN" altLang="en-US" dirty="0"/>
              <a:t>在该阶段的用例模型 可以详述 如表格所示</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41</a:t>
            </a:fld>
            <a:endParaRPr lang="zh-CN" altLang="en-US"/>
          </a:p>
        </p:txBody>
      </p:sp>
    </p:spTree>
    <p:extLst>
      <p:ext uri="{BB962C8B-B14F-4D97-AF65-F5344CB8AC3E}">
        <p14:creationId xmlns:p14="http://schemas.microsoft.com/office/powerpoint/2010/main" val="907693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下面请大家 回顾一下本次课的知识内容</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什么是参与者</a:t>
            </a:r>
            <a:r>
              <a:rPr lang="zh-CN" altLang="en-US" baseline="0" dirty="0"/>
              <a:t> 场景和用例？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什么是用例模型？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参与者有哪三种类型？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如何找到用例？请列举标识用例的 </a:t>
            </a:r>
            <a:r>
              <a:rPr lang="en-US" altLang="zh-CN" baseline="0" dirty="0"/>
              <a:t>4 </a:t>
            </a:r>
            <a:r>
              <a:rPr lang="zh-CN" altLang="en-US" baseline="0" dirty="0"/>
              <a:t>个步骤</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请列举用例的 </a:t>
            </a:r>
            <a:r>
              <a:rPr lang="en-US" altLang="zh-CN" baseline="0" dirty="0"/>
              <a:t>3 </a:t>
            </a:r>
            <a:r>
              <a:rPr lang="zh-CN" altLang="en-US" baseline="0" dirty="0"/>
              <a:t>种常用形式</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什么样的测试 有助于发现有用的用例？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详细用例模板</a:t>
            </a:r>
            <a:r>
              <a:rPr lang="zh-CN" altLang="en-US" baseline="0" dirty="0"/>
              <a:t> </a:t>
            </a:r>
            <a:r>
              <a:rPr lang="zh-CN" altLang="en-US" dirty="0"/>
              <a:t>包含哪些部分？</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aseline="0" dirty="0"/>
              <a:t>                  </a:t>
            </a:r>
            <a:r>
              <a:rPr lang="zh-CN" altLang="en-US" baseline="0" dirty="0"/>
              <a:t>用例模板的这些部分含义是什么？</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aseline="0" dirty="0"/>
              <a:t>给出了</a:t>
            </a:r>
            <a:r>
              <a:rPr lang="en-US" altLang="zh-CN" baseline="0" dirty="0"/>
              <a:t>2</a:t>
            </a:r>
            <a:r>
              <a:rPr lang="zh-CN" altLang="en-US" baseline="0" dirty="0"/>
              <a:t>个用例的实例</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aseline="0" dirty="0"/>
              <a:t>	</a:t>
            </a:r>
            <a:r>
              <a:rPr lang="zh-CN" altLang="en-US" baseline="0" dirty="0"/>
              <a:t>来回答上述问题</a:t>
            </a: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42</a:t>
            </a:fld>
            <a:endParaRPr lang="zh-CN" altLang="en-US"/>
          </a:p>
        </p:txBody>
      </p:sp>
    </p:spTree>
    <p:extLst>
      <p:ext uri="{BB962C8B-B14F-4D97-AF65-F5344CB8AC3E}">
        <p14:creationId xmlns:p14="http://schemas.microsoft.com/office/powerpoint/2010/main" val="970660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最后，作为扩展知识域的学习</a:t>
            </a:r>
            <a:endParaRPr lang="en-US" altLang="zh-CN" dirty="0"/>
          </a:p>
          <a:p>
            <a:r>
              <a:rPr lang="zh-CN" altLang="en-US" dirty="0"/>
              <a:t>请大家课后学习</a:t>
            </a:r>
            <a:endParaRPr lang="en-US" altLang="zh-CN" dirty="0"/>
          </a:p>
          <a:p>
            <a:r>
              <a:rPr lang="zh-CN" altLang="en-US" dirty="0"/>
              <a:t>用例不仅仅是一种需求制品</a:t>
            </a:r>
            <a:endParaRPr lang="en-US" altLang="zh-CN" dirty="0"/>
          </a:p>
          <a:p>
            <a:r>
              <a:rPr lang="zh-CN" altLang="en-US" dirty="0"/>
              <a:t>而且是驱动需求工作的核心手段，为什么？</a:t>
            </a:r>
            <a:endParaRPr lang="en-US" altLang="zh-CN" dirty="0"/>
          </a:p>
          <a:p>
            <a:endParaRPr lang="en-US" altLang="zh-CN" dirty="0"/>
          </a:p>
          <a:p>
            <a:r>
              <a:rPr lang="zh-CN" altLang="en-US" dirty="0"/>
              <a:t>在 </a:t>
            </a:r>
            <a:r>
              <a:rPr lang="en-US" altLang="zh-CN" dirty="0"/>
              <a:t>POS </a:t>
            </a:r>
            <a:r>
              <a:rPr lang="zh-CN" altLang="en-US" dirty="0"/>
              <a:t>系统中，主要参与者是收银员还是顾客？</a:t>
            </a:r>
            <a:endParaRPr lang="en-US" altLang="zh-CN" dirty="0"/>
          </a:p>
          <a:p>
            <a:endParaRPr lang="en-US" altLang="zh-CN" dirty="0"/>
          </a:p>
          <a:p>
            <a:r>
              <a:rPr lang="zh-CN" altLang="en-US" dirty="0"/>
              <a:t>请给出</a:t>
            </a:r>
            <a:r>
              <a:rPr lang="en-US" altLang="zh-CN" dirty="0"/>
              <a:t>UC: Play CDD Game</a:t>
            </a:r>
            <a:r>
              <a:rPr lang="zh-CN" altLang="en-US" dirty="0"/>
              <a:t>的细化描述</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43</a:t>
            </a:fld>
            <a:endParaRPr lang="zh-CN" altLang="en-US"/>
          </a:p>
        </p:txBody>
      </p:sp>
    </p:spTree>
    <p:extLst>
      <p:ext uri="{BB962C8B-B14F-4D97-AF65-F5344CB8AC3E}">
        <p14:creationId xmlns:p14="http://schemas.microsoft.com/office/powerpoint/2010/main" val="308296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62522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cxnSp>
        <p:nvCxnSpPr>
          <p:cNvPr id="4" name="直接连接符 3"/>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33400" y="1341438"/>
            <a:ext cx="10515600" cy="4351337"/>
          </a:xfrm>
        </p:spPr>
        <p:txBody>
          <a:bodyPr/>
          <a:lstStyle>
            <a:lvl1pPr>
              <a:defRPr>
                <a:latin typeface="Microsoft JhengHei Light" panose="020B0304030504040204" pitchFamily="34" charset="-120"/>
                <a:cs typeface="Times New Roman" panose="02020603050405020304" pitchFamily="18" charset="0"/>
              </a:defRPr>
            </a:lvl1pPr>
            <a:lvl2pPr>
              <a:defRPr>
                <a:solidFill>
                  <a:schemeClr val="tx1"/>
                </a:solidFill>
                <a:latin typeface="Microsoft JhengHei Light" panose="020B0304030504040204" pitchFamily="34" charset="-120"/>
                <a:cs typeface="Times New Roman" panose="02020603050405020304" pitchFamily="18" charset="0"/>
              </a:defRPr>
            </a:lvl2pPr>
            <a:lvl3pPr>
              <a:defRPr>
                <a:latin typeface="Microsoft JhengHei Light" panose="020B0304030504040204" pitchFamily="34" charset="-120"/>
                <a:cs typeface="Times New Roman" panose="02020603050405020304" pitchFamily="18" charset="0"/>
              </a:defRPr>
            </a:lvl3pPr>
            <a:lvl4pPr>
              <a:defRPr>
                <a:latin typeface="Microsoft JhengHei Light" panose="020B0304030504040204" pitchFamily="34" charset="-120"/>
                <a:cs typeface="Times New Roman" panose="02020603050405020304" pitchFamily="18" charset="0"/>
              </a:defRPr>
            </a:lvl4pPr>
            <a:lvl5pPr>
              <a:defRPr>
                <a:latin typeface="Microsoft JhengHei Light" panose="020B0304030504040204" pitchFamily="34" charset="-120"/>
                <a:cs typeface="Times New Roman" panose="02020603050405020304" pitchFamily="18" charset="0"/>
              </a:defRPr>
            </a:lvl5pPr>
          </a:lstStyle>
          <a:p>
            <a:pPr lvl="0"/>
            <a:r>
              <a:rPr lang="zh-CN" altLang="en-US"/>
              <a:t>单击此处编辑母版文本样式</a:t>
            </a:r>
          </a:p>
          <a:p>
            <a:pPr lvl="1"/>
            <a:r>
              <a:rPr lang="zh-CN" altLang="en-US"/>
              <a:t>第二级</a:t>
            </a:r>
          </a:p>
        </p:txBody>
      </p:sp>
      <p:sp>
        <p:nvSpPr>
          <p:cNvPr id="11" name="Title Placeholder 1"/>
          <p:cNvSpPr>
            <a:spLocks noGrp="1"/>
          </p:cNvSpPr>
          <p:nvPr>
            <p:ph type="title"/>
          </p:nvPr>
        </p:nvSpPr>
        <p:spPr bwMode="auto">
          <a:xfrm>
            <a:off x="44831" y="-27384"/>
            <a:ext cx="12099841"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aseline="0">
                <a:latin typeface="Microsoft JhengHei Light" panose="020B0304030504040204" pitchFamily="34" charset="-120"/>
                <a:cs typeface="Times New Roman" panose="02020603050405020304" pitchFamily="18" charset="0"/>
              </a:defRPr>
            </a:lvl1p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2FF13E5-C1A9-42CB-8AE4-222DCECB0FC2}" type="slidenum">
              <a:rPr lang="en-US" altLang="zh-CN" smtClean="0"/>
              <a:pPr>
                <a:defRPr/>
              </a:pPr>
              <a:t>‹#›</a:t>
            </a:fld>
            <a:endParaRPr lang="zh-CN" altLang="en-US"/>
          </a:p>
        </p:txBody>
      </p:sp>
    </p:spTree>
    <p:extLst>
      <p:ext uri="{BB962C8B-B14F-4D97-AF65-F5344CB8AC3E}">
        <p14:creationId xmlns:p14="http://schemas.microsoft.com/office/powerpoint/2010/main" val="429166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7" name="标题 6"/>
          <p:cNvSpPr>
            <a:spLocks noGrp="1"/>
          </p:cNvSpPr>
          <p:nvPr>
            <p:ph type="title"/>
          </p:nvPr>
        </p:nvSpPr>
        <p:spPr>
          <a:xfrm>
            <a:off x="28872" y="-27384"/>
            <a:ext cx="12115800" cy="1309687"/>
          </a:xfrm>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E0E08C0-E34A-41E9-8C60-04DBC2740B40}" type="slidenum">
              <a:rPr lang="en-US" altLang="zh-CN" smtClean="0"/>
              <a:pPr>
                <a:defRPr/>
              </a:pPr>
              <a:t>‹#›</a:t>
            </a:fld>
            <a:endParaRPr lang="en-US" altLang="zh-CN"/>
          </a:p>
        </p:txBody>
      </p:sp>
    </p:spTree>
    <p:extLst>
      <p:ext uri="{BB962C8B-B14F-4D97-AF65-F5344CB8AC3E}">
        <p14:creationId xmlns:p14="http://schemas.microsoft.com/office/powerpoint/2010/main" val="364840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AB90974-DD9F-401C-BCD5-5C52FB14960C}" type="slidenum">
              <a:rPr lang="en-US" altLang="zh-CN" smtClean="0"/>
              <a:pPr>
                <a:defRPr/>
              </a:pPr>
              <a:t>‹#›</a:t>
            </a:fld>
            <a:endParaRPr lang="en-US" altLang="zh-CN"/>
          </a:p>
        </p:txBody>
      </p:sp>
    </p:spTree>
    <p:extLst>
      <p:ext uri="{BB962C8B-B14F-4D97-AF65-F5344CB8AC3E}">
        <p14:creationId xmlns:p14="http://schemas.microsoft.com/office/powerpoint/2010/main" val="1317453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cxnSp>
        <p:nvCxnSpPr>
          <p:cNvPr id="7" name="直接连接符 6"/>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8" name="直接连接符 7"/>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Title Placeholder 1"/>
          <p:cNvSpPr>
            <a:spLocks noGrp="1"/>
          </p:cNvSpPr>
          <p:nvPr>
            <p:ph type="title"/>
          </p:nvPr>
        </p:nvSpPr>
        <p:spPr bwMode="auto">
          <a:xfrm>
            <a:off x="49523" y="-27384"/>
            <a:ext cx="12167157"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9"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564FCCF-ECFC-4384-BBB6-CBB436201AF4}" type="slidenum">
              <a:rPr lang="en-US" altLang="zh-CN" smtClean="0"/>
              <a:pPr>
                <a:defRPr/>
              </a:pPr>
              <a:t>‹#›</a:t>
            </a:fld>
            <a:endParaRPr lang="en-US" altLang="zh-CN"/>
          </a:p>
        </p:txBody>
      </p:sp>
    </p:spTree>
    <p:extLst>
      <p:ext uri="{BB962C8B-B14F-4D97-AF65-F5344CB8AC3E}">
        <p14:creationId xmlns:p14="http://schemas.microsoft.com/office/powerpoint/2010/main" val="114618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47C9950-AB1E-410B-AA3D-ED32C3E8627F}" type="slidenum">
              <a:rPr lang="en-US" altLang="zh-CN" smtClean="0"/>
              <a:pPr>
                <a:defRPr/>
              </a:pPr>
              <a:t>‹#›</a:t>
            </a:fld>
            <a:endParaRPr lang="en-US" altLang="zh-CN"/>
          </a:p>
        </p:txBody>
      </p:sp>
    </p:spTree>
    <p:extLst>
      <p:ext uri="{BB962C8B-B14F-4D97-AF65-F5344CB8AC3E}">
        <p14:creationId xmlns:p14="http://schemas.microsoft.com/office/powerpoint/2010/main" val="17722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6" name="Title Placeholder 1"/>
          <p:cNvSpPr>
            <a:spLocks noGrp="1"/>
          </p:cNvSpPr>
          <p:nvPr>
            <p:ph type="title"/>
          </p:nvPr>
        </p:nvSpPr>
        <p:spPr bwMode="auto">
          <a:xfrm>
            <a:off x="49523" y="-27384"/>
            <a:ext cx="12095149"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1B25AAC3-67D6-43A1-B13B-90A7556932A2}" type="slidenum">
              <a:rPr lang="en-US" altLang="zh-CN" smtClean="0"/>
              <a:pPr>
                <a:defRPr/>
              </a:pPr>
              <a:t>‹#›</a:t>
            </a:fld>
            <a:endParaRPr lang="en-US" altLang="zh-CN"/>
          </a:p>
        </p:txBody>
      </p:sp>
    </p:spTree>
    <p:extLst>
      <p:ext uri="{BB962C8B-B14F-4D97-AF65-F5344CB8AC3E}">
        <p14:creationId xmlns:p14="http://schemas.microsoft.com/office/powerpoint/2010/main" val="40944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cxnSp>
        <p:nvCxnSpPr>
          <p:cNvPr id="5" name="直接连接符 4"/>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11963"/>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2578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E7D3CED3-13D6-4067-92F3-384BFE2D7B63}" type="slidenum">
              <a:rPr lang="en-US" altLang="zh-CN" smtClean="0"/>
              <a:pPr>
                <a:defRPr/>
              </a:pPr>
              <a:t>‹#›</a:t>
            </a:fld>
            <a:endParaRPr lang="en-US" altLang="zh-CN"/>
          </a:p>
        </p:txBody>
      </p:sp>
    </p:spTree>
    <p:extLst>
      <p:ext uri="{BB962C8B-B14F-4D97-AF65-F5344CB8AC3E}">
        <p14:creationId xmlns:p14="http://schemas.microsoft.com/office/powerpoint/2010/main" val="229900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Picture Placeholder 2"/>
          <p:cNvSpPr>
            <a:spLocks noGrp="1" noChangeAspect="1"/>
          </p:cNvSpPr>
          <p:nvPr>
            <p:ph type="pic" idx="1"/>
          </p:nvPr>
        </p:nvSpPr>
        <p:spPr>
          <a:xfrm>
            <a:off x="5257800"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altLang="en-US" noProof="0"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A98F42C-13FA-4910-870C-46D85C5F2F08}" type="slidenum">
              <a:rPr lang="en-US" altLang="zh-CN" smtClean="0"/>
              <a:pPr>
                <a:defRPr/>
              </a:pPr>
              <a:t>‹#›</a:t>
            </a:fld>
            <a:endParaRPr lang="en-US" altLang="zh-CN"/>
          </a:p>
        </p:txBody>
      </p:sp>
    </p:spTree>
    <p:extLst>
      <p:ext uri="{BB962C8B-B14F-4D97-AF65-F5344CB8AC3E}">
        <p14:creationId xmlns:p14="http://schemas.microsoft.com/office/powerpoint/2010/main" val="2010002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CB0C8DD1-9D3B-42A1-84B1-8E869690B5F6}" type="slidenum">
              <a:rPr lang="en-US" altLang="zh-CN" smtClean="0"/>
              <a:pPr>
                <a:defRPr/>
              </a:pPr>
              <a:t>‹#›</a:t>
            </a:fld>
            <a:endParaRPr lang="en-US" altLang="zh-CN"/>
          </a:p>
        </p:txBody>
      </p:sp>
    </p:spTree>
    <p:extLst>
      <p:ext uri="{BB962C8B-B14F-4D97-AF65-F5344CB8AC3E}">
        <p14:creationId xmlns:p14="http://schemas.microsoft.com/office/powerpoint/2010/main" val="1551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垂直排列标题与&#10;文本">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Vertical Text Placeholder 2"/>
          <p:cNvSpPr>
            <a:spLocks noGrp="1"/>
          </p:cNvSpPr>
          <p:nvPr>
            <p:ph type="body" orient="vert" idx="1"/>
          </p:nvPr>
        </p:nvSpPr>
        <p:spPr>
          <a:xfrm>
            <a:off x="886326"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Placeholder 1"/>
          <p:cNvSpPr>
            <a:spLocks noGrp="1"/>
          </p:cNvSpPr>
          <p:nvPr>
            <p:ph type="title"/>
          </p:nvPr>
        </p:nvSpPr>
        <p:spPr bwMode="auto">
          <a:xfrm>
            <a:off x="56147"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B0268A1A-ECCE-469A-91A9-370D3004D396}" type="slidenum">
              <a:rPr lang="en-US" altLang="zh-CN" smtClean="0"/>
              <a:pPr>
                <a:defRPr/>
              </a:pPr>
              <a:t>‹#›</a:t>
            </a:fld>
            <a:endParaRPr lang="en-US" altLang="zh-CN"/>
          </a:p>
        </p:txBody>
      </p:sp>
    </p:spTree>
    <p:extLst>
      <p:ext uri="{BB962C8B-B14F-4D97-AF65-F5344CB8AC3E}">
        <p14:creationId xmlns:p14="http://schemas.microsoft.com/office/powerpoint/2010/main" val="3931335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8872" y="-27384"/>
            <a:ext cx="12115800" cy="1309687"/>
          </a:xfrm>
        </p:spPr>
        <p:txBody>
          <a:bodyPr/>
          <a:lstStyle/>
          <a:p>
            <a:r>
              <a:rPr lang="zh-CN" altLang="en-US"/>
              <a:t>单击此处编辑母版标题样式</a:t>
            </a:r>
          </a:p>
        </p:txBody>
      </p:sp>
    </p:spTree>
    <p:extLst>
      <p:ext uri="{BB962C8B-B14F-4D97-AF65-F5344CB8AC3E}">
        <p14:creationId xmlns:p14="http://schemas.microsoft.com/office/powerpoint/2010/main" val="225294038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75413989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8872" y="-27384"/>
            <a:ext cx="12115800"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单击此处编辑母版文本样式</a:t>
            </a:r>
          </a:p>
        </p:txBody>
      </p:sp>
      <p:sp>
        <p:nvSpPr>
          <p:cNvPr id="1027" name="Text Placeholder 2"/>
          <p:cNvSpPr>
            <a:spLocks noGrp="1"/>
          </p:cNvSpPr>
          <p:nvPr>
            <p:ph type="body" idx="1"/>
          </p:nvPr>
        </p:nvSpPr>
        <p:spPr bwMode="auto">
          <a:xfrm>
            <a:off x="449262" y="1341438"/>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 </a:t>
            </a:r>
            <a:r>
              <a:rPr lang="en-US" altLang="zh-CN"/>
              <a:t>Enter your Theme</a:t>
            </a:r>
            <a:endParaRPr lang="zh-CN" altLang="en-US"/>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0965386"/>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Lst>
  <p:hf hdr="0" ftr="0" dt="0"/>
  <p:txStyles>
    <p:titleStyle>
      <a:lvl1pPr algn="l" rtl="0" eaLnBrk="1" fontAlgn="base" hangingPunct="1">
        <a:lnSpc>
          <a:spcPct val="90000"/>
        </a:lnSpc>
        <a:spcBef>
          <a:spcPct val="0"/>
        </a:spcBef>
        <a:spcAft>
          <a:spcPct val="0"/>
        </a:spcAft>
        <a:defRPr lang="zh-CN" altLang="en-US" sz="3600" b="1" kern="1200">
          <a:solidFill>
            <a:srgbClr val="FFFF9A"/>
          </a:solidFill>
          <a:latin typeface="Microsoft JhengHei Light" panose="020B0304030504040204" pitchFamily="34" charset="-120"/>
          <a:ea typeface="+mn-ea"/>
          <a:cs typeface="Malgun Gothic Semilight" panose="020B0502040204020203" pitchFamily="34" charset="-122"/>
        </a:defRPr>
      </a:lvl1pPr>
      <a:lvl2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2pPr>
      <a:lvl3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3pPr>
      <a:lvl4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4pPr>
      <a:lvl5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5pPr>
      <a:lvl6pPr marL="4572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9pPr>
    </p:titleStyle>
    <p:body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dirty="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rgbClr val="FFEA9C"/>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ustomXml" Target="../../customXml/item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customXml" Target="../../customXml/item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mk:@MSITStore:D:\arnold%20&#20010;&#20154;&#36164;&#26009;\XY\&#25945;&#23398;&#25913;&#38761;&#39033;&#30446;\2015\MOOC\MOOC-LLN\&#21442;&#32771;&#20070;\AGILE\Applying%20UML%20and%20Patterns%20An%20Introduction%20to%20Object-Oriented%20Analysis%20and%20Design%20and%20Iterative%20Development%20(3rd%20Edition).chm::/0131489062/biblio01.html#biblio01entry37"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k:@MSITStore:D:\arnold%20&#20010;&#20154;&#36164;&#26009;\XY\&#25945;&#23398;&#25913;&#38761;&#39033;&#30446;\2015\MOOC\MOOC-LLN\&#21442;&#32771;&#20070;\AGILE\Applying%20UML%20and%20Patterns%20An%20Introduction%20to%20Object-Oriented%20Analysis%20and%20Design%20and%20Iterative%20Development%20(3rd%20Edition).chm::/0131489062/biblio01.html#biblio01entry112"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subTitle" idx="1"/>
          </p:nvPr>
        </p:nvSpPr>
        <p:spPr>
          <a:xfrm>
            <a:off x="1981200" y="3886200"/>
            <a:ext cx="7315200" cy="1752600"/>
          </a:xfrm>
        </p:spPr>
        <p:txBody>
          <a:bodyPr/>
          <a:lstStyle/>
          <a:p>
            <a:r>
              <a:rPr lang="en-US" altLang="zh-CN" sz="3200" dirty="0"/>
              <a:t>Chapter 3.2 </a:t>
            </a:r>
          </a:p>
          <a:p>
            <a:r>
              <a:rPr lang="en-US" altLang="zh-CN" sz="3200" dirty="0"/>
              <a:t>Use Case</a:t>
            </a:r>
            <a:endParaRPr lang="zh-CN" altLang="zh-CN" sz="3200" dirty="0"/>
          </a:p>
        </p:txBody>
      </p:sp>
      <p:sp>
        <p:nvSpPr>
          <p:cNvPr id="14339" name="Rectangle 2"/>
          <p:cNvSpPr>
            <a:spLocks noGrp="1" noChangeArrowheads="1"/>
          </p:cNvSpPr>
          <p:nvPr>
            <p:ph type="title"/>
          </p:nvPr>
        </p:nvSpPr>
        <p:spPr>
          <a:xfrm>
            <a:off x="609600" y="1676401"/>
            <a:ext cx="10744200" cy="1924050"/>
          </a:xfrm>
        </p:spPr>
        <p:txBody>
          <a:bodyPr/>
          <a:lstStyle/>
          <a:p>
            <a:r>
              <a:rPr lang="en-US" altLang="zh-CN" sz="4800" dirty="0"/>
              <a:t>Software Requirements</a:t>
            </a:r>
            <a:r>
              <a:rPr lang="zh-CN" altLang="en-US" sz="4800" dirty="0"/>
              <a:t> </a:t>
            </a:r>
            <a:r>
              <a:rPr lang="en-US" altLang="zh-CN" sz="4800" dirty="0"/>
              <a:t>Analysis, Design and Modeling</a:t>
            </a:r>
          </a:p>
        </p:txBody>
      </p:sp>
    </p:spTree>
    <p:custDataLst>
      <p:custData r:id="rId1"/>
      <p:tags r:id="rId2"/>
    </p:custDataLst>
  </p:cSld>
  <p:clrMapOvr>
    <a:masterClrMapping/>
  </p:clrMapOvr>
  <mc:AlternateContent xmlns:mc="http://schemas.openxmlformats.org/markup-compatibility/2006" xmlns:p14="http://schemas.microsoft.com/office/powerpoint/2010/main">
    <mc:Choice Requires="p14">
      <p:transition spd="slow" p14:dur="2000" advTm="5713"/>
    </mc:Choice>
    <mc:Fallback xmlns="">
      <p:transition spd="slow" advTm="571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304800" y="1317542"/>
            <a:ext cx="11734800" cy="4016458"/>
          </a:xfrm>
        </p:spPr>
        <p:txBody>
          <a:bodyPr/>
          <a:lstStyle/>
          <a:p>
            <a:pPr marL="0" indent="0">
              <a:buNone/>
            </a:pPr>
            <a:r>
              <a:rPr lang="en-US" altLang="zh-CN" dirty="0"/>
              <a:t>Describe the basic Requirements concepts and how they affect Analysis and Design.</a:t>
            </a:r>
          </a:p>
          <a:p>
            <a:pPr marL="0" indent="0">
              <a:buNone/>
            </a:pPr>
            <a:r>
              <a:rPr lang="en-US" altLang="zh-CN" dirty="0"/>
              <a:t>Demonstrate how to read and interpret the artifacts of Requirements that are used as a starting point for Analysis and Design.</a:t>
            </a:r>
          </a:p>
          <a:p>
            <a:pPr marL="0" indent="0">
              <a:buNone/>
            </a:pPr>
            <a:r>
              <a:rPr lang="en-US" altLang="zh-CN" dirty="0"/>
              <a:t>Identify and write use cases.</a:t>
            </a:r>
          </a:p>
          <a:p>
            <a:pPr marL="0" indent="0">
              <a:buNone/>
            </a:pPr>
            <a:r>
              <a:rPr lang="en-US" altLang="zh-CN" dirty="0"/>
              <a:t>Use the brief, casual, and fully dressed formats, in an essential style.</a:t>
            </a:r>
          </a:p>
          <a:p>
            <a:pPr marL="0" indent="0">
              <a:buNone/>
            </a:pPr>
            <a:r>
              <a:rPr lang="en-US" altLang="zh-CN" dirty="0"/>
              <a:t>Apply tests to identify suitable use cases.</a:t>
            </a:r>
          </a:p>
          <a:p>
            <a:pPr marL="0" indent="0">
              <a:buNone/>
            </a:pPr>
            <a:r>
              <a:rPr lang="en-US" altLang="zh-CN" dirty="0"/>
              <a:t>Relate use case analysis to iterative development.</a:t>
            </a:r>
          </a:p>
          <a:p>
            <a:pPr marL="0" indent="0">
              <a:buNone/>
            </a:pPr>
            <a:endParaRPr lang="en-US" altLang="zh-CN" dirty="0"/>
          </a:p>
        </p:txBody>
      </p:sp>
      <p:sp>
        <p:nvSpPr>
          <p:cNvPr id="3" name="标题 2"/>
          <p:cNvSpPr>
            <a:spLocks noGrp="1"/>
          </p:cNvSpPr>
          <p:nvPr>
            <p:ph type="title"/>
          </p:nvPr>
        </p:nvSpPr>
        <p:spPr/>
        <p:txBody>
          <a:bodyPr/>
          <a:lstStyle/>
          <a:p>
            <a:r>
              <a:rPr lang="en-US" altLang="zh-CN" dirty="0"/>
              <a:t>Objectives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a:t>
            </a:fld>
            <a:endParaRPr lang="zh-CN" altLang="en-US"/>
          </a:p>
        </p:txBody>
      </p:sp>
    </p:spTree>
    <p:custDataLst>
      <p:custData r:id="rId1"/>
      <p:tags r:id="rId2"/>
    </p:custDataLst>
    <p:extLst>
      <p:ext uri="{BB962C8B-B14F-4D97-AF65-F5344CB8AC3E}">
        <p14:creationId xmlns:p14="http://schemas.microsoft.com/office/powerpoint/2010/main" val="232924989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t>Introduction of Use Case via a Brief Use Case Example.</a:t>
            </a:r>
          </a:p>
          <a:p>
            <a:r>
              <a:rPr lang="en-US" altLang="zh-CN" dirty="0">
                <a:solidFill>
                  <a:schemeClr val="tx1">
                    <a:lumMod val="50000"/>
                  </a:schemeClr>
                </a:solidFill>
              </a:rPr>
              <a:t>Key Concepts about the Use Cases. </a:t>
            </a:r>
          </a:p>
          <a:p>
            <a:r>
              <a:rPr lang="en-US" altLang="zh-CN" dirty="0" err="1">
                <a:solidFill>
                  <a:schemeClr val="tx1">
                    <a:lumMod val="50000"/>
                  </a:schemeClr>
                </a:solidFill>
              </a:rPr>
              <a:t>Intrduce</a:t>
            </a:r>
            <a:r>
              <a:rPr lang="en-US" altLang="zh-CN" dirty="0">
                <a:solidFill>
                  <a:schemeClr val="tx1">
                    <a:lumMod val="50000"/>
                  </a:schemeClr>
                </a:solidFill>
              </a:rPr>
              <a:t> Use Case Specification via a Fully Dressed UC1: Process Sale.</a:t>
            </a:r>
          </a:p>
          <a:p>
            <a:r>
              <a:rPr lang="en-US" altLang="zh-CN" dirty="0">
                <a:solidFill>
                  <a:schemeClr val="tx1">
                    <a:lumMod val="50000"/>
                  </a:schemeClr>
                </a:solidFill>
              </a:rPr>
              <a:t>Guidelines about Use Cases. </a:t>
            </a:r>
          </a:p>
          <a:p>
            <a:r>
              <a:rPr lang="en-US" altLang="zh-CN" dirty="0">
                <a:solidFill>
                  <a:schemeClr val="tx1">
                    <a:lumMod val="50000"/>
                  </a:schemeClr>
                </a:solidFill>
              </a:rPr>
              <a:t>Use Cases: A Case Study Applying UML Notations. </a:t>
            </a:r>
          </a:p>
          <a:p>
            <a:r>
              <a:rPr lang="en-US" altLang="zh-CN" dirty="0">
                <a:solidFill>
                  <a:schemeClr val="tx1">
                    <a:lumMod val="50000"/>
                  </a:schemeClr>
                </a:solidFill>
              </a:rPr>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2</a:t>
            </a:fld>
            <a:endParaRPr lang="zh-CN" altLang="en-US"/>
          </a:p>
        </p:txBody>
      </p:sp>
      <p:sp>
        <p:nvSpPr>
          <p:cNvPr id="5" name="五角星 4"/>
          <p:cNvSpPr/>
          <p:nvPr/>
        </p:nvSpPr>
        <p:spPr>
          <a:xfrm>
            <a:off x="58615" y="133748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94474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1828800" y="1282137"/>
            <a:ext cx="8806977" cy="5176460"/>
          </a:xfrm>
          <a:prstGeom prst="rect">
            <a:avLst/>
          </a:prstGeom>
        </p:spPr>
      </p:pic>
      <p:sp>
        <p:nvSpPr>
          <p:cNvPr id="3" name="标题 2"/>
          <p:cNvSpPr>
            <a:spLocks noGrp="1"/>
          </p:cNvSpPr>
          <p:nvPr>
            <p:ph type="title"/>
          </p:nvPr>
        </p:nvSpPr>
        <p:spPr/>
        <p:txBody>
          <a:bodyPr/>
          <a:lstStyle/>
          <a:p>
            <a:r>
              <a:rPr lang="en-US" altLang="zh-CN" b="0" dirty="0"/>
              <a:t>Requirements in UP Context</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a:t>
            </a:fld>
            <a:endParaRPr lang="zh-CN" altLang="en-US"/>
          </a:p>
        </p:txBody>
      </p:sp>
      <p:sp>
        <p:nvSpPr>
          <p:cNvPr id="6" name="矩形 5"/>
          <p:cNvSpPr/>
          <p:nvPr/>
        </p:nvSpPr>
        <p:spPr>
          <a:xfrm>
            <a:off x="6487648" y="5029200"/>
            <a:ext cx="4942352" cy="646331"/>
          </a:xfrm>
          <a:prstGeom prst="rect">
            <a:avLst/>
          </a:prstGeom>
        </p:spPr>
        <p:txBody>
          <a:bodyPr wrap="square">
            <a:spAutoFit/>
          </a:bodyPr>
          <a:lstStyle/>
          <a:p>
            <a:r>
              <a:rPr lang="en-US" altLang="zh-CN" dirty="0"/>
              <a:t>The UP defines the Use-Case Model within the Requirements discipline. </a:t>
            </a:r>
            <a:endParaRPr lang="zh-CN" altLang="en-US" dirty="0"/>
          </a:p>
        </p:txBody>
      </p:sp>
      <p:cxnSp>
        <p:nvCxnSpPr>
          <p:cNvPr id="7" name="直接箭头连接符 6"/>
          <p:cNvCxnSpPr/>
          <p:nvPr/>
        </p:nvCxnSpPr>
        <p:spPr>
          <a:xfrm>
            <a:off x="6232288" y="2514600"/>
            <a:ext cx="1235312" cy="2362200"/>
          </a:xfrm>
          <a:prstGeom prst="straightConnector1">
            <a:avLst/>
          </a:prstGeom>
          <a:ln w="57150">
            <a:solidFill>
              <a:srgbClr val="3DEAF3"/>
            </a:solidFill>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15059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3"/>
          <a:stretch>
            <a:fillRect/>
          </a:stretch>
        </p:blipFill>
        <p:spPr>
          <a:xfrm>
            <a:off x="3375831" y="1137235"/>
            <a:ext cx="4190985" cy="4774346"/>
          </a:xfrm>
          <a:prstGeom prst="rect">
            <a:avLst/>
          </a:prstGeom>
        </p:spPr>
      </p:pic>
      <p:sp>
        <p:nvSpPr>
          <p:cNvPr id="3" name="标题 2"/>
          <p:cNvSpPr>
            <a:spLocks noGrp="1"/>
          </p:cNvSpPr>
          <p:nvPr>
            <p:ph type="title"/>
          </p:nvPr>
        </p:nvSpPr>
        <p:spPr/>
        <p:txBody>
          <a:bodyPr/>
          <a:lstStyle/>
          <a:p>
            <a:r>
              <a:rPr lang="en-US" altLang="zh-CN" sz="3200" dirty="0"/>
              <a:t>A Brief Use Case Example: Process Sale</a:t>
            </a:r>
            <a:endParaRPr lang="zh-CN" altLang="zh-CN"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a:t>
            </a:fld>
            <a:endParaRPr lang="zh-CN" altLang="en-US"/>
          </a:p>
        </p:txBody>
      </p:sp>
      <p:sp>
        <p:nvSpPr>
          <p:cNvPr id="7" name="矩形 6"/>
          <p:cNvSpPr/>
          <p:nvPr/>
        </p:nvSpPr>
        <p:spPr>
          <a:xfrm>
            <a:off x="3222076" y="6109895"/>
            <a:ext cx="5054333" cy="369332"/>
          </a:xfrm>
          <a:prstGeom prst="rect">
            <a:avLst/>
          </a:prstGeom>
        </p:spPr>
        <p:txBody>
          <a:bodyPr wrap="square">
            <a:spAutoFit/>
          </a:bodyPr>
          <a:lstStyle/>
          <a:p>
            <a:r>
              <a:rPr lang="en-US" altLang="zh-CN" b="1" dirty="0"/>
              <a:t>Figure 6.1. Sample UP artifact influence.</a:t>
            </a:r>
            <a:endParaRPr lang="zh-CN" altLang="en-US" dirty="0"/>
          </a:p>
        </p:txBody>
      </p:sp>
      <p:sp>
        <p:nvSpPr>
          <p:cNvPr id="8" name="矩形 7"/>
          <p:cNvSpPr/>
          <p:nvPr/>
        </p:nvSpPr>
        <p:spPr>
          <a:xfrm>
            <a:off x="8153400" y="1644555"/>
            <a:ext cx="3658837" cy="3693319"/>
          </a:xfrm>
          <a:prstGeom prst="rect">
            <a:avLst/>
          </a:prstGeom>
        </p:spPr>
        <p:txBody>
          <a:bodyPr wrap="square">
            <a:spAutoFit/>
          </a:bodyPr>
          <a:lstStyle/>
          <a:p>
            <a:r>
              <a:rPr lang="en-US" altLang="zh-CN" dirty="0"/>
              <a:t>Process Sale: A customer arrives at a checkout with items to purchase. The cashier uses the POS system to record each purchased item. The system presents a running total and line-item details. The customer enters payment information, which the system validates and records. The system updates inventory. The customer receives a receipt from the system and then leaves with the items.</a:t>
            </a:r>
          </a:p>
        </p:txBody>
      </p:sp>
      <p:sp>
        <p:nvSpPr>
          <p:cNvPr id="9" name="矩形 8"/>
          <p:cNvSpPr/>
          <p:nvPr/>
        </p:nvSpPr>
        <p:spPr>
          <a:xfrm>
            <a:off x="534348" y="1676400"/>
            <a:ext cx="2692315" cy="1200329"/>
          </a:xfrm>
          <a:prstGeom prst="rect">
            <a:avLst/>
          </a:prstGeom>
        </p:spPr>
        <p:txBody>
          <a:bodyPr wrap="square">
            <a:spAutoFit/>
          </a:bodyPr>
          <a:lstStyle/>
          <a:p>
            <a:r>
              <a:rPr lang="en-US" altLang="zh-CN" dirty="0"/>
              <a:t>Informally, use cases are text stories of some actor using a system to meet goals. </a:t>
            </a:r>
            <a:endParaRPr lang="zh-CN" altLang="en-US" dirty="0"/>
          </a:p>
        </p:txBody>
      </p:sp>
      <p:cxnSp>
        <p:nvCxnSpPr>
          <p:cNvPr id="11" name="直接箭头连接符 10"/>
          <p:cNvCxnSpPr/>
          <p:nvPr/>
        </p:nvCxnSpPr>
        <p:spPr>
          <a:xfrm>
            <a:off x="6003010" y="2819189"/>
            <a:ext cx="1997990" cy="5754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10" name="矩形 9"/>
          <p:cNvSpPr/>
          <p:nvPr/>
        </p:nvSpPr>
        <p:spPr>
          <a:xfrm>
            <a:off x="3813247" y="2362199"/>
            <a:ext cx="1036138" cy="108602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426822" y="2181130"/>
            <a:ext cx="4066904" cy="258246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线形标注 1 12"/>
          <p:cNvSpPr/>
          <p:nvPr/>
        </p:nvSpPr>
        <p:spPr>
          <a:xfrm>
            <a:off x="534348" y="3524408"/>
            <a:ext cx="1675452" cy="1146048"/>
          </a:xfrm>
          <a:prstGeom prst="borderCallout1">
            <a:avLst>
              <a:gd name="adj1" fmla="val 37940"/>
              <a:gd name="adj2" fmla="val 98810"/>
              <a:gd name="adj3" fmla="val -31967"/>
              <a:gd name="adj4" fmla="val 17372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Relevant Requirements Artifacts</a:t>
            </a:r>
            <a:endParaRPr lang="zh-CN" altLang="en-US" dirty="0"/>
          </a:p>
        </p:txBody>
      </p:sp>
      <p:sp>
        <p:nvSpPr>
          <p:cNvPr id="15" name="线形标注 1 14"/>
          <p:cNvSpPr/>
          <p:nvPr/>
        </p:nvSpPr>
        <p:spPr>
          <a:xfrm>
            <a:off x="947894" y="4985138"/>
            <a:ext cx="1675452" cy="1146048"/>
          </a:xfrm>
          <a:prstGeom prst="borderCallout1">
            <a:avLst>
              <a:gd name="adj1" fmla="val 37940"/>
              <a:gd name="adj2" fmla="val 98810"/>
              <a:gd name="adj3" fmla="val -31967"/>
              <a:gd name="adj4" fmla="val 173725"/>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Use Case Model</a:t>
            </a:r>
            <a:endParaRPr lang="zh-CN" altLang="en-US" dirty="0"/>
          </a:p>
        </p:txBody>
      </p:sp>
    </p:spTree>
    <p:extLst>
      <p:ext uri="{BB962C8B-B14F-4D97-AF65-F5344CB8AC3E}">
        <p14:creationId xmlns:p14="http://schemas.microsoft.com/office/powerpoint/2010/main" val="133658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animEffect transition="in" filter="fade">
                                      <p:cBhvr>
                                        <p:cTn id="35" dur="500"/>
                                        <p:tgtEl>
                                          <p:spTgt spid="12"/>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fltVal val="0"/>
                                          </p:val>
                                        </p:tav>
                                        <p:tav tm="100000">
                                          <p:val>
                                            <p:strVal val="#ppt_h"/>
                                          </p:val>
                                        </p:tav>
                                      </p:tavLst>
                                    </p:anim>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2"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Use cases are requirements, primarily functional or behavioral requirements that indicate what the system will do.</a:t>
            </a:r>
          </a:p>
          <a:p>
            <a:r>
              <a:rPr lang="en-US" altLang="zh-CN" dirty="0"/>
              <a:t>In terms of the FURPS+ requirements types, they emphasize the "F" (functional or behavioral), but can also be used for other types, especially when those other types strongly relate to a use case.</a:t>
            </a:r>
          </a:p>
          <a:p>
            <a:r>
              <a:rPr lang="en-US" altLang="zh-CN" dirty="0"/>
              <a:t>In the UP  and many modern methods use cases are the central mechanism that is recommended for their discovery and definition.</a:t>
            </a:r>
          </a:p>
          <a:p>
            <a:r>
              <a:rPr lang="en-US" altLang="zh-CN" dirty="0"/>
              <a:t>A related viewpoint is that a use case defines a contract of how a system will behave [</a:t>
            </a:r>
            <a:r>
              <a:rPr lang="en-US" altLang="zh-CN" dirty="0">
                <a:hlinkClick r:id="rId3" action="ppaction://hlinkfile"/>
              </a:rPr>
              <a:t>Cockburn01</a:t>
            </a:r>
            <a:r>
              <a:rPr lang="en-US" altLang="zh-CN" dirty="0"/>
              <a:t>].</a:t>
            </a:r>
            <a:endParaRPr lang="zh-CN" altLang="en-US" dirty="0"/>
          </a:p>
        </p:txBody>
      </p:sp>
      <p:sp>
        <p:nvSpPr>
          <p:cNvPr id="3" name="标题 2"/>
          <p:cNvSpPr>
            <a:spLocks noGrp="1"/>
          </p:cNvSpPr>
          <p:nvPr>
            <p:ph type="title"/>
          </p:nvPr>
        </p:nvSpPr>
        <p:spPr/>
        <p:txBody>
          <a:bodyPr/>
          <a:lstStyle/>
          <a:p>
            <a:r>
              <a:rPr lang="en-US" altLang="zh-CN" dirty="0"/>
              <a:t>Are Use Cases Functional Requirements?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5</a:t>
            </a:fld>
            <a:endParaRPr lang="zh-CN" altLang="en-US"/>
          </a:p>
        </p:txBody>
      </p:sp>
    </p:spTree>
    <p:extLst>
      <p:ext uri="{BB962C8B-B14F-4D97-AF65-F5344CB8AC3E}">
        <p14:creationId xmlns:p14="http://schemas.microsoft.com/office/powerpoint/2010/main" val="332548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solidFill>
                  <a:schemeClr val="tx1">
                    <a:lumMod val="50000"/>
                  </a:schemeClr>
                </a:solidFill>
              </a:rPr>
              <a:t>Introduction of Use Case via a Brief Use Case Example.</a:t>
            </a:r>
          </a:p>
          <a:p>
            <a:r>
              <a:rPr lang="en-US" altLang="zh-CN" dirty="0"/>
              <a:t>Key Concepts about the Use Cases. </a:t>
            </a:r>
          </a:p>
          <a:p>
            <a:r>
              <a:rPr lang="en-US" altLang="zh-CN" dirty="0">
                <a:solidFill>
                  <a:schemeClr val="tx1">
                    <a:lumMod val="50000"/>
                  </a:schemeClr>
                </a:solidFill>
              </a:rPr>
              <a:t>Introduce Use Case Specification via a Fully Dressed UC: Process Sale.</a:t>
            </a:r>
          </a:p>
          <a:p>
            <a:r>
              <a:rPr lang="en-US" altLang="zh-CN" dirty="0">
                <a:solidFill>
                  <a:schemeClr val="tx1">
                    <a:lumMod val="50000"/>
                  </a:schemeClr>
                </a:solidFill>
              </a:rPr>
              <a:t>Guidelines about Use Cases. </a:t>
            </a:r>
          </a:p>
          <a:p>
            <a:r>
              <a:rPr lang="en-US" altLang="zh-CN" dirty="0">
                <a:solidFill>
                  <a:schemeClr val="tx1">
                    <a:lumMod val="50000"/>
                  </a:schemeClr>
                </a:solidFill>
              </a:rPr>
              <a:t>Use Cases: A Case Study Applying UML Notations. </a:t>
            </a:r>
          </a:p>
          <a:p>
            <a:r>
              <a:rPr lang="en-US" altLang="zh-CN" dirty="0">
                <a:solidFill>
                  <a:schemeClr val="tx1">
                    <a:lumMod val="50000"/>
                  </a:schemeClr>
                </a:solidFill>
              </a:rPr>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6</a:t>
            </a:fld>
            <a:endParaRPr lang="zh-CN" altLang="en-US"/>
          </a:p>
        </p:txBody>
      </p:sp>
      <p:sp>
        <p:nvSpPr>
          <p:cNvPr id="5" name="五角星 4"/>
          <p:cNvSpPr/>
          <p:nvPr/>
        </p:nvSpPr>
        <p:spPr>
          <a:xfrm>
            <a:off x="58615" y="1820558"/>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300560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0" dirty="0"/>
              <a:t>System behavior is how a system acts and reacts.</a:t>
            </a:r>
          </a:p>
          <a:p>
            <a:pPr lvl="1"/>
            <a:r>
              <a:rPr lang="en-US" altLang="zh-CN" b="0" dirty="0"/>
              <a:t>It is the outwardly visible and testable activity of a system.</a:t>
            </a:r>
            <a:endParaRPr lang="zh-CN" altLang="en-US" dirty="0"/>
          </a:p>
          <a:p>
            <a:r>
              <a:rPr lang="en-US" altLang="zh-CN" b="0" dirty="0"/>
              <a:t>System behavior is captured in use cases.</a:t>
            </a:r>
          </a:p>
          <a:p>
            <a:pPr lvl="1"/>
            <a:r>
              <a:rPr lang="en-US" altLang="zh-CN" b="0" dirty="0"/>
              <a:t>Use cases describe the system, its environment,</a:t>
            </a:r>
          </a:p>
          <a:p>
            <a:pPr marL="457200" lvl="1" indent="0">
              <a:buNone/>
            </a:pPr>
            <a:r>
              <a:rPr lang="en-US" altLang="zh-CN" b="0" dirty="0"/>
              <a:t>and the relationship between the system and its</a:t>
            </a:r>
          </a:p>
          <a:p>
            <a:pPr marL="457200" lvl="1" indent="0">
              <a:buNone/>
            </a:pPr>
            <a:r>
              <a:rPr lang="en-US" altLang="zh-CN" b="0" dirty="0"/>
              <a:t>environment.</a:t>
            </a:r>
          </a:p>
        </p:txBody>
      </p:sp>
      <p:sp>
        <p:nvSpPr>
          <p:cNvPr id="3" name="标题 2"/>
          <p:cNvSpPr>
            <a:spLocks noGrp="1"/>
          </p:cNvSpPr>
          <p:nvPr>
            <p:ph type="title"/>
          </p:nvPr>
        </p:nvSpPr>
        <p:spPr/>
        <p:txBody>
          <a:bodyPr/>
          <a:lstStyle/>
          <a:p>
            <a:r>
              <a:rPr lang="en-US" altLang="zh-CN" b="0" dirty="0"/>
              <a:t>What Is System Behavior?</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7</a:t>
            </a:fld>
            <a:endParaRPr lang="zh-CN" altLang="en-US"/>
          </a:p>
        </p:txBody>
      </p:sp>
    </p:spTree>
    <p:extLst>
      <p:ext uri="{BB962C8B-B14F-4D97-AF65-F5344CB8AC3E}">
        <p14:creationId xmlns:p14="http://schemas.microsoft.com/office/powerpoint/2010/main" val="2430243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1"/>
            <a:ext cx="10820400" cy="1447800"/>
          </a:xfrm>
        </p:spPr>
        <p:txBody>
          <a:bodyPr/>
          <a:lstStyle/>
          <a:p>
            <a:r>
              <a:rPr lang="en-US" altLang="zh-CN" dirty="0"/>
              <a:t>Actors</a:t>
            </a:r>
          </a:p>
          <a:p>
            <a:pPr lvl="1"/>
            <a:r>
              <a:rPr lang="en-US" altLang="zh-CN" dirty="0"/>
              <a:t>An actor is something with behavior, such as a person (identified by role), computer system, or organization; for example, a cashier</a:t>
            </a:r>
          </a:p>
          <a:p>
            <a:r>
              <a:rPr lang="en-US" altLang="zh-CN" dirty="0"/>
              <a:t>What are Three Kinds of Actors?</a:t>
            </a:r>
          </a:p>
          <a:p>
            <a:pPr lvl="1"/>
            <a:r>
              <a:rPr lang="en-US" altLang="zh-CN" sz="2000" dirty="0"/>
              <a:t>Primary actor </a:t>
            </a:r>
          </a:p>
          <a:p>
            <a:pPr lvl="1"/>
            <a:r>
              <a:rPr lang="en-US" altLang="zh-CN" sz="2000" dirty="0"/>
              <a:t>Supporting actor </a:t>
            </a:r>
          </a:p>
          <a:p>
            <a:pPr lvl="1"/>
            <a:r>
              <a:rPr lang="en-US" altLang="zh-CN" sz="2000" dirty="0"/>
              <a:t>Offstage actor </a:t>
            </a:r>
          </a:p>
          <a:p>
            <a:pPr lvl="1"/>
            <a:endParaRPr lang="en-US" altLang="zh-CN" sz="2000" dirty="0"/>
          </a:p>
        </p:txBody>
      </p:sp>
      <p:sp>
        <p:nvSpPr>
          <p:cNvPr id="3" name="标题 2"/>
          <p:cNvSpPr>
            <a:spLocks noGrp="1"/>
          </p:cNvSpPr>
          <p:nvPr>
            <p:ph type="title"/>
          </p:nvPr>
        </p:nvSpPr>
        <p:spPr/>
        <p:txBody>
          <a:bodyPr/>
          <a:lstStyle/>
          <a:p>
            <a:r>
              <a:rPr lang="en-US" altLang="zh-CN" dirty="0"/>
              <a:t>What are Actors?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8</a:t>
            </a:fld>
            <a:endParaRPr lang="zh-CN" altLang="en-US" dirty="0"/>
          </a:p>
        </p:txBody>
      </p:sp>
      <p:pic>
        <p:nvPicPr>
          <p:cNvPr id="5" name="图片 4"/>
          <p:cNvPicPr>
            <a:picLocks noChangeAspect="1"/>
          </p:cNvPicPr>
          <p:nvPr/>
        </p:nvPicPr>
        <p:blipFill>
          <a:blip r:embed="rId3"/>
          <a:stretch>
            <a:fillRect/>
          </a:stretch>
        </p:blipFill>
        <p:spPr>
          <a:xfrm>
            <a:off x="8610600" y="2590801"/>
            <a:ext cx="1752600" cy="2428875"/>
          </a:xfrm>
          <a:prstGeom prst="rect">
            <a:avLst/>
          </a:prstGeom>
        </p:spPr>
      </p:pic>
    </p:spTree>
    <p:extLst>
      <p:ext uri="{BB962C8B-B14F-4D97-AF65-F5344CB8AC3E}">
        <p14:creationId xmlns:p14="http://schemas.microsoft.com/office/powerpoint/2010/main" val="57283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341438"/>
            <a:ext cx="7162800" cy="4351337"/>
          </a:xfrm>
        </p:spPr>
        <p:txBody>
          <a:bodyPr/>
          <a:lstStyle/>
          <a:p>
            <a:r>
              <a:rPr lang="en-US" altLang="zh-CN" b="0" dirty="0">
                <a:solidFill>
                  <a:schemeClr val="tx1">
                    <a:lumMod val="95000"/>
                  </a:schemeClr>
                </a:solidFill>
              </a:rPr>
              <a:t>Has one normal, basic flow, Main Success flow</a:t>
            </a:r>
          </a:p>
          <a:p>
            <a:r>
              <a:rPr lang="en-US" altLang="zh-CN" b="0" dirty="0"/>
              <a:t>Several </a:t>
            </a:r>
            <a:r>
              <a:rPr lang="en-US" altLang="zh-CN" b="0" i="1" dirty="0"/>
              <a:t>alternative flows</a:t>
            </a:r>
          </a:p>
          <a:p>
            <a:pPr lvl="1"/>
            <a:r>
              <a:rPr lang="en-US" altLang="zh-CN" dirty="0">
                <a:solidFill>
                  <a:srgbClr val="FFFF00"/>
                </a:solidFill>
              </a:rPr>
              <a:t>Regular variants	</a:t>
            </a:r>
          </a:p>
          <a:p>
            <a:pPr lvl="1"/>
            <a:r>
              <a:rPr lang="en-US" altLang="zh-CN" b="0" dirty="0">
                <a:solidFill>
                  <a:srgbClr val="3DEAF3"/>
                </a:solidFill>
              </a:rPr>
              <a:t>Odd cases </a:t>
            </a:r>
          </a:p>
          <a:p>
            <a:pPr lvl="1"/>
            <a:r>
              <a:rPr lang="en-US" altLang="zh-CN" dirty="0">
                <a:solidFill>
                  <a:schemeClr val="accent2">
                    <a:lumMod val="60000"/>
                    <a:lumOff val="40000"/>
                  </a:schemeClr>
                </a:solidFill>
              </a:rPr>
              <a:t>Exceptional flows for handling error situations 	</a:t>
            </a:r>
            <a:endParaRPr lang="zh-CN" altLang="en-US" dirty="0">
              <a:solidFill>
                <a:schemeClr val="accent2">
                  <a:lumMod val="60000"/>
                  <a:lumOff val="40000"/>
                </a:schemeClr>
              </a:solidFill>
            </a:endParaRPr>
          </a:p>
        </p:txBody>
      </p:sp>
      <p:sp>
        <p:nvSpPr>
          <p:cNvPr id="3" name="标题 2"/>
          <p:cNvSpPr>
            <a:spLocks noGrp="1"/>
          </p:cNvSpPr>
          <p:nvPr>
            <p:ph type="title"/>
          </p:nvPr>
        </p:nvSpPr>
        <p:spPr/>
        <p:txBody>
          <a:bodyPr/>
          <a:lstStyle/>
          <a:p>
            <a:r>
              <a:rPr lang="en-US" altLang="zh-CN" dirty="0"/>
              <a:t>What are Use-Case Flow of Events?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9</a:t>
            </a:fld>
            <a:endParaRPr lang="zh-CN" altLang="en-US"/>
          </a:p>
        </p:txBody>
      </p:sp>
      <p:pic>
        <p:nvPicPr>
          <p:cNvPr id="5" name="图片 4"/>
          <p:cNvPicPr>
            <a:picLocks noChangeAspect="1"/>
          </p:cNvPicPr>
          <p:nvPr/>
        </p:nvPicPr>
        <p:blipFill>
          <a:blip r:embed="rId3"/>
          <a:stretch>
            <a:fillRect/>
          </a:stretch>
        </p:blipFill>
        <p:spPr>
          <a:xfrm>
            <a:off x="7467600" y="1341438"/>
            <a:ext cx="4329215" cy="2985063"/>
          </a:xfrm>
          <a:prstGeom prst="rect">
            <a:avLst/>
          </a:prstGeom>
        </p:spPr>
      </p:pic>
    </p:spTree>
    <p:extLst>
      <p:ext uri="{BB962C8B-B14F-4D97-AF65-F5344CB8AC3E}">
        <p14:creationId xmlns:p14="http://schemas.microsoft.com/office/powerpoint/2010/main" val="413401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1"/>
            <a:ext cx="10820400" cy="1447800"/>
          </a:xfrm>
        </p:spPr>
        <p:txBody>
          <a:bodyPr/>
          <a:lstStyle/>
          <a:p>
            <a:r>
              <a:rPr lang="en-US" altLang="zh-CN" sz="3200" dirty="0"/>
              <a:t>Scenarios</a:t>
            </a:r>
          </a:p>
          <a:p>
            <a:pPr lvl="1"/>
            <a:r>
              <a:rPr lang="en-US" altLang="zh-CN" dirty="0"/>
              <a:t>A scenario is a specific sequence of actions and interactions between actors and the system; it is also called a use case instance. </a:t>
            </a:r>
          </a:p>
        </p:txBody>
      </p:sp>
      <p:sp>
        <p:nvSpPr>
          <p:cNvPr id="3" name="标题 2"/>
          <p:cNvSpPr>
            <a:spLocks noGrp="1"/>
          </p:cNvSpPr>
          <p:nvPr>
            <p:ph type="title"/>
          </p:nvPr>
        </p:nvSpPr>
        <p:spPr/>
        <p:txBody>
          <a:bodyPr/>
          <a:lstStyle/>
          <a:p>
            <a:r>
              <a:rPr lang="en-US" altLang="zh-CN" dirty="0"/>
              <a:t>What are Scenarios?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10</a:t>
            </a:fld>
            <a:endParaRPr lang="zh-CN" altLang="en-US" dirty="0"/>
          </a:p>
        </p:txBody>
      </p:sp>
      <p:pic>
        <p:nvPicPr>
          <p:cNvPr id="8" name="图片 7"/>
          <p:cNvPicPr>
            <a:picLocks noChangeAspect="1"/>
          </p:cNvPicPr>
          <p:nvPr/>
        </p:nvPicPr>
        <p:blipFill>
          <a:blip r:embed="rId3"/>
          <a:stretch>
            <a:fillRect/>
          </a:stretch>
        </p:blipFill>
        <p:spPr>
          <a:xfrm>
            <a:off x="2972932" y="4088042"/>
            <a:ext cx="6243638" cy="2404833"/>
          </a:xfrm>
          <a:prstGeom prst="rect">
            <a:avLst/>
          </a:prstGeom>
        </p:spPr>
      </p:pic>
    </p:spTree>
    <p:extLst>
      <p:ext uri="{BB962C8B-B14F-4D97-AF65-F5344CB8AC3E}">
        <p14:creationId xmlns:p14="http://schemas.microsoft.com/office/powerpoint/2010/main" val="1085311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1"/>
            <a:ext cx="10820400" cy="1447800"/>
          </a:xfrm>
        </p:spPr>
        <p:txBody>
          <a:bodyPr/>
          <a:lstStyle/>
          <a:p>
            <a:r>
              <a:rPr lang="en-US" altLang="zh-CN" sz="3200" dirty="0"/>
              <a:t>Use Cases</a:t>
            </a:r>
          </a:p>
          <a:p>
            <a:pPr lvl="1"/>
            <a:r>
              <a:rPr lang="en-US" altLang="zh-CN" dirty="0"/>
              <a:t>A use case is a collection of related success and failure scenarios that describe an actor using a system to support a goal. </a:t>
            </a:r>
          </a:p>
          <a:p>
            <a:pPr lvl="1"/>
            <a:r>
              <a:rPr lang="en-US" altLang="zh-CN" dirty="0"/>
              <a:t>A Use Case is a set of use-case instances, where each instance is a sequence of actions a system performs that yields an observable result of value to a particular actor [</a:t>
            </a:r>
            <a:r>
              <a:rPr lang="en-US" altLang="zh-CN" dirty="0">
                <a:hlinkClick r:id="rId3" action="ppaction://hlinkfile"/>
              </a:rPr>
              <a:t>RUP</a:t>
            </a:r>
            <a:r>
              <a:rPr lang="en-US" altLang="zh-CN" dirty="0"/>
              <a:t>].</a:t>
            </a:r>
          </a:p>
        </p:txBody>
      </p:sp>
      <p:sp>
        <p:nvSpPr>
          <p:cNvPr id="3" name="标题 2"/>
          <p:cNvSpPr>
            <a:spLocks noGrp="1"/>
          </p:cNvSpPr>
          <p:nvPr>
            <p:ph type="title"/>
          </p:nvPr>
        </p:nvSpPr>
        <p:spPr/>
        <p:txBody>
          <a:bodyPr/>
          <a:lstStyle/>
          <a:p>
            <a:r>
              <a:rPr lang="en-US" altLang="zh-CN" dirty="0"/>
              <a:t>What are Use Cases?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11</a:t>
            </a:fld>
            <a:endParaRPr lang="zh-CN" altLang="en-US" dirty="0"/>
          </a:p>
        </p:txBody>
      </p:sp>
      <p:pic>
        <p:nvPicPr>
          <p:cNvPr id="6" name="图片 5"/>
          <p:cNvPicPr>
            <a:picLocks noChangeAspect="1"/>
          </p:cNvPicPr>
          <p:nvPr/>
        </p:nvPicPr>
        <p:blipFill>
          <a:blip r:embed="rId4"/>
          <a:stretch>
            <a:fillRect/>
          </a:stretch>
        </p:blipFill>
        <p:spPr>
          <a:xfrm>
            <a:off x="4038600" y="4403161"/>
            <a:ext cx="3000375" cy="1562100"/>
          </a:xfrm>
          <a:prstGeom prst="rect">
            <a:avLst/>
          </a:prstGeom>
        </p:spPr>
      </p:pic>
    </p:spTree>
    <p:extLst>
      <p:ext uri="{BB962C8B-B14F-4D97-AF65-F5344CB8AC3E}">
        <p14:creationId xmlns:p14="http://schemas.microsoft.com/office/powerpoint/2010/main" val="418038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Handle Returns</a:t>
            </a:r>
          </a:p>
          <a:p>
            <a:pPr lvl="1"/>
            <a:r>
              <a:rPr lang="en-US" altLang="zh-CN" dirty="0"/>
              <a:t>Main Success Scenario: </a:t>
            </a:r>
          </a:p>
          <a:p>
            <a:pPr lvl="2"/>
            <a:r>
              <a:rPr lang="en-US" altLang="zh-CN" dirty="0"/>
              <a:t>A customer arrives at a checkout with items to return. The cashier uses the POS system to record each returned item …</a:t>
            </a:r>
          </a:p>
          <a:p>
            <a:pPr lvl="1"/>
            <a:r>
              <a:rPr lang="en-US" altLang="zh-CN" dirty="0"/>
              <a:t>Alternate Scenarios:</a:t>
            </a:r>
          </a:p>
          <a:p>
            <a:pPr lvl="2"/>
            <a:r>
              <a:rPr lang="en-US" altLang="zh-CN" dirty="0"/>
              <a:t>If the customer paid by credit, and the reimbursement transaction to their credit account is rejected, inform the customer and pay them with cash.</a:t>
            </a:r>
          </a:p>
          <a:p>
            <a:pPr lvl="2"/>
            <a:r>
              <a:rPr lang="en-US" altLang="zh-CN" dirty="0"/>
              <a:t>If the item identifier is not found in the system, notify the Cashier and suggest manual entry of the identifier code (perhaps it is corrupted).</a:t>
            </a:r>
          </a:p>
          <a:p>
            <a:pPr lvl="2"/>
            <a:r>
              <a:rPr lang="en-US" altLang="zh-CN" dirty="0"/>
              <a:t>If the system detects failure to communicate with the external accounting system, …</a:t>
            </a:r>
          </a:p>
          <a:p>
            <a:pPr lvl="2"/>
            <a:endParaRPr lang="en-US" altLang="zh-CN" dirty="0"/>
          </a:p>
          <a:p>
            <a:endParaRPr lang="zh-CN" altLang="en-US" dirty="0"/>
          </a:p>
        </p:txBody>
      </p:sp>
      <p:sp>
        <p:nvSpPr>
          <p:cNvPr id="3" name="标题 2"/>
          <p:cNvSpPr>
            <a:spLocks noGrp="1"/>
          </p:cNvSpPr>
          <p:nvPr>
            <p:ph type="title"/>
          </p:nvPr>
        </p:nvSpPr>
        <p:spPr/>
        <p:txBody>
          <a:bodyPr/>
          <a:lstStyle/>
          <a:p>
            <a:r>
              <a:rPr lang="en-US" altLang="zh-CN" sz="3200" dirty="0"/>
              <a:t>UC Handle Returns: A Casual Format Use Case Example</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12</a:t>
            </a:fld>
            <a:endParaRPr lang="zh-CN" altLang="en-US"/>
          </a:p>
        </p:txBody>
      </p:sp>
    </p:spTree>
    <p:extLst>
      <p:ext uri="{BB962C8B-B14F-4D97-AF65-F5344CB8AC3E}">
        <p14:creationId xmlns:p14="http://schemas.microsoft.com/office/powerpoint/2010/main" val="419318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0"/>
            <a:ext cx="11201400" cy="4351337"/>
          </a:xfrm>
        </p:spPr>
        <p:txBody>
          <a:bodyPr/>
          <a:lstStyle/>
          <a:p>
            <a:r>
              <a:rPr lang="en-US" altLang="zh-CN" dirty="0"/>
              <a:t>Use cases can be written in different formats and levels of formality:</a:t>
            </a:r>
          </a:p>
          <a:p>
            <a:pPr lvl="1"/>
            <a:r>
              <a:rPr lang="en-US" altLang="zh-CN" dirty="0"/>
              <a:t>brief Terse one-paragraph summary, usually of the main success scenario. The prior Process Sale example was brief.</a:t>
            </a:r>
          </a:p>
          <a:p>
            <a:pPr lvl="2"/>
            <a:r>
              <a:rPr lang="en-US" altLang="zh-CN" dirty="0"/>
              <a:t>When? During early requirements analysis, to get a quick sense of subject and scope. May take only a few minutes to create.</a:t>
            </a:r>
          </a:p>
          <a:p>
            <a:pPr lvl="1"/>
            <a:r>
              <a:rPr lang="en-US" altLang="zh-CN" dirty="0"/>
              <a:t>casual Informal paragraph format. Multiple paragraphs that cover various scenarios. The prior Handle Returns example was casual.</a:t>
            </a:r>
          </a:p>
          <a:p>
            <a:pPr lvl="2"/>
            <a:r>
              <a:rPr lang="en-US" altLang="zh-CN" dirty="0"/>
              <a:t>When? As above.</a:t>
            </a:r>
          </a:p>
          <a:p>
            <a:pPr lvl="1"/>
            <a:r>
              <a:rPr lang="en-US" altLang="zh-CN" dirty="0"/>
              <a:t>fully dressed All steps and variations are written in detail, and there are supporting sections, such as preconditions and success guarantees.</a:t>
            </a:r>
          </a:p>
          <a:p>
            <a:pPr lvl="2"/>
            <a:r>
              <a:rPr lang="en-US" altLang="zh-CN" dirty="0"/>
              <a:t>When? After many use cases have been identified and written in a brief format, then during the first requirements workshop a few (such as 10%) of the architecturally significant and high-value use cases are written in detail.</a:t>
            </a:r>
          </a:p>
          <a:p>
            <a:pPr lvl="2"/>
            <a:endParaRPr lang="zh-CN" altLang="en-US" dirty="0"/>
          </a:p>
        </p:txBody>
      </p:sp>
      <p:sp>
        <p:nvSpPr>
          <p:cNvPr id="3" name="标题 2"/>
          <p:cNvSpPr>
            <a:spLocks noGrp="1"/>
          </p:cNvSpPr>
          <p:nvPr>
            <p:ph type="title"/>
          </p:nvPr>
        </p:nvSpPr>
        <p:spPr/>
        <p:txBody>
          <a:bodyPr/>
          <a:lstStyle/>
          <a:p>
            <a:r>
              <a:rPr lang="en-US" altLang="zh-CN" sz="3200" dirty="0"/>
              <a:t>Notation: What are Three Common Use Case Formats?</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13</a:t>
            </a:fld>
            <a:endParaRPr lang="zh-CN" altLang="en-US"/>
          </a:p>
        </p:txBody>
      </p:sp>
    </p:spTree>
    <p:extLst>
      <p:ext uri="{BB962C8B-B14F-4D97-AF65-F5344CB8AC3E}">
        <p14:creationId xmlns:p14="http://schemas.microsoft.com/office/powerpoint/2010/main" val="95358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1"/>
            <a:ext cx="10820400" cy="1447800"/>
          </a:xfrm>
        </p:spPr>
        <p:txBody>
          <a:bodyPr/>
          <a:lstStyle/>
          <a:p>
            <a:r>
              <a:rPr lang="en-US" altLang="zh-CN" dirty="0"/>
              <a:t>A model of the system’s intended functionality</a:t>
            </a:r>
          </a:p>
          <a:p>
            <a:r>
              <a:rPr lang="en-US" altLang="zh-CN" dirty="0"/>
              <a:t>(use cases) and its environment (actors)</a:t>
            </a:r>
          </a:p>
          <a:p>
            <a:r>
              <a:rPr lang="en-US" altLang="zh-CN" dirty="0"/>
              <a:t>Primarily, this is the set of all written use cases; it is a model of the system's functionality and environment.</a:t>
            </a:r>
          </a:p>
          <a:p>
            <a:endParaRPr lang="en-US" altLang="zh-CN" sz="2000" dirty="0"/>
          </a:p>
        </p:txBody>
      </p:sp>
      <p:sp>
        <p:nvSpPr>
          <p:cNvPr id="3" name="标题 2"/>
          <p:cNvSpPr>
            <a:spLocks noGrp="1"/>
          </p:cNvSpPr>
          <p:nvPr>
            <p:ph type="title"/>
          </p:nvPr>
        </p:nvSpPr>
        <p:spPr/>
        <p:txBody>
          <a:bodyPr/>
          <a:lstStyle/>
          <a:p>
            <a:r>
              <a:rPr lang="en-US" altLang="zh-CN" dirty="0"/>
              <a:t>What is a Use-Case Model?</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14</a:t>
            </a:fld>
            <a:endParaRPr lang="zh-CN" altLang="en-US" dirty="0"/>
          </a:p>
        </p:txBody>
      </p:sp>
      <p:pic>
        <p:nvPicPr>
          <p:cNvPr id="7" name="图片 6"/>
          <p:cNvPicPr>
            <a:picLocks noChangeAspect="1"/>
          </p:cNvPicPr>
          <p:nvPr/>
        </p:nvPicPr>
        <p:blipFill>
          <a:blip r:embed="rId3"/>
          <a:stretch>
            <a:fillRect/>
          </a:stretch>
        </p:blipFill>
        <p:spPr>
          <a:xfrm>
            <a:off x="4572000" y="3211986"/>
            <a:ext cx="2378869" cy="2651078"/>
          </a:xfrm>
          <a:prstGeom prst="rect">
            <a:avLst/>
          </a:prstGeom>
        </p:spPr>
      </p:pic>
    </p:spTree>
    <p:extLst>
      <p:ext uri="{BB962C8B-B14F-4D97-AF65-F5344CB8AC3E}">
        <p14:creationId xmlns:p14="http://schemas.microsoft.com/office/powerpoint/2010/main" val="1167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400" dirty="0"/>
              <a:t>Use cases are text documents, not diagrams, and use-case modeling is primarily an act of writing text, not drawing diagrams.</a:t>
            </a:r>
          </a:p>
          <a:p>
            <a:r>
              <a:rPr lang="en-US" altLang="zh-CN" sz="2400" dirty="0"/>
              <a:t>The Use-Case Model is not the only requirement artifact in the UP. There are also the Supplementary Specification, Glossary, Vision, and Business Rules. These are all useful for requirements analysis, but secondary at this point.</a:t>
            </a:r>
          </a:p>
          <a:p>
            <a:r>
              <a:rPr lang="en-US" altLang="zh-CN" sz="2400" dirty="0"/>
              <a:t>There is nothing object-oriented about use cases; But use cases are a key requirements input to classic OOA/D.</a:t>
            </a:r>
            <a:endParaRPr lang="zh-CN" altLang="en-US" sz="2400" dirty="0"/>
          </a:p>
        </p:txBody>
      </p:sp>
      <p:sp>
        <p:nvSpPr>
          <p:cNvPr id="3" name="标题 2"/>
          <p:cNvSpPr>
            <a:spLocks noGrp="1"/>
          </p:cNvSpPr>
          <p:nvPr>
            <p:ph type="title"/>
          </p:nvPr>
        </p:nvSpPr>
        <p:spPr/>
        <p:txBody>
          <a:bodyPr/>
          <a:lstStyle/>
          <a:p>
            <a:r>
              <a:rPr lang="en-US" altLang="zh-CN" sz="2800" dirty="0"/>
              <a:t>Use Cases and Use Case Model  and Use Cases Specification</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15</a:t>
            </a:fld>
            <a:endParaRPr lang="zh-CN" altLang="en-US"/>
          </a:p>
        </p:txBody>
      </p:sp>
      <p:pic>
        <p:nvPicPr>
          <p:cNvPr id="5" name="图片 4"/>
          <p:cNvPicPr>
            <a:picLocks noChangeAspect="1"/>
          </p:cNvPicPr>
          <p:nvPr/>
        </p:nvPicPr>
        <p:blipFill>
          <a:blip r:embed="rId3"/>
          <a:stretch>
            <a:fillRect/>
          </a:stretch>
        </p:blipFill>
        <p:spPr>
          <a:xfrm>
            <a:off x="4677143" y="3810000"/>
            <a:ext cx="2362200" cy="2557962"/>
          </a:xfrm>
          <a:prstGeom prst="rect">
            <a:avLst/>
          </a:prstGeom>
        </p:spPr>
      </p:pic>
    </p:spTree>
    <p:extLst>
      <p:ext uri="{BB962C8B-B14F-4D97-AF65-F5344CB8AC3E}">
        <p14:creationId xmlns:p14="http://schemas.microsoft.com/office/powerpoint/2010/main" val="404203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5"/>
                                        </p:tgtEl>
                                      </p:cBhvr>
                                    </p:animEffect>
                                    <p:set>
                                      <p:cBhvr>
                                        <p:cTn id="19" dur="1" fill="hold">
                                          <p:stCondLst>
                                            <p:cond delay="499"/>
                                          </p:stCondLst>
                                        </p:cTn>
                                        <p:tgtEl>
                                          <p:spTgt spid="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Motivation: Why Use Cases  (or Use Model)?</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16</a:t>
            </a:fld>
            <a:endParaRPr lang="zh-CN" altLang="en-US"/>
          </a:p>
        </p:txBody>
      </p:sp>
      <p:pic>
        <p:nvPicPr>
          <p:cNvPr id="5" name="图片 4"/>
          <p:cNvPicPr>
            <a:picLocks noChangeAspect="1"/>
          </p:cNvPicPr>
          <p:nvPr/>
        </p:nvPicPr>
        <p:blipFill>
          <a:blip r:embed="rId3"/>
          <a:stretch>
            <a:fillRect/>
          </a:stretch>
        </p:blipFill>
        <p:spPr>
          <a:xfrm>
            <a:off x="1332251" y="1007564"/>
            <a:ext cx="9525000" cy="5478780"/>
          </a:xfrm>
          <a:prstGeom prst="rect">
            <a:avLst/>
          </a:prstGeom>
        </p:spPr>
      </p:pic>
    </p:spTree>
    <p:extLst>
      <p:ext uri="{BB962C8B-B14F-4D97-AF65-F5344CB8AC3E}">
        <p14:creationId xmlns:p14="http://schemas.microsoft.com/office/powerpoint/2010/main" val="2308664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solidFill>
                  <a:schemeClr val="tx1">
                    <a:lumMod val="50000"/>
                  </a:schemeClr>
                </a:solidFill>
              </a:rPr>
              <a:t>Introduction of Use Case via a Brief Use Case Example.</a:t>
            </a:r>
          </a:p>
          <a:p>
            <a:r>
              <a:rPr lang="en-US" altLang="zh-CN" dirty="0">
                <a:solidFill>
                  <a:schemeClr val="tx1">
                    <a:lumMod val="50000"/>
                  </a:schemeClr>
                </a:solidFill>
              </a:rPr>
              <a:t>Key Concepts about the Use Cases. </a:t>
            </a:r>
          </a:p>
          <a:p>
            <a:r>
              <a:rPr lang="en-US" altLang="zh-CN" dirty="0"/>
              <a:t>Introduce Use Case Specification via a Fully Dressed UC: Process Sale.</a:t>
            </a:r>
          </a:p>
          <a:p>
            <a:r>
              <a:rPr lang="en-US" altLang="zh-CN" dirty="0">
                <a:solidFill>
                  <a:schemeClr val="tx1">
                    <a:lumMod val="50000"/>
                  </a:schemeClr>
                </a:solidFill>
              </a:rPr>
              <a:t>Guidelines about Use Cases. </a:t>
            </a:r>
          </a:p>
          <a:p>
            <a:r>
              <a:rPr lang="en-US" altLang="zh-CN" dirty="0">
                <a:solidFill>
                  <a:schemeClr val="tx1">
                    <a:lumMod val="50000"/>
                  </a:schemeClr>
                </a:solidFill>
              </a:rPr>
              <a:t>Use Cases: A Case Study Applying UML Notations. </a:t>
            </a:r>
          </a:p>
          <a:p>
            <a:r>
              <a:rPr lang="en-US" altLang="zh-CN" dirty="0">
                <a:solidFill>
                  <a:schemeClr val="tx1">
                    <a:lumMod val="50000"/>
                  </a:schemeClr>
                </a:solidFill>
              </a:rPr>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17</a:t>
            </a:fld>
            <a:endParaRPr lang="zh-CN" altLang="en-US"/>
          </a:p>
        </p:txBody>
      </p:sp>
      <p:sp>
        <p:nvSpPr>
          <p:cNvPr id="5" name="五角星 4"/>
          <p:cNvSpPr/>
          <p:nvPr/>
        </p:nvSpPr>
        <p:spPr>
          <a:xfrm>
            <a:off x="39080" y="22860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2464534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z="3200" dirty="0"/>
              <a:t>A Format Template for Detailed Use Case Specification</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18</a:t>
            </a:fld>
            <a:endParaRPr lang="zh-CN" altLang="en-US"/>
          </a:p>
        </p:txBody>
      </p:sp>
      <p:graphicFrame>
        <p:nvGraphicFramePr>
          <p:cNvPr id="5" name="内容占位符 4"/>
          <p:cNvGraphicFramePr>
            <a:graphicFrameLocks/>
          </p:cNvGraphicFramePr>
          <p:nvPr/>
        </p:nvGraphicFramePr>
        <p:xfrm>
          <a:off x="1553778" y="1161315"/>
          <a:ext cx="9647622" cy="5179961"/>
        </p:xfrm>
        <a:graphic>
          <a:graphicData uri="http://schemas.openxmlformats.org/drawingml/2006/table">
            <a:tbl>
              <a:tblPr>
                <a:tableStyleId>{D7AC3CCA-C797-4891-BE02-D94E43425B78}</a:tableStyleId>
              </a:tblPr>
              <a:tblGrid>
                <a:gridCol w="3856422">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272758">
                <a:tc>
                  <a:txBody>
                    <a:bodyPr/>
                    <a:lstStyle/>
                    <a:p>
                      <a:pPr algn="ctr"/>
                      <a:r>
                        <a:rPr lang="en-US" sz="1600" b="1" dirty="0">
                          <a:solidFill>
                            <a:schemeClr val="tx1"/>
                          </a:solidFill>
                          <a:effectLst/>
                        </a:rPr>
                        <a:t>Use Case Section</a:t>
                      </a:r>
                    </a:p>
                  </a:txBody>
                  <a:tcPr marL="24950" marR="24950" marT="24950" marB="24950">
                    <a:solidFill>
                      <a:srgbClr val="00B050"/>
                    </a:solidFill>
                  </a:tcPr>
                </a:tc>
                <a:tc>
                  <a:txBody>
                    <a:bodyPr/>
                    <a:lstStyle/>
                    <a:p>
                      <a:pPr algn="ctr"/>
                      <a:r>
                        <a:rPr lang="en-US" sz="1600" b="1" dirty="0">
                          <a:solidFill>
                            <a:schemeClr val="tx1"/>
                          </a:solidFill>
                          <a:effectLst/>
                        </a:rPr>
                        <a:t>Comment</a:t>
                      </a:r>
                    </a:p>
                  </a:txBody>
                  <a:tcPr marL="24950" marR="24950" marT="24950" marB="24950">
                    <a:solidFill>
                      <a:srgbClr val="00B050"/>
                    </a:solidFill>
                  </a:tcPr>
                </a:tc>
                <a:extLst>
                  <a:ext uri="{0D108BD9-81ED-4DB2-BD59-A6C34878D82A}">
                    <a16:rowId xmlns:a16="http://schemas.microsoft.com/office/drawing/2014/main" val="10000"/>
                  </a:ext>
                </a:extLst>
              </a:tr>
              <a:tr h="272758">
                <a:tc>
                  <a:txBody>
                    <a:bodyPr/>
                    <a:lstStyle/>
                    <a:p>
                      <a:pPr algn="ctr"/>
                      <a:r>
                        <a:rPr lang="en-US" sz="1600" b="1">
                          <a:solidFill>
                            <a:schemeClr val="tx1"/>
                          </a:solidFill>
                        </a:rPr>
                        <a:t>Use Case Name</a:t>
                      </a:r>
                    </a:p>
                  </a:txBody>
                  <a:tcPr marL="24950" marR="24950" marT="24950" marB="24950">
                    <a:solidFill>
                      <a:srgbClr val="00B050"/>
                    </a:solidFill>
                  </a:tcPr>
                </a:tc>
                <a:tc>
                  <a:txBody>
                    <a:bodyPr/>
                    <a:lstStyle/>
                    <a:p>
                      <a:pPr algn="l"/>
                      <a:r>
                        <a:rPr lang="en-US" sz="1600">
                          <a:solidFill>
                            <a:schemeClr val="tx1"/>
                          </a:solidFill>
                        </a:rPr>
                        <a:t>Start with a verb.</a:t>
                      </a:r>
                    </a:p>
                  </a:txBody>
                  <a:tcPr marL="24950" marR="24950" marT="24950" marB="24950">
                    <a:solidFill>
                      <a:srgbClr val="00B050"/>
                    </a:solidFill>
                  </a:tcPr>
                </a:tc>
                <a:extLst>
                  <a:ext uri="{0D108BD9-81ED-4DB2-BD59-A6C34878D82A}">
                    <a16:rowId xmlns:a16="http://schemas.microsoft.com/office/drawing/2014/main" val="10001"/>
                  </a:ext>
                </a:extLst>
              </a:tr>
              <a:tr h="272758">
                <a:tc>
                  <a:txBody>
                    <a:bodyPr/>
                    <a:lstStyle/>
                    <a:p>
                      <a:pPr algn="ctr"/>
                      <a:r>
                        <a:rPr lang="en-US" sz="1600" b="1">
                          <a:solidFill>
                            <a:schemeClr val="tx1"/>
                          </a:solidFill>
                        </a:rPr>
                        <a:t>Scope</a:t>
                      </a:r>
                    </a:p>
                  </a:txBody>
                  <a:tcPr marL="24950" marR="24950" marT="24950" marB="24950">
                    <a:solidFill>
                      <a:srgbClr val="00B050"/>
                    </a:solidFill>
                  </a:tcPr>
                </a:tc>
                <a:tc>
                  <a:txBody>
                    <a:bodyPr/>
                    <a:lstStyle/>
                    <a:p>
                      <a:pPr algn="l"/>
                      <a:r>
                        <a:rPr lang="en-US" sz="1600">
                          <a:solidFill>
                            <a:schemeClr val="tx1"/>
                          </a:solidFill>
                        </a:rPr>
                        <a:t>The system under design.</a:t>
                      </a:r>
                    </a:p>
                  </a:txBody>
                  <a:tcPr marL="24950" marR="24950" marT="24950" marB="24950">
                    <a:solidFill>
                      <a:srgbClr val="00B050"/>
                    </a:solidFill>
                  </a:tcPr>
                </a:tc>
                <a:extLst>
                  <a:ext uri="{0D108BD9-81ED-4DB2-BD59-A6C34878D82A}">
                    <a16:rowId xmlns:a16="http://schemas.microsoft.com/office/drawing/2014/main" val="10002"/>
                  </a:ext>
                </a:extLst>
              </a:tr>
              <a:tr h="272758">
                <a:tc>
                  <a:txBody>
                    <a:bodyPr/>
                    <a:lstStyle/>
                    <a:p>
                      <a:pPr algn="ctr"/>
                      <a:r>
                        <a:rPr lang="en-US" sz="1600" b="1">
                          <a:solidFill>
                            <a:schemeClr val="tx1"/>
                          </a:solidFill>
                        </a:rPr>
                        <a:t>Level</a:t>
                      </a:r>
                    </a:p>
                  </a:txBody>
                  <a:tcPr marL="24950" marR="24950" marT="24950" marB="24950">
                    <a:solidFill>
                      <a:srgbClr val="00B050"/>
                    </a:solidFill>
                  </a:tcPr>
                </a:tc>
                <a:tc>
                  <a:txBody>
                    <a:bodyPr/>
                    <a:lstStyle/>
                    <a:p>
                      <a:pPr algn="l"/>
                      <a:r>
                        <a:rPr lang="en-US" sz="1600">
                          <a:solidFill>
                            <a:schemeClr val="tx1"/>
                          </a:solidFill>
                        </a:rPr>
                        <a:t>"user-goal" or "subfunction"</a:t>
                      </a:r>
                    </a:p>
                  </a:txBody>
                  <a:tcPr marL="24950" marR="24950" marT="24950" marB="24950">
                    <a:solidFill>
                      <a:srgbClr val="00B050"/>
                    </a:solidFill>
                  </a:tcPr>
                </a:tc>
                <a:extLst>
                  <a:ext uri="{0D108BD9-81ED-4DB2-BD59-A6C34878D82A}">
                    <a16:rowId xmlns:a16="http://schemas.microsoft.com/office/drawing/2014/main" val="10003"/>
                  </a:ext>
                </a:extLst>
              </a:tr>
              <a:tr h="272758">
                <a:tc>
                  <a:txBody>
                    <a:bodyPr/>
                    <a:lstStyle/>
                    <a:p>
                      <a:pPr algn="ctr"/>
                      <a:r>
                        <a:rPr lang="en-US" sz="1600" b="1">
                          <a:solidFill>
                            <a:schemeClr val="tx1"/>
                          </a:solidFill>
                        </a:rPr>
                        <a:t>Primary Actor</a:t>
                      </a:r>
                    </a:p>
                  </a:txBody>
                  <a:tcPr marL="24950" marR="24950" marT="24950" marB="24950">
                    <a:solidFill>
                      <a:srgbClr val="00B050"/>
                    </a:solidFill>
                  </a:tcPr>
                </a:tc>
                <a:tc>
                  <a:txBody>
                    <a:bodyPr/>
                    <a:lstStyle/>
                    <a:p>
                      <a:pPr algn="l"/>
                      <a:r>
                        <a:rPr lang="en-US" sz="1600">
                          <a:solidFill>
                            <a:schemeClr val="tx1"/>
                          </a:solidFill>
                        </a:rPr>
                        <a:t>Calls on the system to deliver its services.</a:t>
                      </a:r>
                    </a:p>
                  </a:txBody>
                  <a:tcPr marL="24950" marR="24950" marT="24950" marB="24950">
                    <a:solidFill>
                      <a:srgbClr val="00B050"/>
                    </a:solidFill>
                  </a:tcPr>
                </a:tc>
                <a:extLst>
                  <a:ext uri="{0D108BD9-81ED-4DB2-BD59-A6C34878D82A}">
                    <a16:rowId xmlns:a16="http://schemas.microsoft.com/office/drawing/2014/main" val="10004"/>
                  </a:ext>
                </a:extLst>
              </a:tr>
              <a:tr h="487047">
                <a:tc>
                  <a:txBody>
                    <a:bodyPr/>
                    <a:lstStyle/>
                    <a:p>
                      <a:pPr algn="ctr"/>
                      <a:r>
                        <a:rPr lang="en-US" sz="1600" b="1">
                          <a:solidFill>
                            <a:schemeClr val="tx1"/>
                          </a:solidFill>
                        </a:rPr>
                        <a:t>Stakeholders and Interests</a:t>
                      </a:r>
                    </a:p>
                  </a:txBody>
                  <a:tcPr marL="24950" marR="24950" marT="24950" marB="24950">
                    <a:solidFill>
                      <a:srgbClr val="00B050"/>
                    </a:solidFill>
                  </a:tcPr>
                </a:tc>
                <a:tc>
                  <a:txBody>
                    <a:bodyPr/>
                    <a:lstStyle/>
                    <a:p>
                      <a:pPr algn="l"/>
                      <a:r>
                        <a:rPr lang="en-US" sz="1600">
                          <a:solidFill>
                            <a:schemeClr val="tx1"/>
                          </a:solidFill>
                        </a:rPr>
                        <a:t>Who cares about this use case, and what do they want?</a:t>
                      </a:r>
                    </a:p>
                  </a:txBody>
                  <a:tcPr marL="24950" marR="24950" marT="24950" marB="24950">
                    <a:solidFill>
                      <a:srgbClr val="00B050"/>
                    </a:solidFill>
                  </a:tcPr>
                </a:tc>
                <a:extLst>
                  <a:ext uri="{0D108BD9-81ED-4DB2-BD59-A6C34878D82A}">
                    <a16:rowId xmlns:a16="http://schemas.microsoft.com/office/drawing/2014/main" val="10005"/>
                  </a:ext>
                </a:extLst>
              </a:tr>
              <a:tr h="487047">
                <a:tc>
                  <a:txBody>
                    <a:bodyPr/>
                    <a:lstStyle/>
                    <a:p>
                      <a:pPr algn="ctr"/>
                      <a:r>
                        <a:rPr lang="en-US" sz="1600" b="1" dirty="0">
                          <a:solidFill>
                            <a:schemeClr val="tx1"/>
                          </a:solidFill>
                        </a:rPr>
                        <a:t>Preconditions</a:t>
                      </a:r>
                    </a:p>
                  </a:txBody>
                  <a:tcPr marL="24950" marR="24950" marT="24950" marB="24950">
                    <a:solidFill>
                      <a:srgbClr val="00B050"/>
                    </a:solidFill>
                  </a:tcPr>
                </a:tc>
                <a:tc>
                  <a:txBody>
                    <a:bodyPr/>
                    <a:lstStyle/>
                    <a:p>
                      <a:pPr algn="l"/>
                      <a:r>
                        <a:rPr lang="en-US" sz="1600" dirty="0">
                          <a:solidFill>
                            <a:schemeClr val="tx1"/>
                          </a:solidFill>
                        </a:rPr>
                        <a:t>What must be true on start, and worth telling the reader?</a:t>
                      </a:r>
                    </a:p>
                  </a:txBody>
                  <a:tcPr marL="24950" marR="24950" marT="24950" marB="24950">
                    <a:solidFill>
                      <a:srgbClr val="00B050"/>
                    </a:solidFill>
                  </a:tcPr>
                </a:tc>
                <a:extLst>
                  <a:ext uri="{0D108BD9-81ED-4DB2-BD59-A6C34878D82A}">
                    <a16:rowId xmlns:a16="http://schemas.microsoft.com/office/drawing/2014/main" val="10006"/>
                  </a:ext>
                </a:extLst>
              </a:tr>
              <a:tr h="487047">
                <a:tc>
                  <a:txBody>
                    <a:bodyPr/>
                    <a:lstStyle/>
                    <a:p>
                      <a:pPr algn="ctr"/>
                      <a:r>
                        <a:rPr lang="en-US" sz="1600" b="1" dirty="0">
                          <a:solidFill>
                            <a:schemeClr val="tx1"/>
                          </a:solidFill>
                        </a:rPr>
                        <a:t>Success Guarantee</a:t>
                      </a:r>
                    </a:p>
                  </a:txBody>
                  <a:tcPr marL="24950" marR="24950" marT="24950" marB="24950">
                    <a:solidFill>
                      <a:srgbClr val="00B050"/>
                    </a:solidFill>
                  </a:tcPr>
                </a:tc>
                <a:tc>
                  <a:txBody>
                    <a:bodyPr/>
                    <a:lstStyle/>
                    <a:p>
                      <a:pPr algn="l"/>
                      <a:r>
                        <a:rPr lang="en-US" sz="1600">
                          <a:solidFill>
                            <a:schemeClr val="tx1"/>
                          </a:solidFill>
                        </a:rPr>
                        <a:t>What must be true on successful completion, and worth telling the reader.</a:t>
                      </a:r>
                    </a:p>
                  </a:txBody>
                  <a:tcPr marL="24950" marR="24950" marT="24950" marB="24950">
                    <a:solidFill>
                      <a:srgbClr val="00B050"/>
                    </a:solidFill>
                  </a:tcPr>
                </a:tc>
                <a:extLst>
                  <a:ext uri="{0D108BD9-81ED-4DB2-BD59-A6C34878D82A}">
                    <a16:rowId xmlns:a16="http://schemas.microsoft.com/office/drawing/2014/main" val="10007"/>
                  </a:ext>
                </a:extLst>
              </a:tr>
              <a:tr h="487047">
                <a:tc>
                  <a:txBody>
                    <a:bodyPr/>
                    <a:lstStyle/>
                    <a:p>
                      <a:pPr algn="ctr"/>
                      <a:r>
                        <a:rPr lang="en-US" sz="1600" b="1" dirty="0">
                          <a:solidFill>
                            <a:schemeClr val="tx1"/>
                          </a:solidFill>
                        </a:rPr>
                        <a:t>Main Success Scenario</a:t>
                      </a:r>
                    </a:p>
                  </a:txBody>
                  <a:tcPr marL="24950" marR="24950" marT="24950" marB="24950">
                    <a:solidFill>
                      <a:srgbClr val="00B050"/>
                    </a:solidFill>
                  </a:tcPr>
                </a:tc>
                <a:tc>
                  <a:txBody>
                    <a:bodyPr/>
                    <a:lstStyle/>
                    <a:p>
                      <a:pPr algn="l"/>
                      <a:r>
                        <a:rPr lang="en-US" sz="1600" dirty="0">
                          <a:solidFill>
                            <a:schemeClr val="tx1"/>
                          </a:solidFill>
                        </a:rPr>
                        <a:t>A typical, unconditional happy path scenario of success.</a:t>
                      </a:r>
                    </a:p>
                  </a:txBody>
                  <a:tcPr marL="24950" marR="24950" marT="24950" marB="24950">
                    <a:solidFill>
                      <a:srgbClr val="00B050"/>
                    </a:solidFill>
                  </a:tcPr>
                </a:tc>
                <a:extLst>
                  <a:ext uri="{0D108BD9-81ED-4DB2-BD59-A6C34878D82A}">
                    <a16:rowId xmlns:a16="http://schemas.microsoft.com/office/drawing/2014/main" val="10008"/>
                  </a:ext>
                </a:extLst>
              </a:tr>
              <a:tr h="272758">
                <a:tc>
                  <a:txBody>
                    <a:bodyPr/>
                    <a:lstStyle/>
                    <a:p>
                      <a:pPr algn="ctr"/>
                      <a:r>
                        <a:rPr lang="en-US" sz="1600" b="1">
                          <a:solidFill>
                            <a:schemeClr val="tx1"/>
                          </a:solidFill>
                        </a:rPr>
                        <a:t>Extensions</a:t>
                      </a:r>
                    </a:p>
                  </a:txBody>
                  <a:tcPr marL="24950" marR="24950" marT="24950" marB="24950">
                    <a:solidFill>
                      <a:srgbClr val="00B050"/>
                    </a:solidFill>
                  </a:tcPr>
                </a:tc>
                <a:tc>
                  <a:txBody>
                    <a:bodyPr/>
                    <a:lstStyle/>
                    <a:p>
                      <a:pPr algn="l"/>
                      <a:r>
                        <a:rPr lang="en-US" sz="1600">
                          <a:solidFill>
                            <a:schemeClr val="tx1"/>
                          </a:solidFill>
                        </a:rPr>
                        <a:t>Alternate scenarios of success or failure.</a:t>
                      </a:r>
                    </a:p>
                  </a:txBody>
                  <a:tcPr marL="24950" marR="24950" marT="24950" marB="24950">
                    <a:solidFill>
                      <a:srgbClr val="00B050"/>
                    </a:solidFill>
                  </a:tcPr>
                </a:tc>
                <a:extLst>
                  <a:ext uri="{0D108BD9-81ED-4DB2-BD59-A6C34878D82A}">
                    <a16:rowId xmlns:a16="http://schemas.microsoft.com/office/drawing/2014/main" val="10009"/>
                  </a:ext>
                </a:extLst>
              </a:tr>
              <a:tr h="272758">
                <a:tc>
                  <a:txBody>
                    <a:bodyPr/>
                    <a:lstStyle/>
                    <a:p>
                      <a:pPr algn="ctr"/>
                      <a:r>
                        <a:rPr lang="en-US" sz="1600" b="1" dirty="0">
                          <a:solidFill>
                            <a:schemeClr val="tx1"/>
                          </a:solidFill>
                        </a:rPr>
                        <a:t>Special Requirements</a:t>
                      </a:r>
                    </a:p>
                  </a:txBody>
                  <a:tcPr marL="24950" marR="24950" marT="24950" marB="24950">
                    <a:solidFill>
                      <a:srgbClr val="00B050"/>
                    </a:solidFill>
                  </a:tcPr>
                </a:tc>
                <a:tc>
                  <a:txBody>
                    <a:bodyPr/>
                    <a:lstStyle/>
                    <a:p>
                      <a:pPr algn="l"/>
                      <a:r>
                        <a:rPr lang="en-US" sz="1600" dirty="0">
                          <a:solidFill>
                            <a:schemeClr val="tx1"/>
                          </a:solidFill>
                        </a:rPr>
                        <a:t>Related non-functional requirements.</a:t>
                      </a:r>
                    </a:p>
                  </a:txBody>
                  <a:tcPr marL="24950" marR="24950" marT="24950" marB="24950">
                    <a:solidFill>
                      <a:srgbClr val="00B050"/>
                    </a:solidFill>
                  </a:tcPr>
                </a:tc>
                <a:extLst>
                  <a:ext uri="{0D108BD9-81ED-4DB2-BD59-A6C34878D82A}">
                    <a16:rowId xmlns:a16="http://schemas.microsoft.com/office/drawing/2014/main" val="10010"/>
                  </a:ext>
                </a:extLst>
              </a:tr>
              <a:tr h="272758">
                <a:tc>
                  <a:txBody>
                    <a:bodyPr/>
                    <a:lstStyle/>
                    <a:p>
                      <a:pPr algn="ctr"/>
                      <a:r>
                        <a:rPr lang="en-US" sz="1600" b="1">
                          <a:solidFill>
                            <a:schemeClr val="tx1"/>
                          </a:solidFill>
                        </a:rPr>
                        <a:t>Technology and Data Variations List</a:t>
                      </a:r>
                    </a:p>
                  </a:txBody>
                  <a:tcPr marL="24950" marR="24950" marT="24950" marB="24950">
                    <a:solidFill>
                      <a:srgbClr val="00B050"/>
                    </a:solidFill>
                  </a:tcPr>
                </a:tc>
                <a:tc>
                  <a:txBody>
                    <a:bodyPr/>
                    <a:lstStyle/>
                    <a:p>
                      <a:pPr algn="l"/>
                      <a:r>
                        <a:rPr lang="en-US" sz="1600">
                          <a:solidFill>
                            <a:schemeClr val="tx1"/>
                          </a:solidFill>
                        </a:rPr>
                        <a:t>Varying I/O methods and data formats.</a:t>
                      </a:r>
                    </a:p>
                  </a:txBody>
                  <a:tcPr marL="24950" marR="24950" marT="24950" marB="24950">
                    <a:solidFill>
                      <a:srgbClr val="00B050"/>
                    </a:solidFill>
                  </a:tcPr>
                </a:tc>
                <a:extLst>
                  <a:ext uri="{0D108BD9-81ED-4DB2-BD59-A6C34878D82A}">
                    <a16:rowId xmlns:a16="http://schemas.microsoft.com/office/drawing/2014/main" val="10011"/>
                  </a:ext>
                </a:extLst>
              </a:tr>
              <a:tr h="487047">
                <a:tc>
                  <a:txBody>
                    <a:bodyPr/>
                    <a:lstStyle/>
                    <a:p>
                      <a:pPr algn="ctr"/>
                      <a:r>
                        <a:rPr lang="en-US" sz="1600" b="1" dirty="0">
                          <a:solidFill>
                            <a:schemeClr val="tx1"/>
                          </a:solidFill>
                        </a:rPr>
                        <a:t>Frequency of Occurrence</a:t>
                      </a:r>
                    </a:p>
                  </a:txBody>
                  <a:tcPr marL="24950" marR="24950" marT="24950" marB="24950">
                    <a:solidFill>
                      <a:srgbClr val="00B050"/>
                    </a:solidFill>
                  </a:tcPr>
                </a:tc>
                <a:tc>
                  <a:txBody>
                    <a:bodyPr/>
                    <a:lstStyle/>
                    <a:p>
                      <a:pPr algn="l"/>
                      <a:r>
                        <a:rPr lang="en-US" sz="1600" dirty="0">
                          <a:solidFill>
                            <a:schemeClr val="tx1"/>
                          </a:solidFill>
                        </a:rPr>
                        <a:t>Influences investigation, testing, and timing of implementation.</a:t>
                      </a:r>
                    </a:p>
                  </a:txBody>
                  <a:tcPr marL="24950" marR="24950" marT="24950" marB="24950">
                    <a:solidFill>
                      <a:srgbClr val="00B050"/>
                    </a:solidFill>
                  </a:tcPr>
                </a:tc>
                <a:extLst>
                  <a:ext uri="{0D108BD9-81ED-4DB2-BD59-A6C34878D82A}">
                    <a16:rowId xmlns:a16="http://schemas.microsoft.com/office/drawing/2014/main" val="10012"/>
                  </a:ext>
                </a:extLst>
              </a:tr>
              <a:tr h="272758">
                <a:tc>
                  <a:txBody>
                    <a:bodyPr/>
                    <a:lstStyle/>
                    <a:p>
                      <a:pPr algn="ctr"/>
                      <a:r>
                        <a:rPr lang="en-US" sz="1600" b="1" dirty="0">
                          <a:solidFill>
                            <a:schemeClr val="tx1"/>
                          </a:solidFill>
                        </a:rPr>
                        <a:t>Miscellaneous</a:t>
                      </a:r>
                    </a:p>
                  </a:txBody>
                  <a:tcPr marL="24950" marR="24950" marT="24950" marB="24950">
                    <a:solidFill>
                      <a:srgbClr val="00B050"/>
                    </a:solidFill>
                  </a:tcPr>
                </a:tc>
                <a:tc>
                  <a:txBody>
                    <a:bodyPr/>
                    <a:lstStyle/>
                    <a:p>
                      <a:pPr algn="l"/>
                      <a:r>
                        <a:rPr lang="en-US" sz="1600" dirty="0">
                          <a:solidFill>
                            <a:schemeClr val="tx1"/>
                          </a:solidFill>
                        </a:rPr>
                        <a:t>Such as open issues.</a:t>
                      </a:r>
                    </a:p>
                  </a:txBody>
                  <a:tcPr marL="24950" marR="24950" marT="24950" marB="24950">
                    <a:solidFill>
                      <a:srgbClr val="00B05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924490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Flipped Class</a:t>
            </a:r>
          </a:p>
          <a:p>
            <a:r>
              <a:rPr lang="en-US" altLang="zh-CN" dirty="0"/>
              <a:t>For more detail, please refer to the Process Sale.docx.</a:t>
            </a:r>
          </a:p>
          <a:p>
            <a:r>
              <a:rPr lang="en-US" altLang="zh-CN" dirty="0"/>
              <a:t>Please read the Use Case Specification example to answer the following questions.</a:t>
            </a:r>
          </a:p>
          <a:p>
            <a:r>
              <a:rPr lang="en-US" altLang="zh-CN" dirty="0"/>
              <a:t>Read the following PPT about UC1</a:t>
            </a:r>
          </a:p>
          <a:p>
            <a:endParaRPr lang="en-US" altLang="zh-CN" dirty="0"/>
          </a:p>
        </p:txBody>
      </p:sp>
      <p:sp>
        <p:nvSpPr>
          <p:cNvPr id="3" name="标题 2"/>
          <p:cNvSpPr>
            <a:spLocks noGrp="1"/>
          </p:cNvSpPr>
          <p:nvPr>
            <p:ph type="title"/>
          </p:nvPr>
        </p:nvSpPr>
        <p:spPr/>
        <p:txBody>
          <a:bodyPr/>
          <a:lstStyle/>
          <a:p>
            <a:r>
              <a:rPr lang="en-US" altLang="zh-CN" sz="2800" dirty="0"/>
              <a:t>POS Example: (Partial) Fully Dressed Style Use Case Specification</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19</a:t>
            </a:fld>
            <a:endParaRPr lang="zh-CN" altLang="en-US"/>
          </a:p>
        </p:txBody>
      </p:sp>
    </p:spTree>
    <p:extLst>
      <p:ext uri="{BB962C8B-B14F-4D97-AF65-F5344CB8AC3E}">
        <p14:creationId xmlns:p14="http://schemas.microsoft.com/office/powerpoint/2010/main" val="3035594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77506"/>
            <a:ext cx="11049000" cy="4351337"/>
          </a:xfrm>
        </p:spPr>
        <p:txBody>
          <a:bodyPr/>
          <a:lstStyle/>
          <a:p>
            <a:r>
              <a:rPr lang="en-US" altLang="zh-CN" dirty="0"/>
              <a:t>Please describe what do the sections of the template mean, according to UC1,which is the primary case study example of a detailed use case.</a:t>
            </a:r>
          </a:p>
          <a:p>
            <a:r>
              <a:rPr lang="en-US" altLang="zh-CN" dirty="0"/>
              <a:t>Can you give one more scenario example for the alternate scenarios of success or failure for UC1?</a:t>
            </a:r>
          </a:p>
          <a:p>
            <a:r>
              <a:rPr lang="en-US" altLang="zh-CN" dirty="0"/>
              <a:t>IF we are considering the requirements </a:t>
            </a:r>
          </a:p>
          <a:p>
            <a:pPr marL="800100" lvl="2" indent="-457200">
              <a:spcBef>
                <a:spcPts val="1000"/>
              </a:spcBef>
              <a:buFont typeface="Wingdings" panose="05000000000000000000" pitchFamily="2" charset="2"/>
              <a:buChar char="u"/>
            </a:pPr>
            <a:r>
              <a:rPr lang="en-US" altLang="zh-CN" dirty="0"/>
              <a:t>customer's interest for a visible display of descriptions and prices</a:t>
            </a:r>
          </a:p>
          <a:p>
            <a:pPr marL="0" indent="0">
              <a:buNone/>
            </a:pPr>
            <a:r>
              <a:rPr lang="en-US" altLang="zh-CN" dirty="0"/>
              <a:t>   THEN where should the requirements be captured?</a:t>
            </a:r>
          </a:p>
          <a:p>
            <a:pPr lvl="1"/>
            <a:r>
              <a:rPr lang="en-US" altLang="zh-CN" dirty="0"/>
              <a:t> in the Extensions of the UC1 </a:t>
            </a:r>
          </a:p>
          <a:p>
            <a:pPr lvl="1"/>
            <a:r>
              <a:rPr lang="en-US" altLang="zh-CN" dirty="0"/>
              <a:t> in the Special Requirements of the UC1</a:t>
            </a:r>
          </a:p>
          <a:p>
            <a:pPr lvl="1"/>
            <a:r>
              <a:rPr lang="en-US" altLang="zh-CN" dirty="0"/>
              <a:t> in the Supplementary Specification </a:t>
            </a:r>
          </a:p>
          <a:p>
            <a:pPr lvl="1"/>
            <a:endParaRPr lang="en-US" altLang="zh-CN" dirty="0"/>
          </a:p>
          <a:p>
            <a:pPr lvl="1"/>
            <a:endParaRPr lang="en-US" altLang="zh-CN" dirty="0"/>
          </a:p>
          <a:p>
            <a:endParaRPr lang="en-US" altLang="zh-CN" dirty="0"/>
          </a:p>
          <a:p>
            <a:endParaRPr lang="en-US" altLang="zh-CN" dirty="0"/>
          </a:p>
          <a:p>
            <a:endParaRPr lang="zh-CN" altLang="en-US" dirty="0"/>
          </a:p>
        </p:txBody>
      </p:sp>
      <p:sp>
        <p:nvSpPr>
          <p:cNvPr id="3" name="标题 2"/>
          <p:cNvSpPr>
            <a:spLocks noGrp="1"/>
          </p:cNvSpPr>
          <p:nvPr>
            <p:ph type="title"/>
          </p:nvPr>
        </p:nvSpPr>
        <p:spPr/>
        <p:txBody>
          <a:bodyPr/>
          <a:lstStyle/>
          <a:p>
            <a:r>
              <a:rPr lang="en-US" altLang="zh-CN" sz="3200" dirty="0"/>
              <a:t>Use Case UC1: Process Sale Flipped Course Questions</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20</a:t>
            </a:fld>
            <a:endParaRPr lang="zh-CN" altLang="en-US"/>
          </a:p>
        </p:txBody>
      </p:sp>
    </p:spTree>
    <p:extLst>
      <p:ext uri="{BB962C8B-B14F-4D97-AF65-F5344CB8AC3E}">
        <p14:creationId xmlns:p14="http://schemas.microsoft.com/office/powerpoint/2010/main" val="80925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143000"/>
            <a:ext cx="10515600" cy="4351337"/>
          </a:xfrm>
        </p:spPr>
        <p:txBody>
          <a:bodyPr/>
          <a:lstStyle/>
          <a:p>
            <a:r>
              <a:rPr lang="en-US" altLang="zh-CN" sz="2000" dirty="0"/>
              <a:t>Use Case UC1: </a:t>
            </a:r>
          </a:p>
          <a:p>
            <a:pPr lvl="1"/>
            <a:r>
              <a:rPr lang="en-US" altLang="zh-CN" sz="2000" dirty="0"/>
              <a:t>Process Sale</a:t>
            </a:r>
          </a:p>
          <a:p>
            <a:r>
              <a:rPr lang="en-US" altLang="zh-CN" sz="2000" dirty="0"/>
              <a:t>Scope: </a:t>
            </a:r>
          </a:p>
          <a:p>
            <a:pPr lvl="1"/>
            <a:r>
              <a:rPr lang="en-US" altLang="zh-CN" sz="2000" dirty="0" err="1"/>
              <a:t>NextGen</a:t>
            </a:r>
            <a:r>
              <a:rPr lang="en-US" altLang="zh-CN" sz="2000" dirty="0"/>
              <a:t> POS application</a:t>
            </a:r>
          </a:p>
          <a:p>
            <a:r>
              <a:rPr lang="en-US" altLang="zh-CN" sz="2000" dirty="0"/>
              <a:t>Level: </a:t>
            </a:r>
          </a:p>
          <a:p>
            <a:pPr lvl="1"/>
            <a:r>
              <a:rPr lang="en-US" altLang="zh-CN" sz="2000" dirty="0"/>
              <a:t>user goal</a:t>
            </a:r>
          </a:p>
          <a:p>
            <a:r>
              <a:rPr lang="en-US" altLang="zh-CN" sz="2000" dirty="0"/>
              <a:t>Primary Actor: </a:t>
            </a:r>
          </a:p>
          <a:p>
            <a:pPr lvl="1"/>
            <a:r>
              <a:rPr lang="en-US" altLang="zh-CN" sz="2000" dirty="0"/>
              <a:t>Cashier</a:t>
            </a:r>
          </a:p>
          <a:p>
            <a:r>
              <a:rPr lang="en-US" altLang="zh-CN" sz="2000" dirty="0"/>
              <a:t>Stakeholders and Interests:</a:t>
            </a:r>
          </a:p>
          <a:p>
            <a:r>
              <a:rPr lang="en-US" altLang="zh-CN" sz="2000" dirty="0"/>
              <a:t>Preconditions: </a:t>
            </a:r>
          </a:p>
          <a:p>
            <a:pPr lvl="1"/>
            <a:r>
              <a:rPr lang="en-US" altLang="zh-CN" sz="2000" dirty="0"/>
              <a:t>Cashier is identified and authenticated.</a:t>
            </a:r>
          </a:p>
          <a:p>
            <a:r>
              <a:rPr lang="en-US" altLang="zh-CN" sz="2000" dirty="0"/>
              <a:t>Success Guarantee (or </a:t>
            </a:r>
            <a:r>
              <a:rPr lang="en-US" altLang="zh-CN" sz="2000" dirty="0" err="1"/>
              <a:t>Postconditions</a:t>
            </a:r>
            <a:r>
              <a:rPr lang="en-US" altLang="zh-CN" sz="2000" dirty="0"/>
              <a:t>): </a:t>
            </a:r>
          </a:p>
          <a:p>
            <a:pPr lvl="1"/>
            <a:r>
              <a:rPr lang="en-US" altLang="zh-CN" sz="2000" dirty="0"/>
              <a:t>Sale is saved. Tax is correctly calculated. Accounting and Inventory are updated. Commissions recorded. Receipt is generated. Payment authorization approvals are recorded.</a:t>
            </a:r>
          </a:p>
          <a:p>
            <a:endParaRPr lang="zh-CN" altLang="en-US" sz="2000" dirty="0"/>
          </a:p>
        </p:txBody>
      </p:sp>
      <p:sp>
        <p:nvSpPr>
          <p:cNvPr id="3" name="标题 2"/>
          <p:cNvSpPr>
            <a:spLocks noGrp="1"/>
          </p:cNvSpPr>
          <p:nvPr>
            <p:ph type="title"/>
          </p:nvPr>
        </p:nvSpPr>
        <p:spPr/>
        <p:txBody>
          <a:bodyPr/>
          <a:lstStyle/>
          <a:p>
            <a:r>
              <a:rPr lang="en-US" altLang="zh-CN" dirty="0"/>
              <a:t>UC1: Process Sale, Fully Dressed Style-1</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21</a:t>
            </a:fld>
            <a:endParaRPr lang="zh-CN" altLang="en-US"/>
          </a:p>
        </p:txBody>
      </p:sp>
      <p:sp>
        <p:nvSpPr>
          <p:cNvPr id="5" name="矩形 4"/>
          <p:cNvSpPr/>
          <p:nvPr/>
        </p:nvSpPr>
        <p:spPr>
          <a:xfrm>
            <a:off x="381000" y="4032647"/>
            <a:ext cx="9829799" cy="5393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019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Main Success Scenario (or Basic Flow):</a:t>
            </a:r>
          </a:p>
          <a:p>
            <a:pPr lvl="1"/>
            <a:r>
              <a:rPr lang="en-US" altLang="zh-CN" b="0" dirty="0"/>
              <a:t>Customer arrives at POS checkout with goods and/or services to purchase.</a:t>
            </a:r>
          </a:p>
          <a:p>
            <a:pPr lvl="1"/>
            <a:r>
              <a:rPr lang="en-US" altLang="zh-CN" b="0" dirty="0"/>
              <a:t>Cashier starts a new sale.</a:t>
            </a:r>
          </a:p>
          <a:p>
            <a:pPr lvl="1"/>
            <a:r>
              <a:rPr lang="en-US" altLang="zh-CN" b="0" dirty="0"/>
              <a:t>Cashier enters item identifier.</a:t>
            </a:r>
          </a:p>
          <a:p>
            <a:pPr lvl="1"/>
            <a:r>
              <a:rPr lang="en-US" altLang="zh-CN" b="0" dirty="0"/>
              <a:t>…</a:t>
            </a:r>
          </a:p>
          <a:p>
            <a:r>
              <a:rPr lang="en-US" altLang="zh-CN" dirty="0"/>
              <a:t>Extensions (or Alternative Flows):</a:t>
            </a:r>
          </a:p>
          <a:p>
            <a:pPr lvl="1"/>
            <a:r>
              <a:rPr lang="en-US" altLang="zh-CN" dirty="0"/>
              <a:t>*a. At any time, Manager requests an override operation:</a:t>
            </a:r>
          </a:p>
          <a:p>
            <a:pPr lvl="1"/>
            <a:r>
              <a:rPr lang="en-US" altLang="zh-CN" dirty="0"/>
              <a:t>*b. At any time, System fails:</a:t>
            </a:r>
          </a:p>
          <a:p>
            <a:r>
              <a:rPr lang="en-US" altLang="zh-CN" dirty="0"/>
              <a:t>Special Requirements:</a:t>
            </a:r>
          </a:p>
          <a:p>
            <a:pPr lvl="1"/>
            <a:r>
              <a:rPr lang="en-US" altLang="zh-CN" dirty="0"/>
              <a:t>Language internationalization on the text displayed.</a:t>
            </a:r>
            <a:endParaRPr lang="zh-CN" altLang="en-US" dirty="0"/>
          </a:p>
        </p:txBody>
      </p:sp>
      <p:sp>
        <p:nvSpPr>
          <p:cNvPr id="3" name="标题 2"/>
          <p:cNvSpPr>
            <a:spLocks noGrp="1"/>
          </p:cNvSpPr>
          <p:nvPr>
            <p:ph type="title"/>
          </p:nvPr>
        </p:nvSpPr>
        <p:spPr/>
        <p:txBody>
          <a:bodyPr/>
          <a:lstStyle/>
          <a:p>
            <a:r>
              <a:rPr lang="en-US" altLang="zh-CN" dirty="0"/>
              <a:t>UC1: Process Sale, Fully Dressed Style-2</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22</a:t>
            </a:fld>
            <a:endParaRPr lang="zh-CN" altLang="en-US"/>
          </a:p>
        </p:txBody>
      </p:sp>
      <p:sp>
        <p:nvSpPr>
          <p:cNvPr id="6" name="矩形 5"/>
          <p:cNvSpPr/>
          <p:nvPr/>
        </p:nvSpPr>
        <p:spPr>
          <a:xfrm>
            <a:off x="510396" y="3657600"/>
            <a:ext cx="10134600" cy="130730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945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Technology and Data Variations List:</a:t>
            </a:r>
          </a:p>
          <a:p>
            <a:pPr lvl="1"/>
            <a:r>
              <a:rPr lang="en-US" altLang="zh-CN" dirty="0"/>
              <a:t>*a. Manager override entered by swiping an override card through a card reader, or entering an authorization code via the keyboard.</a:t>
            </a:r>
          </a:p>
          <a:p>
            <a:r>
              <a:rPr lang="en-US" altLang="zh-CN" dirty="0"/>
              <a:t>Frequency of Occurrence:</a:t>
            </a:r>
          </a:p>
          <a:p>
            <a:pPr lvl="1"/>
            <a:r>
              <a:rPr lang="en-US" altLang="zh-CN" dirty="0"/>
              <a:t>Could be nearly continuous.</a:t>
            </a:r>
            <a:endParaRPr lang="zh-CN" altLang="en-US" dirty="0"/>
          </a:p>
          <a:p>
            <a:r>
              <a:rPr lang="en-US" altLang="zh-CN" dirty="0"/>
              <a:t>Open Issues:</a:t>
            </a:r>
          </a:p>
          <a:p>
            <a:pPr lvl="1"/>
            <a:r>
              <a:rPr lang="en-US" altLang="zh-CN" dirty="0"/>
              <a:t>What are the tax law variations?</a:t>
            </a:r>
          </a:p>
          <a:p>
            <a:pPr lvl="1"/>
            <a:endParaRPr lang="en-US" altLang="zh-CN" dirty="0"/>
          </a:p>
        </p:txBody>
      </p:sp>
      <p:sp>
        <p:nvSpPr>
          <p:cNvPr id="3" name="标题 2"/>
          <p:cNvSpPr>
            <a:spLocks noGrp="1"/>
          </p:cNvSpPr>
          <p:nvPr>
            <p:ph type="title"/>
          </p:nvPr>
        </p:nvSpPr>
        <p:spPr/>
        <p:txBody>
          <a:bodyPr/>
          <a:lstStyle/>
          <a:p>
            <a:r>
              <a:rPr lang="en-US" altLang="zh-CN" dirty="0"/>
              <a:t>UC1: Process Sale, Fully Dressed Style-3</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23</a:t>
            </a:fld>
            <a:endParaRPr lang="zh-CN" altLang="en-US"/>
          </a:p>
        </p:txBody>
      </p:sp>
    </p:spTree>
    <p:extLst>
      <p:ext uri="{BB962C8B-B14F-4D97-AF65-F5344CB8AC3E}">
        <p14:creationId xmlns:p14="http://schemas.microsoft.com/office/powerpoint/2010/main" val="358132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solidFill>
                  <a:schemeClr val="tx1">
                    <a:lumMod val="50000"/>
                  </a:schemeClr>
                </a:solidFill>
              </a:rPr>
              <a:t>Introduction of Use Case via a Brief Use Case Example.</a:t>
            </a:r>
          </a:p>
          <a:p>
            <a:r>
              <a:rPr lang="en-US" altLang="zh-CN" dirty="0">
                <a:solidFill>
                  <a:schemeClr val="tx1">
                    <a:lumMod val="50000"/>
                  </a:schemeClr>
                </a:solidFill>
              </a:rPr>
              <a:t>Key Concepts about the Use Cases. </a:t>
            </a:r>
          </a:p>
          <a:p>
            <a:r>
              <a:rPr lang="en-US" altLang="zh-CN" dirty="0">
                <a:solidFill>
                  <a:schemeClr val="tx1">
                    <a:lumMod val="50000"/>
                  </a:schemeClr>
                </a:solidFill>
              </a:rPr>
              <a:t>Introduce Use Case Specification via a Fully Dressed UC: Process Sale.</a:t>
            </a:r>
          </a:p>
          <a:p>
            <a:r>
              <a:rPr lang="en-US" altLang="zh-CN" dirty="0"/>
              <a:t>Guidelines about Use Cases. </a:t>
            </a:r>
          </a:p>
          <a:p>
            <a:r>
              <a:rPr lang="en-US" altLang="zh-CN" dirty="0">
                <a:solidFill>
                  <a:schemeClr val="tx1">
                    <a:lumMod val="50000"/>
                  </a:schemeClr>
                </a:solidFill>
              </a:rPr>
              <a:t>Use Cases: A Case Study Applying UML Notations. </a:t>
            </a:r>
          </a:p>
          <a:p>
            <a:r>
              <a:rPr lang="en-US" altLang="zh-CN" dirty="0">
                <a:solidFill>
                  <a:schemeClr val="tx1">
                    <a:lumMod val="50000"/>
                  </a:schemeClr>
                </a:solidFill>
              </a:rPr>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24</a:t>
            </a:fld>
            <a:endParaRPr lang="zh-CN" altLang="en-US"/>
          </a:p>
        </p:txBody>
      </p:sp>
      <p:sp>
        <p:nvSpPr>
          <p:cNvPr id="5" name="五角星 4"/>
          <p:cNvSpPr/>
          <p:nvPr/>
        </p:nvSpPr>
        <p:spPr>
          <a:xfrm>
            <a:off x="157833" y="3275755"/>
            <a:ext cx="431623"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839516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Guideline: How to Write Use Cases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25</a:t>
            </a:fld>
            <a:endParaRPr lang="zh-CN" altLang="en-US"/>
          </a:p>
        </p:txBody>
      </p:sp>
      <p:sp>
        <p:nvSpPr>
          <p:cNvPr id="13" name="内容占位符 12"/>
          <p:cNvSpPr>
            <a:spLocks noGrp="1"/>
          </p:cNvSpPr>
          <p:nvPr>
            <p:ph idx="1"/>
          </p:nvPr>
        </p:nvSpPr>
        <p:spPr>
          <a:xfrm>
            <a:off x="381000" y="1282137"/>
            <a:ext cx="8305800" cy="4343400"/>
          </a:xfrm>
        </p:spPr>
        <p:txBody>
          <a:bodyPr/>
          <a:lstStyle/>
          <a:p>
            <a:r>
              <a:rPr lang="en-US" altLang="zh-CN" dirty="0"/>
              <a:t>Write use cases in an essential style; keep the user interface out and focus on actor intent.</a:t>
            </a:r>
          </a:p>
          <a:p>
            <a:r>
              <a:rPr lang="en-US" altLang="zh-CN" dirty="0"/>
              <a:t>Write Terse Use Cases.</a:t>
            </a:r>
          </a:p>
          <a:p>
            <a:r>
              <a:rPr lang="en-US" altLang="zh-CN" dirty="0"/>
              <a:t>Write Black-Box Use Cases.</a:t>
            </a:r>
          </a:p>
          <a:p>
            <a:r>
              <a:rPr lang="en-US" altLang="zh-CN" dirty="0"/>
              <a:t>Take an Actor and Actor-Goal Perspective.</a:t>
            </a:r>
          </a:p>
          <a:p>
            <a:endParaRPr lang="zh-CN" altLang="en-US" dirty="0"/>
          </a:p>
        </p:txBody>
      </p:sp>
      <p:pic>
        <p:nvPicPr>
          <p:cNvPr id="16" name="图片 15"/>
          <p:cNvPicPr>
            <a:picLocks noChangeAspect="1"/>
          </p:cNvPicPr>
          <p:nvPr/>
        </p:nvPicPr>
        <p:blipFill>
          <a:blip r:embed="rId3"/>
          <a:stretch>
            <a:fillRect/>
          </a:stretch>
        </p:blipFill>
        <p:spPr>
          <a:xfrm>
            <a:off x="11208211" y="52754"/>
            <a:ext cx="889569" cy="860757"/>
          </a:xfrm>
          <a:prstGeom prst="rect">
            <a:avLst/>
          </a:prstGeom>
        </p:spPr>
      </p:pic>
    </p:spTree>
    <p:extLst>
      <p:ext uri="{BB962C8B-B14F-4D97-AF65-F5344CB8AC3E}">
        <p14:creationId xmlns:p14="http://schemas.microsoft.com/office/powerpoint/2010/main" val="4197506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6072" y="1143000"/>
            <a:ext cx="11658600" cy="4351337"/>
          </a:xfrm>
        </p:spPr>
        <p:txBody>
          <a:bodyPr/>
          <a:lstStyle/>
          <a:p>
            <a:r>
              <a:rPr lang="en-US" altLang="zh-CN" dirty="0"/>
              <a:t>Use cases are defined to satisfy the goals of the primary actors. Hence, the basic procedure is:</a:t>
            </a:r>
          </a:p>
          <a:p>
            <a:pPr lvl="1"/>
            <a:r>
              <a:rPr lang="en-US" altLang="zh-CN" dirty="0"/>
              <a:t>Choose the system boundary. Is it just a software application, the hardware and application as a unit, that plus a person using it, or an entire organization?</a:t>
            </a:r>
          </a:p>
          <a:p>
            <a:pPr lvl="1"/>
            <a:r>
              <a:rPr lang="en-US" altLang="zh-CN" dirty="0"/>
              <a:t>Identify the primary actors those that have goals fulfilled through using services of the system.</a:t>
            </a:r>
          </a:p>
          <a:p>
            <a:pPr lvl="1"/>
            <a:r>
              <a:rPr lang="en-US" altLang="zh-CN" dirty="0"/>
              <a:t>Identify the goals for each primary actor.</a:t>
            </a:r>
          </a:p>
          <a:p>
            <a:pPr lvl="1"/>
            <a:r>
              <a:rPr lang="en-US" altLang="zh-CN" dirty="0"/>
              <a:t>Define use cases that satisfy user goals; name them according to their goal. Usually, user-goal level use cases will be one-to-one with user goals, but there is at least one exception, as will be examined.</a:t>
            </a:r>
          </a:p>
          <a:p>
            <a:r>
              <a:rPr lang="en-US" altLang="zh-CN" dirty="0"/>
              <a:t>In UP, not all goals or use cases will be fully or correctly identified near the start. It's an evolving discovery.</a:t>
            </a:r>
            <a:br>
              <a:rPr lang="en-US" altLang="zh-CN" dirty="0"/>
            </a:br>
            <a:br>
              <a:rPr lang="en-US" altLang="zh-CN" dirty="0"/>
            </a:br>
            <a:br>
              <a:rPr lang="en-US" altLang="zh-CN" dirty="0"/>
            </a:br>
            <a:endParaRPr lang="zh-CN" altLang="en-US" dirty="0"/>
          </a:p>
        </p:txBody>
      </p:sp>
      <p:sp>
        <p:nvSpPr>
          <p:cNvPr id="3" name="标题 2"/>
          <p:cNvSpPr>
            <a:spLocks noGrp="1"/>
          </p:cNvSpPr>
          <p:nvPr>
            <p:ph type="title"/>
          </p:nvPr>
        </p:nvSpPr>
        <p:spPr/>
        <p:txBody>
          <a:bodyPr/>
          <a:lstStyle/>
          <a:p>
            <a:r>
              <a:rPr lang="en-US" altLang="zh-CN" dirty="0"/>
              <a:t>Guideline: How to Find Use Cases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26</a:t>
            </a:fld>
            <a:endParaRPr lang="zh-CN" altLang="en-US" dirty="0"/>
          </a:p>
        </p:txBody>
      </p:sp>
      <p:pic>
        <p:nvPicPr>
          <p:cNvPr id="8" name="图片 7"/>
          <p:cNvPicPr>
            <a:picLocks noChangeAspect="1"/>
          </p:cNvPicPr>
          <p:nvPr/>
        </p:nvPicPr>
        <p:blipFill>
          <a:blip r:embed="rId3"/>
          <a:stretch>
            <a:fillRect/>
          </a:stretch>
        </p:blipFill>
        <p:spPr>
          <a:xfrm>
            <a:off x="11208211" y="52754"/>
            <a:ext cx="889569" cy="860757"/>
          </a:xfrm>
          <a:prstGeom prst="rect">
            <a:avLst/>
          </a:prstGeom>
        </p:spPr>
      </p:pic>
    </p:spTree>
    <p:extLst>
      <p:ext uri="{BB962C8B-B14F-4D97-AF65-F5344CB8AC3E}">
        <p14:creationId xmlns:p14="http://schemas.microsoft.com/office/powerpoint/2010/main" val="3310916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For this case study, the POS system itself is the system under design; everything outside of it is outside the system boundary, including the cashier, payment authorization service, and so on.</a:t>
            </a:r>
          </a:p>
          <a:p>
            <a:r>
              <a:rPr lang="en-US" altLang="zh-CN" dirty="0"/>
              <a:t>If the definition of the boundary of the system under design is not clear, it can be clarified by further definition of what is outside the external primary and supporting actors.</a:t>
            </a:r>
            <a:endParaRPr lang="zh-CN" altLang="en-US" dirty="0"/>
          </a:p>
        </p:txBody>
      </p:sp>
      <p:sp>
        <p:nvSpPr>
          <p:cNvPr id="3" name="标题 2"/>
          <p:cNvSpPr>
            <a:spLocks noGrp="1"/>
          </p:cNvSpPr>
          <p:nvPr>
            <p:ph type="title"/>
          </p:nvPr>
        </p:nvSpPr>
        <p:spPr/>
        <p:txBody>
          <a:bodyPr/>
          <a:lstStyle/>
          <a:p>
            <a:r>
              <a:rPr lang="en-US" altLang="zh-CN" dirty="0"/>
              <a:t>Step 1: Choose the system boundary.</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27</a:t>
            </a:fld>
            <a:endParaRPr lang="zh-CN" altLang="en-US"/>
          </a:p>
        </p:txBody>
      </p:sp>
    </p:spTree>
    <p:extLst>
      <p:ext uri="{BB962C8B-B14F-4D97-AF65-F5344CB8AC3E}">
        <p14:creationId xmlns:p14="http://schemas.microsoft.com/office/powerpoint/2010/main" val="3234514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5105400"/>
            <a:ext cx="10820400" cy="3611561"/>
          </a:xfrm>
        </p:spPr>
        <p:txBody>
          <a:bodyPr/>
          <a:lstStyle/>
          <a:p>
            <a:r>
              <a:rPr lang="en-US" altLang="zh-CN" sz="2400" dirty="0"/>
              <a:t>Actors and Goals can be organized at least two approaches:</a:t>
            </a:r>
          </a:p>
          <a:p>
            <a:pPr lvl="1"/>
            <a:r>
              <a:rPr lang="en-US" altLang="zh-CN" sz="2000" b="0" dirty="0"/>
              <a:t>Draw them in a use case diagram, naming the goals as use cases</a:t>
            </a:r>
          </a:p>
          <a:p>
            <a:pPr lvl="1"/>
            <a:r>
              <a:rPr lang="en-US" altLang="zh-CN" sz="2000" b="0" dirty="0"/>
              <a:t>Write an actor-goal list first, review and refine it, and then draw the use case diagram.</a:t>
            </a:r>
          </a:p>
          <a:p>
            <a:pPr lvl="1"/>
            <a:endParaRPr lang="en-US" altLang="zh-CN" sz="2000" dirty="0"/>
          </a:p>
          <a:p>
            <a:pPr lvl="1"/>
            <a:endParaRPr lang="zh-CN" altLang="en-US" sz="2000" dirty="0"/>
          </a:p>
        </p:txBody>
      </p:sp>
      <p:sp>
        <p:nvSpPr>
          <p:cNvPr id="3" name="标题 2"/>
          <p:cNvSpPr>
            <a:spLocks noGrp="1"/>
          </p:cNvSpPr>
          <p:nvPr>
            <p:ph type="title"/>
          </p:nvPr>
        </p:nvSpPr>
        <p:spPr/>
        <p:txBody>
          <a:bodyPr/>
          <a:lstStyle/>
          <a:p>
            <a:r>
              <a:rPr lang="en-US" altLang="zh-CN"/>
              <a:t>Steps 2 and 3: Find Primary Actors and Goals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28</a:t>
            </a:fld>
            <a:endParaRPr lang="zh-CN" altLang="en-US" dirty="0"/>
          </a:p>
        </p:txBody>
      </p:sp>
      <p:sp>
        <p:nvSpPr>
          <p:cNvPr id="5" name="内容占位符 1"/>
          <p:cNvSpPr txBox="1">
            <a:spLocks/>
          </p:cNvSpPr>
          <p:nvPr/>
        </p:nvSpPr>
        <p:spPr bwMode="auto">
          <a:xfrm>
            <a:off x="6553200" y="1143000"/>
            <a:ext cx="5105400" cy="3544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chemeClr val="tx1"/>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2000" dirty="0"/>
              <a:t>In addition to human primary actors, are there any external software or robotic systems that call upon services of the system?</a:t>
            </a:r>
          </a:p>
          <a:p>
            <a:pPr lvl="1"/>
            <a:r>
              <a:rPr lang="en-US" altLang="zh-CN" sz="2000" dirty="0"/>
              <a:t>Who evaluates system activity or performance?</a:t>
            </a:r>
          </a:p>
          <a:p>
            <a:pPr lvl="1"/>
            <a:r>
              <a:rPr lang="en-US" altLang="zh-CN" sz="2000" dirty="0"/>
              <a:t>Who evaluates logs? Are they remotely retrieved?</a:t>
            </a:r>
          </a:p>
          <a:p>
            <a:pPr lvl="1"/>
            <a:r>
              <a:rPr lang="en-US" altLang="zh-CN" sz="2000" dirty="0"/>
              <a:t>Who gets notified when there are errors or failures?</a:t>
            </a:r>
          </a:p>
          <a:p>
            <a:pPr lvl="1"/>
            <a:endParaRPr lang="zh-CN" altLang="en-US" sz="2000" dirty="0"/>
          </a:p>
        </p:txBody>
      </p:sp>
      <p:sp>
        <p:nvSpPr>
          <p:cNvPr id="8" name="内容占位符 1"/>
          <p:cNvSpPr txBox="1">
            <a:spLocks/>
          </p:cNvSpPr>
          <p:nvPr/>
        </p:nvSpPr>
        <p:spPr bwMode="auto">
          <a:xfrm>
            <a:off x="228600" y="1104901"/>
            <a:ext cx="6324600" cy="353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chemeClr val="tx1"/>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The following questions help identify actors and Goals:</a:t>
            </a:r>
          </a:p>
          <a:p>
            <a:pPr lvl="1"/>
            <a:r>
              <a:rPr lang="en-US" altLang="zh-CN" sz="2000" dirty="0"/>
              <a:t>Who starts and stops the system?</a:t>
            </a:r>
          </a:p>
          <a:p>
            <a:pPr lvl="1"/>
            <a:r>
              <a:rPr lang="en-US" altLang="zh-CN" sz="2000" dirty="0"/>
              <a:t>Who does user and security management?</a:t>
            </a:r>
          </a:p>
          <a:p>
            <a:pPr lvl="1"/>
            <a:r>
              <a:rPr lang="en-US" altLang="zh-CN" sz="2000" dirty="0"/>
              <a:t>Who does system administration?</a:t>
            </a:r>
          </a:p>
          <a:p>
            <a:pPr lvl="1"/>
            <a:r>
              <a:rPr lang="en-US" altLang="zh-CN" sz="2000" dirty="0"/>
              <a:t>Is "time" an actor because the system does something in response to a time event?</a:t>
            </a:r>
          </a:p>
          <a:p>
            <a:pPr lvl="1"/>
            <a:r>
              <a:rPr lang="en-US" altLang="zh-CN" sz="2000" dirty="0"/>
              <a:t>Is there a monitoring process that restarts the system if it fails?</a:t>
            </a:r>
          </a:p>
          <a:p>
            <a:pPr lvl="1"/>
            <a:r>
              <a:rPr lang="en-US" altLang="zh-CN" sz="2000" dirty="0"/>
              <a:t>How are software updates handled? </a:t>
            </a:r>
            <a:r>
              <a:rPr lang="en-US" altLang="zh-CN" sz="2000"/>
              <a:t>Push or pull update?</a:t>
            </a:r>
          </a:p>
          <a:p>
            <a:pPr lvl="1"/>
            <a:endParaRPr lang="en-US" altLang="zh-CN" sz="2000" dirty="0"/>
          </a:p>
        </p:txBody>
      </p:sp>
    </p:spTree>
    <p:extLst>
      <p:ext uri="{BB962C8B-B14F-4D97-AF65-F5344CB8AC3E}">
        <p14:creationId xmlns:p14="http://schemas.microsoft.com/office/powerpoint/2010/main" val="2051552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In general, define one use case for each user goal. Name the use case similar to the user goal for example, Goal: process a sale; Use Case: Process Sale.</a:t>
            </a:r>
          </a:p>
          <a:p>
            <a:r>
              <a:rPr lang="en-US" altLang="zh-CN" dirty="0"/>
              <a:t>A common exception to one use case per goal is to collapse CRUD (create, retrieve, update, delete) separate goals into one CRUD use case, idiomatically called Manage &lt;X&gt;. For example, the goals "edit user," "delete user," and so forth are all satisfied by the Manage Users use case.</a:t>
            </a:r>
          </a:p>
          <a:p>
            <a:endParaRPr lang="zh-CN" altLang="en-US" dirty="0"/>
          </a:p>
        </p:txBody>
      </p:sp>
      <p:sp>
        <p:nvSpPr>
          <p:cNvPr id="3" name="标题 2"/>
          <p:cNvSpPr>
            <a:spLocks noGrp="1"/>
          </p:cNvSpPr>
          <p:nvPr>
            <p:ph type="title"/>
          </p:nvPr>
        </p:nvSpPr>
        <p:spPr/>
        <p:txBody>
          <a:bodyPr/>
          <a:lstStyle/>
          <a:p>
            <a:r>
              <a:rPr lang="en-US" altLang="zh-CN" dirty="0"/>
              <a:t>Step 4: Define Use Cases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29</a:t>
            </a:fld>
            <a:endParaRPr lang="zh-CN" altLang="en-US"/>
          </a:p>
        </p:txBody>
      </p:sp>
    </p:spTree>
    <p:extLst>
      <p:ext uri="{BB962C8B-B14F-4D97-AF65-F5344CB8AC3E}">
        <p14:creationId xmlns:p14="http://schemas.microsoft.com/office/powerpoint/2010/main" val="581842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2127" y="1282137"/>
            <a:ext cx="5867400" cy="4373562"/>
          </a:xfrm>
        </p:spPr>
        <p:txBody>
          <a:bodyPr/>
          <a:lstStyle/>
          <a:p>
            <a:r>
              <a:rPr lang="en-US" altLang="zh-CN" dirty="0"/>
              <a:t>The Boss Test</a:t>
            </a:r>
          </a:p>
          <a:p>
            <a:pPr lvl="1"/>
            <a:r>
              <a:rPr lang="en-US" altLang="zh-CN" dirty="0"/>
              <a:t>The use case fails the Boss Test, which implies it is not strongly related to achieving results of measurable value.</a:t>
            </a:r>
          </a:p>
          <a:p>
            <a:r>
              <a:rPr lang="en-US" altLang="zh-CN" dirty="0"/>
              <a:t>The EBP Test</a:t>
            </a:r>
          </a:p>
          <a:p>
            <a:pPr lvl="1"/>
            <a:r>
              <a:rPr lang="en-US" altLang="zh-CN" dirty="0"/>
              <a:t>Elementary Business Process</a:t>
            </a:r>
          </a:p>
          <a:p>
            <a:pPr lvl="1"/>
            <a:r>
              <a:rPr lang="en-US" altLang="zh-CN" dirty="0"/>
              <a:t>Focus on use cases that reflect EBPs.</a:t>
            </a:r>
          </a:p>
          <a:p>
            <a:r>
              <a:rPr lang="en-US" altLang="zh-CN" dirty="0"/>
              <a:t>The Size Test</a:t>
            </a:r>
          </a:p>
          <a:p>
            <a:pPr lvl="1"/>
            <a:r>
              <a:rPr lang="en-US" altLang="zh-CN" dirty="0"/>
              <a:t>A use case typically contains many steps, and in the fully dressed format will often require 3-10 pages of text. </a:t>
            </a:r>
            <a:endParaRPr lang="zh-CN" altLang="en-US" dirty="0"/>
          </a:p>
        </p:txBody>
      </p:sp>
      <p:sp>
        <p:nvSpPr>
          <p:cNvPr id="3" name="标题 2"/>
          <p:cNvSpPr>
            <a:spLocks noGrp="1"/>
          </p:cNvSpPr>
          <p:nvPr>
            <p:ph type="title"/>
          </p:nvPr>
        </p:nvSpPr>
        <p:spPr/>
        <p:txBody>
          <a:bodyPr/>
          <a:lstStyle/>
          <a:p>
            <a:r>
              <a:rPr lang="en-US" altLang="zh-CN" sz="2800" dirty="0"/>
              <a:t>Guideline: What Tests Can Help Find Useful Use Cases?</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30</a:t>
            </a:fld>
            <a:endParaRPr lang="zh-CN" altLang="en-US"/>
          </a:p>
        </p:txBody>
      </p:sp>
      <p:pic>
        <p:nvPicPr>
          <p:cNvPr id="6" name="图片 5"/>
          <p:cNvPicPr>
            <a:picLocks noChangeAspect="1"/>
          </p:cNvPicPr>
          <p:nvPr/>
        </p:nvPicPr>
        <p:blipFill>
          <a:blip r:embed="rId3"/>
          <a:stretch>
            <a:fillRect/>
          </a:stretch>
        </p:blipFill>
        <p:spPr>
          <a:xfrm>
            <a:off x="11208211" y="52754"/>
            <a:ext cx="889569" cy="860757"/>
          </a:xfrm>
          <a:prstGeom prst="rect">
            <a:avLst/>
          </a:prstGeom>
        </p:spPr>
      </p:pic>
      <p:sp>
        <p:nvSpPr>
          <p:cNvPr id="7" name="内容占位符 1"/>
          <p:cNvSpPr txBox="1">
            <a:spLocks/>
          </p:cNvSpPr>
          <p:nvPr/>
        </p:nvSpPr>
        <p:spPr bwMode="auto">
          <a:xfrm>
            <a:off x="6407624" y="1362275"/>
            <a:ext cx="5562599" cy="3518463"/>
          </a:xfrm>
          <a:prstGeom prst="rect">
            <a:avLst/>
          </a:prstGeom>
          <a:solidFill>
            <a:srgbClr val="00B050"/>
          </a:solidFill>
          <a:ln>
            <a:noFill/>
          </a:ln>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chemeClr val="tx1"/>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1">
                    <a:lumMod val="60000"/>
                    <a:lumOff val="40000"/>
                  </a:schemeClr>
                </a:solidFill>
              </a:rPr>
              <a:t>Which of these is a valid use case?</a:t>
            </a:r>
          </a:p>
          <a:p>
            <a:pPr lvl="1"/>
            <a:r>
              <a:rPr lang="en-US" altLang="zh-CN" dirty="0"/>
              <a:t>Negotiate a Supplier Contract</a:t>
            </a:r>
          </a:p>
          <a:p>
            <a:pPr lvl="1"/>
            <a:r>
              <a:rPr lang="en-US" altLang="zh-CN" dirty="0"/>
              <a:t>Handle Returns </a:t>
            </a:r>
          </a:p>
          <a:p>
            <a:pPr lvl="1"/>
            <a:r>
              <a:rPr lang="en-US" altLang="zh-CN" dirty="0"/>
              <a:t>Log In</a:t>
            </a:r>
          </a:p>
          <a:p>
            <a:pPr lvl="1"/>
            <a:r>
              <a:rPr lang="en-US" altLang="zh-CN" dirty="0"/>
              <a:t>Move Piece on Game Board</a:t>
            </a:r>
          </a:p>
        </p:txBody>
      </p:sp>
      <p:sp>
        <p:nvSpPr>
          <p:cNvPr id="8" name="矩形 7"/>
          <p:cNvSpPr/>
          <p:nvPr/>
        </p:nvSpPr>
        <p:spPr>
          <a:xfrm>
            <a:off x="6840748" y="2590800"/>
            <a:ext cx="4970252" cy="4572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952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solidFill>
                  <a:schemeClr val="tx1">
                    <a:lumMod val="50000"/>
                  </a:schemeClr>
                </a:solidFill>
              </a:rPr>
              <a:t>Introduction of Use Case via a Brief Use Case Example.</a:t>
            </a:r>
          </a:p>
          <a:p>
            <a:r>
              <a:rPr lang="en-US" altLang="zh-CN" dirty="0">
                <a:solidFill>
                  <a:schemeClr val="tx1">
                    <a:lumMod val="50000"/>
                  </a:schemeClr>
                </a:solidFill>
              </a:rPr>
              <a:t>Key Concepts about the Use Cases. </a:t>
            </a:r>
          </a:p>
          <a:p>
            <a:r>
              <a:rPr lang="en-US" altLang="zh-CN" dirty="0">
                <a:solidFill>
                  <a:schemeClr val="tx1">
                    <a:lumMod val="50000"/>
                  </a:schemeClr>
                </a:solidFill>
              </a:rPr>
              <a:t>Introduce Use Case Specification via a Fully Dressed UC: Process Sale.</a:t>
            </a:r>
          </a:p>
          <a:p>
            <a:r>
              <a:rPr lang="en-US" altLang="zh-CN" dirty="0">
                <a:solidFill>
                  <a:schemeClr val="tx1">
                    <a:lumMod val="50000"/>
                  </a:schemeClr>
                </a:solidFill>
              </a:rPr>
              <a:t>Guidelines about Use Cases. </a:t>
            </a:r>
          </a:p>
          <a:p>
            <a:r>
              <a:rPr lang="en-US" altLang="zh-CN" dirty="0"/>
              <a:t>Use Cases: A Case Study Applying UML Notations. </a:t>
            </a:r>
          </a:p>
          <a:p>
            <a:r>
              <a:rPr lang="en-US" altLang="zh-CN" dirty="0">
                <a:solidFill>
                  <a:schemeClr val="tx1">
                    <a:lumMod val="50000"/>
                  </a:schemeClr>
                </a:solidFill>
              </a:rPr>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31</a:t>
            </a:fld>
            <a:endParaRPr lang="zh-CN" altLang="en-US"/>
          </a:p>
        </p:txBody>
      </p:sp>
      <p:sp>
        <p:nvSpPr>
          <p:cNvPr id="5" name="五角星 4"/>
          <p:cNvSpPr/>
          <p:nvPr/>
        </p:nvSpPr>
        <p:spPr>
          <a:xfrm>
            <a:off x="44831" y="37338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3319456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Use case diagram for CDD Game system.</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32</a:t>
            </a:fld>
            <a:endParaRPr lang="zh-CN" altLang="en-US"/>
          </a:p>
        </p:txBody>
      </p:sp>
      <p:pic>
        <p:nvPicPr>
          <p:cNvPr id="8" name="内容占位符 7"/>
          <p:cNvPicPr>
            <a:picLocks noGrp="1" noChangeAspect="1"/>
          </p:cNvPicPr>
          <p:nvPr>
            <p:ph idx="1"/>
          </p:nvPr>
        </p:nvPicPr>
        <p:blipFill>
          <a:blip r:embed="rId3"/>
          <a:stretch>
            <a:fillRect/>
          </a:stretch>
        </p:blipFill>
        <p:spPr>
          <a:xfrm>
            <a:off x="4114800" y="2209800"/>
            <a:ext cx="6477000" cy="3783532"/>
          </a:xfrm>
          <a:prstGeom prst="rect">
            <a:avLst/>
          </a:prstGeom>
        </p:spPr>
      </p:pic>
      <p:sp>
        <p:nvSpPr>
          <p:cNvPr id="9" name="矩形 8"/>
          <p:cNvSpPr/>
          <p:nvPr/>
        </p:nvSpPr>
        <p:spPr>
          <a:xfrm>
            <a:off x="685800" y="3193940"/>
            <a:ext cx="2438400" cy="1200329"/>
          </a:xfrm>
          <a:prstGeom prst="rect">
            <a:avLst/>
          </a:prstGeom>
        </p:spPr>
        <p:txBody>
          <a:bodyPr wrap="square">
            <a:spAutoFit/>
          </a:bodyPr>
          <a:lstStyle/>
          <a:p>
            <a:r>
              <a:rPr lang="en-US" altLang="zh-CN" b="1" dirty="0"/>
              <a:t>Figure: Use case diagram ("context diagram") for CDD Game system.</a:t>
            </a:r>
            <a:endParaRPr lang="zh-CN" altLang="en-US" dirty="0"/>
          </a:p>
        </p:txBody>
      </p:sp>
    </p:spTree>
    <p:extLst>
      <p:ext uri="{BB962C8B-B14F-4D97-AF65-F5344CB8AC3E}">
        <p14:creationId xmlns:p14="http://schemas.microsoft.com/office/powerpoint/2010/main" val="2651842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1000" y="1066799"/>
            <a:ext cx="11353800" cy="5426075"/>
          </a:xfrm>
        </p:spPr>
        <p:txBody>
          <a:bodyPr/>
          <a:lstStyle/>
          <a:p>
            <a:r>
              <a:rPr lang="en-US" altLang="zh-CN" sz="1800" dirty="0"/>
              <a:t>Scope: CDD Poke Game System</a:t>
            </a:r>
          </a:p>
          <a:p>
            <a:r>
              <a:rPr lang="en-US" altLang="zh-CN" sz="1800" dirty="0"/>
              <a:t>Level: User Goal</a:t>
            </a:r>
          </a:p>
          <a:p>
            <a:r>
              <a:rPr lang="en-US" altLang="zh-CN" sz="1800" dirty="0"/>
              <a:t>Actors: Player</a:t>
            </a:r>
          </a:p>
          <a:p>
            <a:r>
              <a:rPr lang="en-US" altLang="zh-CN" sz="1800" dirty="0"/>
              <a:t>Basic Events Flow</a:t>
            </a:r>
          </a:p>
          <a:p>
            <a:pPr lvl="1"/>
            <a:r>
              <a:rPr lang="en-US" altLang="zh-CN" sz="1400" dirty="0"/>
              <a:t>Start Game</a:t>
            </a:r>
          </a:p>
          <a:p>
            <a:pPr lvl="2"/>
            <a:r>
              <a:rPr lang="en-US" altLang="zh-CN" sz="1400" dirty="0"/>
              <a:t>A player could select 3 robot playmates and start to play the game. Also, a player could enter the game or register himself by giving a nick name, select a nick name, set the background music to initiate the game. </a:t>
            </a:r>
          </a:p>
          <a:p>
            <a:pPr lvl="2"/>
            <a:r>
              <a:rPr lang="en-US" altLang="zh-CN" sz="1400" dirty="0"/>
              <a:t>When a player and the 3 selected robots play the game, each of them is distributed with 13 cards at random.</a:t>
            </a:r>
          </a:p>
          <a:p>
            <a:pPr lvl="1"/>
            <a:r>
              <a:rPr lang="en-US" altLang="zh-CN" sz="1400" dirty="0"/>
              <a:t>Play Game Turn</a:t>
            </a:r>
          </a:p>
          <a:p>
            <a:pPr lvl="2"/>
            <a:r>
              <a:rPr lang="en-US" altLang="zh-CN" sz="1400" dirty="0"/>
              <a:t>When the player takes the turn to show cards, the player selects a group of cards and show it. The group of cards should be validated by the type of card, which is established by the rules of CDD game. </a:t>
            </a:r>
          </a:p>
          <a:p>
            <a:pPr lvl="1"/>
            <a:r>
              <a:rPr lang="en-US" altLang="zh-CN" sz="1400" dirty="0"/>
              <a:t>End Game Turn</a:t>
            </a:r>
          </a:p>
          <a:p>
            <a:pPr lvl="2"/>
            <a:r>
              <a:rPr lang="en-US" altLang="zh-CN" sz="1400" dirty="0"/>
              <a:t>When one of the actors has showed all of the cards on hand, the game is over and the system will calculate the score of each player according to the game rules. </a:t>
            </a:r>
          </a:p>
          <a:p>
            <a:pPr lvl="2"/>
            <a:r>
              <a:rPr lang="en-US" altLang="zh-CN" sz="1400" dirty="0"/>
              <a:t>All of the registered players are ranked with the scores they have won.</a:t>
            </a:r>
          </a:p>
          <a:p>
            <a:pPr lvl="1"/>
            <a:r>
              <a:rPr lang="en-US" altLang="zh-CN" sz="1400" dirty="0"/>
              <a:t>Exit Game</a:t>
            </a:r>
          </a:p>
          <a:p>
            <a:pPr lvl="2"/>
            <a:r>
              <a:rPr lang="en-US" altLang="zh-CN" sz="1400" dirty="0"/>
              <a:t>Players can decide to leave or continue the game.</a:t>
            </a:r>
          </a:p>
          <a:p>
            <a:pPr marL="457200" lvl="1" indent="-457200">
              <a:spcBef>
                <a:spcPts val="1000"/>
              </a:spcBef>
              <a:buFont typeface="Wingdings" panose="05000000000000000000" pitchFamily="2" charset="2"/>
              <a:buChar char="u"/>
            </a:pPr>
            <a:r>
              <a:rPr lang="en-US" altLang="zh-CN" sz="1800" dirty="0">
                <a:solidFill>
                  <a:srgbClr val="E8E88C"/>
                </a:solidFill>
              </a:rPr>
              <a:t>Extensive Events Flow</a:t>
            </a:r>
          </a:p>
          <a:p>
            <a:pPr lvl="1"/>
            <a:r>
              <a:rPr lang="en-US" altLang="zh-CN" sz="1400" dirty="0"/>
              <a:t>Escape from the Game</a:t>
            </a:r>
          </a:p>
          <a:p>
            <a:pPr lvl="2"/>
            <a:r>
              <a:rPr lang="en-US" altLang="zh-CN" sz="1400" dirty="0"/>
              <a:t>If a player leaves the game before the end of the game, he or she would be given penalty. </a:t>
            </a:r>
          </a:p>
          <a:p>
            <a:endParaRPr lang="zh-CN" altLang="en-US" sz="1800" dirty="0"/>
          </a:p>
        </p:txBody>
      </p:sp>
      <p:sp>
        <p:nvSpPr>
          <p:cNvPr id="3" name="标题 2"/>
          <p:cNvSpPr>
            <a:spLocks noGrp="1"/>
          </p:cNvSpPr>
          <p:nvPr>
            <p:ph type="title"/>
          </p:nvPr>
        </p:nvSpPr>
        <p:spPr/>
        <p:txBody>
          <a:bodyPr/>
          <a:lstStyle/>
          <a:p>
            <a:r>
              <a:rPr lang="en-US" altLang="zh-CN" dirty="0"/>
              <a:t>Use Case UC2: Play CDD Game.</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33</a:t>
            </a:fld>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282160594"/>
              </p:ext>
            </p:extLst>
          </p:nvPr>
        </p:nvGraphicFramePr>
        <p:xfrm>
          <a:off x="9982200" y="1220169"/>
          <a:ext cx="1095009" cy="1156151"/>
        </p:xfrm>
        <a:graphic>
          <a:graphicData uri="http://schemas.openxmlformats.org/presentationml/2006/ole">
            <mc:AlternateContent xmlns:mc="http://schemas.openxmlformats.org/markup-compatibility/2006">
              <mc:Choice xmlns:v="urn:schemas-microsoft-com:vml" Requires="v">
                <p:oleObj name="BMP 图像" r:id="rId3" imgW="1876320" imgH="1981080" progId="Paint.Picture">
                  <p:embed/>
                </p:oleObj>
              </mc:Choice>
              <mc:Fallback>
                <p:oleObj name="BMP 图像" r:id="rId3" imgW="1876320" imgH="1981080" progId="Paint.Picture">
                  <p:embed/>
                  <p:pic>
                    <p:nvPicPr>
                      <p:cNvPr id="0" name=""/>
                      <p:cNvPicPr/>
                      <p:nvPr/>
                    </p:nvPicPr>
                    <p:blipFill>
                      <a:blip r:embed="rId4"/>
                      <a:stretch>
                        <a:fillRect/>
                      </a:stretch>
                    </p:blipFill>
                    <p:spPr>
                      <a:xfrm>
                        <a:off x="9982200" y="1220169"/>
                        <a:ext cx="1095009" cy="1156151"/>
                      </a:xfrm>
                      <a:prstGeom prst="rect">
                        <a:avLst/>
                      </a:prstGeom>
                    </p:spPr>
                  </p:pic>
                </p:oleObj>
              </mc:Fallback>
            </mc:AlternateContent>
          </a:graphicData>
        </a:graphic>
      </p:graphicFrame>
    </p:spTree>
    <p:extLst>
      <p:ext uri="{BB962C8B-B14F-4D97-AF65-F5344CB8AC3E}">
        <p14:creationId xmlns:p14="http://schemas.microsoft.com/office/powerpoint/2010/main" val="12635749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Activity Diagram of UC2</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34</a:t>
            </a:fld>
            <a:endParaRPr lang="zh-CN" altLang="en-US"/>
          </a:p>
        </p:txBody>
      </p:sp>
      <p:pic>
        <p:nvPicPr>
          <p:cNvPr id="8" name="内容占位符 7"/>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34151" y="1407037"/>
            <a:ext cx="4547849" cy="4547849"/>
          </a:xfrm>
        </p:spPr>
      </p:pic>
      <p:sp>
        <p:nvSpPr>
          <p:cNvPr id="10" name="弧形 9"/>
          <p:cNvSpPr/>
          <p:nvPr/>
        </p:nvSpPr>
        <p:spPr>
          <a:xfrm rot="6654046">
            <a:off x="3861055" y="1079747"/>
            <a:ext cx="3176174" cy="1966404"/>
          </a:xfrm>
          <a:prstGeom prst="arc">
            <a:avLst>
              <a:gd name="adj1" fmla="val 14177783"/>
              <a:gd name="adj2" fmla="val 52872"/>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7946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rot="5400000">
            <a:off x="42822" y="2315410"/>
            <a:ext cx="3876755" cy="2895600"/>
          </a:xfrm>
        </p:spPr>
      </p:pic>
      <p:sp>
        <p:nvSpPr>
          <p:cNvPr id="3" name="标题 2"/>
          <p:cNvSpPr>
            <a:spLocks noGrp="1"/>
          </p:cNvSpPr>
          <p:nvPr>
            <p:ph type="title"/>
          </p:nvPr>
        </p:nvSpPr>
        <p:spPr/>
        <p:txBody>
          <a:bodyPr/>
          <a:lstStyle/>
          <a:p>
            <a:r>
              <a:rPr lang="en-US" altLang="zh-CN" dirty="0"/>
              <a:t>More Use Case Diagram and Activity Diagram</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35</a:t>
            </a:fld>
            <a:endParaRPr lang="zh-CN" altLang="en-US"/>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67600" y="1861225"/>
            <a:ext cx="4018688" cy="3001613"/>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0" y="1861225"/>
            <a:ext cx="2333507" cy="3124200"/>
          </a:xfrm>
          <a:prstGeom prst="rect">
            <a:avLst/>
          </a:prstGeom>
        </p:spPr>
      </p:pic>
      <p:sp>
        <p:nvSpPr>
          <p:cNvPr id="7" name="文本框 6"/>
          <p:cNvSpPr txBox="1"/>
          <p:nvPr/>
        </p:nvSpPr>
        <p:spPr>
          <a:xfrm>
            <a:off x="1447800" y="5874951"/>
            <a:ext cx="710451" cy="369332"/>
          </a:xfrm>
          <a:prstGeom prst="rect">
            <a:avLst/>
          </a:prstGeom>
          <a:noFill/>
        </p:spPr>
        <p:txBody>
          <a:bodyPr wrap="none" rtlCol="0">
            <a:spAutoFit/>
          </a:bodyPr>
          <a:lstStyle/>
          <a:p>
            <a:r>
              <a:rPr lang="en-US" altLang="zh-CN" dirty="0"/>
              <a:t>UC 1</a:t>
            </a:r>
            <a:endParaRPr lang="zh-CN" altLang="en-US" dirty="0"/>
          </a:p>
        </p:txBody>
      </p:sp>
      <p:sp>
        <p:nvSpPr>
          <p:cNvPr id="8" name="文本框 7"/>
          <p:cNvSpPr txBox="1"/>
          <p:nvPr/>
        </p:nvSpPr>
        <p:spPr>
          <a:xfrm>
            <a:off x="5562600" y="5195181"/>
            <a:ext cx="710451" cy="369332"/>
          </a:xfrm>
          <a:prstGeom prst="rect">
            <a:avLst/>
          </a:prstGeom>
          <a:noFill/>
        </p:spPr>
        <p:txBody>
          <a:bodyPr wrap="none" rtlCol="0">
            <a:spAutoFit/>
          </a:bodyPr>
          <a:lstStyle/>
          <a:p>
            <a:r>
              <a:rPr lang="en-US" altLang="zh-CN" dirty="0"/>
              <a:t>UC 2</a:t>
            </a:r>
            <a:endParaRPr lang="zh-CN" altLang="en-US" dirty="0"/>
          </a:p>
        </p:txBody>
      </p:sp>
      <p:sp>
        <p:nvSpPr>
          <p:cNvPr id="9" name="文本框 8"/>
          <p:cNvSpPr txBox="1"/>
          <p:nvPr/>
        </p:nvSpPr>
        <p:spPr>
          <a:xfrm>
            <a:off x="8406651" y="5072594"/>
            <a:ext cx="2723823" cy="369332"/>
          </a:xfrm>
          <a:prstGeom prst="rect">
            <a:avLst/>
          </a:prstGeom>
          <a:noFill/>
        </p:spPr>
        <p:txBody>
          <a:bodyPr wrap="none" rtlCol="0">
            <a:spAutoFit/>
          </a:bodyPr>
          <a:lstStyle/>
          <a:p>
            <a:r>
              <a:rPr lang="en-US" altLang="zh-CN" dirty="0"/>
              <a:t>UC 2 : “Activity Diagram”</a:t>
            </a:r>
            <a:endParaRPr lang="zh-CN" altLang="en-US" dirty="0"/>
          </a:p>
        </p:txBody>
      </p:sp>
    </p:spTree>
    <p:extLst>
      <p:ext uri="{BB962C8B-B14F-4D97-AF65-F5344CB8AC3E}">
        <p14:creationId xmlns:p14="http://schemas.microsoft.com/office/powerpoint/2010/main" val="24071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37480"/>
            <a:ext cx="10515600" cy="4351337"/>
          </a:xfrm>
        </p:spPr>
        <p:txBody>
          <a:bodyPr/>
          <a:lstStyle/>
          <a:p>
            <a:r>
              <a:rPr lang="en-US" altLang="zh-CN" dirty="0">
                <a:solidFill>
                  <a:schemeClr val="tx1">
                    <a:lumMod val="50000"/>
                  </a:schemeClr>
                </a:solidFill>
              </a:rPr>
              <a:t>Introduction of Use Case via a Brief Use Case Example.</a:t>
            </a:r>
          </a:p>
          <a:p>
            <a:r>
              <a:rPr lang="en-US" altLang="zh-CN" dirty="0">
                <a:solidFill>
                  <a:schemeClr val="tx1">
                    <a:lumMod val="50000"/>
                  </a:schemeClr>
                </a:solidFill>
              </a:rPr>
              <a:t>Key Concepts about the Use Cases. </a:t>
            </a:r>
          </a:p>
          <a:p>
            <a:r>
              <a:rPr lang="en-US" altLang="zh-CN" dirty="0">
                <a:solidFill>
                  <a:schemeClr val="tx1">
                    <a:lumMod val="50000"/>
                  </a:schemeClr>
                </a:solidFill>
              </a:rPr>
              <a:t>Introduce Use Case Specification via a Fully Dressed UC: Process Sale.</a:t>
            </a:r>
          </a:p>
          <a:p>
            <a:r>
              <a:rPr lang="en-US" altLang="zh-CN" dirty="0">
                <a:solidFill>
                  <a:schemeClr val="tx1">
                    <a:lumMod val="50000"/>
                  </a:schemeClr>
                </a:solidFill>
              </a:rPr>
              <a:t>Guidelines about Use Cases. </a:t>
            </a:r>
          </a:p>
          <a:p>
            <a:r>
              <a:rPr lang="en-US" altLang="zh-CN" dirty="0">
                <a:solidFill>
                  <a:schemeClr val="tx1">
                    <a:lumMod val="50000"/>
                  </a:schemeClr>
                </a:solidFill>
              </a:rPr>
              <a:t>Use Cases: A Case Study Applying UML Notations. </a:t>
            </a:r>
          </a:p>
          <a:p>
            <a:r>
              <a:rPr lang="en-US" altLang="zh-CN" dirty="0"/>
              <a:t>Process: Use Cases in Iterative Methods.</a:t>
            </a: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36</a:t>
            </a:fld>
            <a:endParaRPr lang="zh-CN" altLang="en-US"/>
          </a:p>
        </p:txBody>
      </p:sp>
      <p:sp>
        <p:nvSpPr>
          <p:cNvPr id="5" name="五角星 4"/>
          <p:cNvSpPr/>
          <p:nvPr/>
        </p:nvSpPr>
        <p:spPr>
          <a:xfrm>
            <a:off x="73586" y="42672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1987045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400" dirty="0"/>
              <a:t>Use cases are central to the UP and many other iterative methods. The UP encourages use-case driven development. This implies:</a:t>
            </a:r>
          </a:p>
          <a:p>
            <a:pPr lvl="1"/>
            <a:r>
              <a:rPr lang="en-US" altLang="zh-CN" sz="2000" dirty="0"/>
              <a:t>Functional requirements are primarily recorded in use cases (the Use-Case Model); other requirements techniques (such as functions lists) are secondary, if used at all.</a:t>
            </a:r>
          </a:p>
          <a:p>
            <a:pPr lvl="1"/>
            <a:r>
              <a:rPr lang="en-US" altLang="zh-CN" sz="2000" dirty="0"/>
              <a:t>Use cases are an important part of iterative planning. The work of an iteration is in part defined by choosing some use case scenarios, or entire use cases. And use cases are a key input to estimation.</a:t>
            </a:r>
          </a:p>
          <a:p>
            <a:pPr lvl="1"/>
            <a:r>
              <a:rPr lang="en-US" altLang="zh-CN" sz="2000" dirty="0"/>
              <a:t>Use-case realizations drive the design. That is, the team designs collaborating objects and subsystems in order to perform or realize the use cases.</a:t>
            </a:r>
          </a:p>
          <a:p>
            <a:pPr lvl="1"/>
            <a:r>
              <a:rPr lang="en-US" altLang="zh-CN" sz="2000" dirty="0"/>
              <a:t>Use cases often influence the organization of user manuals.</a:t>
            </a:r>
          </a:p>
          <a:p>
            <a:pPr lvl="1"/>
            <a:r>
              <a:rPr lang="en-US" altLang="zh-CN" sz="2000" dirty="0"/>
              <a:t>Functional or system testing corresponds to the scenarios of use cases.</a:t>
            </a:r>
          </a:p>
          <a:p>
            <a:pPr lvl="1"/>
            <a:r>
              <a:rPr lang="en-US" altLang="zh-CN" sz="2000" dirty="0"/>
              <a:t>UI "wizards" or shortcuts may be created for the most common scenarios of important use cases to ease common tasks.</a:t>
            </a:r>
          </a:p>
          <a:p>
            <a:pPr lvl="1"/>
            <a:endParaRPr lang="en-US" altLang="zh-CN" sz="2000" dirty="0"/>
          </a:p>
          <a:p>
            <a:endParaRPr lang="zh-CN" altLang="en-US" dirty="0"/>
          </a:p>
        </p:txBody>
      </p:sp>
      <p:sp>
        <p:nvSpPr>
          <p:cNvPr id="3" name="标题 2"/>
          <p:cNvSpPr>
            <a:spLocks noGrp="1"/>
          </p:cNvSpPr>
          <p:nvPr>
            <p:ph type="title"/>
          </p:nvPr>
        </p:nvSpPr>
        <p:spPr/>
        <p:txBody>
          <a:bodyPr/>
          <a:lstStyle/>
          <a:p>
            <a:r>
              <a:rPr lang="en-US" altLang="zh-CN" sz="2800" dirty="0"/>
              <a:t>Process: How to Work With Use Cases in Iterative Methods?</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37</a:t>
            </a:fld>
            <a:endParaRPr lang="zh-CN" altLang="en-US"/>
          </a:p>
        </p:txBody>
      </p:sp>
    </p:spTree>
    <p:extLst>
      <p:ext uri="{BB962C8B-B14F-4D97-AF65-F5344CB8AC3E}">
        <p14:creationId xmlns:p14="http://schemas.microsoft.com/office/powerpoint/2010/main" val="2513213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3"/>
          <a:stretch>
            <a:fillRect/>
          </a:stretch>
        </p:blipFill>
        <p:spPr>
          <a:xfrm>
            <a:off x="5562600" y="1188087"/>
            <a:ext cx="4289552" cy="5049035"/>
          </a:xfrm>
          <a:prstGeom prst="rect">
            <a:avLst/>
          </a:prstGeom>
        </p:spPr>
      </p:pic>
      <p:sp>
        <p:nvSpPr>
          <p:cNvPr id="3" name="标题 2"/>
          <p:cNvSpPr>
            <a:spLocks noGrp="1"/>
          </p:cNvSpPr>
          <p:nvPr>
            <p:ph type="title"/>
          </p:nvPr>
        </p:nvSpPr>
        <p:spPr/>
        <p:txBody>
          <a:bodyPr/>
          <a:lstStyle/>
          <a:p>
            <a:r>
              <a:rPr lang="en-US" altLang="zh-CN" sz="2400" dirty="0"/>
              <a:t>How to Evolve Use Cases and Other Specifications Across the Iterations?</a:t>
            </a:r>
            <a:endParaRPr lang="zh-CN" altLang="en-US" sz="24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38</a:t>
            </a:fld>
            <a:endParaRPr lang="zh-CN" altLang="en-US"/>
          </a:p>
        </p:txBody>
      </p:sp>
      <p:sp>
        <p:nvSpPr>
          <p:cNvPr id="5" name="矩形 4"/>
          <p:cNvSpPr/>
          <p:nvPr/>
        </p:nvSpPr>
        <p:spPr>
          <a:xfrm>
            <a:off x="898979" y="2597323"/>
            <a:ext cx="4038600" cy="1219200"/>
          </a:xfrm>
          <a:prstGeom prst="rect">
            <a:avLst/>
          </a:prstGeom>
        </p:spPr>
        <p:txBody>
          <a:bodyPr wrap="square">
            <a:spAutoFit/>
          </a:bodyPr>
          <a:lstStyle/>
          <a:p>
            <a:r>
              <a:rPr lang="en-US" altLang="zh-CN" b="1" dirty="0"/>
              <a:t>Table 6.2. </a:t>
            </a:r>
          </a:p>
          <a:p>
            <a:r>
              <a:rPr lang="en-US" altLang="zh-CN" b="1" dirty="0"/>
              <a:t>Sample requirements</a:t>
            </a:r>
          </a:p>
          <a:p>
            <a:r>
              <a:rPr lang="en-US" altLang="zh-CN" b="1" dirty="0"/>
              <a:t>effort across the early iterations; </a:t>
            </a:r>
          </a:p>
          <a:p>
            <a:r>
              <a:rPr lang="en-US" altLang="zh-CN" b="1" dirty="0"/>
              <a:t>this is not a recipe.</a:t>
            </a:r>
            <a:endParaRPr lang="zh-CN" altLang="en-US" dirty="0"/>
          </a:p>
        </p:txBody>
      </p:sp>
      <p:sp>
        <p:nvSpPr>
          <p:cNvPr id="7" name="矩形 6"/>
          <p:cNvSpPr/>
          <p:nvPr/>
        </p:nvSpPr>
        <p:spPr>
          <a:xfrm>
            <a:off x="6842578" y="2707068"/>
            <a:ext cx="548821" cy="4998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488050" y="1746983"/>
            <a:ext cx="616857" cy="6581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7467600" y="1282137"/>
            <a:ext cx="2362200" cy="430916"/>
          </a:xfrm>
          <a:prstGeom prst="round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467600" y="2630412"/>
            <a:ext cx="657758" cy="5765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467600" y="4613549"/>
            <a:ext cx="553515" cy="5334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906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z="3200" dirty="0"/>
              <a:t>Writing Use Case: Who, When, Where and How.</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39</a:t>
            </a:fld>
            <a:endParaRPr lang="zh-CN" altLang="en-US"/>
          </a:p>
        </p:txBody>
      </p:sp>
      <p:pic>
        <p:nvPicPr>
          <p:cNvPr id="5" name="图片 4"/>
          <p:cNvPicPr>
            <a:picLocks noChangeAspect="1"/>
          </p:cNvPicPr>
          <p:nvPr/>
        </p:nvPicPr>
        <p:blipFill>
          <a:blip r:embed="rId3"/>
          <a:stretch>
            <a:fillRect/>
          </a:stretch>
        </p:blipFill>
        <p:spPr>
          <a:xfrm>
            <a:off x="2949119" y="1357283"/>
            <a:ext cx="6291263" cy="5135592"/>
          </a:xfrm>
          <a:prstGeom prst="rect">
            <a:avLst/>
          </a:prstGeom>
        </p:spPr>
      </p:pic>
      <p:sp>
        <p:nvSpPr>
          <p:cNvPr id="6" name="矩形 5"/>
          <p:cNvSpPr/>
          <p:nvPr/>
        </p:nvSpPr>
        <p:spPr>
          <a:xfrm>
            <a:off x="304800" y="3387630"/>
            <a:ext cx="2286000" cy="1200329"/>
          </a:xfrm>
          <a:prstGeom prst="rect">
            <a:avLst/>
          </a:prstGeom>
        </p:spPr>
        <p:txBody>
          <a:bodyPr wrap="square">
            <a:spAutoFit/>
          </a:bodyPr>
          <a:lstStyle/>
          <a:p>
            <a:r>
              <a:rPr lang="en-US" altLang="zh-CN" b="1" dirty="0"/>
              <a:t>Figure 6.7. Process and setting context for writing use cases.</a:t>
            </a:r>
          </a:p>
        </p:txBody>
      </p:sp>
      <p:sp>
        <p:nvSpPr>
          <p:cNvPr id="7" name="矩形 6"/>
          <p:cNvSpPr/>
          <p:nvPr/>
        </p:nvSpPr>
        <p:spPr>
          <a:xfrm>
            <a:off x="4507738" y="1373594"/>
            <a:ext cx="2193181" cy="5765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线形标注 1 7"/>
          <p:cNvSpPr/>
          <p:nvPr/>
        </p:nvSpPr>
        <p:spPr>
          <a:xfrm>
            <a:off x="9829800" y="1937422"/>
            <a:ext cx="1981200" cy="1796377"/>
          </a:xfrm>
          <a:prstGeom prst="borderCallout1">
            <a:avLst>
              <a:gd name="adj1" fmla="val 18750"/>
              <a:gd name="adj2" fmla="val -8333"/>
              <a:gd name="adj3" fmla="val 10"/>
              <a:gd name="adj4" fmla="val -50150"/>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 the UP, use case writing is encouraged in a requirements workshop. </a:t>
            </a:r>
            <a:endParaRPr lang="zh-CN" altLang="en-US" dirty="0"/>
          </a:p>
        </p:txBody>
      </p:sp>
      <p:sp>
        <p:nvSpPr>
          <p:cNvPr id="9" name="矩形 8"/>
          <p:cNvSpPr/>
          <p:nvPr/>
        </p:nvSpPr>
        <p:spPr>
          <a:xfrm>
            <a:off x="6937830" y="1397200"/>
            <a:ext cx="1920501" cy="5765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949119" y="5259282"/>
            <a:ext cx="2689681" cy="10653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047578" y="5116982"/>
            <a:ext cx="3143594" cy="14158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145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7873" y="50570"/>
            <a:ext cx="12375769" cy="1309521"/>
          </a:xfrm>
        </p:spPr>
        <p:txBody>
          <a:bodyPr/>
          <a:lstStyle/>
          <a:p>
            <a:r>
              <a:rPr lang="en-US" altLang="zh-CN" sz="2400" dirty="0"/>
              <a:t>When Should Various UP Artifact (Including Use Cases) be Created?</a:t>
            </a:r>
            <a:br>
              <a:rPr lang="en-US" altLang="zh-CN" sz="2400" dirty="0"/>
            </a:br>
            <a:endParaRPr lang="zh-CN" altLang="en-US" sz="24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40</a:t>
            </a:fld>
            <a:endParaRPr lang="zh-CN" altLang="en-US"/>
          </a:p>
        </p:txBody>
      </p:sp>
      <p:pic>
        <p:nvPicPr>
          <p:cNvPr id="5" name="图片 4"/>
          <p:cNvPicPr>
            <a:picLocks noChangeAspect="1"/>
          </p:cNvPicPr>
          <p:nvPr/>
        </p:nvPicPr>
        <p:blipFill>
          <a:blip r:embed="rId3"/>
          <a:stretch>
            <a:fillRect/>
          </a:stretch>
        </p:blipFill>
        <p:spPr>
          <a:xfrm>
            <a:off x="4724400" y="2057400"/>
            <a:ext cx="6549538" cy="3040857"/>
          </a:xfrm>
          <a:prstGeom prst="rect">
            <a:avLst/>
          </a:prstGeom>
        </p:spPr>
      </p:pic>
      <p:sp>
        <p:nvSpPr>
          <p:cNvPr id="6" name="矩形 5"/>
          <p:cNvSpPr/>
          <p:nvPr/>
        </p:nvSpPr>
        <p:spPr>
          <a:xfrm>
            <a:off x="762000" y="3124200"/>
            <a:ext cx="3505200" cy="646331"/>
          </a:xfrm>
          <a:prstGeom prst="rect">
            <a:avLst/>
          </a:prstGeom>
        </p:spPr>
        <p:txBody>
          <a:bodyPr wrap="square">
            <a:spAutoFit/>
          </a:bodyPr>
          <a:lstStyle/>
          <a:p>
            <a:r>
              <a:rPr lang="en-US" altLang="zh-CN" b="1" dirty="0"/>
              <a:t>Table 6.2. Sample UP artifacts and timing. s - start; r - refine</a:t>
            </a:r>
          </a:p>
        </p:txBody>
      </p:sp>
      <p:sp>
        <p:nvSpPr>
          <p:cNvPr id="7" name="矩形 6"/>
          <p:cNvSpPr/>
          <p:nvPr/>
        </p:nvSpPr>
        <p:spPr>
          <a:xfrm>
            <a:off x="6080760" y="2895600"/>
            <a:ext cx="3749040" cy="4356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80760" y="3552721"/>
            <a:ext cx="3749040" cy="4356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1227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3581400" y="1981198"/>
            <a:ext cx="7254445" cy="3355181"/>
          </a:xfrm>
          <a:prstGeom prst="rect">
            <a:avLst/>
          </a:prstGeom>
        </p:spPr>
      </p:pic>
      <p:sp>
        <p:nvSpPr>
          <p:cNvPr id="3" name="标题 2"/>
          <p:cNvSpPr>
            <a:spLocks noGrp="1"/>
          </p:cNvSpPr>
          <p:nvPr>
            <p:ph type="title"/>
          </p:nvPr>
        </p:nvSpPr>
        <p:spPr/>
        <p:txBody>
          <a:bodyPr/>
          <a:lstStyle/>
          <a:p>
            <a:r>
              <a:rPr lang="en-US" altLang="zh-CN" sz="3200" dirty="0"/>
              <a:t>Case Study: Use Cases in the POS Inception Phase.</a:t>
            </a:r>
            <a:endParaRPr lang="zh-CN" altLang="en-US"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41</a:t>
            </a:fld>
            <a:endParaRPr lang="zh-CN" altLang="en-US"/>
          </a:p>
        </p:txBody>
      </p:sp>
      <p:sp>
        <p:nvSpPr>
          <p:cNvPr id="7" name="矩形 6"/>
          <p:cNvSpPr/>
          <p:nvPr/>
        </p:nvSpPr>
        <p:spPr>
          <a:xfrm>
            <a:off x="457200" y="1981198"/>
            <a:ext cx="2362200" cy="2862322"/>
          </a:xfrm>
          <a:prstGeom prst="rect">
            <a:avLst/>
          </a:prstGeom>
        </p:spPr>
        <p:txBody>
          <a:bodyPr wrap="square">
            <a:spAutoFit/>
          </a:bodyPr>
          <a:lstStyle/>
          <a:p>
            <a:r>
              <a:rPr lang="en-US" altLang="zh-CN" dirty="0"/>
              <a:t>As described in the previous sections, not all use cases are written in their fully dressed form during inception. The Use-Case Model at this phase of the case study could be detailed as follows:</a:t>
            </a:r>
          </a:p>
        </p:txBody>
      </p:sp>
    </p:spTree>
    <p:extLst>
      <p:ext uri="{BB962C8B-B14F-4D97-AF65-F5344CB8AC3E}">
        <p14:creationId xmlns:p14="http://schemas.microsoft.com/office/powerpoint/2010/main" val="27612555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99418" y="4043989"/>
            <a:ext cx="3733800" cy="274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1"/>
          <p:cNvSpPr>
            <a:spLocks noGrp="1"/>
          </p:cNvSpPr>
          <p:nvPr>
            <p:ph idx="1"/>
          </p:nvPr>
        </p:nvSpPr>
        <p:spPr>
          <a:xfrm>
            <a:off x="228600" y="1330242"/>
            <a:ext cx="11811000" cy="4079958"/>
          </a:xfrm>
        </p:spPr>
        <p:txBody>
          <a:bodyPr/>
          <a:lstStyle/>
          <a:p>
            <a:r>
              <a:rPr lang="en-US" altLang="zh-CN" dirty="0"/>
              <a:t>What are Actors, Scenarios, Use Cases and Use-Case Model? </a:t>
            </a:r>
          </a:p>
          <a:p>
            <a:r>
              <a:rPr lang="en-US" altLang="zh-CN" dirty="0"/>
              <a:t>How to Find Use Cases? Please List the 4 Steps to Identify Use Case.</a:t>
            </a:r>
          </a:p>
          <a:p>
            <a:r>
              <a:rPr lang="en-US" altLang="zh-CN" dirty="0"/>
              <a:t>Please list the 3 Common Use Case Formats.</a:t>
            </a:r>
          </a:p>
          <a:p>
            <a:r>
              <a:rPr lang="en-US" altLang="zh-CN" dirty="0"/>
              <a:t>What Tests Can Help Find Useful Use Cases?</a:t>
            </a:r>
          </a:p>
          <a:p>
            <a:r>
              <a:rPr lang="en-US" altLang="zh-CN" dirty="0"/>
              <a:t>What are the Sections of Format Template for a Detailed Use Case? </a:t>
            </a:r>
          </a:p>
          <a:p>
            <a:r>
              <a:rPr lang="en-US" altLang="zh-CN" dirty="0"/>
              <a:t>What do the Sections of Use Case Template Mean?</a:t>
            </a:r>
          </a:p>
          <a:p>
            <a:r>
              <a:rPr lang="en-US" altLang="zh-CN" dirty="0"/>
              <a:t>Present 2 Use Case Examples to answer these questions.</a:t>
            </a:r>
          </a:p>
          <a:p>
            <a:endParaRPr lang="en-US" altLang="zh-CN" dirty="0"/>
          </a:p>
        </p:txBody>
      </p:sp>
      <p:sp>
        <p:nvSpPr>
          <p:cNvPr id="3" name="标题 2"/>
          <p:cNvSpPr>
            <a:spLocks noGrp="1"/>
          </p:cNvSpPr>
          <p:nvPr>
            <p:ph type="title"/>
          </p:nvPr>
        </p:nvSpPr>
        <p:spPr/>
        <p:txBody>
          <a:bodyPr/>
          <a:lstStyle/>
          <a:p>
            <a:r>
              <a:rPr lang="en-US" altLang="zh-CN" sz="3200" dirty="0"/>
              <a:t>Review : Use Case</a:t>
            </a:r>
            <a:endParaRPr lang="zh-CN" altLang="zh-CN"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42</a:t>
            </a:fld>
            <a:endParaRPr lang="zh-CN" altLang="en-US"/>
          </a:p>
        </p:txBody>
      </p:sp>
    </p:spTree>
    <p:extLst>
      <p:ext uri="{BB962C8B-B14F-4D97-AF65-F5344CB8AC3E}">
        <p14:creationId xmlns:p14="http://schemas.microsoft.com/office/powerpoint/2010/main" val="3455768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4800" y="1342595"/>
            <a:ext cx="10515600" cy="4351338"/>
          </a:xfrm>
        </p:spPr>
        <p:txBody>
          <a:bodyPr/>
          <a:lstStyle/>
          <a:p>
            <a:r>
              <a:rPr lang="en-US" altLang="zh-CN" dirty="0"/>
              <a:t>Use cases are not just another requirements artifact, but are the central vehicle that drives requirements work, Why?</a:t>
            </a:r>
          </a:p>
          <a:p>
            <a:r>
              <a:rPr lang="en-US" altLang="zh-CN" dirty="0"/>
              <a:t>From the viewpoint of just the POS system, is the Cashier or Customer the Primary Actor?</a:t>
            </a:r>
          </a:p>
          <a:p>
            <a:r>
              <a:rPr lang="en-US" altLang="zh-CN" dirty="0"/>
              <a:t>Please present the UC: Play CDD Game in a Fully Dressed Style.</a:t>
            </a:r>
            <a:endParaRPr lang="zh-CN" altLang="en-US" dirty="0"/>
          </a:p>
          <a:p>
            <a:endParaRPr lang="en-US" altLang="zh-CN" dirty="0"/>
          </a:p>
        </p:txBody>
      </p:sp>
      <p:sp>
        <p:nvSpPr>
          <p:cNvPr id="3" name="标题 2"/>
          <p:cNvSpPr>
            <a:spLocks noGrp="1"/>
          </p:cNvSpPr>
          <p:nvPr>
            <p:ph type="title"/>
          </p:nvPr>
        </p:nvSpPr>
        <p:spPr/>
        <p:txBody>
          <a:bodyPr/>
          <a:lstStyle/>
          <a:p>
            <a:r>
              <a:rPr lang="en-US" altLang="zh-CN" dirty="0"/>
              <a:t>Special Topics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43</a:t>
            </a:fld>
            <a:endParaRPr lang="zh-CN" altLang="en-US"/>
          </a:p>
        </p:txBody>
      </p:sp>
    </p:spTree>
    <p:extLst>
      <p:ext uri="{BB962C8B-B14F-4D97-AF65-F5344CB8AC3E}">
        <p14:creationId xmlns:p14="http://schemas.microsoft.com/office/powerpoint/2010/main" val="694428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CUSTOMXMLID" val="{1BA977A9-C848-4B99-853C-D423CC37C4DC}"/>
  <p:tag name="ATHENA.CUSTOMXMLCONTENT" val="&lt;?xml version=&quot;1.0&quot;?&gt;&lt;athena xmlns=&quot;http://schemas.microsoft.com/edu/athena&quot; version=&quot;0.1.3885.0&quot;&gt;&lt;timings duration=&quot;1799&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BADBF95C-E216-48C4-85AB-263444C3FC94}"/>
  <p:tag name="ATHENA.CUSTOMXMLCONTENT" val="&lt;?xml version=&quot;1.0&quot;?&gt;&lt;athena xmlns=&quot;http://schemas.microsoft.com/edu/athena&quot; version=&quot;0.1.3885.0&quot;&gt;&lt;timings duration=&quot;1533&quot;/&gt;&lt;/athena&gt;"/>
</p:tagLst>
</file>

<file path=ppt/theme/theme1.xml><?xml version="1.0" encoding="utf-8"?>
<a:theme xmlns:a="http://schemas.openxmlformats.org/drawingml/2006/main" name="MOOC1">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自定义 1">
      <a:majorFont>
        <a:latin typeface="Microsoft JhengHei Light"/>
        <a:ea typeface="宋体"/>
        <a:cs typeface=""/>
      </a:majorFont>
      <a:minorFont>
        <a:latin typeface="Microsoft JhengHei Light"/>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3" id="{47F42896-E946-4BA2-AE8A-BB0F9E22AB7F}" vid="{41889D29-1765-4963-89B1-6E31CFD5ACF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athena xmlns="http://schemas.microsoft.com/edu/athena" version="0.1.3885.0">
  <ink scale="0.5600933">AAEAAAD/////AQAAAAAAAAAMAgAAAE9BdXRob3JQUFQsIFZlcnNpb249MC4xLjM4ODUuMCwgQ3VsdHVyZT1uZXV0cmFsLCBQdWJsaWNLZXlUb2tlbj0zMWJmMzg1NmFkMzY0ZTM1BQEAAAALSW5rTWF0dGVyVjEDAAAADUxpc3RgMStfaXRlbXMMTGlzdGAxK19zaXplD0xpc3RgMStfdmVyc2lvbgQAABdTaGFyZWQuSW5raW5nLklua0F0b21bXQIAAAAICAIAAAAJAwAAAAUAAAAZAAAABwMAAAAAAQAAAAgAAAAECUlua0F0b21WMQIAAAAJBAAAAAkFAAAACQYAAAAJBwAAAAkIAAAADQMFBAAAAAtQZW5TdHJva2VWMQQAAAAKQXR0cmlidXRlcwVUcmFjZQlTdGFydFRpbWUEVHlwZQQEAAQPUGVuQXR0cmlidXRlc1YxAgAAAApJbmtUcmFjZVYxAgAAABAMQWN0aW9uVHlwZVYxAgAAAAIAAAAJCQAAAAkKAAAAnPYBAAAAAAAF9f///wxBY3Rpb25UeXBlVjEBAAAAB3ZhbHVlX18ACAIAAAAAAAAAAQUAAAAEAAAACQwAAAAJDQAAABn9AQAAAAAAAfL////1////AAAAAAEGAAAABAAAAAkPAAAACRAAAAAbAwIAAAAAAAHv////9f///wAAAAABBwAAAAQAAAAJEgAAAAkTAAAA0q8CAAAAAAAB7P////X///8AAAAABQgAAAANQ2xlYXJDYW52YXNWMQIAAAAJU3RhcnRUaW1lBFR5cGUABBAMQWN0aW9uVHlwZVYxAgAAAAIAAADMUQQAAAAAAAHr////9f///wAAAAAFCQAAAA9QZW5BdHRyaWJ1dGVzVjEKAAAAB19jb2xvckEHX2NvbG9yUgdfY29sb3JHB19jb2xvckIKRml0VG9DdXJ2ZQZIZWlnaHQOSWdub3JlUHJlc3N1cmUNSXNIaWdobGlnaHRlcgVTaGFwZQVXaWR0aAAAAAAAAAAABAACAgICAQYBAQxCcnVzaFNoYXBlVjECAAAABgIAAAD//wAAAAAAAAAAAAhAAAAF6v///wxCcnVzaFNoYXBlVjEBAAAAB3ZhbHVlX18ACAIAAAABAAAAAAAAAAAACEAFCgAAAApJbmtUcmFjZVYxAwAAAA1MaXN0YDErX2l0ZW1zDExpc3RgMStfc2l6ZQ9MaXN0YDErX3ZlcnNpb24EAAAYU2hhcmVkLklua2luZy5JbmtQb2ludFtdAgAAAAgIAgAAAAkXAAAAYAAAAGAAAAABDAAAAAkAAAD//wAAAAAAAAAAAAhAAAAB6P///+r///8BAAAAAAAAAAAACEABDQAAAAoAAAAJGQAAAEcAAABHAAAAAQ8AAAAJAAAA//8AAAAAAAAAAAAIQAAAAeb////q////AQAAAAAAAAAAAAhAARAAAAAKAAAACRsAAAApAAAAKQAAAAESAAAACQAAAP//AAAAAAAAAAAACEAAAAHk////6v///wEAAAAAAAAAAAAIQAETAAAACgAAAAkdAAAAOwAAADsAAAAHFwAAAAABAAAAgAAAAAQKSW5rUG9pbnRWMQI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NIAcZAAAAAAEAAACAAAAABApJbmtQb2ludFYxAgAAAAl+AAAACX8AAAAJgAAAAAmB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NOQcbAAAAAAEAAABAAAAABApJbmtQb2ludFYxAgAAAAnFAAAACcYAAAAJxwAAAAnIAAAACckAAAAJygAAAAnLAAAACcwAAAAJzQAAAAnOAAAACc8AAAAJ0AAAAAnRAAAACdIAAAAJ0wAAAAnUAAAACdUAAAAJ1gAAAAnXAAAACdgAAAAJ2QAAAAnaAAAACdsAAAAJ3AAAAAndAAAACd4AAAAJ3wAAAAngAAAACeEAAAAJ4gAAAAnjAAAACeQAAAAJ5QAAAAnmAAAACecAAAAJ6AAAAAnpAAAACeoAAAAJ6wAAAAnsAAAACe0AAAANFwcdAAAAAAEAAABAAAAABApJbmtQb2ludFYxAgAAAAnuAAAACe8AAAAJ8AAAAAnxAAAACfIAAAAJ8wAAAAn0AAAACfUAAAAJ9gAAAAn3AAAACfgAAAAJ+QAAAAn6AAAACfsAAAAJ/AAAAAn9AAAACf4AAAAJ/wAAAAkAAQAACQEBAAAJAgEAAAkDAQAACQQBAAAJBQEAAAkGAQAACQcBAAAJCAEAAAkJAQAACQoBAAAJCwEAAAkMAQAACQ0BAAAJDgEAAAkPAQAACRABAAAJEQEAAAkSAQAACRMBAAAJFAEAAAkVAQAACRYBAAAJFwEAAAkYAQAACRkBAAAJGgEAAAkbAQAACRwBAAAJHQEAAAkeAQAACR8BAAAJIAEAAAkhAQAACSIBAAAJIwEAAAkkAQAACSUBAAAJJgEAAAknAQAACSgBAAANBQUeAAAACklua1BvaW50VjEEAAAAAVgBWQ5QcmVzc3VyZUZhY3RvcglUaW1lU3RhbXAAAAAABgYLEAIAAABAljnCBS2aP+B9a2R1GdY/AAAAPwAAAAAAAAAAAR8AAAAeAAAAgP4KsxpFnD+8sZkGzlXWPwAAAD8AAAAAAAAAAAEgAAAAHgAAAIBm3KMvXZ4/qsuwV/pz1j8AAAA/AAAAAAAAAAABIQAAAB4AAACgTyg7t1KiP5jlx6gmktY/AAAAPw8AAAAAAAAAASIAAAAeAAAAwAORs8Feoz+G/975UrDWPwAAAD8PAAAAAAAAAAEjAAAAHgAAAOAfyxzhgqY/YjMNnKvs1j8AAAA/HwAAAAAAAAABJAAAAB4AAABgpNZ2Fb+rPz5nOz4EKdc/AAAAPx8AAAAAAAAAASUAAAAeAAAAcBRx6KR9sD8sgVKPMEfXPwAAAD8vAAAAAAAAAAEmAAAAHgAAALAwq1HEobM/CrWAMYmD1z8AAAA/LwAAAAAAAAABJwAAAB4AAAAATeW648W2P9QCxiQO3tc/AAAAPz4AAAAAAAAAASgAAAAeAAAAMA/r5/1juT/CHN11OvzXPwAAAD8+AAAAAAAAAAEpAAAAHgAAAJCT9kEyoL4/nlALGJM42D8AAAA/XQAAAAAAAAABKgAAAB4AAADwV5jVKOLAP55QCxiTONg/AAAAP10AAAAAAAAAASsAAAAeAAAAGJNPKDu3wj+eUAsYkzjYPwAAAD9dAAAAAAAAAAEsAAAAHgAAAGCCb/NXmMU/nlALGJM42D8AAAA/fQAAAAAAAAABLQAAAB4AAAB4NthrYqTGP55QCxiTONg/AAAAP30AAAAAAAAAAS4AAAAeAAAAoHGPvnR5yD+eUAsYkzjYPwAAAD99AAAAAAAAAAEvAAAAHgAAAPDn/WOZI8w/nlALGJM42D8AAAA/jAAAAAAAAAABMAAAAB4AAAAQUM9UrjvOP55QCxiTONg/AAAAP5wAAAAAAAAAATEAAAAeAAAApEXDU2AI0D+eUAsYkzjYPwAAAD+rAAAAAAAAAAEyAAAAHgAAALj5K8xqFNE/nlALGJM42D8AAAA/qwAAAAAAAAABMwAAAB4AAABMl4f18/7RP7A29MZmGtg/AAAAP7sAAAAAAAAAATQAAAAeAAAAbHgKDAFO0z/m6K7T4b/XPwAAAD+7AAAAAAAAAAE1AAAAHgAAABTKzq2URNU/UE0k7dcK1z8AAAA/ywAAAAAAAAABNgAAAB4AAAAY9+hLl4fVP3QZ9kp/ztY/AAAAP8sAAAAAAAAAATcAAAAeAAAAKFEdiJwN1j+Y5ceoJpLWPwAAAD/aAAAAAAAAAAE4AAAAHgAAAChRHYicDdY/qsuwV/pz1j8AAAA/2gAAAAAAAAABOQAAAB4AAAAwfjcmn1DWP+B9a2R1GdY/AAAAP+oAAAAAAAAAAToAAAAeAAAAMH43Jp9Q1j8WMCZx8L7VPwAAAD/5AAAAAAAAAAE7AAAAHgAAADB+NyafUNY/XsjJLD9G1T8AAAA/+QAAAAAAAAABPAAAAB4AAAAwfjcmn1DWP5R6hDm669Q/AAAAP/kAAAAAAAAAAT0AAAAeAAAAMH43Jp9Q1j+4RlaXYa/UPwAAAD8JAQAAAAAAAAE+AAAAHgAAADB+NyafUNY/7vgQpNxU1D8AAAA/GQEAAAAAAAABPwAAAB4AAAAwfjcmn1DWPySry7BX+tM/AAAAPxkBAAAAAAAAAUAAAAAeAAAAMH43Jp9Q1j9qQ29spoHTPwAAAD8oAQAAAAAAAAFBAAAAHgAAADB+NyafUNY/oPUpeSEn0z8AAAA/KAEAAAAAAAABQgAAAB4AAACoZyrXHS/WP9an5IWczNI/AAAAPzgBAAAAAAAAAUMAAAAeAAAAoDoQORvs1T8MWp+SF3LSPwAAAD84AQAAAAAAAAFEAAAAHgAAAJgN9poYqdU/MCZx8L410j8AAAA/RwEAAAAAAAABRQAAAB4AAAAMnbQPkgHVP3a+FKwNvdE/AAAAP0cBAAAAAAAAAUYAAAAeAAAAiFmNIg6d1D++VrhnXETRPwAAAD9XAQAAAAAAAAFHAAAAHgAAAHTSPkgG1NM/Bu9bI6vL0D8AAAA/VwEAAAAAAAABSAAAAB4AAABseAoMAU7TPyq7LYFSj9A/AAAAP2cBAAAAAAAAAUkAAAAeAAAAWPG7MfmE0j9ibeiNzTTQPwAAAD92AQAAAAAAAAFKAAAAHgAAAERqbVfxu9E/CHN01+nwzz8AAAA/dgEAAAAAAAABSwAAAB4AAAA44x596fLQP1ALGJM4eM8/AAAAP3YBAAAAAAAAAUwAAAAeAAAApEXDU2AI0D+8b42sLsPOPwAAAD+GAQAAAAAAAAFNAAAAHgAAACB96fKwfs4/KNQCxiQOzj8AAAA/lQEAAAAAAAABTgAAAB4AAADw5/1jmSPMP3BspoFzlc0/AAAAP5UBAAAAAAAAAU8AAAAeAAAAyKxGEYdOyj/c0BubaeDMPwAAAD+VAQAAAAAAAAFQAAAAHgAAAJDqQORssMc/RDWRtF8rzD8AAAA/pQEAAAAAAAABUQAAAB4AAABo3KMvXR7GP2gBYxIH78s/AAAAP7UBAAAAAAAAAVIAAAAeAAAAOHTSPkgGxD/UZdgr/TnLPwAAAD+1AQAAAAAAAAFTAAAAHgAAABhmNYo4dMI/+DGqiaT9yj8AAAA/tQEAAAAAAAABVAAAAB4AAADo/WOZI1zAP0DKTUXzhMo/AAAAP8QBAAAAAAAAAVUAAAAeAAAAoN+NySeUvT9Ayk1F84TKPwAAAD/EAQAAAAAAAAFWAAAAHgAAAGB3vNgSfLs/QMpNRfOEyj8AAAA/1AEAAAAAAAABVwAAAB4AAAAQW4Jv81e4P0DKTUXzhMo/AAAAP+MBAAAAAAAAAVgAAAAeAAAAAE3luuPFtj9Ayk1F84TKPwAAAD/jAQAAAAAAAAFZAAAAHgAAAMDkE8rOrbQ/QMpNRfOEyj8AAAA/4wEAAAAAAAABWgAAAB4AAACw1nYVvxuzP0DKTUXzhMo/AAAAP/MBAAAAAAAAAVsAAAAeAAAAkCIOnbQPsj9Ayk1F84TKPwAAAD/zAQAAAAAAAAFcAAAAHgAAAHAUceikfbA/QMpNRfOEyj8AAAA/AwIAAAAAAAABXQAAAB4AAACgDKhnKtetPxz+e+dLwco/AAAAPwMCAAAAAAAAAV4AAAAeAAAAIIicDfaaqD+wmQbOVXbLPwAAAD8SAgAAAAAAAAFfAAAAHgAAAOAfyxzhgqY/jM00cK6yyz8AAAA/IgIAAAAAAAABYAAAAB4AAADAA5GzwV6jPyBpv1a4Z8w/AAAAPyICAAAAAAAAAWEAAAAeAAAAoE8oO7dSoj/8nO34EKTMPwAAAD8iAgAAAAAAAAFiAAAAHgAAAICbv8KsRqE/lDh43xpZzT8AAAA/MQIAAAAAAAABYwAAAB4AAACAZtyjL12eP0yg1CPM0c0/AAAAP0ECAAAAAAAAAWQAAAAeAAAAgP4KsxpFnD8ECDFofUrOPwAAAD9BAgAAAAAAAAFlAAAAHgAAAEAuaNHwFJg/mKO7Tof/zj8AAAA/QQIAAAAAAAABZgAAAB4AAABALmjR8BSYP3TX6fDfO88/AAAAP2ACAAAAAAAAAWcAAAAeAAAAAMaW4Nv8lT8sP0Y1kbTPPwAAAD9gAgAAAAAAAAFoAAAAHgAAAADGluDb/JU/CHN01+nwzz8AAAA/YAIAAAAAAAABaQAAAB4AAAAAxpbg2/yVPyq7LYFSj9A/AAAAP3ACAAAAAAAAAWoAAAAeAAAAAMaW4Nv8lT/0CHN01+nQPwAAAD9/AgAAAAAAAAFrAAAAHgAAAADGluDb/JU/vla4Z1xE0T8AAAA/fwIAAAAAAAABbAAAAB4AAAAAxpbg2/yVP4ik/VrhntE/AAAAP48CAAAAAAAAAW0AAAAeAAAAAMaW4Nv8lT9k2Cv9OdvRPwAAAD+PAgAAAAAAAAFuAAAAHgAAAADGluDb/JU/HkCIQetT0j8AAAA/nwIAAAAAAAABbwAAAB4AAAAAxpbg2/yVP9an5IWczNI/AAAAP58CAAAAAAAAAXAAAAAeAAAAQJY5wgUtmj+OD0HKTUXTPwAAAD+uAgAAAAAAAAFxAAAAHgAAAGDnVkqiOqA/NpG0Xyvc0z8AAAA/rgIAAAAAAAABcgAAAB4AAACAm7/CrEahPxLF4gGEGNQ/AAAAP7kCAAAAAAAAAXMAAAAeAAAAoE8oO7dSoj8A3/lSsDbUPwAAAD+5AgAAAAAAAAF0AAAAHgAAAKBPKDu3UqI/yiw/RjWR1D8AAAA/yAIAAAAAAAABdQAAAB4AAADgt/krzGqkP7hGVpdhr9Q/AAAAP9gCAAAAAAAAAXYAAAAeAAAA4Lf5K8xqpD+mYG3ojc3UPwAAAD/YAgAAAAAAAAF3AAAAHgAAAOAfyxzhgqY/gpSbiuYJ1T8AAAA/9wIAAAAAAAABeAAAAB4AAAAgiJwN9pqoP17IySw/RtU/AAAAP/cCAAAAAAAAAXkAAAAeAAAAYKTWdhW/qz9M4uB9a2TVPwAAAD/3AgAAAAAAAAF6AAAAHgAAAKDAEOA0464/Ovz3zpeC1T8AAAA/FgMAAAAAAAABewAAAB4AAABwFHHopH2wPygWDyDEoNU/AAAAPxYDAAAAAAAAAXwAAAAeAAAAkCIOnbQPsj8WMCZx8L7VPwAAAD8WAwAAAAAAAAF9AAAAHgAAAKB8Qtm5lbI/BEo9whzd1T8AAAA/NgMAAAAAAAABfgAAAB4AAACQZY5wQYvmP/hrhXvGRaQ/AAAAPwAAAAAAAAAAAX8AAAAeAAAAzMP6ef9Y5j/4a4V7xkWkPwAAAD8QAAAAAAAAAAGAAAAAHgAAAEit7Sp+N+Y/2Ar3jIsopj8AAAA/EAAAAAAAAAABgQAAAB4AAADEluDb/BXmPwgYkzh436o/AAAAPxAAAAAAAAAAAYIAAAAeAAAARIDTjHv05T/otgRKPcKsPwAAAD8gAAAAAAAAAAGDAAAAHgAAAMBpxj360uU/OCUv5GSWrz8AAAA/IAAAAAAAAAABhAAAAB4AAACA3j+WOcLlP8jJLD9GNbE/AAAAPy8AAAAAAAAAAYUAAAAeAAAAPFO57nix5T+oaJ5QCxizPwAAAD8vAAAAAAAAAAGGAAAAHgAAAPzHMke4oOU/0J+zHR+CtD8AAAA/PwAAAAAAAAABhwAAAB4AAAD8xzJHuKDlP/jWyOoy7LU/AAAAP04AAAAAAAAAAYgAAAAeAAAA/McyR7ig5T+0PiUv5GS2PwAAAD9OAAAAAAAAAAGJAAAAHgAAAPzHMke4oOU/3HU6/PfOtz8AAAA/TgAAAAAAAAABigAAAB4AAADAacY9+tLlP3R8CFJuKro/AAAAP2wAAAAAAAAAAYsAAAAeAAAAhAtaNDwF5j8Mg9an5IW8PwAAAD9sAAAAAAAAAAGMAAAAHgAAAEit7Sp+N+Y/9CFIualovj8AAAA/ewAAAAAAAAABjQAAAB4AAACcv8KsRhHnPyBIualonsA/AAAAP4sAAAAAAAAAAY4AAAAeAAAAJAPqmcp15z+040OQclPBPwAAAD+LAAAAAAAAAAGPAAAAHgAAAGi7it+Nyec/bEug1CPMwT8AAAA/iwAAAAAAAAABkAAAAB4AAAB4Fb8bk0/oPwTnKrstgcI/AAAAP5oAAAAAAAAAAZEAAAAeAAAAQORssNfE6D/gGlldhr3CPwAAAD+qAAAAAAAAAAGSAAAAHgAAAEw+oezcSuk/mIK1oTc2wz8AAAA/qgAAAAAAAAABkwAAAB4AAABYmNUo4tDpP1DqEeborsM/AAAAP7oAAAAAAAAAAZQAAAAeAAAAnFB2bqUk6j8IUm4qmifEPwAAAD+6AAAAAAAAAAGVAAAAHgAAADDBt/krzOo/CFJuKponxD8AAAA/yQAAAAAAAAABlgAAAB4AAAA4G+w1MVLrPwhSbiqaJ8Q/AAAAP8kAAAAAAAAAAZcAAAAeAAAARHUgcjbY6z8IUm4qmifEPwAAAD/ZAAAAAAAAAAGYAAAAHgAAAJRa21X8buw/CFJuKponxD8AAAA/2QAAAAAAAAABmQAAAB4AAABcKYnqQOTsPwhSbiqaJ8Q/AAAAP+gAAAAAAAAAAZoAAAAeAAAApOEpMAQ47T8IUm4qmifEPwAAAD/oAAAAAAAAAAGbAAAAHgAAAKgORM4Ge+0/LB5AiEHrwz8AAAA/+AAAAAAAAAABnAAAAB4AAABssNfESK3tP3S240OQcsM/AAAAP/gAAAAAAAAAAZ0AAAAeAAAAMFJru4rf7T8E5yq7LYHCPwAAAD8IAQAAAAAAAAGeAAAAHgAAALRoeAoMAe4/SH/OdnwIwj8AAAA/FwEAAAAAAAABnwAAAB4AAAC0aHgKDAHuP2xLoNQjzME/AAAAPxcBAAAAAAAAAaAAAAAeAAAAOH+FWY0i7j8gSLmpaJ7APwAAAD82AQAAAAAAAAGhAAAAHgAAAHgKDAFOM+4/auBcZbclwD8AAAA/NgEAAAAAAAABogAAAB4AAAD4IBlQz1TuP/QhSLmpaL4/AAAAPzYBAAAAAAAAAaMAAAAeAAAA+CAZUM9U7j9UG3pjMw28PwAAAD9WAQAAAAAAAAGkAAAAHgAAAPggGVDPVO4/LORklh+juj8AAAA/VgEAAAAAAAABpQAAAB4AAAD4IBlQz1TuPwStT8kLObk/AAAAP1YBAAAAAAAAAaYAAAAeAAAA+CAZUM9U7j+IBxBi0Pq0PwAAAD91AQAAAAAAAAGnAAAAHgAAAPggGVDPVO4/GDhX2W0JtD8AAAA/dQEAAAAAAAABqAAAAB4AAAB4CgwBTjPuP/AAQgxan7I/AAAAP4QBAAAAAAAAAakAAAAeAAAAOH+FWY0i7j+AMYmD962xPwAAAD+EAQAAAAAAAAGqAAAAHgAAADBSa7uK3+0/WIa90p+zrT8AAAA/lAEAAAAAAAABqwAAAB4AAADwxuQTys7tP3jnS8Ha0Ks/AAAAP5QBAAAAAAAAAawAAAAeAAAArDtebAm+7T+YSNqvFe6pPwAAAD+UAQAAAAAAAAGtAAAAHgAAACwlUR2InO0/2Ar3jIsopj8AAAA/pAEAAAAAAAABrgAAAB4AAACoDkTOBnvtP/hrhXvGRaQ/AAAAP7MBAAAAAAAAAa8AAAAeAAAA5Gyw18RI7T+g/VrhnnGhPwAAAD+zAQAAAAAAAAGwAAAAHgAAAGRWo4hDJ+0/gL3Sn7Mdnz8AAAA/wwEAAAAAAAABsQAAAB4AAADgP5Y5wgXtP8B/73wpWJs/AAAAP8MBAAAAAAAAAbIAAAAeAAAAVPxuTD6h7D/wQQxan5KXPwAAAD/SAQAAAAAAAAGzAAAAHgAAAJRa21X8buw/EKOaSNqvlT8AAAA/0gEAAAAAAAABtAAAAB4AAAAIF7RoeArsP4DGRRSLB5A/AAAAP+IBAAAAAAAAAbUAAAAeAAAAgNOMe/Sl6z9AT6gFjEmMPwAAAD/iAQAAAAAAAAG2AAAAHgAAADDu0ZcuD+s/oNPhv3e+hD8AAAA/8gEAAAAAAAABtwAAAB4AAACsqqqqqqrqP0CwNvTGZno/AAAAPwECAAAAAAAAAbgAAAAeAAAAnFB2bqUk6j+AclPRPKFmPwAAAD8RAgAAAAAAAAG5AAAAHgAAAJwjXNCi4ek/gHJT0TyhZj8AAAA/EQIAAAAAAAABugAAAB4AAAAYDU+BIcDpP4ByU9E8oWY/AAAAPyACAAAAAAAAAbsAAAAeAAAAEOA04x596T+AclPRPKFmPwAAAD8gAgAAAAAAAAG8AAAAHgAAAEw+oezcSuk/gHJT0TyhZj8AAAA/MAIAAAAAAAABvQAAAB4AAACInA32mhjpP4ByU9E8oWY/AAAAP0ACAAAAAAAAAb4AAAAeAAAAhG/zV5jV6D+AclPRPKFmPwAAAD9AAgAAAAAAAAG/AAAAHgAAAEDkbLDXxOg/gHJT0TyhZj8AAAA/QAIAAAAAAAABwAAAAB4AAAB8Qtm5lZLoP4ByU9E8oWY/AAAAP08CAAAAAAAAAcEAAAAeAAAAuKBFw1Ng6D+AclPRPKFmPwAAAD9fAgAAAAAAAAHCAAAAHgAAAHgVvxuTT+g/gHJT0TyhZj8AAAA/XwIAAAAAAAABwwAAAB4AAAA4ijh00j7oP4ByU9E8oWY/AAAAP18CAAAAAAAAAcQAAAAeAAAA9P6xzBEu6D+AclPRPKFmPwAAAD9uAgAAAAAAAAHFAAAAHgAAAHixJfg2f+U/tcI94yKK5T8AAAA/AAAAAAAAAAABxgAAAB4AAAB4sSX4Nn/lP61PyQs5meU/AAAAPw8AAAAAAAAAAccAAAAeAAAAeLEl+DZ/5T9tKpon1ALmPwAAAD8fAAAAAAAAAAHIAAAAHgAAAHixJfg2f+U/N3jfGlld5j8AAAA/LwAAAAAAAAAByQAAAB4AAAB4sSX4Nn/lPxOsDb2xmeY/AAAAPy8AAAAAAAAAAcoAAAAeAAAAeLEl+DZ/5T/Xht7YTAPnPwAAAD8+AAAAAAAAAAHLAAAAHgAAAHixJfg2f+U/qUeYo7tO5z8AAAA/TgAAAAAAAAABzAAAAB4AAAB4sSX4Nn/lP3OV3ZZAqec/AAAAP04AAAAAAAAAAc0AAAAeAAAAeLEl+DZ/5T8zcK6y2xLoPwAAAD9OAAAAAAAAAAHOAAAAHgAAAHixJfg2f+U/BzFofUpe6D8AAAA/XQAAAAAAAAABzwAAAB4AAAB4sSX4Nn/lP+3XCveMi+g/AAAAP20AAAAAAAAAAdAAAAAeAAAAeLEl+DZ/5T/Tfq1wz7joPwAAAD9tAAAAAAAAAAHRAAAAHgAAAHixJfg2f+U/wZjEwfvW6D8AAAA/fQAAAAAAAAAB0gAAAB4AAAB4sSX4Nn/lP7clUOoR5ug/AAAAP30AAAAAAAAAAdMAAAAeAAAAeLEl+DZ/5T+vstsSKPXoPwAAAD99AAAAAAAAAAHUAAAAHgAAAHixJfg2f+U/pT9nOz4E6T8AAAA/igAAAAAAAAAB1QAAAB4AAAC8PKyf94/lP53M8mNUE+k/AAAAP6kAAAAAAAAAAdYAAAAeAAAAPFO57nix5T+dzPJjVBPpPwAAAD/JAAAAAAAAAAHXAAAAHgAAAAT1TOW64+U/pT9nOz4E6T8AAAA/yQAAAAAAAAAB2AAAAB4AAABIre0qfjfmP8GYxMH71ug/AAAAP9gAAAAAAAAAAdkAAAAeAAAA1PAUGAKc5j/b8SFIuanoPwAAAD/oAAAAAAAAAAHaAAAAHgAAAFg0PAWGAOc/9Up/znZ86D8AAAA/6AAAAAAAAAAB2wAAAB4AAADopH2QDKjnPxkXUSweQOg/AAAAP+gAAAAAAAAAAdwAAAAeAAAAtHMrJVEd6D9FVpdhr/TnPwAAAD/3AAAAAAAAAAHdAAAAHgAAAMT6ef9Y5ug/fQhSbiqa5z8AAAA/9wAAAAAAAAAB3gAAAB4AAABQa7uK343pP7O6DHulP+c/AAAAPwcBAAAAAAAAAd8AAAAeAAAAnFB2bqUk6j/x3ztfCtbmPwAAAD8XAQAAAAAAAAHgAAAAHgAAALQE3+avMOs/W0SxeAAh5j8AAAA/FwEAAAAAAAAB4QAAAB4AAACA04x79KXrP4mD962R1eU/AAAAPyYBAAAAAAAAAeIAAAAeAAAAzLhHX7o87D+tT8kLOZnlPwAAAD8mAQAAAAAAAAHjAAAAHgAAAFT8bkw+oew/4wGEGLQ+5T8AAAA/NgEAAAAAAAAB5AAAAB4AAABkVqOIQyftP/1a4Z5xEeU/AAAAPzYBAAAAAAAAAeUAAAAeAAAA6JnKdceL7T8hJ7P8GNXkPwAAAD9FAQAAAAAAAAHmAAAAHgAAADBSa7uK3+0/O4AQg9an5D8AAAA/VQEAAAAAAAAB5wAAAB4AAAD4IBlQz1TuP01m+TGqieQ/AAAAP1UBAAAAAAAAAegAAAAeAAAARNm5lZKo7j9xMsuPUU3kPwAAAD9VAQAAAAAAAAHpAAAAHgAAAEgG1DOV6+4/e6U/Zzs+5D8AAAA/ZQEAAAAAAAAB6gAAAB4AAADQSfsgGVDvP5b+nO34EOQ/AAAAP3QBAAAAAAAAAesAAAAeAAAAlOuOF1uC7z+W/pzt+BDkPwAAAD90AQAAAAAAAAHsAAAAHgAAAJwYqbVdxe8/n3ERxeIB5D8AAAA/dAEAAAAAAAAB7QAAAB4AAAAcL7YE3+bvP7FX+nO24+M/AAAAP4QBAAAAAAAAAe4AAAAeAAAAABIuaNHwdD+VvJCTWX7sPwAAAD8AAAAAAAAAAAHvAAAAHgAAAADi0En7IGk/lbyQk1l+7D8AAAA/DwAAAAAAAAAB8AAAAB4AAAAA4tBJ+yBpP4PWp+SFnOw/AAAAPx8AAAAAAAAAAfEAAAAeAAAAAOLQSfsgaT9x8L41srrsPwAAAD8fAAAAAAAAAAHyAAAAHgAAAADi0En7IGk/TSTt1wr37D8AAAA/LgAAAAAAAAAB8wAAAB4AAAAA4tBJ+yBpPzs+BCk3Fe0/AAAAPz4AAAAAAAAAAfQAAAAeAAAAAOLQSfsgaT8f5aaieULtPwAAAD8+AAAAAAAAAAH1AAAAHgAAAADi0En7IGk/86VgbeiN7T8AAAA/XQAAAAAAAAAB9gAAAB4AAAAA4tBJ+yBpP9dMA+cqu+0/AAAAP10AAAAAAAAAAfcAAAAeAAAAAOLQSfsgaT+tDb2xmQbuPwAAAD9tAAAAAAAAAAH4AAAAHgAAAADi0En7IGk/kbRfK9wz7j8AAAA/bQAAAAAAAAAB+QAAAB4AAAAA4tBJ+yBpP23ojc00cO4/AAAAP20AAAAAAAAAAfoAAAAeAAAAAOLQSfsgaT9JHLxvjazuPwAAAD98AAAAAAAAAAH7AAAAHgAAAADi0En7IGk/G911Ovz37j8AAAA/jAAAAAAAAAAB/AAAAB4AAAAA4tBJ+yBpP/cQpNxUNO8/AAAAP4wAAAAAAAAAAf0AAAAeAAAAAOLQSfsgaT/TRNJ+rXDvPwAAAD+MAAAAAAAAAAH+AAAAHgAAAADi0En7IGk/y9Fdp8N/7z8AAAA/nAAAAAAAAAAB/wAAAB4AAAAAEi5o0fB0P7vrdPjvne8/AAAAP6sAAAAAAAAAAQABAAAeAAAAALNzKyVRfT+xeAAhBq3vPwAAAD/qAAAAAAAAAAEBAQAAHgAAAICpXHe82II/sXgAIQat7z8AAAA/+QAAAAAAAAABAgEAAB4AAACAqVx3vNiCP6kFjEkcvO8/AAAAPxgBAAAAAAAAAQMBAAAeAAAAAHr/WOYIhz+fkhdyMsvvPwAAAD8YAQAAAAAAAAEEAQAAHgAAAIBKojoQOYs/lx+jmkja7z8AAAA/KAEAAAAAAAABBQEAAB4AAACAGkUcOmmPP5cfo5pI2u8/AAAAPzgBAAAAAAAAAQYBAAAeAAAAAMaW4Nv8lT+NrC7DXunvPwAAAD84AQAAAAAAAAEHAQAAHgAAAIBm3KMvXZ4/jawuw17p7z8AAAA/RwEAAAAAAAABCAEAAB4AAACgTyg7t1KiP42sLsNe6e8/AAAAP0cBAAAAAAAAAQkBAAAeAAAAANQzleuOpz+NrC7DXunvPwAAAD9XAQAAAAAAAAEKAQAAHgAAAGDwbf4Ks6o/jawuw17p7z8AAAA/VwEAAAAAAAABCwEAAB4AAABwFHHopH2wP42sLsNe6e8/AAAAP2YBAAAAAAAAAQwBAAAeAAAAwOQTys6ttD+fkhdyMsvvPwAAAD92AQAAAAAAAAENAQAAHgAAADAP6+f9Y7k/wV7pz9mO7z8AAAA/dgEAAAAAAAABDgEAAB4AAACg343JJ5S9P923RlaXYe8/AAAAP3YBAAAAAAAAAQ8BAAAeAAAAOHTSPkgGxD8lUOoR5ujuPwAAAD+VAQAAAAAAAAEQAQAAHgAAAGgJvs1fYcY/NzbTwLnK7j8AAAA/lQEAAAAAAAABEQEAAB4AAACgcY++dHnIP0GpR5iju+4/AAAAP5UBAAAAAAAAARIBAAAeAAAAuH8sc4QLyj9bAqUeYY7uPwAAAD+lAQAAAAAAAAETAQAAHgAAAOCNySeUncs/beiNzTRw7j8AAAA/tAEAAAAAAAABFAEAAB4AAAAIyYB6pnLNP4lB61PyQu4/AAAAP7QBAAAAAAAAARUBAAAeAAAAMNcdL7YEzz+RtF8r3DPuPwAAAD+0AQAAAAAAAAEWAQAAHgAAADw9U7nueNE/x2YaOFfZ7T8AAAA/1AEAAAAAAAABFwEAAB4AAABQxKGT9kHSP+G/d74UrO0/AAAAP9QBAAAAAAAAARgBAAAeAAAAYB7Wz/vH0j/zpWBt6I3tPwAAAD/UAQAAAAAAAAEZAQAAHgAAAGx4CgwBTtM/Df+986Vg7T8AAAA/4wEAAAAAAAABGgEAAB4AAAD0uzH5hLLTPxdyMsuPUe0/AAAAP/MBAAAAAAAAARsBAAAeAAAAgCxzhAta1D8xy49RTSTtPwAAAD/zAQAAAAAAAAEcAQAAHgAAAIhZjSIOndQ/Q7F4ACEG7T8AAAA/8wEAAAAAAAABHQEAAB4AAACUs8FeEyPVP1WXYa/05+w/AAAAPwICAAAAAAAAAR4BAAAeAAAAFMrOrZRE1T9fCtaG3tjsPwAAAD8SAgAAAAAAAAEfAQAAHgAAACAkA+qZytU/eWMzDZyr7D8AAAA/EgIAAAAAAAABIAEAAB4AAACgOhA5G+zVP3ljMw2cq+w/AAAAPyICAAAAAAAAASEBAAAeAAAAKFEdiJwN1j95YzMNnKvsPwAAAD8xAgAAAAAAAAEiAQAAHgAAAChRHYicDdY/g9an5IWc7D8AAAA/MQIAAAAAAAABIwEAAB4AAAAwfjcmn1DWP5W8kJNZfuw/AAAAP0ECAAAAAAAAASQBAAAeAAAAsJREdSBy1j+VvJCTWX7sPwAAAD9QAgAAAAAAAAElAQAAHgAAADirUcShk9Y/nS8Fa0Nv7D8AAAA/UAIAAAAAAAABJgEAAB4AAACwwV4TI7XWP6eieUItYOw/AAAAP1ACAAAAAAAAAScBAAAeAAAAuO54sSX41j+nonlCLWDsPwAAAD9gAgAAAAAAAAEoAQAAHgAAALjueLEl+NY/rxXuGRdR7D8AAAA/cAIAAAAAAAAL</ink>
</athena>
</file>

<file path=customXml/item2.xml><?xml version="1.0" encoding="utf-8"?>
<athena xmlns="http://schemas.microsoft.com/edu/athena" version="0.1.3885.0">
  <timings duration="1799"/>
</athena>
</file>

<file path=customXml/item3.xml><?xml version="1.0" encoding="utf-8"?>
<athena xmlns="http://schemas.microsoft.com/edu/athena" version="0.1.3885.0">
  <timings duration="1533"/>
</athena>
</file>

<file path=customXml/item4.xml><?xml version="1.0" encoding="utf-8"?>
<athena xmlns="http://schemas.microsoft.com/edu/athena" version="0.1.3885.0">
  <timings duration="47057"/>
</athena>
</file>

<file path=customXml/item5.xml><?xml version="1.0" encoding="utf-8"?>
<athena xmlns="http://schemas.microsoft.com/edu/athena" version="0.1.3885.0">
  <timings duration="47057"/>
</athena>
</file>

<file path=customXml/itemProps1.xml><?xml version="1.0" encoding="utf-8"?>
<ds:datastoreItem xmlns:ds="http://schemas.openxmlformats.org/officeDocument/2006/customXml" ds:itemID="{BAE01004-4DA3-4373-9643-492AA1ED0C85}">
  <ds:schemaRefs>
    <ds:schemaRef ds:uri="http://schemas.microsoft.com/edu/athena"/>
  </ds:schemaRefs>
</ds:datastoreItem>
</file>

<file path=customXml/itemProps2.xml><?xml version="1.0" encoding="utf-8"?>
<ds:datastoreItem xmlns:ds="http://schemas.openxmlformats.org/officeDocument/2006/customXml" ds:itemID="{1BA977A9-C848-4B99-853C-D423CC37C4DC}">
  <ds:schemaRefs>
    <ds:schemaRef ds:uri="http://schemas.microsoft.com/edu/athena"/>
  </ds:schemaRefs>
</ds:datastoreItem>
</file>

<file path=customXml/itemProps3.xml><?xml version="1.0" encoding="utf-8"?>
<ds:datastoreItem xmlns:ds="http://schemas.openxmlformats.org/officeDocument/2006/customXml" ds:itemID="{FF6C7D99-C87D-4DCE-87AD-107A762F2537}">
  <ds:schemaRefs>
    <ds:schemaRef ds:uri="http://schemas.microsoft.com/edu/athena"/>
  </ds:schemaRefs>
</ds:datastoreItem>
</file>

<file path=customXml/itemProps4.xml><?xml version="1.0" encoding="utf-8"?>
<ds:datastoreItem xmlns:ds="http://schemas.openxmlformats.org/officeDocument/2006/customXml" ds:itemID="{C6B7C09F-4BEE-4936-84B5-5391F3D8659D}">
  <ds:schemaRefs>
    <ds:schemaRef ds:uri="http://schemas.microsoft.com/edu/athena"/>
  </ds:schemaRefs>
</ds:datastoreItem>
</file>

<file path=customXml/itemProps5.xml><?xml version="1.0" encoding="utf-8"?>
<ds:datastoreItem xmlns:ds="http://schemas.openxmlformats.org/officeDocument/2006/customXml" ds:itemID="{6D3ED6D0-F7E1-4181-B1E2-C28D3C20349A}">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V2</Template>
  <TotalTime>25732</TotalTime>
  <Words>6829</Words>
  <Application>Microsoft Office PowerPoint</Application>
  <PresentationFormat>宽屏</PresentationFormat>
  <Paragraphs>987</Paragraphs>
  <Slides>44</Slides>
  <Notes>44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2" baseType="lpstr">
      <vt:lpstr>Microsoft JhengHei Light</vt:lpstr>
      <vt:lpstr>Arial</vt:lpstr>
      <vt:lpstr>Calibri</vt:lpstr>
      <vt:lpstr>Calibri Light</vt:lpstr>
      <vt:lpstr>Times New Roman</vt:lpstr>
      <vt:lpstr>Wingdings</vt:lpstr>
      <vt:lpstr>MOOC1</vt:lpstr>
      <vt:lpstr>BMP 图像</vt:lpstr>
      <vt:lpstr>Software Requirements Analysis, Design and Modeling</vt:lpstr>
      <vt:lpstr>Objectives</vt:lpstr>
      <vt:lpstr>Content Outline</vt:lpstr>
      <vt:lpstr>Requirements in UP Context</vt:lpstr>
      <vt:lpstr>A Brief Use Case Example: Process Sale</vt:lpstr>
      <vt:lpstr>Are Use Cases Functional Requirements?</vt:lpstr>
      <vt:lpstr>Content Outline</vt:lpstr>
      <vt:lpstr>What Is System Behavior?</vt:lpstr>
      <vt:lpstr>What are Actors?</vt:lpstr>
      <vt:lpstr>What are Use-Case Flow of Events?</vt:lpstr>
      <vt:lpstr>What are Scenarios?</vt:lpstr>
      <vt:lpstr>What are Use Cases?</vt:lpstr>
      <vt:lpstr>UC Handle Returns: A Casual Format Use Case Example</vt:lpstr>
      <vt:lpstr>Notation: What are Three Common Use Case Formats?</vt:lpstr>
      <vt:lpstr>What is a Use-Case Model?</vt:lpstr>
      <vt:lpstr>Use Cases and Use Case Model  and Use Cases Specification</vt:lpstr>
      <vt:lpstr>Motivation: Why Use Cases  (or Use Model)?</vt:lpstr>
      <vt:lpstr>Content Outline</vt:lpstr>
      <vt:lpstr>A Format Template for Detailed Use Case Specification</vt:lpstr>
      <vt:lpstr>POS Example: (Partial) Fully Dressed Style Use Case Specification</vt:lpstr>
      <vt:lpstr>Use Case UC1: Process Sale Flipped Course Questions</vt:lpstr>
      <vt:lpstr>UC1: Process Sale, Fully Dressed Style-1</vt:lpstr>
      <vt:lpstr>UC1: Process Sale, Fully Dressed Style-2</vt:lpstr>
      <vt:lpstr>UC1: Process Sale, Fully Dressed Style-3</vt:lpstr>
      <vt:lpstr>Content Outline</vt:lpstr>
      <vt:lpstr>Guideline: How to Write Use Cases</vt:lpstr>
      <vt:lpstr>Guideline: How to Find Use Cases</vt:lpstr>
      <vt:lpstr>Step 1: Choose the system boundary.</vt:lpstr>
      <vt:lpstr>Steps 2 and 3: Find Primary Actors and Goals</vt:lpstr>
      <vt:lpstr>Step 4: Define Use Cases</vt:lpstr>
      <vt:lpstr>Guideline: What Tests Can Help Find Useful Use Cases?</vt:lpstr>
      <vt:lpstr>Content Outline</vt:lpstr>
      <vt:lpstr>Use case diagram for CDD Game system.</vt:lpstr>
      <vt:lpstr>Use Case UC2: Play CDD Game.</vt:lpstr>
      <vt:lpstr>Activity Diagram of UC2</vt:lpstr>
      <vt:lpstr>More Use Case Diagram and Activity Diagram</vt:lpstr>
      <vt:lpstr>Content Outline</vt:lpstr>
      <vt:lpstr>Process: How to Work With Use Cases in Iterative Methods?</vt:lpstr>
      <vt:lpstr>How to Evolve Use Cases and Other Specifications Across the Iterations?</vt:lpstr>
      <vt:lpstr>Writing Use Case: Who, When, Where and How.</vt:lpstr>
      <vt:lpstr>When Should Various UP Artifact (Including Use Cases) be Created? </vt:lpstr>
      <vt:lpstr>Case Study: Use Cases in the POS Inception Phase.</vt:lpstr>
      <vt:lpstr>Review : Use Case</vt:lpstr>
      <vt:lpstr>Special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Dmitri Korzh</dc:creator>
  <cp:lastModifiedBy>Dell</cp:lastModifiedBy>
  <cp:revision>2816</cp:revision>
  <dcterms:created xsi:type="dcterms:W3CDTF">2004-11-24T03:27:20Z</dcterms:created>
  <dcterms:modified xsi:type="dcterms:W3CDTF">2026-03-25T01:46:21Z</dcterms:modified>
</cp:coreProperties>
</file>