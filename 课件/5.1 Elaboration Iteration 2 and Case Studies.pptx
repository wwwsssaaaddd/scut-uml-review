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824" r:id="rId6"/>
  </p:sldMasterIdLst>
  <p:notesMasterIdLst>
    <p:notesMasterId r:id="rId26"/>
  </p:notesMasterIdLst>
  <p:handoutMasterIdLst>
    <p:handoutMasterId r:id="rId27"/>
  </p:handoutMasterIdLst>
  <p:sldIdLst>
    <p:sldId id="256" r:id="rId7"/>
    <p:sldId id="288" r:id="rId8"/>
    <p:sldId id="317" r:id="rId9"/>
    <p:sldId id="357" r:id="rId10"/>
    <p:sldId id="358" r:id="rId11"/>
    <p:sldId id="360" r:id="rId12"/>
    <p:sldId id="359" r:id="rId13"/>
    <p:sldId id="361" r:id="rId14"/>
    <p:sldId id="348" r:id="rId15"/>
    <p:sldId id="350" r:id="rId16"/>
    <p:sldId id="351" r:id="rId17"/>
    <p:sldId id="349" r:id="rId18"/>
    <p:sldId id="352" r:id="rId19"/>
    <p:sldId id="353" r:id="rId20"/>
    <p:sldId id="354" r:id="rId21"/>
    <p:sldId id="355" r:id="rId22"/>
    <p:sldId id="356" r:id="rId23"/>
    <p:sldId id="333" r:id="rId24"/>
    <p:sldId id="273" r:id="rId2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5583AC"/>
    <a:srgbClr val="C9C9C9"/>
    <a:srgbClr val="F2F2F2"/>
    <a:srgbClr val="DDDDDD"/>
    <a:srgbClr val="7F9EB8"/>
    <a:srgbClr val="5B9BD5"/>
    <a:srgbClr val="4286BF"/>
    <a:srgbClr val="739FC4"/>
    <a:srgbClr val="C8C8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深色样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412" autoAdjust="0"/>
    <p:restoredTop sz="54991" autoAdjust="0"/>
  </p:normalViewPr>
  <p:slideViewPr>
    <p:cSldViewPr>
      <p:cViewPr varScale="1">
        <p:scale>
          <a:sx n="61" d="100"/>
          <a:sy n="61" d="100"/>
        </p:scale>
        <p:origin x="102" y="1488"/>
      </p:cViewPr>
      <p:guideLst>
        <p:guide orient="horz" pos="2160"/>
        <p:guide pos="3840"/>
      </p:guideLst>
    </p:cSldViewPr>
  </p:slideViewPr>
  <p:notesTextViewPr>
    <p:cViewPr>
      <p:scale>
        <a:sx n="150" d="100"/>
        <a:sy n="150" d="100"/>
      </p:scale>
      <p:origin x="0" y="0"/>
    </p:cViewPr>
  </p:notesTextViewPr>
  <p:notesViewPr>
    <p:cSldViewPr>
      <p:cViewPr varScale="1">
        <p:scale>
          <a:sx n="92" d="100"/>
          <a:sy n="92" d="100"/>
        </p:scale>
        <p:origin x="3732"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slide" Target="slides/slide18.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48EA1D00-F704-410D-8822-8E7F2FD0F3F4}" type="datetimeFigureOut">
              <a:rPr lang="zh-CN" altLang="en-US"/>
              <a:pPr>
                <a:defRPr/>
              </a:pPr>
              <a:t>2016/10/22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E310FA45-57B3-46FF-9187-A5D22EEEA9F9}" type="slidenum">
              <a:rPr lang="zh-CN" altLang="en-US"/>
              <a:pPr>
                <a:defRPr/>
              </a:pPr>
              <a:t>‹#›</a:t>
            </a:fld>
            <a:endParaRPr lang="zh-CN" altLang="en-US"/>
          </a:p>
        </p:txBody>
      </p:sp>
    </p:spTree>
    <p:extLst>
      <p:ext uri="{BB962C8B-B14F-4D97-AF65-F5344CB8AC3E}">
        <p14:creationId xmlns:p14="http://schemas.microsoft.com/office/powerpoint/2010/main" val="40760340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25814F6A-3EEF-4727-864D-CF28325BAA64}" type="datetimeFigureOut">
              <a:rPr lang="zh-CN" altLang="en-US"/>
              <a:pPr>
                <a:defRPr/>
              </a:pPr>
              <a:t>2016/10/22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EEE2F72D-D5C7-4DF3-B4ED-3587E774A382}" type="slidenum">
              <a:rPr lang="zh-CN" altLang="en-US"/>
              <a:pPr>
                <a:defRPr/>
              </a:pPr>
              <a:t>‹#›</a:t>
            </a:fld>
            <a:endParaRPr lang="zh-CN" altLang="en-US"/>
          </a:p>
        </p:txBody>
      </p:sp>
    </p:spTree>
    <p:extLst>
      <p:ext uri="{BB962C8B-B14F-4D97-AF65-F5344CB8AC3E}">
        <p14:creationId xmlns:p14="http://schemas.microsoft.com/office/powerpoint/2010/main" val="26081919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ch23fig01"/><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这节课，我们一起学习</a:t>
            </a:r>
            <a:endParaRPr lang="en-US" altLang="zh-CN" dirty="0"/>
          </a:p>
          <a:p>
            <a:r>
              <a:rPr lang="zh-CN" altLang="en-US" dirty="0"/>
              <a:t>第 </a:t>
            </a:r>
            <a:r>
              <a:rPr lang="en-US" altLang="zh-CN" dirty="0"/>
              <a:t>5.1 </a:t>
            </a:r>
            <a:r>
              <a:rPr lang="zh-CN" altLang="en-US" dirty="0"/>
              <a:t>章节 第</a:t>
            </a:r>
            <a:r>
              <a:rPr lang="en-US" altLang="zh-CN"/>
              <a:t>18</a:t>
            </a:r>
            <a:r>
              <a:rPr lang="zh-CN" altLang="en-US"/>
              <a:t>个</a:t>
            </a:r>
            <a:r>
              <a:rPr lang="zh-CN" altLang="en-US" dirty="0"/>
              <a:t>知识域：细化迭代 </a:t>
            </a:r>
            <a:r>
              <a:rPr lang="en-US" altLang="zh-CN" dirty="0"/>
              <a:t>2 </a:t>
            </a:r>
            <a:r>
              <a:rPr lang="zh-CN" altLang="en-US" dirty="0"/>
              <a:t>与案例研究</a:t>
            </a:r>
            <a:endParaRPr lang="en-US" altLang="zh-CN" dirty="0"/>
          </a:p>
          <a:p>
            <a:endParaRPr lang="en-US" altLang="zh-CN" dirty="0">
              <a:solidFill>
                <a:srgbClr val="FF0000"/>
              </a:solidFill>
            </a:endParaRPr>
          </a:p>
          <a:p>
            <a:r>
              <a:rPr lang="en-US" altLang="zh-CN" baseline="0" dirty="0">
                <a:solidFill>
                  <a:srgbClr val="FF0000"/>
                </a:solidFill>
              </a:rPr>
              <a:t>//</a:t>
            </a:r>
            <a:r>
              <a:rPr lang="zh-CN" altLang="en-US" baseline="0" dirty="0">
                <a:solidFill>
                  <a:srgbClr val="FF0000"/>
                </a:solidFill>
              </a:rPr>
              <a:t>下面是备注 不放入脚本</a:t>
            </a:r>
            <a:endParaRPr lang="en-US" altLang="zh-CN" baseline="0" dirty="0">
              <a:solidFill>
                <a:srgbClr val="FF0000"/>
              </a:solidFill>
            </a:endParaRPr>
          </a:p>
          <a:p>
            <a:r>
              <a:rPr lang="zh-CN" altLang="en-US" dirty="0"/>
              <a:t>对应课本</a:t>
            </a:r>
            <a:r>
              <a:rPr lang="en-US" altLang="zh-CN" dirty="0"/>
              <a:t>23-34 </a:t>
            </a:r>
            <a:r>
              <a:rPr lang="zh-CN" altLang="en-US" dirty="0"/>
              <a:t>章 </a:t>
            </a:r>
            <a:r>
              <a:rPr lang="en-US" altLang="zh-CN" baseline="0" dirty="0"/>
              <a:t>P292-298 </a:t>
            </a:r>
          </a:p>
          <a:p>
            <a:r>
              <a:rPr lang="zh-CN" altLang="en-US" baseline="0" dirty="0"/>
              <a:t>注意中文和英文的</a:t>
            </a:r>
            <a:r>
              <a:rPr lang="en-US" altLang="zh-CN" baseline="0" dirty="0"/>
              <a:t>23</a:t>
            </a:r>
            <a:r>
              <a:rPr lang="zh-CN" altLang="en-US" baseline="0" dirty="0"/>
              <a:t>与</a:t>
            </a:r>
            <a:r>
              <a:rPr lang="en-US" altLang="zh-CN" baseline="0" dirty="0"/>
              <a:t>24</a:t>
            </a:r>
            <a:r>
              <a:rPr lang="zh-CN" altLang="en-US" baseline="0" dirty="0"/>
              <a:t>章是颠倒的</a:t>
            </a:r>
            <a:endParaRPr lang="en-US" altLang="zh-CN" baseline="0"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0</a:t>
            </a:fld>
            <a:endParaRPr lang="zh-CN" altLang="en-US"/>
          </a:p>
        </p:txBody>
      </p:sp>
    </p:spTree>
    <p:extLst>
      <p:ext uri="{BB962C8B-B14F-4D97-AF65-F5344CB8AC3E}">
        <p14:creationId xmlns:p14="http://schemas.microsoft.com/office/powerpoint/2010/main" val="2024940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rPr lang="zh-CN" altLang="en-US" dirty="0"/>
              <a:t>本次课的目标是</a:t>
            </a:r>
            <a:endParaRPr lang="en-US" altLang="zh-CN" dirty="0"/>
          </a:p>
          <a:p>
            <a:pPr marL="0" indent="0">
              <a:buFont typeface="Arial" panose="020B0604020202020204" pitchFamily="34" charset="0"/>
              <a:buNone/>
            </a:pPr>
            <a:endParaRPr lang="en-US" altLang="zh-CN" dirty="0"/>
          </a:p>
          <a:p>
            <a:pPr marL="0" indent="0">
              <a:buFont typeface="Arial" panose="020B0604020202020204" pitchFamily="34" charset="0"/>
              <a:buNone/>
            </a:pPr>
            <a:r>
              <a:rPr lang="en-US" altLang="zh-CN" dirty="0"/>
              <a:t>1.</a:t>
            </a:r>
            <a:r>
              <a:rPr lang="zh-CN" altLang="en-US" dirty="0"/>
              <a:t>为迭代 </a:t>
            </a:r>
            <a:r>
              <a:rPr lang="en-US" altLang="zh-CN" dirty="0"/>
              <a:t>2 </a:t>
            </a:r>
            <a:r>
              <a:rPr lang="zh-CN" altLang="en-US" dirty="0"/>
              <a:t>定义需求</a:t>
            </a:r>
            <a:endParaRPr lang="en-US" altLang="zh-CN" dirty="0"/>
          </a:p>
          <a:p>
            <a:pPr marL="0" indent="0">
              <a:buFont typeface="Arial" panose="020B0604020202020204" pitchFamily="34" charset="0"/>
              <a:buNone/>
            </a:pPr>
            <a:endParaRPr lang="en-US" altLang="zh-CN" dirty="0"/>
          </a:p>
          <a:p>
            <a:pPr marL="0" indent="0">
              <a:buFont typeface="Arial" panose="020B0604020202020204" pitchFamily="34" charset="0"/>
              <a:buNone/>
            </a:pPr>
            <a:r>
              <a:rPr lang="en-US" altLang="zh-CN" dirty="0"/>
              <a:t>2.</a:t>
            </a:r>
            <a:r>
              <a:rPr lang="zh-CN" altLang="en-US" dirty="0"/>
              <a:t>快速地突出显示一些分析制品的变更</a:t>
            </a:r>
            <a:endParaRPr lang="en-US" altLang="zh-CN" dirty="0"/>
          </a:p>
          <a:p>
            <a:pPr marL="0" indent="0">
              <a:buFont typeface="Arial" panose="020B0604020202020204" pitchFamily="34" charset="0"/>
              <a:buNone/>
            </a:pPr>
            <a:r>
              <a:rPr lang="zh-CN" altLang="en-US" dirty="0"/>
              <a:t> 特别是案例领域模型中的变更</a:t>
            </a:r>
            <a:endParaRPr lang="en-US" altLang="zh-CN"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a:t>
            </a:fld>
            <a:endParaRPr lang="zh-CN" altLang="en-US"/>
          </a:p>
        </p:txBody>
      </p:sp>
    </p:spTree>
    <p:extLst>
      <p:ext uri="{BB962C8B-B14F-4D97-AF65-F5344CB8AC3E}">
        <p14:creationId xmlns:p14="http://schemas.microsoft.com/office/powerpoint/2010/main" val="1362698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首先介绍</a:t>
            </a:r>
            <a:endParaRPr lang="en-US" altLang="zh-CN" dirty="0"/>
          </a:p>
          <a:p>
            <a:r>
              <a:rPr lang="zh-CN" altLang="en-US" dirty="0"/>
              <a:t>迭代</a:t>
            </a:r>
            <a:r>
              <a:rPr lang="en-US" altLang="zh-CN" dirty="0"/>
              <a:t>2</a:t>
            </a:r>
            <a:r>
              <a:rPr lang="zh-CN" altLang="en-US" dirty="0"/>
              <a:t>：快速分析更新</a:t>
            </a:r>
            <a:endParaRPr lang="en-US" altLang="zh-CN"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a:t>
            </a:fld>
            <a:endParaRPr lang="zh-CN" altLang="en-US"/>
          </a:p>
        </p:txBody>
      </p:sp>
    </p:spTree>
    <p:extLst>
      <p:ext uri="{BB962C8B-B14F-4D97-AF65-F5344CB8AC3E}">
        <p14:creationId xmlns:p14="http://schemas.microsoft.com/office/powerpoint/2010/main" val="2165482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快速地更新分析 简介</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本章简要介绍需求和领域分析中的一些变更</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同时介绍与</a:t>
            </a:r>
            <a:r>
              <a:rPr lang="en-US" altLang="zh-CN" sz="1200" kern="1200" dirty="0" err="1">
                <a:solidFill>
                  <a:schemeClr val="tx1"/>
                </a:solidFill>
                <a:effectLst/>
                <a:latin typeface="+mn-lt"/>
                <a:ea typeface="+mn-ea"/>
                <a:cs typeface="+mn-cs"/>
              </a:rPr>
              <a:t>NextGen</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SSD</a:t>
            </a:r>
            <a:r>
              <a:rPr lang="zh-CN" altLang="zh-CN" sz="1200" kern="1200" dirty="0">
                <a:solidFill>
                  <a:schemeClr val="tx1"/>
                </a:solidFill>
                <a:effectLst/>
                <a:latin typeface="+mn-lt"/>
                <a:ea typeface="+mn-ea"/>
                <a:cs typeface="+mn-cs"/>
              </a:rPr>
              <a:t>和领域模型</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相关的值得注意的建模和</a:t>
            </a:r>
            <a:r>
              <a:rPr lang="en-US" altLang="zh-CN" sz="1200" kern="1200" dirty="0">
                <a:solidFill>
                  <a:schemeClr val="tx1"/>
                </a:solidFill>
                <a:effectLst/>
                <a:latin typeface="+mn-lt"/>
                <a:ea typeface="+mn-ea"/>
                <a:cs typeface="+mn-cs"/>
              </a:rPr>
              <a:t>UML</a:t>
            </a:r>
            <a:r>
              <a:rPr lang="zh-CN" altLang="zh-CN" sz="1200" kern="1200" dirty="0">
                <a:solidFill>
                  <a:schemeClr val="tx1"/>
                </a:solidFill>
                <a:effectLst/>
                <a:latin typeface="+mn-lt"/>
                <a:ea typeface="+mn-ea"/>
                <a:cs typeface="+mn-cs"/>
              </a:rPr>
              <a:t>技巧</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3</a:t>
            </a:fld>
            <a:endParaRPr lang="zh-CN" altLang="en-US"/>
          </a:p>
        </p:txBody>
      </p:sp>
    </p:spTree>
    <p:extLst>
      <p:ext uri="{BB962C8B-B14F-4D97-AF65-F5344CB8AC3E}">
        <p14:creationId xmlns:p14="http://schemas.microsoft.com/office/powerpoint/2010/main" val="3641910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用例</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在过程的级别上，（如同</a:t>
            </a:r>
            <a:r>
              <a:rPr lang="en-US" altLang="zh-CN" sz="1200" kern="1200" dirty="0">
                <a:solidFill>
                  <a:schemeClr val="tx1"/>
                </a:solidFill>
                <a:effectLst/>
                <a:latin typeface="+mn-lt"/>
                <a:ea typeface="+mn-ea"/>
                <a:cs typeface="+mn-cs"/>
              </a:rPr>
              <a:t>UP</a:t>
            </a:r>
            <a:r>
              <a:rPr lang="zh-CN" altLang="zh-CN" sz="1200" kern="1200" dirty="0">
                <a:solidFill>
                  <a:schemeClr val="tx1"/>
                </a:solidFill>
                <a:effectLst/>
                <a:latin typeface="+mn-lt"/>
                <a:ea typeface="+mn-ea"/>
                <a:cs typeface="+mn-cs"/>
              </a:rPr>
              <a:t>）我建议</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在本次迭代举行为期一到两日的简短的需求讨论会</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（在迭代</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接近结束时是如此，在迭代</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结束时也是如此）</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在这期间将会调查和详细编写更多需求</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对于先前已经充分分析的用例（例如处理销售）</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将会基于在迭代</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编程和测试中所获得的理解重新进行讨论</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并且有可能进行精化</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在迭代方法中，要注意早期编程和测试</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与同时进行的需求分析之间的相互影响</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需求分析将基于对早期开发的反馈进行改进</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4</a:t>
            </a:fld>
            <a:endParaRPr lang="zh-CN" altLang="en-US"/>
          </a:p>
        </p:txBody>
      </p:sp>
    </p:spTree>
    <p:extLst>
      <p:ext uri="{BB962C8B-B14F-4D97-AF65-F5344CB8AC3E}">
        <p14:creationId xmlns:p14="http://schemas.microsoft.com/office/powerpoint/2010/main" val="2765494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这次迭代包括</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增加对具有不同接口的第三方外部系统（例如</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税金计算器）的支持</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NextGen</a:t>
            </a:r>
            <a:r>
              <a:rPr lang="en-US" altLang="zh-CN" sz="1200" kern="1200" dirty="0">
                <a:solidFill>
                  <a:schemeClr val="tx1"/>
                </a:solidFill>
                <a:effectLst/>
                <a:latin typeface="+mn-lt"/>
                <a:ea typeface="+mn-ea"/>
                <a:cs typeface="+mn-cs"/>
              </a:rPr>
              <a:t> POS</a:t>
            </a:r>
            <a:r>
              <a:rPr lang="zh-CN" altLang="zh-CN" sz="1200" kern="1200" dirty="0">
                <a:solidFill>
                  <a:schemeClr val="tx1"/>
                </a:solidFill>
                <a:effectLst/>
                <a:latin typeface="+mn-lt"/>
                <a:ea typeface="+mn-ea"/>
                <a:cs typeface="+mn-cs"/>
              </a:rPr>
              <a:t>系统将与这些外部系统进行远程通信</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因此，为了阐明有哪些新的系统级事件</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我们应该更</a:t>
            </a:r>
            <a:r>
              <a:rPr lang="zh-CN" altLang="en-US" sz="1200" kern="1200" dirty="0">
                <a:solidFill>
                  <a:schemeClr val="tx1"/>
                </a:solidFill>
                <a:effectLst/>
                <a:latin typeface="+mn-lt"/>
                <a:ea typeface="+mn-ea"/>
                <a:cs typeface="+mn-cs"/>
              </a:rPr>
              <a:t>新</a:t>
            </a:r>
            <a:r>
              <a:rPr lang="en-US" altLang="zh-CN" sz="1200" kern="1200" dirty="0">
                <a:solidFill>
                  <a:schemeClr val="tx1"/>
                </a:solidFill>
                <a:effectLst/>
                <a:latin typeface="+mn-lt"/>
                <a:ea typeface="+mn-ea"/>
                <a:cs typeface="+mn-cs"/>
              </a:rPr>
              <a:t>SSD</a:t>
            </a: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a:solidFill>
                  <a:schemeClr val="tx1"/>
                </a:solidFill>
                <a:effectLst/>
                <a:latin typeface="+mn-lt"/>
                <a:ea typeface="+mn-ea"/>
                <a:cs typeface="+mn-cs"/>
              </a:rPr>
              <a:t>使其至少能够反映一些系统间的协作</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a:hlinkClick r:id="rId3" action="ppaction://hlinkfile"/>
              </a:rPr>
              <a:t>Figure 23.1</a:t>
            </a:r>
            <a:r>
              <a:rPr lang="en-US" altLang="zh-CN" sz="1200" dirty="0"/>
              <a:t> illustrates an SSD for one scenario of paying by credit, which requires collaboration with several external systems. Even though the design of paying by credit is not handled in this iteration, the modeler (me) has drawn an SSD based on it (and probably several others as well), to better understand the inter-system collaboration, and thus the required support for varying interfaces in the external systems.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5</a:t>
            </a:fld>
            <a:endParaRPr lang="zh-CN" altLang="en-US"/>
          </a:p>
        </p:txBody>
      </p:sp>
    </p:spTree>
    <p:extLst>
      <p:ext uri="{BB962C8B-B14F-4D97-AF65-F5344CB8AC3E}">
        <p14:creationId xmlns:p14="http://schemas.microsoft.com/office/powerpoint/2010/main" val="19255523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23.1</a:t>
            </a:r>
            <a:r>
              <a:rPr lang="zh-CN" altLang="en-US" sz="1200" kern="1200" dirty="0">
                <a:solidFill>
                  <a:schemeClr val="tx1"/>
                </a:solidFill>
                <a:effectLst/>
                <a:latin typeface="+mn-lt"/>
                <a:ea typeface="+mn-ea"/>
                <a:cs typeface="+mn-cs"/>
              </a:rPr>
              <a:t>阐述了信用卡支付场景的</a:t>
            </a:r>
            <a:r>
              <a:rPr lang="en-US" altLang="zh-CN" sz="1200" kern="1200" dirty="0">
                <a:solidFill>
                  <a:schemeClr val="tx1"/>
                </a:solidFill>
                <a:effectLst/>
                <a:latin typeface="+mn-lt"/>
                <a:ea typeface="+mn-ea"/>
                <a:cs typeface="+mn-cs"/>
              </a:rPr>
              <a:t>SSD</a:t>
            </a: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a:solidFill>
                  <a:schemeClr val="tx1"/>
                </a:solidFill>
                <a:effectLst/>
                <a:latin typeface="+mn-lt"/>
                <a:ea typeface="+mn-ea"/>
                <a:cs typeface="+mn-cs"/>
              </a:rPr>
              <a:t>其中需要与若干外部系统进行相互协作</a:t>
            </a: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6</a:t>
            </a:fld>
            <a:endParaRPr lang="zh-CN" altLang="en-US"/>
          </a:p>
        </p:txBody>
      </p:sp>
    </p:spTree>
    <p:extLst>
      <p:ext uri="{BB962C8B-B14F-4D97-AF65-F5344CB8AC3E}">
        <p14:creationId xmlns:p14="http://schemas.microsoft.com/office/powerpoint/2010/main" val="209857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在此次迭代中，比较合理的做法是</a:t>
            </a:r>
            <a:endParaRPr lang="en-US" altLang="zh-CN" dirty="0"/>
          </a:p>
          <a:p>
            <a:endParaRPr lang="en-US" altLang="zh-CN" dirty="0"/>
          </a:p>
          <a:p>
            <a:r>
              <a:rPr lang="zh-CN" altLang="en-US" dirty="0"/>
              <a:t>跳过对领域模型的精化</a:t>
            </a:r>
            <a:endParaRPr lang="en-US" altLang="zh-CN" dirty="0"/>
          </a:p>
          <a:p>
            <a:r>
              <a:rPr lang="zh-CN" altLang="en-US" dirty="0"/>
              <a:t>快速投入到设计工作中</a:t>
            </a:r>
            <a:endParaRPr lang="en-US" altLang="zh-CN" dirty="0"/>
          </a:p>
          <a:p>
            <a:r>
              <a:rPr lang="zh-CN" altLang="en-US" dirty="0"/>
              <a:t>在对设计模型进行对象设计的过程中</a:t>
            </a:r>
            <a:endParaRPr lang="en-US" altLang="zh-CN" dirty="0"/>
          </a:p>
          <a:p>
            <a:r>
              <a:rPr lang="zh-CN" altLang="en-US" dirty="0"/>
              <a:t>在开发人员考虑好解决方案时</a:t>
            </a:r>
            <a:endParaRPr lang="en-US" altLang="zh-CN" dirty="0"/>
          </a:p>
          <a:p>
            <a:r>
              <a:rPr lang="zh-CN" altLang="en-US" dirty="0"/>
              <a:t>甚至在实际编码时</a:t>
            </a:r>
            <a:r>
              <a:rPr lang="zh-CN" altLang="en-US" baseline="0" dirty="0"/>
              <a:t> 去挖掘新的领域概念</a:t>
            </a:r>
            <a:endParaRPr lang="en-US" altLang="zh-CN" baseline="0" dirty="0"/>
          </a:p>
          <a:p>
            <a:endParaRPr lang="en-US" altLang="zh-CN" baseline="0" dirty="0"/>
          </a:p>
          <a:p>
            <a:r>
              <a:rPr lang="en-US" altLang="zh-CN" baseline="0" dirty="0"/>
              <a:t>2.</a:t>
            </a:r>
            <a:r>
              <a:rPr lang="zh-CN" altLang="en-US" baseline="0" dirty="0"/>
              <a:t>使用</a:t>
            </a:r>
            <a:r>
              <a:rPr lang="en-US" altLang="zh-CN" baseline="0" dirty="0"/>
              <a:t>UP</a:t>
            </a:r>
            <a:r>
              <a:rPr lang="zh-CN" altLang="en-US" baseline="0" dirty="0"/>
              <a:t>的过程成熟标志是</a:t>
            </a:r>
            <a:endParaRPr lang="en-US" altLang="zh-CN" baseline="0" dirty="0"/>
          </a:p>
          <a:p>
            <a:r>
              <a:rPr lang="zh-CN" altLang="en-US" baseline="0" dirty="0"/>
              <a:t>知道何时创建制品能够带来显著价值</a:t>
            </a:r>
            <a:endParaRPr lang="en-US" altLang="zh-CN" baseline="0" dirty="0"/>
          </a:p>
          <a:p>
            <a:r>
              <a:rPr lang="zh-CN" altLang="en-US" baseline="0" dirty="0"/>
              <a:t>或者当遇到呆板的完成作业式的步骤时能够较好地略过</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7</a:t>
            </a:fld>
            <a:endParaRPr lang="zh-CN" altLang="en-US"/>
          </a:p>
        </p:txBody>
      </p:sp>
    </p:spTree>
    <p:extLst>
      <p:ext uri="{BB962C8B-B14F-4D97-AF65-F5344CB8AC3E}">
        <p14:creationId xmlns:p14="http://schemas.microsoft.com/office/powerpoint/2010/main" val="29631541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最后介绍</a:t>
            </a:r>
            <a:endParaRPr lang="en-US" altLang="zh-CN" dirty="0"/>
          </a:p>
          <a:p>
            <a:r>
              <a:rPr lang="zh-CN" altLang="en-US" dirty="0"/>
              <a:t>迭代</a:t>
            </a:r>
            <a:r>
              <a:rPr lang="en-US" altLang="zh-CN" dirty="0"/>
              <a:t>2</a:t>
            </a:r>
            <a:r>
              <a:rPr lang="zh-CN" altLang="en-US" dirty="0"/>
              <a:t>：</a:t>
            </a:r>
            <a:r>
              <a:rPr lang="en-US" altLang="zh-CN" baseline="0" dirty="0"/>
              <a:t> </a:t>
            </a:r>
            <a:r>
              <a:rPr lang="zh-CN" altLang="en-US" baseline="0" dirty="0"/>
              <a:t>更多设计模式</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8</a:t>
            </a:fld>
            <a:endParaRPr lang="zh-CN" altLang="en-US"/>
          </a:p>
        </p:txBody>
      </p:sp>
    </p:spTree>
    <p:extLst>
      <p:ext uri="{BB962C8B-B14F-4D97-AF65-F5344CB8AC3E}">
        <p14:creationId xmlns:p14="http://schemas.microsoft.com/office/powerpoint/2010/main" val="30181899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初始阶段的几章和讲述细化阶段中迭代</a:t>
            </a:r>
            <a:r>
              <a:rPr lang="en-US" altLang="zh-CN" dirty="0"/>
              <a:t>1</a:t>
            </a:r>
            <a:r>
              <a:rPr lang="zh-CN" altLang="en-US" dirty="0"/>
              <a:t>的几章中</a:t>
            </a:r>
            <a:endParaRPr lang="en-US" altLang="zh-CN" dirty="0"/>
          </a:p>
          <a:p>
            <a:r>
              <a:rPr lang="zh-CN" altLang="en-US" dirty="0"/>
              <a:t> 强调了广泛使用的基本分析和</a:t>
            </a:r>
            <a:endParaRPr lang="en-US" altLang="zh-CN" dirty="0"/>
          </a:p>
          <a:p>
            <a:r>
              <a:rPr lang="zh-CN" altLang="en-US" dirty="0"/>
              <a:t> 对象设计技术</a:t>
            </a:r>
            <a:endParaRPr lang="en-US" altLang="zh-CN" dirty="0"/>
          </a:p>
          <a:p>
            <a:endParaRPr lang="en-US" altLang="zh-CN" dirty="0"/>
          </a:p>
          <a:p>
            <a:r>
              <a:rPr lang="en-US" altLang="zh-CN" dirty="0"/>
              <a:t>2.</a:t>
            </a:r>
            <a:r>
              <a:rPr lang="zh-CN" altLang="en-US" dirty="0"/>
              <a:t>在本次迭代中</a:t>
            </a:r>
            <a:r>
              <a:rPr lang="zh-CN" altLang="en-US" baseline="0" dirty="0"/>
              <a:t> 案例研究只强调</a:t>
            </a:r>
            <a:endParaRPr lang="en-US" altLang="zh-CN" baseline="0" dirty="0"/>
          </a:p>
          <a:p>
            <a:r>
              <a:rPr lang="zh-CN" altLang="en-US" baseline="0" dirty="0"/>
              <a:t>  </a:t>
            </a:r>
            <a:r>
              <a:rPr lang="en-US" altLang="zh-CN" baseline="0" dirty="0"/>
              <a:t>2.1</a:t>
            </a:r>
            <a:r>
              <a:rPr lang="zh-CN" altLang="en-US" baseline="0" dirty="0"/>
              <a:t>基本对象设计</a:t>
            </a:r>
            <a:endParaRPr lang="en-US" altLang="zh-CN" baseline="0" dirty="0"/>
          </a:p>
          <a:p>
            <a:r>
              <a:rPr lang="zh-CN" altLang="en-US" baseline="0" dirty="0"/>
              <a:t>  </a:t>
            </a:r>
            <a:r>
              <a:rPr lang="en-US" altLang="zh-CN" baseline="0" dirty="0"/>
              <a:t>2.2</a:t>
            </a:r>
            <a:r>
              <a:rPr lang="zh-CN" altLang="en-US" baseline="0" dirty="0"/>
              <a:t>使用模式来创建稳固的设计</a:t>
            </a:r>
            <a:endParaRPr lang="en-US" altLang="zh-CN" baseline="0" dirty="0"/>
          </a:p>
          <a:p>
            <a:r>
              <a:rPr lang="zh-CN" altLang="en-US" baseline="0" dirty="0"/>
              <a:t>  </a:t>
            </a:r>
            <a:r>
              <a:rPr lang="en-US" altLang="zh-CN" baseline="0" dirty="0"/>
              <a:t>2.3</a:t>
            </a:r>
            <a:r>
              <a:rPr lang="zh-CN" altLang="en-US" baseline="0" dirty="0"/>
              <a:t>应用</a:t>
            </a:r>
            <a:r>
              <a:rPr lang="en-US" altLang="zh-CN" baseline="0" dirty="0"/>
              <a:t>UML</a:t>
            </a:r>
            <a:r>
              <a:rPr lang="zh-CN" altLang="en-US" baseline="0" dirty="0"/>
              <a:t>来使模型可视化</a:t>
            </a:r>
            <a:endParaRPr lang="en-US" altLang="zh-CN" baseline="0" dirty="0"/>
          </a:p>
          <a:p>
            <a:endParaRPr lang="en-US" altLang="zh-CN" baseline="0" dirty="0"/>
          </a:p>
          <a:p>
            <a:r>
              <a:rPr lang="en-US" altLang="zh-CN" baseline="0" dirty="0"/>
              <a:t>3.</a:t>
            </a:r>
            <a:r>
              <a:rPr lang="zh-CN" altLang="en-US" baseline="0" dirty="0"/>
              <a:t>这些内容是本书的主要目标和关键技术</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9</a:t>
            </a:fld>
            <a:endParaRPr lang="zh-CN" altLang="en-US"/>
          </a:p>
        </p:txBody>
      </p:sp>
    </p:spTree>
    <p:extLst>
      <p:ext uri="{BB962C8B-B14F-4D97-AF65-F5344CB8AC3E}">
        <p14:creationId xmlns:p14="http://schemas.microsoft.com/office/powerpoint/2010/main" val="4265665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从迭代</a:t>
            </a:r>
            <a:r>
              <a:rPr lang="en-US" altLang="zh-CN" dirty="0"/>
              <a:t>1</a:t>
            </a:r>
            <a:r>
              <a:rPr lang="zh-CN" altLang="en-US" dirty="0"/>
              <a:t>到迭代</a:t>
            </a:r>
            <a:r>
              <a:rPr lang="en-US" altLang="zh-CN" dirty="0"/>
              <a:t>2</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t>1.</a:t>
            </a:r>
            <a:r>
              <a:rPr lang="zh-CN" altLang="en-US" dirty="0"/>
              <a:t>在迭代</a:t>
            </a:r>
            <a:r>
              <a:rPr lang="en-US" altLang="zh-CN" dirty="0"/>
              <a:t>1</a:t>
            </a:r>
            <a:r>
              <a:rPr lang="zh-CN" altLang="en-US" dirty="0"/>
              <a:t>结束的时候 应该已经完成了下列任务</a:t>
            </a:r>
            <a:endParaRPr lang="en-US" altLang="zh-CN" dirty="0"/>
          </a:p>
          <a:p>
            <a:r>
              <a:rPr lang="zh-CN" altLang="en-US" dirty="0"/>
              <a:t>所有软件都已经被充分地测试：单元、验收、负载、可用性等（测试）</a:t>
            </a:r>
            <a:endParaRPr lang="en-US" altLang="zh-CN" dirty="0"/>
          </a:p>
          <a:p>
            <a:endParaRPr lang="en-US" altLang="zh-CN" dirty="0"/>
          </a:p>
          <a:p>
            <a:r>
              <a:rPr lang="en-US" altLang="zh-CN" dirty="0"/>
              <a:t>2.</a:t>
            </a:r>
            <a:r>
              <a:rPr lang="zh-CN" altLang="en-US" dirty="0"/>
              <a:t>客户定期</a:t>
            </a:r>
            <a:r>
              <a:rPr lang="zh-CN" altLang="en-US" baseline="0" dirty="0"/>
              <a:t>地参与对已完成部分的评估</a:t>
            </a:r>
            <a:r>
              <a:rPr lang="en-US" altLang="zh-CN" baseline="0" dirty="0"/>
              <a:t> </a:t>
            </a:r>
          </a:p>
          <a:p>
            <a:r>
              <a:rPr lang="zh-CN" altLang="en-US" baseline="0" dirty="0"/>
              <a:t>从而使开发人员获得对调整和澄清需求的反馈</a:t>
            </a:r>
            <a:endParaRPr lang="en-US" altLang="zh-CN" baseline="0" dirty="0"/>
          </a:p>
          <a:p>
            <a:endParaRPr lang="en-US" altLang="zh-CN" baseline="0" dirty="0"/>
          </a:p>
          <a:p>
            <a:r>
              <a:rPr lang="en-US" altLang="zh-CN" baseline="0" dirty="0"/>
              <a:t>3.</a:t>
            </a:r>
            <a:r>
              <a:rPr lang="zh-CN" altLang="en-US" baseline="0" dirty="0"/>
              <a:t>已经对系统，包括所有的子系统，进行了完整的集成和固化</a:t>
            </a:r>
            <a:endParaRPr lang="en-US" altLang="zh-CN" baseline="0" dirty="0"/>
          </a:p>
          <a:p>
            <a:r>
              <a:rPr lang="zh-CN" altLang="en-US" baseline="0" dirty="0"/>
              <a:t>使其成为基线化的内部版本</a:t>
            </a:r>
            <a:endParaRPr lang="en-US" altLang="zh-CN" baseline="0"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10</a:t>
            </a:fld>
            <a:endParaRPr lang="zh-CN" altLang="en-US"/>
          </a:p>
        </p:txBody>
      </p:sp>
    </p:spTree>
    <p:extLst>
      <p:ext uri="{BB962C8B-B14F-4D97-AF65-F5344CB8AC3E}">
        <p14:creationId xmlns:p14="http://schemas.microsoft.com/office/powerpoint/2010/main" val="40967457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迭代</a:t>
            </a:r>
            <a:r>
              <a:rPr lang="en-US" altLang="zh-CN" dirty="0"/>
              <a:t>2</a:t>
            </a:r>
            <a:r>
              <a:rPr lang="zh-CN" altLang="en-US" dirty="0"/>
              <a:t>的需求和重点：对象设计和模式</a:t>
            </a:r>
            <a:endParaRPr lang="en-US" altLang="zh-CN" dirty="0"/>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迭代</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很大程度上忽视了案例研究的需求分析和领域分析</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而是着重于使用职责和</a:t>
            </a:r>
            <a:r>
              <a:rPr lang="en-US" altLang="zh-CN" sz="1200" kern="1200" dirty="0">
                <a:solidFill>
                  <a:schemeClr val="tx1"/>
                </a:solidFill>
                <a:effectLst/>
                <a:latin typeface="+mn-lt"/>
                <a:ea typeface="+mn-ea"/>
                <a:cs typeface="+mn-cs"/>
              </a:rPr>
              <a:t>GRASP</a:t>
            </a:r>
            <a:r>
              <a:rPr lang="zh-CN" altLang="zh-CN" sz="1200" kern="1200" dirty="0">
                <a:solidFill>
                  <a:schemeClr val="tx1"/>
                </a:solidFill>
                <a:effectLst/>
                <a:latin typeface="+mn-lt"/>
                <a:ea typeface="+mn-ea"/>
                <a:cs typeface="+mn-cs"/>
              </a:rPr>
              <a:t>进行对象设计</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并</a:t>
            </a:r>
            <a:r>
              <a:rPr lang="zh-CN" altLang="zh-CN" sz="1200" kern="1200" dirty="0">
                <a:solidFill>
                  <a:schemeClr val="tx1"/>
                </a:solidFill>
                <a:effectLst/>
                <a:latin typeface="+mn-lt"/>
                <a:ea typeface="+mn-ea"/>
                <a:cs typeface="+mn-cs"/>
              </a:rPr>
              <a:t>且应用一些</a:t>
            </a:r>
            <a:r>
              <a:rPr lang="en-US" altLang="zh-CN" sz="1200" kern="1200" dirty="0" err="1">
                <a:solidFill>
                  <a:schemeClr val="tx1"/>
                </a:solidFill>
                <a:effectLst/>
                <a:latin typeface="+mn-lt"/>
                <a:ea typeface="+mn-ea"/>
                <a:cs typeface="+mn-cs"/>
              </a:rPr>
              <a:t>GoF</a:t>
            </a:r>
            <a:r>
              <a:rPr lang="zh-CN" altLang="zh-CN" sz="1200" kern="1200" dirty="0">
                <a:solidFill>
                  <a:schemeClr val="tx1"/>
                </a:solidFill>
                <a:effectLst/>
                <a:latin typeface="+mn-lt"/>
                <a:ea typeface="+mn-ea"/>
                <a:cs typeface="+mn-cs"/>
              </a:rPr>
              <a:t>设计模式</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我们在定义需求的优先级时采取了一些特例</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其目的是为了支持教学目标而非项目风险目标</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这个</a:t>
            </a:r>
            <a:r>
              <a:rPr lang="zh-CN" altLang="zh-CN" sz="1200" kern="1200" dirty="0">
                <a:solidFill>
                  <a:schemeClr val="tx1"/>
                </a:solidFill>
                <a:effectLst/>
                <a:latin typeface="+mn-lt"/>
                <a:ea typeface="+mn-ea"/>
                <a:cs typeface="+mn-cs"/>
              </a:rPr>
              <a:t>教学目标</a:t>
            </a:r>
            <a:r>
              <a:rPr lang="zh-CN" altLang="en-US" sz="1200" kern="1200" dirty="0">
                <a:solidFill>
                  <a:schemeClr val="tx1"/>
                </a:solidFill>
                <a:effectLst/>
                <a:latin typeface="+mn-lt"/>
                <a:ea typeface="+mn-ea"/>
                <a:cs typeface="+mn-cs"/>
              </a:rPr>
              <a:t>是</a:t>
            </a:r>
            <a:r>
              <a:rPr lang="zh-CN" altLang="zh-CN" sz="1200" kern="1200" dirty="0">
                <a:solidFill>
                  <a:schemeClr val="tx1"/>
                </a:solidFill>
                <a:effectLst/>
                <a:latin typeface="+mn-lt"/>
                <a:ea typeface="+mn-ea"/>
                <a:cs typeface="+mn-cs"/>
              </a:rPr>
              <a:t>帮助我们在早期迭代中</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解释</a:t>
            </a:r>
            <a:r>
              <a:rPr lang="en-US" altLang="zh-CN" sz="1200" kern="1200" dirty="0">
                <a:solidFill>
                  <a:schemeClr val="tx1"/>
                </a:solidFill>
                <a:effectLst/>
                <a:latin typeface="+mn-lt"/>
                <a:ea typeface="+mn-ea"/>
                <a:cs typeface="+mn-cs"/>
              </a:rPr>
              <a:t>OOA /D</a:t>
            </a:r>
            <a:r>
              <a:rPr lang="zh-CN" altLang="zh-CN" sz="1200" kern="1200" dirty="0">
                <a:solidFill>
                  <a:schemeClr val="tx1"/>
                </a:solidFill>
                <a:effectLst/>
                <a:latin typeface="+mn-lt"/>
                <a:ea typeface="+mn-ea"/>
                <a:cs typeface="+mn-cs"/>
              </a:rPr>
              <a:t>的基本思想和原则</a:t>
            </a: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11</a:t>
            </a:fld>
            <a:endParaRPr lang="zh-CN" altLang="en-US"/>
          </a:p>
        </p:txBody>
      </p:sp>
    </p:spTree>
    <p:extLst>
      <p:ext uri="{BB962C8B-B14F-4D97-AF65-F5344CB8AC3E}">
        <p14:creationId xmlns:p14="http://schemas.microsoft.com/office/powerpoint/2010/main" val="35760004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a:solidFill>
                  <a:schemeClr val="tx1"/>
                </a:solidFill>
                <a:effectLst/>
                <a:latin typeface="+mn-lt"/>
                <a:ea typeface="+mn-ea"/>
                <a:cs typeface="+mn-cs"/>
              </a:rPr>
              <a:t>NextGen</a:t>
            </a:r>
            <a:r>
              <a:rPr lang="en-US" altLang="zh-CN" sz="1200" kern="1200" dirty="0">
                <a:solidFill>
                  <a:schemeClr val="tx1"/>
                </a:solidFill>
                <a:effectLst/>
                <a:latin typeface="+mn-lt"/>
                <a:ea typeface="+mn-ea"/>
                <a:cs typeface="+mn-cs"/>
              </a:rPr>
              <a:t> POS</a:t>
            </a:r>
            <a:r>
              <a:rPr lang="zh-CN" altLang="zh-CN" sz="1200" kern="1200" dirty="0">
                <a:solidFill>
                  <a:schemeClr val="tx1"/>
                </a:solidFill>
                <a:effectLst/>
                <a:latin typeface="+mn-lt"/>
                <a:ea typeface="+mn-ea"/>
                <a:cs typeface="+mn-cs"/>
              </a:rPr>
              <a:t>应用中的迭代</a:t>
            </a:r>
            <a:r>
              <a:rPr lang="en-US" altLang="zh-CN" sz="1200" kern="1200" dirty="0">
                <a:solidFill>
                  <a:schemeClr val="tx1"/>
                </a:solidFill>
                <a:effectLst/>
                <a:latin typeface="+mn-lt"/>
                <a:ea typeface="+mn-ea"/>
                <a:cs typeface="+mn-cs"/>
              </a:rPr>
              <a:t>2</a:t>
            </a: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要处理以下几个我们关注的需求</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1.1</a:t>
            </a:r>
            <a:r>
              <a:rPr lang="zh-CN" altLang="zh-CN" sz="1200" kern="1200" dirty="0">
                <a:solidFill>
                  <a:schemeClr val="tx1"/>
                </a:solidFill>
                <a:effectLst/>
                <a:latin typeface="+mn-lt"/>
                <a:ea typeface="+mn-ea"/>
                <a:cs typeface="+mn-cs"/>
              </a:rPr>
              <a:t>支持第三方外</a:t>
            </a:r>
            <a:r>
              <a:rPr lang="zh-CN" altLang="zh-CN" sz="1200" kern="1200">
                <a:solidFill>
                  <a:schemeClr val="tx1"/>
                </a:solidFill>
                <a:effectLst/>
                <a:latin typeface="+mn-lt"/>
                <a:ea typeface="+mn-ea"/>
                <a:cs typeface="+mn-cs"/>
              </a:rPr>
              <a:t>部服务的</a:t>
            </a:r>
            <a:r>
              <a:rPr lang="zh-CN" altLang="zh-CN" sz="1200" kern="1200" dirty="0">
                <a:solidFill>
                  <a:schemeClr val="tx1"/>
                </a:solidFill>
                <a:effectLst/>
                <a:latin typeface="+mn-lt"/>
                <a:ea typeface="+mn-ea"/>
                <a:cs typeface="+mn-cs"/>
              </a:rPr>
              <a:t>变化</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1.2 </a:t>
            </a:r>
            <a:r>
              <a:rPr lang="zh-CN" altLang="zh-CN" sz="1200" kern="1200" dirty="0">
                <a:solidFill>
                  <a:schemeClr val="tx1"/>
                </a:solidFill>
                <a:effectLst/>
                <a:latin typeface="+mn-lt"/>
                <a:ea typeface="+mn-ea"/>
                <a:cs typeface="+mn-cs"/>
              </a:rPr>
              <a:t>复杂的定价规则</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1.3 </a:t>
            </a:r>
            <a:r>
              <a:rPr lang="zh-CN" altLang="zh-CN" sz="1200" kern="1200" dirty="0">
                <a:solidFill>
                  <a:schemeClr val="tx1"/>
                </a:solidFill>
                <a:effectLst/>
                <a:latin typeface="+mn-lt"/>
                <a:ea typeface="+mn-ea"/>
                <a:cs typeface="+mn-cs"/>
              </a:rPr>
              <a:t>需要进行设计，使得在销售总额变化时刷新</a:t>
            </a:r>
            <a:r>
              <a:rPr lang="en-US" altLang="zh-CN" sz="1200" kern="1200" dirty="0">
                <a:solidFill>
                  <a:schemeClr val="tx1"/>
                </a:solidFill>
                <a:effectLst/>
                <a:latin typeface="+mn-lt"/>
                <a:ea typeface="+mn-ea"/>
                <a:cs typeface="+mn-cs"/>
              </a:rPr>
              <a:t>GUI</a:t>
            </a:r>
            <a:r>
              <a:rPr lang="zh-CN" altLang="zh-CN" sz="1200" kern="1200" dirty="0">
                <a:solidFill>
                  <a:schemeClr val="tx1"/>
                </a:solidFill>
                <a:effectLst/>
                <a:latin typeface="+mn-lt"/>
                <a:ea typeface="+mn-ea"/>
                <a:cs typeface="+mn-cs"/>
              </a:rPr>
              <a:t>窗口</a:t>
            </a:r>
            <a:endParaRPr lang="en-US" altLang="zh-CN" sz="1200" kern="1200" dirty="0">
              <a:solidFill>
                <a:schemeClr val="tx1"/>
              </a:solidFill>
              <a:effectLst/>
              <a:latin typeface="+mn-lt"/>
              <a:ea typeface="+mn-ea"/>
              <a:cs typeface="+mn-cs"/>
            </a:endParaRPr>
          </a:p>
          <a:p>
            <a:endParaRPr lang="en-US" altLang="zh-CN" dirty="0"/>
          </a:p>
          <a:p>
            <a:endParaRPr lang="en-US" altLang="zh-CN" dirty="0"/>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只在处理销售用例的场景语境中</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才</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为本次迭代</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考虑这些需求</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12</a:t>
            </a:fld>
            <a:endParaRPr lang="zh-CN" altLang="en-US"/>
          </a:p>
        </p:txBody>
      </p:sp>
    </p:spTree>
    <p:extLst>
      <p:ext uri="{BB962C8B-B14F-4D97-AF65-F5344CB8AC3E}">
        <p14:creationId xmlns:p14="http://schemas.microsoft.com/office/powerpoint/2010/main" val="3135172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主成功场景</a:t>
            </a:r>
            <a:endParaRPr lang="en-US" altLang="zh-CN" dirty="0"/>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顾客携带所要购买的商品或服务到达</a:t>
            </a:r>
            <a:r>
              <a:rPr lang="en-US" altLang="zh-CN" sz="1200" kern="1200" dirty="0">
                <a:solidFill>
                  <a:schemeClr val="tx1"/>
                </a:solidFill>
                <a:effectLst/>
                <a:latin typeface="+mn-lt"/>
                <a:ea typeface="+mn-ea"/>
                <a:cs typeface="+mn-cs"/>
              </a:rPr>
              <a:t>POS</a:t>
            </a:r>
            <a:r>
              <a:rPr lang="zh-CN" altLang="zh-CN" sz="1200" kern="1200" dirty="0">
                <a:solidFill>
                  <a:schemeClr val="tx1"/>
                </a:solidFill>
                <a:effectLst/>
                <a:latin typeface="+mn-lt"/>
                <a:ea typeface="+mn-ea"/>
                <a:cs typeface="+mn-cs"/>
              </a:rPr>
              <a:t>收费口</a:t>
            </a: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收银员请求系统创建新销售</a:t>
            </a:r>
          </a:p>
          <a:p>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收银员输入商品项目的标识</a:t>
            </a:r>
          </a:p>
          <a:p>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系统记录销售项目并展现</a:t>
            </a:r>
            <a:r>
              <a:rPr lang="zh-CN" altLang="en-US" sz="1200" kern="1200" dirty="0">
                <a:solidFill>
                  <a:schemeClr val="tx1"/>
                </a:solidFill>
                <a:effectLst/>
                <a:latin typeface="+mn-lt"/>
                <a:ea typeface="+mn-ea"/>
                <a:cs typeface="+mn-cs"/>
              </a:rPr>
              <a:t>该</a:t>
            </a:r>
            <a:r>
              <a:rPr lang="zh-CN" altLang="zh-CN" sz="1200" kern="1200" dirty="0">
                <a:solidFill>
                  <a:schemeClr val="tx1"/>
                </a:solidFill>
                <a:effectLst/>
                <a:latin typeface="+mn-lt"/>
                <a:ea typeface="+mn-ea"/>
                <a:cs typeface="+mn-cs"/>
              </a:rPr>
              <a:t>项目</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描述、价格和累计总额</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根据一系列定价规则计算价格</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13</a:t>
            </a:fld>
            <a:endParaRPr lang="zh-CN" altLang="en-US"/>
          </a:p>
        </p:txBody>
      </p:sp>
    </p:spTree>
    <p:extLst>
      <p:ext uri="{BB962C8B-B14F-4D97-AF65-F5344CB8AC3E}">
        <p14:creationId xmlns:p14="http://schemas.microsoft.com/office/powerpoint/2010/main" val="5039794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补充规约</a:t>
            </a:r>
            <a:endParaRPr kumimoji="1" lang="en-US" altLang="zh-CN" dirty="0"/>
          </a:p>
          <a:p>
            <a:endParaRPr kumimoji="1" lang="en-US" altLang="zh-CN" dirty="0"/>
          </a:p>
          <a:p>
            <a:r>
              <a:rPr kumimoji="1" lang="zh-CN" altLang="en-US" dirty="0"/>
              <a:t>接口</a:t>
            </a:r>
            <a:endParaRPr kumimoji="1" lang="en-US" altLang="zh-CN" dirty="0"/>
          </a:p>
          <a:p>
            <a:r>
              <a:rPr kumimoji="1" lang="en-US" altLang="zh-CN" dirty="0"/>
              <a:t>1.</a:t>
            </a:r>
            <a:r>
              <a:rPr kumimoji="1" lang="zh-CN" altLang="en-US" dirty="0"/>
              <a:t>软件接口</a:t>
            </a:r>
            <a:endParaRPr kumimoji="1" lang="en-US" altLang="zh-CN" dirty="0"/>
          </a:p>
          <a:p>
            <a:r>
              <a:rPr kumimoji="1" lang="en-US" altLang="zh-CN" dirty="0"/>
              <a:t>2.</a:t>
            </a:r>
            <a:r>
              <a:rPr kumimoji="1" lang="zh-CN" altLang="en-US" dirty="0"/>
              <a:t>对于重要的外部协作系统（税金计算器，账务，库存）</a:t>
            </a:r>
            <a:endParaRPr kumimoji="1" lang="en-US" altLang="zh-CN" dirty="0"/>
          </a:p>
          <a:p>
            <a:r>
              <a:rPr kumimoji="1" lang="en-US" altLang="zh-CN" dirty="0"/>
              <a:t>3.</a:t>
            </a:r>
            <a:r>
              <a:rPr kumimoji="1" lang="zh-CN" altLang="en-US" dirty="0"/>
              <a:t>我们需要插入各种系统 因此需要多种接口</a:t>
            </a:r>
          </a:p>
        </p:txBody>
      </p:sp>
      <p:sp>
        <p:nvSpPr>
          <p:cNvPr id="4" name="幻灯片编号占位符 3"/>
          <p:cNvSpPr>
            <a:spLocks noGrp="1"/>
          </p:cNvSpPr>
          <p:nvPr>
            <p:ph type="sldNum" sz="quarter" idx="10"/>
          </p:nvPr>
        </p:nvSpPr>
        <p:spPr/>
        <p:txBody>
          <a:bodyPr/>
          <a:lstStyle/>
          <a:p>
            <a:pPr>
              <a:defRPr/>
            </a:pPr>
            <a:fld id="{EEE2F72D-D5C7-4DF3-B4ED-3587E774A382}" type="slidenum">
              <a:rPr lang="zh-CN" altLang="en-US" smtClean="0"/>
              <a:pPr>
                <a:defRPr/>
              </a:pPr>
              <a:t>14</a:t>
            </a:fld>
            <a:endParaRPr lang="zh-CN" altLang="en-US"/>
          </a:p>
        </p:txBody>
      </p:sp>
    </p:spTree>
    <p:extLst>
      <p:ext uri="{BB962C8B-B14F-4D97-AF65-F5344CB8AC3E}">
        <p14:creationId xmlns:p14="http://schemas.microsoft.com/office/powerpoint/2010/main" val="1152397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领域规则</a:t>
            </a:r>
            <a:endParaRPr lang="en-US" altLang="zh-CN" dirty="0"/>
          </a:p>
          <a:p>
            <a:endParaRPr lang="en-US" altLang="zh-CN" dirty="0"/>
          </a:p>
          <a:p>
            <a:r>
              <a:rPr lang="zh-CN" altLang="en-US" sz="1200" kern="1200" dirty="0">
                <a:solidFill>
                  <a:schemeClr val="tx1"/>
                </a:solidFill>
                <a:effectLst/>
                <a:latin typeface="+mn-lt"/>
                <a:ea typeface="+mn-ea"/>
                <a:cs typeface="+mn-cs"/>
              </a:rPr>
              <a:t>规则编号：</a:t>
            </a:r>
            <a:r>
              <a:rPr lang="zh-CN" altLang="zh-CN" sz="1200" kern="1200" dirty="0">
                <a:solidFill>
                  <a:schemeClr val="tx1"/>
                </a:solidFill>
                <a:effectLst/>
                <a:latin typeface="+mn-lt"/>
                <a:ea typeface="+mn-ea"/>
                <a:cs typeface="+mn-cs"/>
              </a:rPr>
              <a:t>规则</a:t>
            </a:r>
            <a:r>
              <a:rPr lang="en-US" altLang="zh-CN" sz="1200" kern="1200" dirty="0">
                <a:solidFill>
                  <a:schemeClr val="tx1"/>
                </a:solidFill>
                <a:effectLst/>
                <a:latin typeface="+mn-lt"/>
                <a:ea typeface="+mn-ea"/>
                <a:cs typeface="+mn-cs"/>
              </a:rPr>
              <a:t>4   </a:t>
            </a:r>
          </a:p>
          <a:p>
            <a:r>
              <a:rPr lang="zh-CN" altLang="en-US" sz="1200" kern="1200" dirty="0">
                <a:solidFill>
                  <a:schemeClr val="tx1"/>
                </a:solidFill>
                <a:effectLst/>
                <a:latin typeface="+mn-lt"/>
                <a:ea typeface="+mn-ea"/>
                <a:cs typeface="+mn-cs"/>
              </a:rPr>
              <a:t>规则描述：</a:t>
            </a:r>
            <a:r>
              <a:rPr lang="zh-CN" altLang="zh-CN" sz="1200" kern="1200" dirty="0">
                <a:solidFill>
                  <a:schemeClr val="tx1"/>
                </a:solidFill>
                <a:effectLst/>
                <a:latin typeface="+mn-lt"/>
                <a:ea typeface="+mn-ea"/>
                <a:cs typeface="+mn-cs"/>
              </a:rPr>
              <a:t>购买者打折规则</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例如</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 员工打折</a:t>
            </a:r>
            <a:r>
              <a:rPr lang="en-US" altLang="zh-CN" sz="1200" kern="1200" dirty="0">
                <a:solidFill>
                  <a:schemeClr val="tx1"/>
                </a:solidFill>
                <a:effectLst/>
                <a:latin typeface="+mn-lt"/>
                <a:ea typeface="+mn-ea"/>
                <a:cs typeface="+mn-cs"/>
              </a:rPr>
              <a:t>20%   </a:t>
            </a:r>
            <a:r>
              <a:rPr lang="zh-CN" altLang="zh-CN" sz="1200" kern="1200" dirty="0">
                <a:solidFill>
                  <a:schemeClr val="tx1"/>
                </a:solidFill>
                <a:effectLst/>
                <a:latin typeface="+mn-lt"/>
                <a:ea typeface="+mn-ea"/>
                <a:cs typeface="+mn-cs"/>
              </a:rPr>
              <a:t>优先顾客打折</a:t>
            </a:r>
            <a:r>
              <a:rPr lang="en-US" altLang="zh-CN" sz="1200" kern="1200" dirty="0">
                <a:solidFill>
                  <a:schemeClr val="tx1"/>
                </a:solidFill>
                <a:effectLst/>
                <a:latin typeface="+mn-lt"/>
                <a:ea typeface="+mn-ea"/>
                <a:cs typeface="+mn-cs"/>
              </a:rPr>
              <a:t>10%  </a:t>
            </a:r>
            <a:r>
              <a:rPr lang="zh-CN" altLang="zh-CN" sz="1200" kern="1200" dirty="0">
                <a:solidFill>
                  <a:schemeClr val="tx1"/>
                </a:solidFill>
                <a:effectLst/>
                <a:latin typeface="+mn-lt"/>
                <a:ea typeface="+mn-ea"/>
                <a:cs typeface="+mn-cs"/>
              </a:rPr>
              <a:t>高级顾客打折</a:t>
            </a:r>
            <a:r>
              <a:rPr lang="en-US" altLang="zh-CN" sz="1200" kern="1200" dirty="0">
                <a:solidFill>
                  <a:schemeClr val="tx1"/>
                </a:solidFill>
                <a:effectLst/>
                <a:latin typeface="+mn-lt"/>
                <a:ea typeface="+mn-ea"/>
                <a:cs typeface="+mn-cs"/>
              </a:rPr>
              <a:t>15%</a:t>
            </a:r>
          </a:p>
          <a:p>
            <a:r>
              <a:rPr lang="zh-CN" altLang="en-US" sz="1200" kern="1200" dirty="0">
                <a:solidFill>
                  <a:schemeClr val="tx1"/>
                </a:solidFill>
                <a:effectLst/>
                <a:latin typeface="+mn-lt"/>
                <a:ea typeface="+mn-ea"/>
                <a:cs typeface="+mn-cs"/>
              </a:rPr>
              <a:t>可变性：可变性</a:t>
            </a:r>
            <a:r>
              <a:rPr lang="zh-CN" altLang="zh-CN" sz="1200" kern="1200" dirty="0">
                <a:solidFill>
                  <a:schemeClr val="tx1"/>
                </a:solidFill>
                <a:effectLst/>
                <a:latin typeface="+mn-lt"/>
                <a:ea typeface="+mn-ea"/>
                <a:cs typeface="+mn-cs"/>
              </a:rPr>
              <a:t>高</a:t>
            </a:r>
            <a:r>
              <a:rPr lang="zh-CN" altLang="en-US" sz="1200" kern="1200" dirty="0">
                <a:solidFill>
                  <a:schemeClr val="tx1"/>
                </a:solidFill>
                <a:effectLst/>
                <a:latin typeface="+mn-lt"/>
                <a:ea typeface="+mn-ea"/>
                <a:cs typeface="+mn-cs"/>
              </a:rPr>
              <a:t>政策  </a:t>
            </a:r>
            <a:r>
              <a:rPr lang="zh-CN" altLang="zh-CN" sz="1200" kern="1200" dirty="0">
                <a:solidFill>
                  <a:schemeClr val="tx1"/>
                </a:solidFill>
                <a:effectLst/>
                <a:latin typeface="+mn-lt"/>
                <a:ea typeface="+mn-ea"/>
                <a:cs typeface="+mn-cs"/>
              </a:rPr>
              <a:t>每个零售商都有不同的规则</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来源： 零售商</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15</a:t>
            </a:fld>
            <a:endParaRPr lang="zh-CN" altLang="en-US"/>
          </a:p>
        </p:txBody>
      </p:sp>
    </p:spTree>
    <p:extLst>
      <p:ext uri="{BB962C8B-B14F-4D97-AF65-F5344CB8AC3E}">
        <p14:creationId xmlns:p14="http://schemas.microsoft.com/office/powerpoint/2010/main" val="6149090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跨越多次迭代对用例进行增量式开发</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由于这些需求</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我们要在迭代</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中对</a:t>
            </a:r>
            <a:r>
              <a:rPr lang="zh-CN" altLang="zh-CN" sz="1200" b="1" kern="1200" dirty="0">
                <a:solidFill>
                  <a:schemeClr val="tx1"/>
                </a:solidFill>
                <a:effectLst/>
                <a:latin typeface="+mn-lt"/>
                <a:ea typeface="+mn-ea"/>
                <a:cs typeface="+mn-cs"/>
              </a:rPr>
              <a:t>处理销售</a:t>
            </a:r>
            <a:r>
              <a:rPr lang="zh-CN" altLang="zh-CN" sz="1200" kern="1200" dirty="0">
                <a:solidFill>
                  <a:schemeClr val="tx1"/>
                </a:solidFill>
                <a:effectLst/>
                <a:latin typeface="+mn-lt"/>
                <a:ea typeface="+mn-ea"/>
                <a:cs typeface="+mn-cs"/>
              </a:rPr>
              <a:t>用例进行修订</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但是因为实现了更多场景，所以该系统是增量式发展的</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常见的方式是，在多次迭代中对同一用例的不同场景或特性进行工作</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并且逐渐地扩展系统以最终实现对所有功能需求的处理</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另一方面，在一次迭代内也可以完全实现一些简短的用例</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但是，不应该把一个场景分开在多次迭代中处理</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一次迭代应该完成一个或多个端到端的场景</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16</a:t>
            </a:fld>
            <a:endParaRPr lang="zh-CN" altLang="en-US"/>
          </a:p>
        </p:txBody>
      </p:sp>
    </p:spTree>
    <p:extLst>
      <p:ext uri="{BB962C8B-B14F-4D97-AF65-F5344CB8AC3E}">
        <p14:creationId xmlns:p14="http://schemas.microsoft.com/office/powerpoint/2010/main" val="25982328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下面请大家 回顾一下本次课的知识内容</a:t>
            </a:r>
            <a:endParaRPr lang="en-US" altLang="zh-CN" dirty="0"/>
          </a:p>
          <a:p>
            <a:r>
              <a:rPr lang="en-US" altLang="zh-CN" dirty="0"/>
              <a:t>1. </a:t>
            </a:r>
            <a:r>
              <a:rPr lang="zh-CN" altLang="en-US" dirty="0"/>
              <a:t>如何快速更新分析</a:t>
            </a:r>
            <a:r>
              <a:rPr lang="en-US" altLang="zh-CN" dirty="0"/>
              <a:t>?</a:t>
            </a:r>
          </a:p>
          <a:p>
            <a:r>
              <a:rPr lang="en-US" altLang="zh-CN" dirty="0"/>
              <a:t>2. </a:t>
            </a:r>
            <a:r>
              <a:rPr lang="zh-CN" altLang="en-US" dirty="0"/>
              <a:t>当迭代</a:t>
            </a:r>
            <a:r>
              <a:rPr lang="en-US" altLang="zh-CN" dirty="0"/>
              <a:t>1 </a:t>
            </a:r>
            <a:r>
              <a:rPr lang="zh-CN" altLang="en-US" dirty="0"/>
              <a:t>结束时，</a:t>
            </a:r>
            <a:r>
              <a:rPr lang="zh-CN" altLang="en-US" baseline="0" dirty="0"/>
              <a:t>应该完成哪些任务</a:t>
            </a:r>
            <a:r>
              <a:rPr lang="en-US" altLang="zh-CN" baseline="0" dirty="0"/>
              <a:t>?</a:t>
            </a:r>
          </a:p>
          <a:p>
            <a:r>
              <a:rPr lang="en-US" altLang="zh-CN" baseline="0" dirty="0"/>
              <a:t>3. </a:t>
            </a:r>
            <a:r>
              <a:rPr lang="zh-CN" altLang="en-US" baseline="0" dirty="0"/>
              <a:t>在迭代</a:t>
            </a:r>
            <a:r>
              <a:rPr lang="en-US" altLang="zh-CN" baseline="0" dirty="0"/>
              <a:t>2</a:t>
            </a:r>
            <a:r>
              <a:rPr lang="zh-CN" altLang="en-US" baseline="0" dirty="0"/>
              <a:t>，案例研究强调的内容是什么？</a:t>
            </a:r>
            <a:endParaRPr lang="en-US" altLang="zh-CN" baseline="0"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17</a:t>
            </a:fld>
            <a:endParaRPr lang="zh-CN" altLang="en-US"/>
          </a:p>
        </p:txBody>
      </p:sp>
    </p:spTree>
    <p:extLst>
      <p:ext uri="{BB962C8B-B14F-4D97-AF65-F5344CB8AC3E}">
        <p14:creationId xmlns:p14="http://schemas.microsoft.com/office/powerpoint/2010/main" val="9706602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最后，作为扩展知识域的学习</a:t>
            </a:r>
            <a:endParaRPr lang="en-US" altLang="zh-CN" dirty="0"/>
          </a:p>
          <a:p>
            <a:r>
              <a:rPr lang="zh-CN" altLang="en-US" dirty="0"/>
              <a:t>请大家课后回答</a:t>
            </a:r>
            <a:endParaRPr lang="en-US" altLang="zh-CN" dirty="0"/>
          </a:p>
          <a:p>
            <a:r>
              <a:rPr lang="en-US" altLang="zh-CN" dirty="0"/>
              <a:t>1.</a:t>
            </a:r>
            <a:r>
              <a:rPr lang="zh-CN" altLang="en-US" dirty="0"/>
              <a:t>什么是对象设计的本质？</a:t>
            </a:r>
            <a:endParaRPr lang="en-US" altLang="zh-CN" dirty="0"/>
          </a:p>
          <a:p>
            <a:r>
              <a:rPr lang="en-US" altLang="zh-CN" dirty="0"/>
              <a:t>2.</a:t>
            </a:r>
            <a:r>
              <a:rPr lang="zh-CN" altLang="en-US" dirty="0"/>
              <a:t>如何使用模式创建坚实的设计？</a:t>
            </a:r>
            <a:endParaRPr lang="en-US" altLang="zh-CN" dirty="0"/>
          </a:p>
          <a:p>
            <a:r>
              <a:rPr lang="en-US" altLang="zh-CN" dirty="0"/>
              <a:t>3.</a:t>
            </a:r>
            <a:r>
              <a:rPr lang="zh-CN" altLang="en-US" dirty="0"/>
              <a:t>如何使用</a:t>
            </a:r>
            <a:r>
              <a:rPr lang="en-US" altLang="zh-CN" dirty="0"/>
              <a:t>UML</a:t>
            </a:r>
            <a:r>
              <a:rPr lang="zh-CN" altLang="en-US" dirty="0"/>
              <a:t>可视化建模？</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18</a:t>
            </a:fld>
            <a:endParaRPr lang="zh-CN" altLang="en-US"/>
          </a:p>
        </p:txBody>
      </p:sp>
    </p:spTree>
    <p:extLst>
      <p:ext uri="{BB962C8B-B14F-4D97-AF65-F5344CB8AC3E}">
        <p14:creationId xmlns:p14="http://schemas.microsoft.com/office/powerpoint/2010/main" val="3082964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baseline="0">
                <a:latin typeface="Microsoft JhengHei Light" panose="020B0304030504040204" pitchFamily="34" charset="-120"/>
                <a:ea typeface="+mn-ea"/>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2" name="Title Placeholder 1"/>
          <p:cNvSpPr>
            <a:spLocks noGrp="1"/>
          </p:cNvSpPr>
          <p:nvPr>
            <p:ph type="title"/>
          </p:nvPr>
        </p:nvSpPr>
        <p:spPr bwMode="auto">
          <a:xfrm>
            <a:off x="828173" y="2132856"/>
            <a:ext cx="10535653"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b="1" baseline="0">
                <a:latin typeface="Microsoft JhengHei Light" panose="020B0304030504040204" pitchFamily="34" charset="-120"/>
                <a:ea typeface="+mn-ea"/>
                <a:cs typeface="Malgun Gothic Semilight" panose="020B0502040204020203" pitchFamily="34" charset="-122"/>
              </a:defRPr>
            </a:lvl1pPr>
          </a:lstStyle>
          <a:p>
            <a:pPr lvl="0"/>
            <a:r>
              <a:rPr lang="zh-CN" altLang="en-US"/>
              <a:t>单击此处编辑母版标题样式</a:t>
            </a:r>
            <a:endParaRPr lang="zh-CN" altLang="en-US" dirty="0"/>
          </a:p>
        </p:txBody>
      </p:sp>
    </p:spTree>
    <p:extLst>
      <p:ext uri="{BB962C8B-B14F-4D97-AF65-F5344CB8AC3E}">
        <p14:creationId xmlns:p14="http://schemas.microsoft.com/office/powerpoint/2010/main" val="62522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cxnSp>
        <p:nvCxnSpPr>
          <p:cNvPr id="4" name="直接连接符 3"/>
          <p:cNvCxnSpPr/>
          <p:nvPr/>
        </p:nvCxnSpPr>
        <p:spPr>
          <a:xfrm>
            <a:off x="0" y="981075"/>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5" name="直接连接符 4"/>
          <p:cNvCxnSpPr/>
          <p:nvPr/>
        </p:nvCxnSpPr>
        <p:spPr>
          <a:xfrm>
            <a:off x="0" y="6802438"/>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3" name="Content Placeholder 2"/>
          <p:cNvSpPr>
            <a:spLocks noGrp="1"/>
          </p:cNvSpPr>
          <p:nvPr>
            <p:ph idx="1"/>
          </p:nvPr>
        </p:nvSpPr>
        <p:spPr>
          <a:xfrm>
            <a:off x="533400" y="1341438"/>
            <a:ext cx="10515600" cy="4351337"/>
          </a:xfrm>
        </p:spPr>
        <p:txBody>
          <a:bodyPr/>
          <a:lstStyle>
            <a:lvl1pPr>
              <a:defRPr>
                <a:latin typeface="Microsoft JhengHei Light" panose="020B0304030504040204" pitchFamily="34" charset="-120"/>
                <a:cs typeface="Times New Roman" panose="02020603050405020304" pitchFamily="18" charset="0"/>
              </a:defRPr>
            </a:lvl1pPr>
            <a:lvl2pPr>
              <a:defRPr>
                <a:solidFill>
                  <a:schemeClr val="tx1"/>
                </a:solidFill>
                <a:latin typeface="Microsoft JhengHei Light" panose="020B0304030504040204" pitchFamily="34" charset="-120"/>
                <a:cs typeface="Times New Roman" panose="02020603050405020304" pitchFamily="18" charset="0"/>
              </a:defRPr>
            </a:lvl2pPr>
            <a:lvl3pPr>
              <a:defRPr>
                <a:latin typeface="Microsoft JhengHei Light" panose="020B0304030504040204" pitchFamily="34" charset="-120"/>
                <a:cs typeface="Times New Roman" panose="02020603050405020304" pitchFamily="18" charset="0"/>
              </a:defRPr>
            </a:lvl3pPr>
            <a:lvl4pPr>
              <a:defRPr>
                <a:latin typeface="Microsoft JhengHei Light" panose="020B0304030504040204" pitchFamily="34" charset="-120"/>
                <a:cs typeface="Times New Roman" panose="02020603050405020304" pitchFamily="18" charset="0"/>
              </a:defRPr>
            </a:lvl4pPr>
            <a:lvl5pPr>
              <a:defRPr>
                <a:latin typeface="Microsoft JhengHei Light" panose="020B0304030504040204" pitchFamily="34" charset="-120"/>
                <a:cs typeface="Times New Roman" panose="02020603050405020304" pitchFamily="18" charset="0"/>
              </a:defRPr>
            </a:lvl5pPr>
          </a:lstStyle>
          <a:p>
            <a:pPr lvl="0"/>
            <a:r>
              <a:rPr lang="zh-CN" altLang="en-US"/>
              <a:t>单击此处编辑母版文本样式</a:t>
            </a:r>
          </a:p>
          <a:p>
            <a:pPr lvl="1"/>
            <a:r>
              <a:rPr lang="zh-CN" altLang="en-US"/>
              <a:t>第二级</a:t>
            </a:r>
          </a:p>
        </p:txBody>
      </p:sp>
      <p:sp>
        <p:nvSpPr>
          <p:cNvPr id="11" name="Title Placeholder 1"/>
          <p:cNvSpPr>
            <a:spLocks noGrp="1"/>
          </p:cNvSpPr>
          <p:nvPr>
            <p:ph type="title"/>
          </p:nvPr>
        </p:nvSpPr>
        <p:spPr bwMode="auto">
          <a:xfrm>
            <a:off x="44831" y="-27384"/>
            <a:ext cx="12099841"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aseline="0">
                <a:latin typeface="Microsoft JhengHei Light" panose="020B0304030504040204" pitchFamily="34" charset="-120"/>
                <a:cs typeface="Times New Roman" panose="02020603050405020304" pitchFamily="18" charset="0"/>
              </a:defRPr>
            </a:lvl1pPr>
          </a:lstStyle>
          <a:p>
            <a:pPr lvl="0"/>
            <a:r>
              <a:rPr lang="zh-CN" altLang="en-US"/>
              <a:t>单击此处编辑母版标题样式</a:t>
            </a:r>
            <a:endParaRPr lang="zh-CN" altLang="en-US" dirty="0"/>
          </a:p>
        </p:txBody>
      </p:sp>
      <p:sp>
        <p:nvSpPr>
          <p:cNvPr id="6"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32FF13E5-C1A9-42CB-8AE4-222DCECB0FC2}" type="slidenum">
              <a:rPr lang="en-US" altLang="zh-CN" smtClean="0"/>
              <a:pPr>
                <a:defRPr/>
              </a:pPr>
              <a:t>‹#›</a:t>
            </a:fld>
            <a:endParaRPr lang="zh-CN" altLang="en-US"/>
          </a:p>
        </p:txBody>
      </p:sp>
    </p:spTree>
    <p:extLst>
      <p:ext uri="{BB962C8B-B14F-4D97-AF65-F5344CB8AC3E}">
        <p14:creationId xmlns:p14="http://schemas.microsoft.com/office/powerpoint/2010/main" val="4291664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节标题">
    <p:spTree>
      <p:nvGrpSpPr>
        <p:cNvPr id="1" name=""/>
        <p:cNvGrpSpPr/>
        <p:nvPr/>
      </p:nvGrpSpPr>
      <p:grpSpPr>
        <a:xfrm>
          <a:off x="0" y="0"/>
          <a:ext cx="0" cy="0"/>
          <a:chOff x="0" y="0"/>
          <a:chExt cx="0" cy="0"/>
        </a:xfrm>
      </p:grpSpPr>
      <p:cxnSp>
        <p:nvCxnSpPr>
          <p:cNvPr id="4" name="直接连接符 3"/>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5" name="直接连接符 4"/>
          <p:cNvCxnSpPr/>
          <p:nvPr/>
        </p:nvCxnSpPr>
        <p:spPr>
          <a:xfrm>
            <a:off x="0" y="6802438"/>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7" name="标题 6"/>
          <p:cNvSpPr>
            <a:spLocks noGrp="1"/>
          </p:cNvSpPr>
          <p:nvPr>
            <p:ph type="title"/>
          </p:nvPr>
        </p:nvSpPr>
        <p:spPr>
          <a:xfrm>
            <a:off x="28872" y="-27384"/>
            <a:ext cx="12115800" cy="1309687"/>
          </a:xfrm>
        </p:spPr>
        <p:txBody>
          <a:bodyPr/>
          <a:lstStyle>
            <a:lvl1pPr>
              <a:defRPr>
                <a:latin typeface="Times New Roman" panose="02020603050405020304" pitchFamily="18" charset="0"/>
                <a:cs typeface="Times New Roman" panose="02020603050405020304" pitchFamily="18" charset="0"/>
              </a:defRPr>
            </a:lvl1pPr>
          </a:lstStyle>
          <a:p>
            <a:r>
              <a:rPr lang="zh-CN" altLang="en-US"/>
              <a:t>单击此处编辑母版标题样式</a:t>
            </a:r>
            <a:endParaRPr lang="zh-CN" altLang="en-US" dirty="0"/>
          </a:p>
        </p:txBody>
      </p:sp>
      <p:sp>
        <p:nvSpPr>
          <p:cNvPr id="6"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6E0E08C0-E34A-41E9-8C60-04DBC2740B40}" type="slidenum">
              <a:rPr lang="en-US" altLang="zh-CN" smtClean="0"/>
              <a:pPr>
                <a:defRPr/>
              </a:pPr>
              <a:t>‹#›</a:t>
            </a:fld>
            <a:endParaRPr lang="en-US" altLang="zh-CN"/>
          </a:p>
        </p:txBody>
      </p:sp>
    </p:spTree>
    <p:extLst>
      <p:ext uri="{BB962C8B-B14F-4D97-AF65-F5344CB8AC3E}">
        <p14:creationId xmlns:p14="http://schemas.microsoft.com/office/powerpoint/2010/main" val="364840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cxnSp>
        <p:nvCxnSpPr>
          <p:cNvPr id="5" name="直接连接符 4"/>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6" name="直接连接符 5"/>
          <p:cNvCxnSpPr/>
          <p:nvPr/>
        </p:nvCxnSpPr>
        <p:spPr>
          <a:xfrm>
            <a:off x="0" y="6802438"/>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28872" y="-27384"/>
            <a:ext cx="12115800" cy="130968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2AB90974-DD9F-401C-BCD5-5C52FB14960C}" type="slidenum">
              <a:rPr lang="en-US" altLang="zh-CN" smtClean="0"/>
              <a:pPr>
                <a:defRPr/>
              </a:pPr>
              <a:t>‹#›</a:t>
            </a:fld>
            <a:endParaRPr lang="en-US" altLang="zh-CN"/>
          </a:p>
        </p:txBody>
      </p:sp>
    </p:spTree>
    <p:extLst>
      <p:ext uri="{BB962C8B-B14F-4D97-AF65-F5344CB8AC3E}">
        <p14:creationId xmlns:p14="http://schemas.microsoft.com/office/powerpoint/2010/main" val="1317453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cxnSp>
        <p:nvCxnSpPr>
          <p:cNvPr id="7" name="直接连接符 6"/>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8" name="直接连接符 7"/>
          <p:cNvCxnSpPr/>
          <p:nvPr/>
        </p:nvCxnSpPr>
        <p:spPr>
          <a:xfrm>
            <a:off x="0" y="6802438"/>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1" name="Title Placeholder 1"/>
          <p:cNvSpPr>
            <a:spLocks noGrp="1"/>
          </p:cNvSpPr>
          <p:nvPr>
            <p:ph type="title"/>
          </p:nvPr>
        </p:nvSpPr>
        <p:spPr bwMode="auto">
          <a:xfrm>
            <a:off x="49523" y="-27384"/>
            <a:ext cx="12167157"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zh-CN" altLang="en-US"/>
              <a:t>单击此处编辑母版标题样式</a:t>
            </a:r>
            <a:endParaRPr lang="zh-CN" altLang="en-US" dirty="0"/>
          </a:p>
        </p:txBody>
      </p:sp>
      <p:sp>
        <p:nvSpPr>
          <p:cNvPr id="9"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3564FCCF-ECFC-4384-BBB6-CBB436201AF4}" type="slidenum">
              <a:rPr lang="en-US" altLang="zh-CN" smtClean="0"/>
              <a:pPr>
                <a:defRPr/>
              </a:pPr>
              <a:t>‹#›</a:t>
            </a:fld>
            <a:endParaRPr lang="en-US" altLang="zh-CN"/>
          </a:p>
        </p:txBody>
      </p:sp>
    </p:spTree>
    <p:extLst>
      <p:ext uri="{BB962C8B-B14F-4D97-AF65-F5344CB8AC3E}">
        <p14:creationId xmlns:p14="http://schemas.microsoft.com/office/powerpoint/2010/main" val="1146186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cxnSp>
        <p:nvCxnSpPr>
          <p:cNvPr id="3" name="直接连接符 2"/>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4" name="直接连接符 3"/>
          <p:cNvCxnSpPr/>
          <p:nvPr/>
        </p:nvCxnSpPr>
        <p:spPr>
          <a:xfrm>
            <a:off x="0" y="6802438"/>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28872" y="-27384"/>
            <a:ext cx="12115800" cy="1309687"/>
          </a:xfrm>
        </p:spPr>
        <p:txBody>
          <a:bodyPr/>
          <a:lstStyle/>
          <a:p>
            <a:r>
              <a:rPr lang="zh-CN" altLang="en-US"/>
              <a:t>单击此处编辑母版标题样式</a:t>
            </a:r>
            <a:endParaRPr lang="en-US" dirty="0"/>
          </a:p>
        </p:txBody>
      </p:sp>
      <p:sp>
        <p:nvSpPr>
          <p:cNvPr id="5"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247C9950-AB1E-410B-AA3D-ED32C3E8627F}" type="slidenum">
              <a:rPr lang="en-US" altLang="zh-CN" smtClean="0"/>
              <a:pPr>
                <a:defRPr/>
              </a:pPr>
              <a:t>‹#›</a:t>
            </a:fld>
            <a:endParaRPr lang="en-US" altLang="zh-CN"/>
          </a:p>
        </p:txBody>
      </p:sp>
    </p:spTree>
    <p:extLst>
      <p:ext uri="{BB962C8B-B14F-4D97-AF65-F5344CB8AC3E}">
        <p14:creationId xmlns:p14="http://schemas.microsoft.com/office/powerpoint/2010/main" val="17722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cxnSp>
        <p:nvCxnSpPr>
          <p:cNvPr id="3" name="直接连接符 2"/>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4" name="直接连接符 3"/>
          <p:cNvCxnSpPr/>
          <p:nvPr/>
        </p:nvCxnSpPr>
        <p:spPr>
          <a:xfrm>
            <a:off x="0" y="6802438"/>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6" name="Title Placeholder 1"/>
          <p:cNvSpPr>
            <a:spLocks noGrp="1"/>
          </p:cNvSpPr>
          <p:nvPr>
            <p:ph type="title"/>
          </p:nvPr>
        </p:nvSpPr>
        <p:spPr bwMode="auto">
          <a:xfrm>
            <a:off x="49523" y="-27384"/>
            <a:ext cx="12095149"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zh-CN" altLang="en-US"/>
              <a:t>单击此处编辑母版标题样式</a:t>
            </a:r>
            <a:endParaRPr lang="zh-CN" altLang="en-US" dirty="0"/>
          </a:p>
        </p:txBody>
      </p:sp>
      <p:sp>
        <p:nvSpPr>
          <p:cNvPr id="5"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1B25AAC3-67D6-43A1-B13B-90A7556932A2}" type="slidenum">
              <a:rPr lang="en-US" altLang="zh-CN" smtClean="0"/>
              <a:pPr>
                <a:defRPr/>
              </a:pPr>
              <a:t>‹#›</a:t>
            </a:fld>
            <a:endParaRPr lang="en-US" altLang="zh-CN"/>
          </a:p>
        </p:txBody>
      </p:sp>
    </p:spTree>
    <p:extLst>
      <p:ext uri="{BB962C8B-B14F-4D97-AF65-F5344CB8AC3E}">
        <p14:creationId xmlns:p14="http://schemas.microsoft.com/office/powerpoint/2010/main" val="409445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与标题">
    <p:spTree>
      <p:nvGrpSpPr>
        <p:cNvPr id="1" name=""/>
        <p:cNvGrpSpPr/>
        <p:nvPr/>
      </p:nvGrpSpPr>
      <p:grpSpPr>
        <a:xfrm>
          <a:off x="0" y="0"/>
          <a:ext cx="0" cy="0"/>
          <a:chOff x="0" y="0"/>
          <a:chExt cx="0" cy="0"/>
        </a:xfrm>
      </p:grpSpPr>
      <p:cxnSp>
        <p:nvCxnSpPr>
          <p:cNvPr id="5" name="直接连接符 4"/>
          <p:cNvCxnSpPr/>
          <p:nvPr/>
        </p:nvCxnSpPr>
        <p:spPr>
          <a:xfrm>
            <a:off x="0" y="981075"/>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6" name="直接连接符 5"/>
          <p:cNvCxnSpPr/>
          <p:nvPr/>
        </p:nvCxnSpPr>
        <p:spPr>
          <a:xfrm>
            <a:off x="0" y="6811963"/>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3" name="Content Placeholder 2"/>
          <p:cNvSpPr>
            <a:spLocks noGrp="1"/>
          </p:cNvSpPr>
          <p:nvPr>
            <p:ph idx="1"/>
          </p:nvPr>
        </p:nvSpPr>
        <p:spPr>
          <a:xfrm>
            <a:off x="5257800"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9144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9" name="Title Placeholder 1"/>
          <p:cNvSpPr>
            <a:spLocks noGrp="1"/>
          </p:cNvSpPr>
          <p:nvPr>
            <p:ph type="title"/>
          </p:nvPr>
        </p:nvSpPr>
        <p:spPr bwMode="auto">
          <a:xfrm>
            <a:off x="82633" y="8021"/>
            <a:ext cx="10535653"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zh-CN" altLang="en-US"/>
              <a:t>单击此处编辑母版标题样式</a:t>
            </a:r>
            <a:endParaRPr lang="zh-CN" altLang="en-US" dirty="0"/>
          </a:p>
        </p:txBody>
      </p:sp>
      <p:sp>
        <p:nvSpPr>
          <p:cNvPr id="7"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E7D3CED3-13D6-4067-92F3-384BFE2D7B63}" type="slidenum">
              <a:rPr lang="en-US" altLang="zh-CN" smtClean="0"/>
              <a:pPr>
                <a:defRPr/>
              </a:pPr>
              <a:t>‹#›</a:t>
            </a:fld>
            <a:endParaRPr lang="en-US" altLang="zh-CN"/>
          </a:p>
        </p:txBody>
      </p:sp>
    </p:spTree>
    <p:extLst>
      <p:ext uri="{BB962C8B-B14F-4D97-AF65-F5344CB8AC3E}">
        <p14:creationId xmlns:p14="http://schemas.microsoft.com/office/powerpoint/2010/main" val="2299007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cxnSp>
        <p:nvCxnSpPr>
          <p:cNvPr id="5" name="直接连接符 4"/>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sp>
        <p:nvSpPr>
          <p:cNvPr id="3" name="Picture Placeholder 2"/>
          <p:cNvSpPr>
            <a:spLocks noGrp="1" noChangeAspect="1"/>
          </p:cNvSpPr>
          <p:nvPr>
            <p:ph type="pic" idx="1"/>
          </p:nvPr>
        </p:nvSpPr>
        <p:spPr>
          <a:xfrm>
            <a:off x="5257800"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altLang="en-US" noProof="0" dirty="0"/>
          </a:p>
        </p:txBody>
      </p:sp>
      <p:sp>
        <p:nvSpPr>
          <p:cNvPr id="4" name="Text Placeholder 3"/>
          <p:cNvSpPr>
            <a:spLocks noGrp="1"/>
          </p:cNvSpPr>
          <p:nvPr>
            <p:ph type="body" sz="half" idx="2"/>
          </p:nvPr>
        </p:nvSpPr>
        <p:spPr>
          <a:xfrm>
            <a:off x="9144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9" name="Title Placeholder 1"/>
          <p:cNvSpPr>
            <a:spLocks noGrp="1"/>
          </p:cNvSpPr>
          <p:nvPr>
            <p:ph type="title"/>
          </p:nvPr>
        </p:nvSpPr>
        <p:spPr bwMode="auto">
          <a:xfrm>
            <a:off x="82633" y="8021"/>
            <a:ext cx="10535653"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zh-CN" altLang="en-US"/>
              <a:t>单击此处编辑母版标题样式</a:t>
            </a:r>
            <a:endParaRPr lang="zh-CN" altLang="en-US" dirty="0"/>
          </a:p>
        </p:txBody>
      </p:sp>
      <p:sp>
        <p:nvSpPr>
          <p:cNvPr id="6"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6A98F42C-13FA-4910-870C-46D85C5F2F08}" type="slidenum">
              <a:rPr lang="en-US" altLang="zh-CN" smtClean="0"/>
              <a:pPr>
                <a:defRPr/>
              </a:pPr>
              <a:t>‹#›</a:t>
            </a:fld>
            <a:endParaRPr lang="en-US" altLang="zh-CN"/>
          </a:p>
        </p:txBody>
      </p:sp>
    </p:spTree>
    <p:extLst>
      <p:ext uri="{BB962C8B-B14F-4D97-AF65-F5344CB8AC3E}">
        <p14:creationId xmlns:p14="http://schemas.microsoft.com/office/powerpoint/2010/main" val="2010002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cxnSp>
        <p:nvCxnSpPr>
          <p:cNvPr id="4" name="直接连接符 3"/>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CB0C8DD1-9D3B-42A1-84B1-8E869690B5F6}" type="slidenum">
              <a:rPr lang="en-US" altLang="zh-CN" smtClean="0"/>
              <a:pPr>
                <a:defRPr/>
              </a:pPr>
              <a:t>‹#›</a:t>
            </a:fld>
            <a:endParaRPr lang="en-US" altLang="zh-CN"/>
          </a:p>
        </p:txBody>
      </p:sp>
    </p:spTree>
    <p:extLst>
      <p:ext uri="{BB962C8B-B14F-4D97-AF65-F5344CB8AC3E}">
        <p14:creationId xmlns:p14="http://schemas.microsoft.com/office/powerpoint/2010/main" val="15511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垂直排列标题与&#10;文本">
    <p:spTree>
      <p:nvGrpSpPr>
        <p:cNvPr id="1" name=""/>
        <p:cNvGrpSpPr/>
        <p:nvPr/>
      </p:nvGrpSpPr>
      <p:grpSpPr>
        <a:xfrm>
          <a:off x="0" y="0"/>
          <a:ext cx="0" cy="0"/>
          <a:chOff x="0" y="0"/>
          <a:chExt cx="0" cy="0"/>
        </a:xfrm>
      </p:grpSpPr>
      <p:cxnSp>
        <p:nvCxnSpPr>
          <p:cNvPr id="4" name="直接连接符 3"/>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sp>
        <p:nvSpPr>
          <p:cNvPr id="3" name="Vertical Text Placeholder 2"/>
          <p:cNvSpPr>
            <a:spLocks noGrp="1"/>
          </p:cNvSpPr>
          <p:nvPr>
            <p:ph type="body" orient="vert" idx="1"/>
          </p:nvPr>
        </p:nvSpPr>
        <p:spPr>
          <a:xfrm>
            <a:off x="886326"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8" name="Title Placeholder 1"/>
          <p:cNvSpPr>
            <a:spLocks noGrp="1"/>
          </p:cNvSpPr>
          <p:nvPr>
            <p:ph type="title"/>
          </p:nvPr>
        </p:nvSpPr>
        <p:spPr bwMode="auto">
          <a:xfrm>
            <a:off x="56147" y="8021"/>
            <a:ext cx="10535653"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zh-CN" altLang="en-US"/>
              <a:t>单击此处编辑母版标题样式</a:t>
            </a:r>
            <a:endParaRPr lang="zh-CN" altLang="en-US" dirty="0"/>
          </a:p>
        </p:txBody>
      </p:sp>
      <p:sp>
        <p:nvSpPr>
          <p:cNvPr id="5"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B0268A1A-ECCE-469A-91A9-370D3004D396}" type="slidenum">
              <a:rPr lang="en-US" altLang="zh-CN" smtClean="0"/>
              <a:pPr>
                <a:defRPr/>
              </a:pPr>
              <a:t>‹#›</a:t>
            </a:fld>
            <a:endParaRPr lang="en-US" altLang="zh-CN"/>
          </a:p>
        </p:txBody>
      </p:sp>
    </p:spTree>
    <p:extLst>
      <p:ext uri="{BB962C8B-B14F-4D97-AF65-F5344CB8AC3E}">
        <p14:creationId xmlns:p14="http://schemas.microsoft.com/office/powerpoint/2010/main" val="39313353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28872" y="-27384"/>
            <a:ext cx="12115800" cy="1309687"/>
          </a:xfrm>
        </p:spPr>
        <p:txBody>
          <a:bodyPr/>
          <a:lstStyle/>
          <a:p>
            <a:r>
              <a:rPr lang="zh-CN" altLang="en-US"/>
              <a:t>单击此处编辑母版标题样式</a:t>
            </a:r>
          </a:p>
        </p:txBody>
      </p:sp>
    </p:spTree>
    <p:extLst>
      <p:ext uri="{BB962C8B-B14F-4D97-AF65-F5344CB8AC3E}">
        <p14:creationId xmlns:p14="http://schemas.microsoft.com/office/powerpoint/2010/main" val="2252940381"/>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baseline="0">
                <a:latin typeface="Microsoft JhengHei Light" panose="020B0304030504040204" pitchFamily="34" charset="-120"/>
                <a:ea typeface="+mn-ea"/>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2" name="Title Placeholder 1"/>
          <p:cNvSpPr>
            <a:spLocks noGrp="1"/>
          </p:cNvSpPr>
          <p:nvPr>
            <p:ph type="title"/>
          </p:nvPr>
        </p:nvSpPr>
        <p:spPr bwMode="auto">
          <a:xfrm>
            <a:off x="828173" y="2132856"/>
            <a:ext cx="10535653"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b="1" baseline="0">
                <a:latin typeface="Microsoft JhengHei Light" panose="020B0304030504040204" pitchFamily="34" charset="-120"/>
                <a:ea typeface="+mn-ea"/>
                <a:cs typeface="Malgun Gothic Semilight" panose="020B0502040204020203" pitchFamily="34" charset="-122"/>
              </a:defRPr>
            </a:lvl1pPr>
          </a:lstStyle>
          <a:p>
            <a:pPr lvl="0"/>
            <a:r>
              <a:rPr lang="zh-CN" altLang="en-US"/>
              <a:t>单击此处编辑母版标题样式</a:t>
            </a:r>
            <a:endParaRPr lang="zh-CN" altLang="en-US" dirty="0"/>
          </a:p>
        </p:txBody>
      </p:sp>
    </p:spTree>
    <p:extLst>
      <p:ext uri="{BB962C8B-B14F-4D97-AF65-F5344CB8AC3E}">
        <p14:creationId xmlns:p14="http://schemas.microsoft.com/office/powerpoint/2010/main" val="75413989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8872" y="-27384"/>
            <a:ext cx="12115800" cy="130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单击此处编辑母版文本样式</a:t>
            </a:r>
          </a:p>
        </p:txBody>
      </p:sp>
      <p:sp>
        <p:nvSpPr>
          <p:cNvPr id="1027" name="Text Placeholder 2"/>
          <p:cNvSpPr>
            <a:spLocks noGrp="1"/>
          </p:cNvSpPr>
          <p:nvPr>
            <p:ph type="body" idx="1"/>
          </p:nvPr>
        </p:nvSpPr>
        <p:spPr bwMode="auto">
          <a:xfrm>
            <a:off x="449262" y="1341438"/>
            <a:ext cx="10515600"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 </a:t>
            </a:r>
            <a:r>
              <a:rPr lang="en-US" altLang="zh-CN"/>
              <a:t>Enter your Theme</a:t>
            </a:r>
            <a:endParaRPr lang="zh-CN" altLang="en-US"/>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10965386"/>
      </p:ext>
    </p:extLst>
  </p:cSld>
  <p:clrMap bg1="dk1" tx1="lt1" bg2="dk2" tx2="lt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Lst>
  <p:hf hdr="0" ftr="0" dt="0"/>
  <p:txStyles>
    <p:titleStyle>
      <a:lvl1pPr algn="l" rtl="0" eaLnBrk="1" fontAlgn="base" hangingPunct="1">
        <a:lnSpc>
          <a:spcPct val="90000"/>
        </a:lnSpc>
        <a:spcBef>
          <a:spcPct val="0"/>
        </a:spcBef>
        <a:spcAft>
          <a:spcPct val="0"/>
        </a:spcAft>
        <a:defRPr lang="zh-CN" altLang="en-US" sz="3600" b="1" kern="1200">
          <a:solidFill>
            <a:srgbClr val="FFFF9A"/>
          </a:solidFill>
          <a:latin typeface="Microsoft JhengHei Light" panose="020B0304030504040204" pitchFamily="34" charset="-120"/>
          <a:ea typeface="+mn-ea"/>
          <a:cs typeface="Malgun Gothic Semilight" panose="020B0502040204020203" pitchFamily="34" charset="-122"/>
        </a:defRPr>
      </a:lvl1pPr>
      <a:lvl2pPr algn="l" rtl="0" eaLnBrk="1" fontAlgn="base" hangingPunct="1">
        <a:lnSpc>
          <a:spcPct val="90000"/>
        </a:lnSpc>
        <a:spcBef>
          <a:spcPct val="0"/>
        </a:spcBef>
        <a:spcAft>
          <a:spcPct val="0"/>
        </a:spcAft>
        <a:defRPr sz="3600" b="1">
          <a:solidFill>
            <a:srgbClr val="FFFF9A"/>
          </a:solidFill>
          <a:latin typeface="Microsoft JhengHei Light" panose="020B0304030504040204" pitchFamily="34" charset="-120"/>
          <a:ea typeface="宋体" panose="02010600030101010101" pitchFamily="2" charset="-122"/>
          <a:cs typeface="Malgun Gothic Semilight" pitchFamily="34" charset="-122"/>
        </a:defRPr>
      </a:lvl2pPr>
      <a:lvl3pPr algn="l" rtl="0" eaLnBrk="1" fontAlgn="base" hangingPunct="1">
        <a:lnSpc>
          <a:spcPct val="90000"/>
        </a:lnSpc>
        <a:spcBef>
          <a:spcPct val="0"/>
        </a:spcBef>
        <a:spcAft>
          <a:spcPct val="0"/>
        </a:spcAft>
        <a:defRPr sz="3600" b="1">
          <a:solidFill>
            <a:srgbClr val="FFFF9A"/>
          </a:solidFill>
          <a:latin typeface="Microsoft JhengHei Light" panose="020B0304030504040204" pitchFamily="34" charset="-120"/>
          <a:ea typeface="宋体" panose="02010600030101010101" pitchFamily="2" charset="-122"/>
          <a:cs typeface="Malgun Gothic Semilight" pitchFamily="34" charset="-122"/>
        </a:defRPr>
      </a:lvl3pPr>
      <a:lvl4pPr algn="l" rtl="0" eaLnBrk="1" fontAlgn="base" hangingPunct="1">
        <a:lnSpc>
          <a:spcPct val="90000"/>
        </a:lnSpc>
        <a:spcBef>
          <a:spcPct val="0"/>
        </a:spcBef>
        <a:spcAft>
          <a:spcPct val="0"/>
        </a:spcAft>
        <a:defRPr sz="3600" b="1">
          <a:solidFill>
            <a:srgbClr val="FFFF9A"/>
          </a:solidFill>
          <a:latin typeface="Microsoft JhengHei Light" panose="020B0304030504040204" pitchFamily="34" charset="-120"/>
          <a:ea typeface="宋体" panose="02010600030101010101" pitchFamily="2" charset="-122"/>
          <a:cs typeface="Malgun Gothic Semilight" pitchFamily="34" charset="-122"/>
        </a:defRPr>
      </a:lvl4pPr>
      <a:lvl5pPr algn="l" rtl="0" eaLnBrk="1" fontAlgn="base" hangingPunct="1">
        <a:lnSpc>
          <a:spcPct val="90000"/>
        </a:lnSpc>
        <a:spcBef>
          <a:spcPct val="0"/>
        </a:spcBef>
        <a:spcAft>
          <a:spcPct val="0"/>
        </a:spcAft>
        <a:defRPr sz="3600" b="1">
          <a:solidFill>
            <a:srgbClr val="FFFF9A"/>
          </a:solidFill>
          <a:latin typeface="Microsoft JhengHei Light" panose="020B0304030504040204" pitchFamily="34" charset="-120"/>
          <a:ea typeface="宋体" panose="02010600030101010101" pitchFamily="2" charset="-122"/>
          <a:cs typeface="Malgun Gothic Semilight" pitchFamily="34" charset="-122"/>
        </a:defRPr>
      </a:lvl5pPr>
      <a:lvl6pPr marL="457200" algn="l" rtl="0" eaLnBrk="1" fontAlgn="base" hangingPunct="1">
        <a:lnSpc>
          <a:spcPct val="90000"/>
        </a:lnSpc>
        <a:spcBef>
          <a:spcPct val="0"/>
        </a:spcBef>
        <a:spcAft>
          <a:spcPct val="0"/>
        </a:spcAft>
        <a:defRPr sz="4400">
          <a:solidFill>
            <a:srgbClr val="FFEA9C"/>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rgbClr val="FFEA9C"/>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rgbClr val="FFEA9C"/>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rgbClr val="FFEA9C"/>
          </a:solidFill>
          <a:latin typeface="Calibri Light" panose="020F0302020204030204" pitchFamily="34" charset="0"/>
        </a:defRPr>
      </a:lvl9pPr>
    </p:titleStyle>
    <p:bodyStyle>
      <a:lvl1pPr marL="457200" indent="-457200" algn="l" rtl="0" eaLnBrk="1" fontAlgn="base" hangingPunct="1">
        <a:lnSpc>
          <a:spcPct val="90000"/>
        </a:lnSpc>
        <a:spcBef>
          <a:spcPts val="1000"/>
        </a:spcBef>
        <a:spcAft>
          <a:spcPct val="0"/>
        </a:spcAft>
        <a:buFont typeface="Wingdings" panose="05000000000000000000" pitchFamily="2" charset="2"/>
        <a:buChar char="u"/>
        <a:defRPr lang="zh-CN" altLang="en-US" sz="2800" b="1" kern="1200" dirty="0">
          <a:solidFill>
            <a:srgbClr val="E8E88C"/>
          </a:solidFill>
          <a:latin typeface="Microsoft JhengHei Light" panose="020B0304030504040204" pitchFamily="34" charset="-120"/>
          <a:ea typeface="+mn-ea"/>
          <a:cs typeface="Times New Roman" panose="02020603050405020304" pitchFamily="18" charset="0"/>
        </a:defRPr>
      </a:lvl1pPr>
      <a:lvl2pPr marL="800100" indent="-342900" algn="l" rtl="0" eaLnBrk="1" fontAlgn="base" hangingPunct="1">
        <a:lnSpc>
          <a:spcPct val="90000"/>
        </a:lnSpc>
        <a:spcBef>
          <a:spcPts val="500"/>
        </a:spcBef>
        <a:spcAft>
          <a:spcPct val="0"/>
        </a:spcAft>
        <a:buFont typeface="Wingdings" panose="05000000000000000000" pitchFamily="2" charset="2"/>
        <a:buChar char="n"/>
        <a:defRPr sz="2400" b="1" kern="1200">
          <a:solidFill>
            <a:srgbClr val="FFEA9C"/>
          </a:solidFill>
          <a:latin typeface="Microsoft JhengHei Light" panose="020B0304030504040204" pitchFamily="34" charset="-120"/>
          <a:ea typeface="+mn-ea"/>
          <a:cs typeface="Times New Roman" panose="02020603050405020304" pitchFamily="18"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customXml" Target="../../customXml/item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customXml" Target="../../customXml/item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subTitle" idx="1"/>
          </p:nvPr>
        </p:nvSpPr>
        <p:spPr>
          <a:xfrm>
            <a:off x="2895600" y="3886200"/>
            <a:ext cx="6400800" cy="1752600"/>
          </a:xfrm>
        </p:spPr>
        <p:txBody>
          <a:bodyPr/>
          <a:lstStyle/>
          <a:p>
            <a:r>
              <a:rPr lang="en-US" altLang="zh-CN" sz="3200" dirty="0"/>
              <a:t>Chapter 5.1 </a:t>
            </a:r>
          </a:p>
          <a:p>
            <a:r>
              <a:rPr lang="en-US" altLang="zh-CN" sz="3200" dirty="0"/>
              <a:t>Elaboration Iteration 2 and Case Studies </a:t>
            </a:r>
            <a:endParaRPr lang="zh-CN" altLang="zh-CN" sz="3200" dirty="0"/>
          </a:p>
        </p:txBody>
      </p:sp>
      <p:sp>
        <p:nvSpPr>
          <p:cNvPr id="14339" name="Rectangle 2"/>
          <p:cNvSpPr>
            <a:spLocks noGrp="1" noChangeArrowheads="1"/>
          </p:cNvSpPr>
          <p:nvPr>
            <p:ph type="title"/>
          </p:nvPr>
        </p:nvSpPr>
        <p:spPr>
          <a:xfrm>
            <a:off x="609600" y="1676401"/>
            <a:ext cx="10744200" cy="1924050"/>
          </a:xfrm>
        </p:spPr>
        <p:txBody>
          <a:bodyPr/>
          <a:lstStyle/>
          <a:p>
            <a:r>
              <a:rPr lang="en-US" altLang="zh-CN" sz="4800" dirty="0"/>
              <a:t>Software Requirements</a:t>
            </a:r>
            <a:r>
              <a:rPr lang="zh-CN" altLang="en-US" sz="4800" dirty="0"/>
              <a:t> </a:t>
            </a:r>
            <a:r>
              <a:rPr lang="en-US" altLang="zh-CN" sz="4800" dirty="0"/>
              <a:t>Analysis, Design and Modeling</a:t>
            </a:r>
          </a:p>
        </p:txBody>
      </p:sp>
    </p:spTree>
    <p:custDataLst>
      <p:custData r:id="rId1"/>
      <p:tags r:id="rId2"/>
    </p:custDataLst>
  </p:cSld>
  <p:clrMapOvr>
    <a:masterClrMapping/>
  </p:clrMapOvr>
  <mc:AlternateContent xmlns:mc="http://schemas.openxmlformats.org/markup-compatibility/2006" xmlns:p14="http://schemas.microsoft.com/office/powerpoint/2010/main">
    <mc:Choice Requires="p14">
      <p:transition spd="slow" p14:dur="2000" advTm="5713"/>
    </mc:Choice>
    <mc:Fallback xmlns="">
      <p:transition spd="slow" advTm="571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idx="1"/>
          </p:nvPr>
        </p:nvSpPr>
        <p:spPr>
          <a:xfrm>
            <a:off x="304800" y="1317542"/>
            <a:ext cx="11734800" cy="4016458"/>
          </a:xfrm>
        </p:spPr>
        <p:txBody>
          <a:bodyPr/>
          <a:lstStyle/>
          <a:p>
            <a:r>
              <a:rPr lang="en-US" altLang="zh-CN" dirty="0"/>
              <a:t>Define the requirements for iteration-2.</a:t>
            </a:r>
          </a:p>
          <a:p>
            <a:r>
              <a:rPr lang="en-US" altLang="zh-CN" dirty="0"/>
              <a:t>Quickly highlight some analysis artifact changes especially in the domain models of the cases.  </a:t>
            </a:r>
            <a:endParaRPr lang="en-US" altLang="zh-CN" b="0" dirty="0"/>
          </a:p>
        </p:txBody>
      </p:sp>
      <p:sp>
        <p:nvSpPr>
          <p:cNvPr id="3" name="标题 2"/>
          <p:cNvSpPr>
            <a:spLocks noGrp="1"/>
          </p:cNvSpPr>
          <p:nvPr>
            <p:ph type="title"/>
          </p:nvPr>
        </p:nvSpPr>
        <p:spPr/>
        <p:txBody>
          <a:bodyPr/>
          <a:lstStyle/>
          <a:p>
            <a:r>
              <a:rPr lang="en-US" altLang="zh-CN" dirty="0"/>
              <a:t>Objectives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a:t>
            </a:fld>
            <a:endParaRPr lang="zh-CN" altLang="en-US"/>
          </a:p>
        </p:txBody>
      </p:sp>
    </p:spTree>
    <p:custDataLst>
      <p:custData r:id="rId1"/>
      <p:tags r:id="rId2"/>
    </p:custDataLst>
    <p:extLst>
      <p:ext uri="{BB962C8B-B14F-4D97-AF65-F5344CB8AC3E}">
        <p14:creationId xmlns:p14="http://schemas.microsoft.com/office/powerpoint/2010/main" val="2329249893"/>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Iteration 2: Quick Analysis Update.</a:t>
            </a:r>
          </a:p>
          <a:p>
            <a:r>
              <a:rPr lang="en-US" altLang="zh-CN" dirty="0">
                <a:solidFill>
                  <a:schemeClr val="tx1">
                    <a:lumMod val="50000"/>
                  </a:schemeClr>
                </a:solidFill>
              </a:rPr>
              <a:t>Iteration 2: More Patterns.</a:t>
            </a:r>
          </a:p>
          <a:p>
            <a:endParaRPr lang="en-US" altLang="zh-CN" dirty="0">
              <a:solidFill>
                <a:schemeClr val="tx1">
                  <a:lumMod val="50000"/>
                </a:schemeClr>
              </a:solidFill>
            </a:endParaRPr>
          </a:p>
          <a:p>
            <a:endParaRPr lang="en-US" altLang="zh-CN" dirty="0">
              <a:solidFill>
                <a:schemeClr val="tx1">
                  <a:lumMod val="50000"/>
                </a:schemeClr>
              </a:solidFill>
            </a:endParaRPr>
          </a:p>
          <a:p>
            <a:endParaRPr lang="en-US" altLang="zh-CN" dirty="0">
              <a:solidFill>
                <a:schemeClr val="tx1">
                  <a:lumMod val="50000"/>
                </a:schemeClr>
              </a:solidFill>
            </a:endParaRPr>
          </a:p>
        </p:txBody>
      </p:sp>
      <p:sp>
        <p:nvSpPr>
          <p:cNvPr id="3" name="标题 2"/>
          <p:cNvSpPr>
            <a:spLocks noGrp="1"/>
          </p:cNvSpPr>
          <p:nvPr>
            <p:ph type="title"/>
          </p:nvPr>
        </p:nvSpPr>
        <p:spPr/>
        <p:txBody>
          <a:bodyPr/>
          <a:lstStyle/>
          <a:p>
            <a:r>
              <a:rPr lang="en-US" altLang="zh-CN" b="0" dirty="0"/>
              <a:t>Content Outline</a:t>
            </a:r>
            <a:endParaRPr lang="zh-CN" altLang="en-US" dirty="0"/>
          </a:p>
        </p:txBody>
      </p:sp>
      <p:sp>
        <p:nvSpPr>
          <p:cNvPr id="4" name="灯片编号占位符 3"/>
          <p:cNvSpPr>
            <a:spLocks noGrp="1"/>
          </p:cNvSpPr>
          <p:nvPr>
            <p:ph type="sldNum" sz="quarter" idx="10"/>
          </p:nvPr>
        </p:nvSpPr>
        <p:spPr/>
        <p:txBody>
          <a:bodyPr/>
          <a:lstStyle/>
          <a:p>
            <a:pPr>
              <a:defRPr/>
            </a:pPr>
            <a:fld id="{089D5952-B418-4B8D-AD2C-D98A402A865E}" type="slidenum">
              <a:rPr lang="en-US" altLang="zh-CN" smtClean="0"/>
              <a:pPr>
                <a:defRPr/>
              </a:pPr>
              <a:t>2</a:t>
            </a:fld>
            <a:endParaRPr lang="zh-CN" altLang="en-US"/>
          </a:p>
        </p:txBody>
      </p:sp>
      <p:sp>
        <p:nvSpPr>
          <p:cNvPr id="5" name="五角星 4"/>
          <p:cNvSpPr/>
          <p:nvPr/>
        </p:nvSpPr>
        <p:spPr>
          <a:xfrm>
            <a:off x="72470" y="1240495"/>
            <a:ext cx="474785" cy="474785"/>
          </a:xfrm>
          <a:prstGeom prst="star5">
            <a:avLst/>
          </a:prstGeom>
          <a:solidFill>
            <a:srgbClr val="E8E88C"/>
          </a:solidFill>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zh-CN" altLang="en-US" sz="1200" dirty="0">
              <a:noFill/>
            </a:endParaRPr>
          </a:p>
        </p:txBody>
      </p:sp>
    </p:spTree>
    <p:extLst>
      <p:ext uri="{BB962C8B-B14F-4D97-AF65-F5344CB8AC3E}">
        <p14:creationId xmlns:p14="http://schemas.microsoft.com/office/powerpoint/2010/main" val="94474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This chapter briefly points out some changes in the requirements and domain analysis.</a:t>
            </a:r>
          </a:p>
          <a:p>
            <a:r>
              <a:rPr lang="en-US" altLang="zh-CN" dirty="0"/>
              <a:t>The noteworthy modeling and UML tips of interest are related to the </a:t>
            </a:r>
            <a:r>
              <a:rPr lang="en-US" altLang="zh-CN" dirty="0" err="1"/>
              <a:t>NextGen</a:t>
            </a:r>
            <a:r>
              <a:rPr lang="en-US" altLang="zh-CN" dirty="0"/>
              <a:t> SSDs and domain model.</a:t>
            </a:r>
            <a:endParaRPr lang="zh-CN" altLang="en-US" dirty="0"/>
          </a:p>
        </p:txBody>
      </p:sp>
      <p:sp>
        <p:nvSpPr>
          <p:cNvPr id="3" name="标题 2"/>
          <p:cNvSpPr>
            <a:spLocks noGrp="1"/>
          </p:cNvSpPr>
          <p:nvPr>
            <p:ph type="title"/>
          </p:nvPr>
        </p:nvSpPr>
        <p:spPr/>
        <p:txBody>
          <a:bodyPr/>
          <a:lstStyle/>
          <a:p>
            <a:r>
              <a:rPr lang="en-US" altLang="zh-CN" dirty="0"/>
              <a:t>Quick Analysis Update :Introduction</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3</a:t>
            </a:fld>
            <a:endParaRPr lang="zh-CN" altLang="en-US"/>
          </a:p>
        </p:txBody>
      </p:sp>
    </p:spTree>
    <p:extLst>
      <p:ext uri="{BB962C8B-B14F-4D97-AF65-F5344CB8AC3E}">
        <p14:creationId xmlns:p14="http://schemas.microsoft.com/office/powerpoint/2010/main" val="1386684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Use Cases</a:t>
            </a:r>
          </a:p>
          <a:p>
            <a:pPr lvl="1"/>
            <a:r>
              <a:rPr lang="en-US" altLang="zh-CN" dirty="0"/>
              <a:t>At a process level I recommend (as does the UP) a second short one- or two-day requirements workshop this iteration (near the end of iteration-1 and again near the end of iteration-2), within which more requirements will be investigated and written in detail. </a:t>
            </a:r>
          </a:p>
          <a:p>
            <a:pPr lvl="1"/>
            <a:r>
              <a:rPr lang="en-US" altLang="zh-CN" dirty="0"/>
              <a:t>The previously fully analyzed use cases (for example, Process Sale) will be revisited and probably refined based on insights gained from iteration-1 programming and tests. </a:t>
            </a:r>
          </a:p>
          <a:p>
            <a:pPr lvl="1"/>
            <a:r>
              <a:rPr lang="en-US" altLang="zh-CN" dirty="0"/>
              <a:t>In iterative methods, note the interplay of early programming and testing with parallel requirements analysis that is improved by feedback from early development.</a:t>
            </a:r>
          </a:p>
          <a:p>
            <a:endParaRPr lang="en-US" altLang="zh-CN" dirty="0"/>
          </a:p>
          <a:p>
            <a:endParaRPr lang="zh-CN" altLang="en-US" dirty="0"/>
          </a:p>
        </p:txBody>
      </p:sp>
      <p:sp>
        <p:nvSpPr>
          <p:cNvPr id="3" name="标题 2"/>
          <p:cNvSpPr>
            <a:spLocks noGrp="1"/>
          </p:cNvSpPr>
          <p:nvPr>
            <p:ph type="title"/>
          </p:nvPr>
        </p:nvSpPr>
        <p:spPr/>
        <p:txBody>
          <a:bodyPr/>
          <a:lstStyle/>
          <a:p>
            <a:r>
              <a:rPr lang="en-US" altLang="zh-CN" dirty="0"/>
              <a:t>Case Study: </a:t>
            </a:r>
            <a:r>
              <a:rPr lang="en-US" altLang="zh-CN" dirty="0" err="1"/>
              <a:t>NextGen</a:t>
            </a:r>
            <a:r>
              <a:rPr lang="en-US" altLang="zh-CN" dirty="0"/>
              <a:t> POS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4</a:t>
            </a:fld>
            <a:endParaRPr lang="zh-CN" altLang="en-US"/>
          </a:p>
        </p:txBody>
      </p:sp>
    </p:spTree>
    <p:extLst>
      <p:ext uri="{BB962C8B-B14F-4D97-AF65-F5344CB8AC3E}">
        <p14:creationId xmlns:p14="http://schemas.microsoft.com/office/powerpoint/2010/main" val="3037193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sz="2400" dirty="0"/>
              <a:t>This iteration includes adding support for third-party external systems with varying interfaces, such as a tax calculator. The </a:t>
            </a:r>
            <a:r>
              <a:rPr lang="en-US" altLang="zh-CN" sz="2400" dirty="0" err="1"/>
              <a:t>NextGen</a:t>
            </a:r>
            <a:r>
              <a:rPr lang="en-US" altLang="zh-CN" sz="2400" dirty="0"/>
              <a:t> POS system will be remotely communicating with external systems. </a:t>
            </a:r>
          </a:p>
          <a:p>
            <a:r>
              <a:rPr lang="en-US" altLang="zh-CN" sz="2400" dirty="0"/>
              <a:t>Consequently, the SSDs should be updated to reflect at least some of the inter-system collaborations, in order to clarify what the new system-level events are.</a:t>
            </a:r>
          </a:p>
          <a:p>
            <a:endParaRPr lang="zh-CN" altLang="en-US" sz="2400" dirty="0"/>
          </a:p>
        </p:txBody>
      </p:sp>
      <p:sp>
        <p:nvSpPr>
          <p:cNvPr id="3" name="标题 2"/>
          <p:cNvSpPr>
            <a:spLocks noGrp="1"/>
          </p:cNvSpPr>
          <p:nvPr>
            <p:ph type="title"/>
          </p:nvPr>
        </p:nvSpPr>
        <p:spPr/>
        <p:txBody>
          <a:bodyPr/>
          <a:lstStyle/>
          <a:p>
            <a:r>
              <a:rPr lang="en-US" altLang="zh-CN" dirty="0"/>
              <a:t>SSDs-1</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5</a:t>
            </a:fld>
            <a:endParaRPr lang="zh-CN" altLang="en-US"/>
          </a:p>
        </p:txBody>
      </p:sp>
    </p:spTree>
    <p:extLst>
      <p:ext uri="{BB962C8B-B14F-4D97-AF65-F5344CB8AC3E}">
        <p14:creationId xmlns:p14="http://schemas.microsoft.com/office/powerpoint/2010/main" val="4129597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3"/>
          <a:stretch>
            <a:fillRect/>
          </a:stretch>
        </p:blipFill>
        <p:spPr>
          <a:xfrm>
            <a:off x="4343400" y="1092591"/>
            <a:ext cx="6466067" cy="5003409"/>
          </a:xfrm>
          <a:prstGeom prst="rect">
            <a:avLst/>
          </a:prstGeom>
        </p:spPr>
      </p:pic>
      <p:sp>
        <p:nvSpPr>
          <p:cNvPr id="3" name="标题 2"/>
          <p:cNvSpPr>
            <a:spLocks noGrp="1"/>
          </p:cNvSpPr>
          <p:nvPr>
            <p:ph type="title"/>
          </p:nvPr>
        </p:nvSpPr>
        <p:spPr/>
        <p:txBody>
          <a:bodyPr/>
          <a:lstStyle/>
          <a:p>
            <a:r>
              <a:rPr lang="en-US" altLang="zh-CN" dirty="0"/>
              <a:t>SSDs-2</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6</a:t>
            </a:fld>
            <a:endParaRPr lang="zh-CN" altLang="en-US"/>
          </a:p>
        </p:txBody>
      </p:sp>
      <p:sp>
        <p:nvSpPr>
          <p:cNvPr id="6" name="矩形 5"/>
          <p:cNvSpPr/>
          <p:nvPr/>
        </p:nvSpPr>
        <p:spPr>
          <a:xfrm>
            <a:off x="4995378" y="3244334"/>
            <a:ext cx="2201244" cy="369332"/>
          </a:xfrm>
          <a:prstGeom prst="rect">
            <a:avLst/>
          </a:prstGeom>
        </p:spPr>
        <p:txBody>
          <a:bodyPr wrap="none">
            <a:spAutoFit/>
          </a:bodyPr>
          <a:lstStyle/>
          <a:p>
            <a:r>
              <a:rPr lang="zh-CN" altLang="en-US" dirty="0"/>
              <a:t>leolin@baja.com.cn</a:t>
            </a:r>
          </a:p>
        </p:txBody>
      </p:sp>
      <p:sp>
        <p:nvSpPr>
          <p:cNvPr id="7" name="矩形 6"/>
          <p:cNvSpPr/>
          <p:nvPr/>
        </p:nvSpPr>
        <p:spPr>
          <a:xfrm>
            <a:off x="381000" y="3105834"/>
            <a:ext cx="3581400" cy="923330"/>
          </a:xfrm>
          <a:prstGeom prst="rect">
            <a:avLst/>
          </a:prstGeom>
        </p:spPr>
        <p:txBody>
          <a:bodyPr wrap="square">
            <a:spAutoFit/>
          </a:bodyPr>
          <a:lstStyle/>
          <a:p>
            <a:r>
              <a:rPr lang="en-US" altLang="zh-CN" b="1" dirty="0"/>
              <a:t>Figure 23.1. An SSD scenario that illustrates some external systems.</a:t>
            </a:r>
          </a:p>
        </p:txBody>
      </p:sp>
    </p:spTree>
    <p:extLst>
      <p:ext uri="{BB962C8B-B14F-4D97-AF65-F5344CB8AC3E}">
        <p14:creationId xmlns:p14="http://schemas.microsoft.com/office/powerpoint/2010/main" val="1987861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6951" y="1289064"/>
            <a:ext cx="10515600" cy="4351337"/>
          </a:xfrm>
        </p:spPr>
        <p:txBody>
          <a:bodyPr/>
          <a:lstStyle/>
          <a:p>
            <a:r>
              <a:rPr lang="en-US" altLang="zh-CN" dirty="0"/>
              <a:t>In this iteration, it is quite reasonable to skip refining the Domain Model, move quickly on to design work, and let the discovery of new domain concepts occur during object design in the Design Model, when the developers are thinking through a solution, or indeed even while coding.</a:t>
            </a:r>
          </a:p>
          <a:p>
            <a:r>
              <a:rPr lang="en-US" altLang="zh-CN" dirty="0"/>
              <a:t>A sign of process maturity with the UP is understanding when creating an artifact will add significant value, or is a kind of mechanical "make work" step and better skipped.</a:t>
            </a:r>
          </a:p>
          <a:p>
            <a:endParaRPr lang="zh-CN" altLang="en-US" dirty="0"/>
          </a:p>
        </p:txBody>
      </p:sp>
      <p:sp>
        <p:nvSpPr>
          <p:cNvPr id="3" name="标题 2"/>
          <p:cNvSpPr>
            <a:spLocks noGrp="1"/>
          </p:cNvSpPr>
          <p:nvPr>
            <p:ph type="title"/>
          </p:nvPr>
        </p:nvSpPr>
        <p:spPr/>
        <p:txBody>
          <a:bodyPr/>
          <a:lstStyle/>
          <a:p>
            <a:r>
              <a:rPr lang="en-US" altLang="zh-CN" dirty="0"/>
              <a:t>Domain Model</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7</a:t>
            </a:fld>
            <a:endParaRPr lang="zh-CN" altLang="en-US"/>
          </a:p>
        </p:txBody>
      </p:sp>
    </p:spTree>
    <p:extLst>
      <p:ext uri="{BB962C8B-B14F-4D97-AF65-F5344CB8AC3E}">
        <p14:creationId xmlns:p14="http://schemas.microsoft.com/office/powerpoint/2010/main" val="2773831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solidFill>
                  <a:schemeClr val="tx1">
                    <a:lumMod val="50000"/>
                  </a:schemeClr>
                </a:solidFill>
              </a:rPr>
              <a:t>Quick Analysis Update.</a:t>
            </a:r>
          </a:p>
          <a:p>
            <a:r>
              <a:rPr lang="en-US" altLang="zh-CN" dirty="0"/>
              <a:t>Iteration 2: More Patterns.</a:t>
            </a:r>
          </a:p>
          <a:p>
            <a:endParaRPr lang="en-US" altLang="zh-CN" dirty="0">
              <a:solidFill>
                <a:schemeClr val="tx1">
                  <a:lumMod val="50000"/>
                </a:schemeClr>
              </a:solidFill>
            </a:endParaRPr>
          </a:p>
          <a:p>
            <a:endParaRPr lang="en-US" altLang="zh-CN" dirty="0">
              <a:solidFill>
                <a:schemeClr val="tx1">
                  <a:lumMod val="50000"/>
                </a:schemeClr>
              </a:solidFill>
            </a:endParaRPr>
          </a:p>
          <a:p>
            <a:endParaRPr lang="en-US" altLang="zh-CN" dirty="0">
              <a:solidFill>
                <a:schemeClr val="tx1">
                  <a:lumMod val="50000"/>
                </a:schemeClr>
              </a:solidFill>
            </a:endParaRPr>
          </a:p>
        </p:txBody>
      </p:sp>
      <p:sp>
        <p:nvSpPr>
          <p:cNvPr id="3" name="标题 2"/>
          <p:cNvSpPr>
            <a:spLocks noGrp="1"/>
          </p:cNvSpPr>
          <p:nvPr>
            <p:ph type="title"/>
          </p:nvPr>
        </p:nvSpPr>
        <p:spPr/>
        <p:txBody>
          <a:bodyPr/>
          <a:lstStyle/>
          <a:p>
            <a:r>
              <a:rPr lang="en-US" altLang="zh-CN" b="0" dirty="0"/>
              <a:t>Content Outline</a:t>
            </a:r>
            <a:endParaRPr lang="zh-CN" altLang="en-US" dirty="0"/>
          </a:p>
        </p:txBody>
      </p:sp>
      <p:sp>
        <p:nvSpPr>
          <p:cNvPr id="4" name="灯片编号占位符 3"/>
          <p:cNvSpPr>
            <a:spLocks noGrp="1"/>
          </p:cNvSpPr>
          <p:nvPr>
            <p:ph type="sldNum" sz="quarter" idx="10"/>
          </p:nvPr>
        </p:nvSpPr>
        <p:spPr/>
        <p:txBody>
          <a:bodyPr/>
          <a:lstStyle/>
          <a:p>
            <a:pPr>
              <a:defRPr/>
            </a:pPr>
            <a:fld id="{089D5952-B418-4B8D-AD2C-D98A402A865E}" type="slidenum">
              <a:rPr lang="en-US" altLang="zh-CN" smtClean="0"/>
              <a:pPr>
                <a:defRPr/>
              </a:pPr>
              <a:t>8</a:t>
            </a:fld>
            <a:endParaRPr lang="zh-CN" altLang="en-US"/>
          </a:p>
        </p:txBody>
      </p:sp>
      <p:sp>
        <p:nvSpPr>
          <p:cNvPr id="5" name="五角星 4"/>
          <p:cNvSpPr/>
          <p:nvPr/>
        </p:nvSpPr>
        <p:spPr>
          <a:xfrm>
            <a:off x="76200" y="1828800"/>
            <a:ext cx="474785" cy="474785"/>
          </a:xfrm>
          <a:prstGeom prst="star5">
            <a:avLst/>
          </a:prstGeom>
          <a:solidFill>
            <a:srgbClr val="E8E88C"/>
          </a:solidFill>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zh-CN" altLang="en-US" sz="1200" dirty="0">
              <a:noFill/>
            </a:endParaRPr>
          </a:p>
        </p:txBody>
      </p:sp>
    </p:spTree>
    <p:extLst>
      <p:ext uri="{BB962C8B-B14F-4D97-AF65-F5344CB8AC3E}">
        <p14:creationId xmlns:p14="http://schemas.microsoft.com/office/powerpoint/2010/main" val="3141953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4831" y="1066800"/>
            <a:ext cx="10515600" cy="4351337"/>
          </a:xfrm>
        </p:spPr>
        <p:txBody>
          <a:bodyPr/>
          <a:lstStyle/>
          <a:p>
            <a:r>
              <a:rPr lang="en-US" altLang="zh-CN" dirty="0"/>
              <a:t>The inception phase chapters and those for iteration-1 in the elaboration phase emphasized a wide range of fundamental analysis and object design skills, in order to share information on a breadth of common steps in building object systems.</a:t>
            </a:r>
          </a:p>
          <a:p>
            <a:r>
              <a:rPr lang="en-US" altLang="zh-CN" dirty="0"/>
              <a:t>In this iteration, the case study just emphasizes:</a:t>
            </a:r>
          </a:p>
          <a:p>
            <a:pPr lvl="1"/>
            <a:r>
              <a:rPr lang="en-US" altLang="zh-CN" dirty="0"/>
              <a:t>essential object design</a:t>
            </a:r>
          </a:p>
          <a:p>
            <a:pPr lvl="1"/>
            <a:r>
              <a:rPr lang="en-US" altLang="zh-CN" dirty="0"/>
              <a:t>the use of patterns to create a solid design</a:t>
            </a:r>
          </a:p>
          <a:p>
            <a:pPr lvl="1"/>
            <a:r>
              <a:rPr lang="en-US" altLang="zh-CN" dirty="0"/>
              <a:t>applying the UML to visualize the models</a:t>
            </a:r>
          </a:p>
          <a:p>
            <a:r>
              <a:rPr lang="en-US" altLang="zh-CN" dirty="0"/>
              <a:t>These are primary objectives of the book, and critical skills.</a:t>
            </a:r>
          </a:p>
          <a:p>
            <a:endParaRPr lang="zh-CN" altLang="en-US" dirty="0"/>
          </a:p>
        </p:txBody>
      </p:sp>
      <p:sp>
        <p:nvSpPr>
          <p:cNvPr id="3" name="标题 2"/>
          <p:cNvSpPr>
            <a:spLocks noGrp="1"/>
          </p:cNvSpPr>
          <p:nvPr>
            <p:ph type="title"/>
          </p:nvPr>
        </p:nvSpPr>
        <p:spPr/>
        <p:txBody>
          <a:bodyPr/>
          <a:lstStyle/>
          <a:p>
            <a:r>
              <a:rPr lang="en-US" altLang="zh-CN" dirty="0"/>
              <a:t>More Patterns : Introduction</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9</a:t>
            </a:fld>
            <a:endParaRPr lang="zh-CN" altLang="en-US"/>
          </a:p>
        </p:txBody>
      </p:sp>
    </p:spTree>
    <p:extLst>
      <p:ext uri="{BB962C8B-B14F-4D97-AF65-F5344CB8AC3E}">
        <p14:creationId xmlns:p14="http://schemas.microsoft.com/office/powerpoint/2010/main" val="3129761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All the software has been vigorously tested: unit, acceptance, load, usability, and so on. </a:t>
            </a:r>
          </a:p>
          <a:p>
            <a:r>
              <a:rPr lang="en-US" altLang="zh-CN" dirty="0"/>
              <a:t>Customers have been regularly engaged in evaluating the partial system, to obtain feedback for adaptation and clarification of requirements.</a:t>
            </a:r>
          </a:p>
          <a:p>
            <a:r>
              <a:rPr lang="en-US" altLang="zh-CN" dirty="0"/>
              <a:t>The system, across all subsystems, has been completely integrated and stabilized as a baselined internal release.</a:t>
            </a:r>
          </a:p>
          <a:p>
            <a:endParaRPr lang="zh-CN" altLang="en-US" dirty="0"/>
          </a:p>
        </p:txBody>
      </p:sp>
      <p:sp>
        <p:nvSpPr>
          <p:cNvPr id="3" name="标题 2"/>
          <p:cNvSpPr>
            <a:spLocks noGrp="1"/>
          </p:cNvSpPr>
          <p:nvPr>
            <p:ph type="title"/>
          </p:nvPr>
        </p:nvSpPr>
        <p:spPr>
          <a:xfrm>
            <a:off x="27709" y="-113423"/>
            <a:ext cx="12299569" cy="1309521"/>
          </a:xfrm>
        </p:spPr>
        <p:txBody>
          <a:bodyPr/>
          <a:lstStyle/>
          <a:p>
            <a:r>
              <a:rPr lang="en-US" altLang="zh-CN" sz="2800" dirty="0"/>
              <a:t>From Iteration 1 to 2</a:t>
            </a:r>
            <a:endParaRPr lang="zh-CN" altLang="en-US" sz="2800"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10</a:t>
            </a:fld>
            <a:endParaRPr lang="zh-CN" altLang="en-US"/>
          </a:p>
        </p:txBody>
      </p:sp>
    </p:spTree>
    <p:extLst>
      <p:ext uri="{BB962C8B-B14F-4D97-AF65-F5344CB8AC3E}">
        <p14:creationId xmlns:p14="http://schemas.microsoft.com/office/powerpoint/2010/main" val="4139845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Iteration-2 largely ignores requirements analysis and domain analysis, and focuses on object design with responsibilities and GRASP, and applying some </a:t>
            </a:r>
            <a:r>
              <a:rPr lang="en-US" altLang="zh-CN" dirty="0" err="1"/>
              <a:t>GoF</a:t>
            </a:r>
            <a:r>
              <a:rPr lang="en-US" altLang="zh-CN" dirty="0"/>
              <a:t> design patterns.</a:t>
            </a:r>
          </a:p>
          <a:p>
            <a:r>
              <a:rPr lang="en-US" altLang="zh-CN" dirty="0"/>
              <a:t>Some license is taken with the prioritization of requirements, preferring those that support the educational goals, rather than project risk goals.</a:t>
            </a:r>
          </a:p>
          <a:p>
            <a:r>
              <a:rPr lang="en-US" altLang="zh-CN" dirty="0"/>
              <a:t>The educational goals are to help explain fundamental ideas and principles of OOA/D in the early iterations</a:t>
            </a:r>
            <a:endParaRPr lang="zh-CN" altLang="en-US" dirty="0"/>
          </a:p>
        </p:txBody>
      </p:sp>
      <p:sp>
        <p:nvSpPr>
          <p:cNvPr id="3" name="标题 2"/>
          <p:cNvSpPr>
            <a:spLocks noGrp="1"/>
          </p:cNvSpPr>
          <p:nvPr>
            <p:ph type="title"/>
          </p:nvPr>
        </p:nvSpPr>
        <p:spPr>
          <a:xfrm>
            <a:off x="27709" y="-113423"/>
            <a:ext cx="12299569" cy="1309521"/>
          </a:xfrm>
        </p:spPr>
        <p:txBody>
          <a:bodyPr/>
          <a:lstStyle/>
          <a:p>
            <a:r>
              <a:rPr lang="en-US" altLang="zh-CN" sz="2800" dirty="0"/>
              <a:t>Iteration-2 Requirements and Emphasis: Object Design and Patterns</a:t>
            </a:r>
            <a:endParaRPr lang="zh-CN" altLang="en-US" sz="2800"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11</a:t>
            </a:fld>
            <a:endParaRPr lang="zh-CN" altLang="en-US"/>
          </a:p>
        </p:txBody>
      </p:sp>
    </p:spTree>
    <p:extLst>
      <p:ext uri="{BB962C8B-B14F-4D97-AF65-F5344CB8AC3E}">
        <p14:creationId xmlns:p14="http://schemas.microsoft.com/office/powerpoint/2010/main" val="3499304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sz="3200" dirty="0"/>
              <a:t>Iteration-2 of the </a:t>
            </a:r>
            <a:r>
              <a:rPr lang="en-US" altLang="zh-CN" sz="3200" dirty="0" err="1"/>
              <a:t>NextGen</a:t>
            </a:r>
            <a:r>
              <a:rPr lang="en-US" altLang="zh-CN" sz="3200" dirty="0"/>
              <a:t> POS application handles several interesting requirements:</a:t>
            </a:r>
          </a:p>
          <a:p>
            <a:pPr lvl="1"/>
            <a:r>
              <a:rPr lang="en-US" altLang="zh-CN" sz="2800" b="0" dirty="0"/>
              <a:t>Support for variations in third-party external services. </a:t>
            </a:r>
          </a:p>
          <a:p>
            <a:pPr lvl="1"/>
            <a:r>
              <a:rPr lang="en-US" altLang="zh-CN" sz="2800" b="0" dirty="0"/>
              <a:t>Complex pricing rules.</a:t>
            </a:r>
          </a:p>
          <a:p>
            <a:pPr lvl="1"/>
            <a:r>
              <a:rPr lang="en-US" altLang="zh-CN" sz="2800" b="0" dirty="0"/>
              <a:t>A design to refresh a GUI window when the sale total changes.</a:t>
            </a:r>
          </a:p>
          <a:p>
            <a:r>
              <a:rPr lang="en-US" altLang="zh-CN" sz="3200" dirty="0"/>
              <a:t>These requirements will only be considered (for this iteration) in the context of scenarios of the Process Sale use case.</a:t>
            </a:r>
          </a:p>
          <a:p>
            <a:endParaRPr lang="zh-CN" altLang="en-US" sz="3200" dirty="0"/>
          </a:p>
        </p:txBody>
      </p:sp>
      <p:sp>
        <p:nvSpPr>
          <p:cNvPr id="3" name="标题 2"/>
          <p:cNvSpPr>
            <a:spLocks noGrp="1"/>
          </p:cNvSpPr>
          <p:nvPr>
            <p:ph type="title"/>
          </p:nvPr>
        </p:nvSpPr>
        <p:spPr/>
        <p:txBody>
          <a:bodyPr/>
          <a:lstStyle/>
          <a:p>
            <a:r>
              <a:rPr lang="en-US" altLang="zh-CN" dirty="0"/>
              <a:t>Iteration-2 of the </a:t>
            </a:r>
            <a:r>
              <a:rPr lang="en-US" altLang="zh-CN" dirty="0" err="1"/>
              <a:t>NextGen</a:t>
            </a:r>
            <a:r>
              <a:rPr lang="en-US" altLang="zh-CN" dirty="0"/>
              <a:t> POS application</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12</a:t>
            </a:fld>
            <a:endParaRPr lang="zh-CN" altLang="en-US"/>
          </a:p>
        </p:txBody>
      </p:sp>
    </p:spTree>
    <p:extLst>
      <p:ext uri="{BB962C8B-B14F-4D97-AF65-F5344CB8AC3E}">
        <p14:creationId xmlns:p14="http://schemas.microsoft.com/office/powerpoint/2010/main" val="1199835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sz="3200" dirty="0"/>
              <a:t>Main Success Scenario:</a:t>
            </a:r>
          </a:p>
          <a:p>
            <a:pPr marL="914400" lvl="1" indent="-457200">
              <a:buFont typeface="+mj-lt"/>
              <a:buAutoNum type="arabicPeriod"/>
            </a:pPr>
            <a:r>
              <a:rPr lang="en-US" altLang="zh-CN" sz="2800" b="0" dirty="0"/>
              <a:t>Customer arrives at a POS checkout with goods and/or services to purchase.</a:t>
            </a:r>
          </a:p>
          <a:p>
            <a:pPr marL="914400" lvl="1" indent="-457200">
              <a:buFont typeface="+mj-lt"/>
              <a:buAutoNum type="arabicPeriod"/>
            </a:pPr>
            <a:r>
              <a:rPr lang="en-US" altLang="zh-CN" sz="2800" b="0" dirty="0"/>
              <a:t>Cashier tells System to create a new sale.</a:t>
            </a:r>
          </a:p>
          <a:p>
            <a:pPr marL="914400" lvl="1" indent="-457200">
              <a:buFont typeface="+mj-lt"/>
              <a:buAutoNum type="arabicPeriod"/>
            </a:pPr>
            <a:r>
              <a:rPr lang="en-US" altLang="zh-CN" sz="2800" b="0" dirty="0"/>
              <a:t>Cashier enters item identifier.</a:t>
            </a:r>
          </a:p>
          <a:p>
            <a:pPr marL="914400" lvl="1" indent="-457200">
              <a:buFont typeface="+mj-lt"/>
              <a:buAutoNum type="arabicPeriod"/>
            </a:pPr>
            <a:r>
              <a:rPr lang="en-US" altLang="zh-CN" sz="2800" b="0" dirty="0"/>
              <a:t>System records sale line item and presents item description, price, and running total. </a:t>
            </a:r>
          </a:p>
          <a:p>
            <a:pPr marL="457200" lvl="1" indent="0">
              <a:buNone/>
            </a:pPr>
            <a:r>
              <a:rPr lang="en-US" altLang="zh-CN" sz="2800" b="0" dirty="0">
                <a:solidFill>
                  <a:srgbClr val="00B050"/>
                </a:solidFill>
              </a:rPr>
              <a:t>    </a:t>
            </a:r>
            <a:r>
              <a:rPr lang="en-US" altLang="zh-CN" sz="2800" b="0" dirty="0"/>
              <a:t>Price calculated from a set of price rules.</a:t>
            </a:r>
          </a:p>
          <a:p>
            <a:pPr marL="457200" lvl="1" indent="0">
              <a:buNone/>
            </a:pPr>
            <a:endParaRPr lang="en-US" altLang="zh-CN" sz="2800" dirty="0"/>
          </a:p>
          <a:p>
            <a:endParaRPr lang="zh-CN" altLang="en-US" dirty="0"/>
          </a:p>
        </p:txBody>
      </p:sp>
      <p:sp>
        <p:nvSpPr>
          <p:cNvPr id="3" name="标题 2"/>
          <p:cNvSpPr>
            <a:spLocks noGrp="1"/>
          </p:cNvSpPr>
          <p:nvPr>
            <p:ph type="title"/>
          </p:nvPr>
        </p:nvSpPr>
        <p:spPr/>
        <p:txBody>
          <a:bodyPr/>
          <a:lstStyle/>
          <a:p>
            <a:r>
              <a:rPr lang="en-US" altLang="zh-CN" dirty="0"/>
              <a:t>Main Success Scenario</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13</a:t>
            </a:fld>
            <a:endParaRPr lang="zh-CN" altLang="en-US"/>
          </a:p>
        </p:txBody>
      </p:sp>
    </p:spTree>
    <p:extLst>
      <p:ext uri="{BB962C8B-B14F-4D97-AF65-F5344CB8AC3E}">
        <p14:creationId xmlns:p14="http://schemas.microsoft.com/office/powerpoint/2010/main" val="913451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Interfaces</a:t>
            </a:r>
          </a:p>
          <a:p>
            <a:pPr lvl="1"/>
            <a:r>
              <a:rPr lang="en-US" altLang="zh-CN" dirty="0"/>
              <a:t>Software Interfaces</a:t>
            </a:r>
          </a:p>
          <a:p>
            <a:pPr lvl="1"/>
            <a:r>
              <a:rPr lang="en-US" altLang="zh-CN" dirty="0"/>
              <a:t>For most external collaborating systems (tax calculator, accounting, inventory, ... ) </a:t>
            </a:r>
          </a:p>
          <a:p>
            <a:pPr lvl="1"/>
            <a:r>
              <a:rPr lang="en-US" altLang="zh-CN" dirty="0"/>
              <a:t>we need to be able to plug in varying systems and thus varying interfaces.</a:t>
            </a:r>
          </a:p>
          <a:p>
            <a:endParaRPr lang="zh-CN" altLang="en-US" dirty="0"/>
          </a:p>
        </p:txBody>
      </p:sp>
      <p:sp>
        <p:nvSpPr>
          <p:cNvPr id="3" name="标题 2"/>
          <p:cNvSpPr>
            <a:spLocks noGrp="1"/>
          </p:cNvSpPr>
          <p:nvPr>
            <p:ph type="title"/>
          </p:nvPr>
        </p:nvSpPr>
        <p:spPr/>
        <p:txBody>
          <a:bodyPr/>
          <a:lstStyle/>
          <a:p>
            <a:r>
              <a:rPr lang="en-US" altLang="zh-CN" dirty="0"/>
              <a:t>Supplementary Specification</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14</a:t>
            </a:fld>
            <a:endParaRPr lang="zh-CN" altLang="en-US"/>
          </a:p>
        </p:txBody>
      </p:sp>
    </p:spTree>
    <p:extLst>
      <p:ext uri="{BB962C8B-B14F-4D97-AF65-F5344CB8AC3E}">
        <p14:creationId xmlns:p14="http://schemas.microsoft.com/office/powerpoint/2010/main" val="3818721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Domain (Business) Rules</a:t>
            </a:r>
          </a:p>
          <a:p>
            <a:endParaRPr lang="zh-CN" altLang="en-US" dirty="0"/>
          </a:p>
        </p:txBody>
      </p:sp>
      <p:sp>
        <p:nvSpPr>
          <p:cNvPr id="3" name="标题 2"/>
          <p:cNvSpPr>
            <a:spLocks noGrp="1"/>
          </p:cNvSpPr>
          <p:nvPr>
            <p:ph type="title"/>
          </p:nvPr>
        </p:nvSpPr>
        <p:spPr/>
        <p:txBody>
          <a:bodyPr/>
          <a:lstStyle/>
          <a:p>
            <a:r>
              <a:rPr lang="en-US" altLang="zh-CN" dirty="0"/>
              <a:t>Domain (Business) Rules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15</a:t>
            </a:fld>
            <a:endParaRPr lang="zh-CN" altLang="en-US"/>
          </a:p>
        </p:txBody>
      </p:sp>
      <p:pic>
        <p:nvPicPr>
          <p:cNvPr id="5" name="图片 4"/>
          <p:cNvPicPr>
            <a:picLocks noChangeAspect="1"/>
          </p:cNvPicPr>
          <p:nvPr/>
        </p:nvPicPr>
        <p:blipFill>
          <a:blip r:embed="rId3"/>
          <a:stretch>
            <a:fillRect/>
          </a:stretch>
        </p:blipFill>
        <p:spPr>
          <a:xfrm>
            <a:off x="838200" y="2286000"/>
            <a:ext cx="10667318" cy="3609109"/>
          </a:xfrm>
          <a:prstGeom prst="rect">
            <a:avLst/>
          </a:prstGeom>
        </p:spPr>
      </p:pic>
    </p:spTree>
    <p:extLst>
      <p:ext uri="{BB962C8B-B14F-4D97-AF65-F5344CB8AC3E}">
        <p14:creationId xmlns:p14="http://schemas.microsoft.com/office/powerpoint/2010/main" val="1765613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3400" y="1066800"/>
            <a:ext cx="10515600" cy="4351337"/>
          </a:xfrm>
        </p:spPr>
        <p:txBody>
          <a:bodyPr/>
          <a:lstStyle/>
          <a:p>
            <a:r>
              <a:rPr lang="en-US" altLang="zh-CN" sz="2400" dirty="0"/>
              <a:t>Because of these requirements, we are revisiting the Process Sale use case in iteration-2, but implementing more scenarios, so that the system incrementally grows. </a:t>
            </a:r>
          </a:p>
          <a:p>
            <a:r>
              <a:rPr lang="en-US" altLang="zh-CN" sz="2400" dirty="0"/>
              <a:t>It is common to work on varying scenarios or features of the same use case over several iterations and gradually extend the system to ultimately handle all the functionality required. </a:t>
            </a:r>
          </a:p>
          <a:p>
            <a:r>
              <a:rPr lang="en-US" altLang="zh-CN" sz="2400" dirty="0"/>
              <a:t>On the other hand, short, simple use cases may be completely implemented within one iteration.</a:t>
            </a:r>
          </a:p>
          <a:p>
            <a:r>
              <a:rPr lang="en-US" altLang="zh-CN" sz="2400" dirty="0"/>
              <a:t>However, one scenario should not be split across iterations; an iteration should complete one or more end-to-end scenarios.</a:t>
            </a:r>
          </a:p>
          <a:p>
            <a:endParaRPr lang="zh-CN" altLang="en-US" dirty="0"/>
          </a:p>
        </p:txBody>
      </p:sp>
      <p:sp>
        <p:nvSpPr>
          <p:cNvPr id="3" name="标题 2"/>
          <p:cNvSpPr>
            <a:spLocks noGrp="1"/>
          </p:cNvSpPr>
          <p:nvPr>
            <p:ph type="title"/>
          </p:nvPr>
        </p:nvSpPr>
        <p:spPr>
          <a:xfrm>
            <a:off x="46079" y="152400"/>
            <a:ext cx="12099841" cy="1309521"/>
          </a:xfrm>
        </p:spPr>
        <p:txBody>
          <a:bodyPr/>
          <a:lstStyle/>
          <a:p>
            <a:r>
              <a:rPr lang="en-US" altLang="zh-CN" sz="2800" dirty="0"/>
              <a:t>Incremental Development for a Use Case Across Iterations</a:t>
            </a:r>
            <a:br>
              <a:rPr lang="en-US" altLang="zh-CN" dirty="0"/>
            </a:b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16</a:t>
            </a:fld>
            <a:endParaRPr lang="zh-CN" altLang="en-US"/>
          </a:p>
        </p:txBody>
      </p:sp>
    </p:spTree>
    <p:extLst>
      <p:ext uri="{BB962C8B-B14F-4D97-AF65-F5344CB8AC3E}">
        <p14:creationId xmlns:p14="http://schemas.microsoft.com/office/powerpoint/2010/main" val="2950743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399418" y="4043989"/>
            <a:ext cx="3733800" cy="2743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内容占位符 1"/>
          <p:cNvSpPr>
            <a:spLocks noGrp="1"/>
          </p:cNvSpPr>
          <p:nvPr>
            <p:ph idx="1"/>
          </p:nvPr>
        </p:nvSpPr>
        <p:spPr>
          <a:xfrm>
            <a:off x="228600" y="1330242"/>
            <a:ext cx="11811000" cy="4079958"/>
          </a:xfrm>
        </p:spPr>
        <p:txBody>
          <a:bodyPr/>
          <a:lstStyle/>
          <a:p>
            <a:r>
              <a:rPr lang="en-US" altLang="zh-CN" dirty="0"/>
              <a:t>How to update analysis quickly?</a:t>
            </a:r>
          </a:p>
          <a:p>
            <a:r>
              <a:rPr lang="en-US" altLang="zh-CN" dirty="0"/>
              <a:t>When iteration-1 ends, what should be accomplished?</a:t>
            </a:r>
          </a:p>
          <a:p>
            <a:r>
              <a:rPr lang="en-US" altLang="zh-CN" dirty="0"/>
              <a:t>In the iteration-2,what does the case study emphasizes?</a:t>
            </a:r>
          </a:p>
          <a:p>
            <a:endParaRPr lang="en-US" altLang="zh-CN" dirty="0"/>
          </a:p>
        </p:txBody>
      </p:sp>
      <p:sp>
        <p:nvSpPr>
          <p:cNvPr id="3" name="标题 2"/>
          <p:cNvSpPr>
            <a:spLocks noGrp="1"/>
          </p:cNvSpPr>
          <p:nvPr>
            <p:ph type="title"/>
          </p:nvPr>
        </p:nvSpPr>
        <p:spPr/>
        <p:txBody>
          <a:bodyPr/>
          <a:lstStyle/>
          <a:p>
            <a:r>
              <a:rPr lang="en-US" altLang="zh-CN" sz="3200" dirty="0"/>
              <a:t>Review : Elaboration Iteration 2 and Case Studies</a:t>
            </a:r>
            <a:endParaRPr lang="zh-CN" altLang="zh-CN" sz="3200"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17</a:t>
            </a:fld>
            <a:endParaRPr lang="zh-CN" altLang="en-US"/>
          </a:p>
        </p:txBody>
      </p:sp>
    </p:spTree>
    <p:extLst>
      <p:ext uri="{BB962C8B-B14F-4D97-AF65-F5344CB8AC3E}">
        <p14:creationId xmlns:p14="http://schemas.microsoft.com/office/powerpoint/2010/main" val="3455768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8074" y="1509742"/>
            <a:ext cx="10515600" cy="4351338"/>
          </a:xfrm>
        </p:spPr>
        <p:txBody>
          <a:bodyPr/>
          <a:lstStyle/>
          <a:p>
            <a:r>
              <a:rPr lang="en-US" altLang="zh-CN" dirty="0"/>
              <a:t>What is the essential object design?</a:t>
            </a:r>
          </a:p>
          <a:p>
            <a:r>
              <a:rPr lang="en-US" altLang="zh-CN" dirty="0"/>
              <a:t>How to use patterns to create a solid design?</a:t>
            </a:r>
          </a:p>
          <a:p>
            <a:r>
              <a:rPr lang="en-US" altLang="zh-CN" dirty="0"/>
              <a:t>How to apply the UML to visualize the models?</a:t>
            </a:r>
          </a:p>
          <a:p>
            <a:endParaRPr lang="en-US" altLang="zh-CN" dirty="0"/>
          </a:p>
        </p:txBody>
      </p:sp>
      <p:sp>
        <p:nvSpPr>
          <p:cNvPr id="3" name="标题 2"/>
          <p:cNvSpPr>
            <a:spLocks noGrp="1"/>
          </p:cNvSpPr>
          <p:nvPr>
            <p:ph type="title"/>
          </p:nvPr>
        </p:nvSpPr>
        <p:spPr/>
        <p:txBody>
          <a:bodyPr/>
          <a:lstStyle/>
          <a:p>
            <a:r>
              <a:rPr lang="en-US" altLang="zh-CN" dirty="0"/>
              <a:t>Special Topics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18</a:t>
            </a:fld>
            <a:endParaRPr lang="zh-CN" altLang="en-US"/>
          </a:p>
        </p:txBody>
      </p:sp>
    </p:spTree>
    <p:extLst>
      <p:ext uri="{BB962C8B-B14F-4D97-AF65-F5344CB8AC3E}">
        <p14:creationId xmlns:p14="http://schemas.microsoft.com/office/powerpoint/2010/main" val="6944285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THENA.CUSTOMXMLID" val="{1BA977A9-C848-4B99-853C-D423CC37C4DC}"/>
  <p:tag name="ATHENA.CUSTOMXMLCONTENT" val="&lt;?xml version=&quot;1.0&quot;?&gt;&lt;athena xmlns=&quot;http://schemas.microsoft.com/edu/athena&quot; version=&quot;0.1.3885.0&quot;&gt;&lt;timings duration=&quot;1799&quot;/&gt;&lt;/athena&gt;"/>
</p:tagLst>
</file>

<file path=ppt/tags/tag2.xml><?xml version="1.0" encoding="utf-8"?>
<p:tagLst xmlns:a="http://schemas.openxmlformats.org/drawingml/2006/main" xmlns:r="http://schemas.openxmlformats.org/officeDocument/2006/relationships" xmlns:p="http://schemas.openxmlformats.org/presentationml/2006/main">
  <p:tag name="ATHENA.CUSTOMXMLID" val="{BADBF95C-E216-48C4-85AB-263444C3FC94}"/>
  <p:tag name="ATHENA.CUSTOMXMLCONTENT" val="&lt;?xml version=&quot;1.0&quot;?&gt;&lt;athena xmlns=&quot;http://schemas.microsoft.com/edu/athena&quot; version=&quot;0.1.3885.0&quot;&gt;&lt;timings duration=&quot;1533&quot;/&gt;&lt;/athena&gt;"/>
</p:tagLst>
</file>

<file path=ppt/theme/theme1.xml><?xml version="1.0" encoding="utf-8"?>
<a:theme xmlns:a="http://schemas.openxmlformats.org/drawingml/2006/main" name="MOOC1">
  <a:themeElements>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自定义 1">
      <a:majorFont>
        <a:latin typeface="Microsoft JhengHei Light"/>
        <a:ea typeface="宋体"/>
        <a:cs typeface=""/>
      </a:majorFont>
      <a:minorFont>
        <a:latin typeface="Microsoft JhengHei Light"/>
        <a:ea typeface="宋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3" id="{47F42896-E946-4BA2-AE8A-BB0F9E22AB7F}" vid="{41889D29-1765-4963-89B1-6E31CFD5ACF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athena xmlns="http://schemas.microsoft.com/edu/athena" version="0.1.3885.0">
  <timings duration="1799"/>
</athena>
</file>

<file path=customXml/item2.xml><?xml version="1.0" encoding="utf-8"?>
<athena xmlns="http://schemas.microsoft.com/edu/athena" version="0.1.3885.0">
  <ink scale="0.5600933">AAEAAAD/////AQAAAAAAAAAMAgAAAE9BdXRob3JQUFQsIFZlcnNpb249MC4xLjM4ODUuMCwgQ3VsdHVyZT1uZXV0cmFsLCBQdWJsaWNLZXlUb2tlbj0zMWJmMzg1NmFkMzY0ZTM1BQEAAAALSW5rTWF0dGVyVjEDAAAADUxpc3RgMStfaXRlbXMMTGlzdGAxK19zaXplD0xpc3RgMStfdmVyc2lvbgQAABdTaGFyZWQuSW5raW5nLklua0F0b21bXQIAAAAICAIAAAAJAwAAAAUAAAAZAAAABwMAAAAAAQAAAAgAAAAECUlua0F0b21WMQIAAAAJBAAAAAkFAAAACQYAAAAJBwAAAAkIAAAADQMFBAAAAAtQZW5TdHJva2VWMQQAAAAKQXR0cmlidXRlcwVUcmFjZQlTdGFydFRpbWUEVHlwZQQEAAQPUGVuQXR0cmlidXRlc1YxAgAAAApJbmtUcmFjZVYxAgAAABAMQWN0aW9uVHlwZVYxAgAAAAIAAAAJCQAAAAkKAAAAnPYBAAAAAAAF9f///wxBY3Rpb25UeXBlVjEBAAAAB3ZhbHVlX18ACAIAAAAAAAAAAQUAAAAEAAAACQwAAAAJDQAAABn9AQAAAAAAAfL////1////AAAAAAEGAAAABAAAAAkPAAAACRAAAAAbAwIAAAAAAAHv////9f///wAAAAABBwAAAAQAAAAJEgAAAAkTAAAA0q8CAAAAAAAB7P////X///8AAAAABQgAAAANQ2xlYXJDYW52YXNWMQIAAAAJU3RhcnRUaW1lBFR5cGUABBAMQWN0aW9uVHlwZVYxAgAAAAIAAADMUQQAAAAAAAHr////9f///wAAAAAFCQAAAA9QZW5BdHRyaWJ1dGVzVjEKAAAAB19jb2xvckEHX2NvbG9yUgdfY29sb3JHB19jb2xvckIKRml0VG9DdXJ2ZQZIZWlnaHQOSWdub3JlUHJlc3N1cmUNSXNIaWdobGlnaHRlcgVTaGFwZQVXaWR0aAAAAAAAAAAABAACAgICAQYBAQxCcnVzaFNoYXBlVjECAAAABgIAAAD//wAAAAAAAAAAAAhAAAAF6v///wxCcnVzaFNoYXBlVjEBAAAAB3ZhbHVlX18ACAIAAAABAAAAAAAAAAAACEAFCgAAAApJbmtUcmFjZVYxAwAAAA1MaXN0YDErX2l0ZW1zDExpc3RgMStfc2l6ZQ9MaXN0YDErX3ZlcnNpb24EAAAYU2hhcmVkLklua2luZy5JbmtQb2ludFtdAgAAAAgIAgAAAAkXAAAAYAAAAGAAAAABDAAAAAkAAAD//wAAAAAAAAAAAAhAAAAB6P///+r///8BAAAAAAAAAAAACEABDQAAAAoAAAAJGQAAAEcAAABHAAAAAQ8AAAAJAAAA//8AAAAAAAAAAAAIQAAAAeb////q////AQAAAAAAAAAAAAhAARAAAAAKAAAACRsAAAApAAAAKQAAAAESAAAACQAAAP//AAAAAAAAAAAACEAAAAHk////6v///wEAAAAAAAAAAAAIQAETAAAACgAAAAkdAAAAOwAAADsAAAAHFwAAAAABAAAAgAAAAAQKSW5rUG9pbnRWMQIAAAAJHgAAAAkfAAAACSAAAAAJIQAAAAkiAAAACSMAAAAJJAAAAAklAAAACSYAAAAJJwAAAAkoAAAACSkAAAAJKgAAAAkrAAAACSwAAAAJLQAAAAkuAAAACS8AAAAJMAAAAAkxAAAACTIAAAAJMwAAAAk0AAAACTUAAAAJNgAAAAk3AAAACTgAAAAJOQAAAAk6AAAACTsAAAAJPAAAAAk9AAAACT4AAAAJPwAAAAlAAAAACUEAAAAJQgAAAAlDAAAACUQAAAAJRQAAAAlGAAAACUcAAAAJSAAAAAlJAAAACUoAAAAJSwAAAAlMAAAACU0AAAAJTgAAAAlPAAAACVAAAAAJUQAAAAlSAAAACVMAAAAJVAAAAAlVAAAACVYAAAAJVwAAAAlYAAAACVkAAAAJWgAAAAlbAAAACVwAAAAJXQAAAAleAAAACV8AAAAJYAAAAAlhAAAACWIAAAAJYwAAAAlkAAAACWUAAAAJZgAAAAlnAAAACWgAAAAJaQAAAAlqAAAACWsAAAAJbAAAAAltAAAACW4AAAAJbwAAAAlwAAAACXEAAAAJcgAAAAlzAAAACXQAAAAJdQAAAAl2AAAACXcAAAAJeAAAAAl5AAAACXoAAAAJewAAAAl8AAAACX0AAAANIAcZAAAAAAEAAACAAAAABApJbmtQb2ludFYxAgAAAAl+AAAACX8AAAAJgAAAAAmBAAAACYIAAAAJgwAAAAmEAAAACYUAAAAJhgAAAAmHAAAACYgAAAAJiQAAAAmKAAAACYsAAAAJjAAAAAmNAAAACY4AAAAJjwAAAAmQAAAACZEAAAAJkgAAAAmTAAAACZQAAAAJlQAAAAmWAAAACZcAAAAJmAAAAAmZAAAACZoAAAAJmwAAAAmcAAAACZ0AAAAJngAAAAmfAAAACaAAAAAJoQAAAAmiAAAACaMAAAAJpAAAAAmlAAAACaYAAAAJpwAAAAmoAAAACakAAAAJqgAAAAmrAAAACawAAAAJrQAAAAmuAAAACa8AAAAJsAAAAAmxAAAACbIAAAAJswAAAAm0AAAACbUAAAAJtgAAAAm3AAAACbgAAAAJuQAAAAm6AAAACbsAAAAJvAAAAAm9AAAACb4AAAAJvwAAAAnAAAAACcEAAAAJwgAAAAnDAAAACcQAAAANOQcbAAAAAAEAAABAAAAABApJbmtQb2ludFYxAgAAAAnFAAAACcYAAAAJxwAAAAnIAAAACckAAAAJygAAAAnLAAAACcwAAAAJzQAAAAnOAAAACc8AAAAJ0AAAAAnRAAAACdIAAAAJ0wAAAAnUAAAACdUAAAAJ1gAAAAnXAAAACdgAAAAJ2QAAAAnaAAAACdsAAAAJ3AAAAAndAAAACd4AAAAJ3wAAAAngAAAACeEAAAAJ4gAAAAnjAAAACeQAAAAJ5QAAAAnmAAAACecAAAAJ6AAAAAnpAAAACeoAAAAJ6wAAAAnsAAAACe0AAAANFwcdAAAAAAEAAABAAAAABApJbmtQb2ludFYxAgAAAAnuAAAACe8AAAAJ8AAAAAnxAAAACfIAAAAJ8wAAAAn0AAAACfUAAAAJ9gAAAAn3AAAACfgAAAAJ+QAAAAn6AAAACfsAAAAJ/AAAAAn9AAAACf4AAAAJ/wAAAAkAAQAACQEBAAAJAgEAAAkDAQAACQQBAAAJBQEAAAkGAQAACQcBAAAJCAEAAAkJAQAACQoBAAAJCwEAAAkMAQAACQ0BAAAJDgEAAAkPAQAACRABAAAJEQEAAAkSAQAACRMBAAAJFAEAAAkVAQAACRYBAAAJFwEAAAkYAQAACRkBAAAJGgEAAAkbAQAACRwBAAAJHQEAAAkeAQAACR8BAAAJIAEAAAkhAQAACSIBAAAJIwEAAAkkAQAACSUBAAAJJgEAAAknAQAACSgBAAANBQUeAAAACklua1BvaW50VjEEAAAAAVgBWQ5QcmVzc3VyZUZhY3RvcglUaW1lU3RhbXAAAAAABgYLEAIAAABAljnCBS2aP+B9a2R1GdY/AAAAPwAAAAAAAAAAAR8AAAAeAAAAgP4KsxpFnD+8sZkGzlXWPwAAAD8AAAAAAAAAAAEgAAAAHgAAAIBm3KMvXZ4/qsuwV/pz1j8AAAA/AAAAAAAAAAABIQAAAB4AAACgTyg7t1KiP5jlx6gmktY/AAAAPw8AAAAAAAAAASIAAAAeAAAAwAORs8Feoz+G/975UrDWPwAAAD8PAAAAAAAAAAEjAAAAHgAAAOAfyxzhgqY/YjMNnKvs1j8AAAA/HwAAAAAAAAABJAAAAB4AAABgpNZ2Fb+rPz5nOz4EKdc/AAAAPx8AAAAAAAAAASUAAAAeAAAAcBRx6KR9sD8sgVKPMEfXPwAAAD8vAAAAAAAAAAEmAAAAHgAAALAwq1HEobM/CrWAMYmD1z8AAAA/LwAAAAAAAAABJwAAAB4AAAAATeW648W2P9QCxiQO3tc/AAAAPz4AAAAAAAAAASgAAAAeAAAAMA/r5/1juT/CHN11OvzXPwAAAD8+AAAAAAAAAAEpAAAAHgAAAJCT9kEyoL4/nlALGJM42D8AAAA/XQAAAAAAAAABKgAAAB4AAADwV5jVKOLAP55QCxiTONg/AAAAP10AAAAAAAAAASsAAAAeAAAAGJNPKDu3wj+eUAsYkzjYPwAAAD9dAAAAAAAAAAEsAAAAHgAAAGCCb/NXmMU/nlALGJM42D8AAAA/fQAAAAAAAAABLQAAAB4AAAB4NthrYqTGP55QCxiTONg/AAAAP30AAAAAAAAAAS4AAAAeAAAAoHGPvnR5yD+eUAsYkzjYPwAAAD99AAAAAAAAAAEvAAAAHgAAAPDn/WOZI8w/nlALGJM42D8AAAA/jAAAAAAAAAABMAAAAB4AAAAQUM9UrjvOP55QCxiTONg/AAAAP5wAAAAAAAAAATEAAAAeAAAApEXDU2AI0D+eUAsYkzjYPwAAAD+rAAAAAAAAAAEyAAAAHgAAALj5K8xqFNE/nlALGJM42D8AAAA/qwAAAAAAAAABMwAAAB4AAABMl4f18/7RP7A29MZmGtg/AAAAP7sAAAAAAAAAATQAAAAeAAAAbHgKDAFO0z/m6K7T4b/XPwAAAD+7AAAAAAAAAAE1AAAAHgAAABTKzq2URNU/UE0k7dcK1z8AAAA/ywAAAAAAAAABNgAAAB4AAAAY9+hLl4fVP3QZ9kp/ztY/AAAAP8sAAAAAAAAAATcAAAAeAAAAKFEdiJwN1j+Y5ceoJpLWPwAAAD/aAAAAAAAAAAE4AAAAHgAAAChRHYicDdY/qsuwV/pz1j8AAAA/2gAAAAAAAAABOQAAAB4AAAAwfjcmn1DWP+B9a2R1GdY/AAAAP+oAAAAAAAAAAToAAAAeAAAAMH43Jp9Q1j8WMCZx8L7VPwAAAD/5AAAAAAAAAAE7AAAAHgAAADB+NyafUNY/XsjJLD9G1T8AAAA/+QAAAAAAAAABPAAAAB4AAAAwfjcmn1DWP5R6hDm669Q/AAAAP/kAAAAAAAAAAT0AAAAeAAAAMH43Jp9Q1j+4RlaXYa/UPwAAAD8JAQAAAAAAAAE+AAAAHgAAADB+NyafUNY/7vgQpNxU1D8AAAA/GQEAAAAAAAABPwAAAB4AAAAwfjcmn1DWPySry7BX+tM/AAAAPxkBAAAAAAAAAUAAAAAeAAAAMH43Jp9Q1j9qQ29spoHTPwAAAD8oAQAAAAAAAAFBAAAAHgAAADB+NyafUNY/oPUpeSEn0z8AAAA/KAEAAAAAAAABQgAAAB4AAACoZyrXHS/WP9an5IWczNI/AAAAPzgBAAAAAAAAAUMAAAAeAAAAoDoQORvs1T8MWp+SF3LSPwAAAD84AQAAAAAAAAFEAAAAHgAAAJgN9poYqdU/MCZx8L410j8AAAA/RwEAAAAAAAABRQAAAB4AAAAMnbQPkgHVP3a+FKwNvdE/AAAAP0cBAAAAAAAAAUYAAAAeAAAAiFmNIg6d1D++VrhnXETRPwAAAD9XAQAAAAAAAAFHAAAAHgAAAHTSPkgG1NM/Bu9bI6vL0D8AAAA/VwEAAAAAAAABSAAAAB4AAABseAoMAU7TPyq7LYFSj9A/AAAAP2cBAAAAAAAAAUkAAAAeAAAAWPG7MfmE0j9ibeiNzTTQPwAAAD92AQAAAAAAAAFKAAAAHgAAAERqbVfxu9E/CHN01+nwzz8AAAA/dgEAAAAAAAABSwAAAB4AAAA44x596fLQP1ALGJM4eM8/AAAAP3YBAAAAAAAAAUwAAAAeAAAApEXDU2AI0D+8b42sLsPOPwAAAD+GAQAAAAAAAAFNAAAAHgAAACB96fKwfs4/KNQCxiQOzj8AAAA/lQEAAAAAAAABTgAAAB4AAADw5/1jmSPMP3BspoFzlc0/AAAAP5UBAAAAAAAAAU8AAAAeAAAAyKxGEYdOyj/c0BubaeDMPwAAAD+VAQAAAAAAAAFQAAAAHgAAAJDqQORssMc/RDWRtF8rzD8AAAA/pQEAAAAAAAABUQAAAB4AAABo3KMvXR7GP2gBYxIH78s/AAAAP7UBAAAAAAAAAVIAAAAeAAAAOHTSPkgGxD/UZdgr/TnLPwAAAD+1AQAAAAAAAAFTAAAAHgAAABhmNYo4dMI/+DGqiaT9yj8AAAA/tQEAAAAAAAABVAAAAB4AAADo/WOZI1zAP0DKTUXzhMo/AAAAP8QBAAAAAAAAAVUAAAAeAAAAoN+NySeUvT9Ayk1F84TKPwAAAD/EAQAAAAAAAAFWAAAAHgAAAGB3vNgSfLs/QMpNRfOEyj8AAAA/1AEAAAAAAAABVwAAAB4AAAAQW4Jv81e4P0DKTUXzhMo/AAAAP+MBAAAAAAAAAVgAAAAeAAAAAE3luuPFtj9Ayk1F84TKPwAAAD/jAQAAAAAAAAFZAAAAHgAAAMDkE8rOrbQ/QMpNRfOEyj8AAAA/4wEAAAAAAAABWgAAAB4AAACw1nYVvxuzP0DKTUXzhMo/AAAAP/MBAAAAAAAAAVsAAAAeAAAAkCIOnbQPsj9Ayk1F84TKPwAAAD/zAQAAAAAAAAFcAAAAHgAAAHAUceikfbA/QMpNRfOEyj8AAAA/AwIAAAAAAAABXQAAAB4AAACgDKhnKtetPxz+e+dLwco/AAAAPwMCAAAAAAAAAV4AAAAeAAAAIIicDfaaqD+wmQbOVXbLPwAAAD8SAgAAAAAAAAFfAAAAHgAAAOAfyxzhgqY/jM00cK6yyz8AAAA/IgIAAAAAAAABYAAAAB4AAADAA5GzwV6jPyBpv1a4Z8w/AAAAPyICAAAAAAAAAWEAAAAeAAAAoE8oO7dSoj/8nO34EKTMPwAAAD8iAgAAAAAAAAFiAAAAHgAAAICbv8KsRqE/lDh43xpZzT8AAAA/MQIAAAAAAAABYwAAAB4AAACAZtyjL12eP0yg1CPM0c0/AAAAP0ECAAAAAAAAAWQAAAAeAAAAgP4KsxpFnD8ECDFofUrOPwAAAD9BAgAAAAAAAAFlAAAAHgAAAEAuaNHwFJg/mKO7Tof/zj8AAAA/QQIAAAAAAAABZgAAAB4AAABALmjR8BSYP3TX6fDfO88/AAAAP2ACAAAAAAAAAWcAAAAeAAAAAMaW4Nv8lT8sP0Y1kbTPPwAAAD9gAgAAAAAAAAFoAAAAHgAAAADGluDb/JU/CHN01+nwzz8AAAA/YAIAAAAAAAABaQAAAB4AAAAAxpbg2/yVPyq7LYFSj9A/AAAAP3ACAAAAAAAAAWoAAAAeAAAAAMaW4Nv8lT/0CHN01+nQPwAAAD9/AgAAAAAAAAFrAAAAHgAAAADGluDb/JU/vla4Z1xE0T8AAAA/fwIAAAAAAAABbAAAAB4AAAAAxpbg2/yVP4ik/VrhntE/AAAAP48CAAAAAAAAAW0AAAAeAAAAAMaW4Nv8lT9k2Cv9OdvRPwAAAD+PAgAAAAAAAAFuAAAAHgAAAADGluDb/JU/HkCIQetT0j8AAAA/nwIAAAAAAAABbwAAAB4AAAAAxpbg2/yVP9an5IWczNI/AAAAP58CAAAAAAAAAXAAAAAeAAAAQJY5wgUtmj+OD0HKTUXTPwAAAD+uAgAAAAAAAAFxAAAAHgAAAGDnVkqiOqA/NpG0Xyvc0z8AAAA/rgIAAAAAAAABcgAAAB4AAACAm7/CrEahPxLF4gGEGNQ/AAAAP7kCAAAAAAAAAXMAAAAeAAAAoE8oO7dSoj8A3/lSsDbUPwAAAD+5AgAAAAAAAAF0AAAAHgAAAKBPKDu3UqI/yiw/RjWR1D8AAAA/yAIAAAAAAAABdQAAAB4AAADgt/krzGqkP7hGVpdhr9Q/AAAAP9gCAAAAAAAAAXYAAAAeAAAA4Lf5K8xqpD+mYG3ojc3UPwAAAD/YAgAAAAAAAAF3AAAAHgAAAOAfyxzhgqY/gpSbiuYJ1T8AAAA/9wIAAAAAAAABeAAAAB4AAAAgiJwN9pqoP17IySw/RtU/AAAAP/cCAAAAAAAAAXkAAAAeAAAAYKTWdhW/qz9M4uB9a2TVPwAAAD/3AgAAAAAAAAF6AAAAHgAAAKDAEOA0464/Ovz3zpeC1T8AAAA/FgMAAAAAAAABewAAAB4AAABwFHHopH2wPygWDyDEoNU/AAAAPxYDAAAAAAAAAXwAAAAeAAAAkCIOnbQPsj8WMCZx8L7VPwAAAD8WAwAAAAAAAAF9AAAAHgAAAKB8Qtm5lbI/BEo9whzd1T8AAAA/NgMAAAAAAAABfgAAAB4AAACQZY5wQYvmP/hrhXvGRaQ/AAAAPwAAAAAAAAAAAX8AAAAeAAAAzMP6ef9Y5j/4a4V7xkWkPwAAAD8QAAAAAAAAAAGAAAAAHgAAAEit7Sp+N+Y/2Ar3jIsopj8AAAA/EAAAAAAAAAABgQAAAB4AAADEluDb/BXmPwgYkzh436o/AAAAPxAAAAAAAAAAAYIAAAAeAAAARIDTjHv05T/otgRKPcKsPwAAAD8gAAAAAAAAAAGDAAAAHgAAAMBpxj360uU/OCUv5GSWrz8AAAA/IAAAAAAAAAABhAAAAB4AAACA3j+WOcLlP8jJLD9GNbE/AAAAPy8AAAAAAAAAAYUAAAAeAAAAPFO57nix5T+oaJ5QCxizPwAAAD8vAAAAAAAAAAGGAAAAHgAAAPzHMke4oOU/0J+zHR+CtD8AAAA/PwAAAAAAAAABhwAAAB4AAAD8xzJHuKDlP/jWyOoy7LU/AAAAP04AAAAAAAAAAYgAAAAeAAAA/McyR7ig5T+0PiUv5GS2PwAAAD9OAAAAAAAAAAGJAAAAHgAAAPzHMke4oOU/3HU6/PfOtz8AAAA/TgAAAAAAAAABigAAAB4AAADAacY9+tLlP3R8CFJuKro/AAAAP2wAAAAAAAAAAYsAAAAeAAAAhAtaNDwF5j8Mg9an5IW8PwAAAD9sAAAAAAAAAAGMAAAAHgAAAEit7Sp+N+Y/9CFIualovj8AAAA/ewAAAAAAAAABjQAAAB4AAACcv8KsRhHnPyBIualonsA/AAAAP4sAAAAAAAAAAY4AAAAeAAAAJAPqmcp15z+040OQclPBPwAAAD+LAAAAAAAAAAGPAAAAHgAAAGi7it+Nyec/bEug1CPMwT8AAAA/iwAAAAAAAAABkAAAAB4AAAB4Fb8bk0/oPwTnKrstgcI/AAAAP5oAAAAAAAAAAZEAAAAeAAAAQORssNfE6D/gGlldhr3CPwAAAD+qAAAAAAAAAAGSAAAAHgAAAEw+oezcSuk/mIK1oTc2wz8AAAA/qgAAAAAAAAABkwAAAB4AAABYmNUo4tDpP1DqEeborsM/AAAAP7oAAAAAAAAAAZQAAAAeAAAAnFB2bqUk6j8IUm4qmifEPwAAAD+6AAAAAAAAAAGVAAAAHgAAADDBt/krzOo/CFJuKponxD8AAAA/yQAAAAAAAAABlgAAAB4AAAA4G+w1MVLrPwhSbiqaJ8Q/AAAAP8kAAAAAAAAAAZcAAAAeAAAARHUgcjbY6z8IUm4qmifEPwAAAD/ZAAAAAAAAAAGYAAAAHgAAAJRa21X8buw/CFJuKponxD8AAAA/2QAAAAAAAAABmQAAAB4AAABcKYnqQOTsPwhSbiqaJ8Q/AAAAP+gAAAAAAAAAAZoAAAAeAAAApOEpMAQ47T8IUm4qmifEPwAAAD/oAAAAAAAAAAGbAAAAHgAAAKgORM4Ge+0/LB5AiEHrwz8AAAA/+AAAAAAAAAABnAAAAB4AAABssNfESK3tP3S240OQcsM/AAAAP/gAAAAAAAAAAZ0AAAAeAAAAMFJru4rf7T8E5yq7LYHCPwAAAD8IAQAAAAAAAAGeAAAAHgAAALRoeAoMAe4/SH/OdnwIwj8AAAA/FwEAAAAAAAABnwAAAB4AAAC0aHgKDAHuP2xLoNQjzME/AAAAPxcBAAAAAAAAAaAAAAAeAAAAOH+FWY0i7j8gSLmpaJ7APwAAAD82AQAAAAAAAAGhAAAAHgAAAHgKDAFOM+4/auBcZbclwD8AAAA/NgEAAAAAAAABogAAAB4AAAD4IBlQz1TuP/QhSLmpaL4/AAAAPzYBAAAAAAAAAaMAAAAeAAAA+CAZUM9U7j9UG3pjMw28PwAAAD9WAQAAAAAAAAGkAAAAHgAAAPggGVDPVO4/LORklh+juj8AAAA/VgEAAAAAAAABpQAAAB4AAAD4IBlQz1TuPwStT8kLObk/AAAAP1YBAAAAAAAAAaYAAAAeAAAA+CAZUM9U7j+IBxBi0Pq0PwAAAD91AQAAAAAAAAGnAAAAHgAAAPggGVDPVO4/GDhX2W0JtD8AAAA/dQEAAAAAAAABqAAAAB4AAAB4CgwBTjPuP/AAQgxan7I/AAAAP4QBAAAAAAAAAakAAAAeAAAAOH+FWY0i7j+AMYmD962xPwAAAD+EAQAAAAAAAAGqAAAAHgAAADBSa7uK3+0/WIa90p+zrT8AAAA/lAEAAAAAAAABqwAAAB4AAADwxuQTys7tP3jnS8Ha0Ks/AAAAP5QBAAAAAAAAAawAAAAeAAAArDtebAm+7T+YSNqvFe6pPwAAAD+UAQAAAAAAAAGtAAAAHgAAACwlUR2InO0/2Ar3jIsopj8AAAA/pAEAAAAAAAABrgAAAB4AAACoDkTOBnvtP/hrhXvGRaQ/AAAAP7MBAAAAAAAAAa8AAAAeAAAA5Gyw18RI7T+g/VrhnnGhPwAAAD+zAQAAAAAAAAGwAAAAHgAAAGRWo4hDJ+0/gL3Sn7Mdnz8AAAA/wwEAAAAAAAABsQAAAB4AAADgP5Y5wgXtP8B/73wpWJs/AAAAP8MBAAAAAAAAAbIAAAAeAAAAVPxuTD6h7D/wQQxan5KXPwAAAD/SAQAAAAAAAAGzAAAAHgAAAJRa21X8buw/EKOaSNqvlT8AAAA/0gEAAAAAAAABtAAAAB4AAAAIF7RoeArsP4DGRRSLB5A/AAAAP+IBAAAAAAAAAbUAAAAeAAAAgNOMe/Sl6z9AT6gFjEmMPwAAAD/iAQAAAAAAAAG2AAAAHgAAADDu0ZcuD+s/oNPhv3e+hD8AAAA/8gEAAAAAAAABtwAAAB4AAACsqqqqqqrqP0CwNvTGZno/AAAAPwECAAAAAAAAAbgAAAAeAAAAnFB2bqUk6j+AclPRPKFmPwAAAD8RAgAAAAAAAAG5AAAAHgAAAJwjXNCi4ek/gHJT0TyhZj8AAAA/EQIAAAAAAAABugAAAB4AAAAYDU+BIcDpP4ByU9E8oWY/AAAAPyACAAAAAAAAAbsAAAAeAAAAEOA04x596T+AclPRPKFmPwAAAD8gAgAAAAAAAAG8AAAAHgAAAEw+oezcSuk/gHJT0TyhZj8AAAA/MAIAAAAAAAABvQAAAB4AAACInA32mhjpP4ByU9E8oWY/AAAAP0ACAAAAAAAAAb4AAAAeAAAAhG/zV5jV6D+AclPRPKFmPwAAAD9AAgAAAAAAAAG/AAAAHgAAAEDkbLDXxOg/gHJT0TyhZj8AAAA/QAIAAAAAAAABwAAAAB4AAAB8Qtm5lZLoP4ByU9E8oWY/AAAAP08CAAAAAAAAAcEAAAAeAAAAuKBFw1Ng6D+AclPRPKFmPwAAAD9fAgAAAAAAAAHCAAAAHgAAAHgVvxuTT+g/gHJT0TyhZj8AAAA/XwIAAAAAAAABwwAAAB4AAAA4ijh00j7oP4ByU9E8oWY/AAAAP18CAAAAAAAAAcQAAAAeAAAA9P6xzBEu6D+AclPRPKFmPwAAAD9uAgAAAAAAAAHFAAAAHgAAAHixJfg2f+U/tcI94yKK5T8AAAA/AAAAAAAAAAABxgAAAB4AAAB4sSX4Nn/lP61PyQs5meU/AAAAPw8AAAAAAAAAAccAAAAeAAAAeLEl+DZ/5T9tKpon1ALmPwAAAD8fAAAAAAAAAAHIAAAAHgAAAHixJfg2f+U/N3jfGlld5j8AAAA/LwAAAAAAAAAByQAAAB4AAAB4sSX4Nn/lPxOsDb2xmeY/AAAAPy8AAAAAAAAAAcoAAAAeAAAAeLEl+DZ/5T/Xht7YTAPnPwAAAD8+AAAAAAAAAAHLAAAAHgAAAHixJfg2f+U/qUeYo7tO5z8AAAA/TgAAAAAAAAABzAAAAB4AAAB4sSX4Nn/lP3OV3ZZAqec/AAAAP04AAAAAAAAAAc0AAAAeAAAAeLEl+DZ/5T8zcK6y2xLoPwAAAD9OAAAAAAAAAAHOAAAAHgAAAHixJfg2f+U/BzFofUpe6D8AAAA/XQAAAAAAAAABzwAAAB4AAAB4sSX4Nn/lP+3XCveMi+g/AAAAP20AAAAAAAAAAdAAAAAeAAAAeLEl+DZ/5T/Tfq1wz7joPwAAAD9tAAAAAAAAAAHRAAAAHgAAAHixJfg2f+U/wZjEwfvW6D8AAAA/fQAAAAAAAAAB0gAAAB4AAAB4sSX4Nn/lP7clUOoR5ug/AAAAP30AAAAAAAAAAdMAAAAeAAAAeLEl+DZ/5T+vstsSKPXoPwAAAD99AAAAAAAAAAHUAAAAHgAAAHixJfg2f+U/pT9nOz4E6T8AAAA/igAAAAAAAAAB1QAAAB4AAAC8PKyf94/lP53M8mNUE+k/AAAAP6kAAAAAAAAAAdYAAAAeAAAAPFO57nix5T+dzPJjVBPpPwAAAD/JAAAAAAAAAAHXAAAAHgAAAAT1TOW64+U/pT9nOz4E6T8AAAA/yQAAAAAAAAAB2AAAAB4AAABIre0qfjfmP8GYxMH71ug/AAAAP9gAAAAAAAAAAdkAAAAeAAAA1PAUGAKc5j/b8SFIuanoPwAAAD/oAAAAAAAAAAHaAAAAHgAAAFg0PAWGAOc/9Up/znZ86D8AAAA/6AAAAAAAAAAB2wAAAB4AAADopH2QDKjnPxkXUSweQOg/AAAAP+gAAAAAAAAAAdwAAAAeAAAAtHMrJVEd6D9FVpdhr/TnPwAAAD/3AAAAAAAAAAHdAAAAHgAAAMT6ef9Y5ug/fQhSbiqa5z8AAAA/9wAAAAAAAAAB3gAAAB4AAABQa7uK343pP7O6DHulP+c/AAAAPwcBAAAAAAAAAd8AAAAeAAAAnFB2bqUk6j/x3ztfCtbmPwAAAD8XAQAAAAAAAAHgAAAAHgAAALQE3+avMOs/W0SxeAAh5j8AAAA/FwEAAAAAAAAB4QAAAB4AAACA04x79KXrP4mD962R1eU/AAAAPyYBAAAAAAAAAeIAAAAeAAAAzLhHX7o87D+tT8kLOZnlPwAAAD8mAQAAAAAAAAHjAAAAHgAAAFT8bkw+oew/4wGEGLQ+5T8AAAA/NgEAAAAAAAAB5AAAAB4AAABkVqOIQyftP/1a4Z5xEeU/AAAAPzYBAAAAAAAAAeUAAAAeAAAA6JnKdceL7T8hJ7P8GNXkPwAAAD9FAQAAAAAAAAHmAAAAHgAAADBSa7uK3+0/O4AQg9an5D8AAAA/VQEAAAAAAAAB5wAAAB4AAAD4IBlQz1TuP01m+TGqieQ/AAAAP1UBAAAAAAAAAegAAAAeAAAARNm5lZKo7j9xMsuPUU3kPwAAAD9VAQAAAAAAAAHpAAAAHgAAAEgG1DOV6+4/e6U/Zzs+5D8AAAA/ZQEAAAAAAAAB6gAAAB4AAADQSfsgGVDvP5b+nO34EOQ/AAAAP3QBAAAAAAAAAesAAAAeAAAAlOuOF1uC7z+W/pzt+BDkPwAAAD90AQAAAAAAAAHsAAAAHgAAAJwYqbVdxe8/n3ERxeIB5D8AAAA/dAEAAAAAAAAB7QAAAB4AAAAcL7YE3+bvP7FX+nO24+M/AAAAP4QBAAAAAAAAAe4AAAAeAAAAABIuaNHwdD+VvJCTWX7sPwAAAD8AAAAAAAAAAAHvAAAAHgAAAADi0En7IGk/lbyQk1l+7D8AAAA/DwAAAAAAAAAB8AAAAB4AAAAA4tBJ+yBpP4PWp+SFnOw/AAAAPx8AAAAAAAAAAfEAAAAeAAAAAOLQSfsgaT9x8L41srrsPwAAAD8fAAAAAAAAAAHyAAAAHgAAAADi0En7IGk/TSTt1wr37D8AAAA/LgAAAAAAAAAB8wAAAB4AAAAA4tBJ+yBpPzs+BCk3Fe0/AAAAPz4AAAAAAAAAAfQAAAAeAAAAAOLQSfsgaT8f5aaieULtPwAAAD8+AAAAAAAAAAH1AAAAHgAAAADi0En7IGk/86VgbeiN7T8AAAA/XQAAAAAAAAAB9gAAAB4AAAAA4tBJ+yBpP9dMA+cqu+0/AAAAP10AAAAAAAAAAfcAAAAeAAAAAOLQSfsgaT+tDb2xmQbuPwAAAD9tAAAAAAAAAAH4AAAAHgAAAADi0En7IGk/kbRfK9wz7j8AAAA/bQAAAAAAAAAB+QAAAB4AAAAA4tBJ+yBpP23ojc00cO4/AAAAP20AAAAAAAAAAfoAAAAeAAAAAOLQSfsgaT9JHLxvjazuPwAAAD98AAAAAAAAAAH7AAAAHgAAAADi0En7IGk/G911Ovz37j8AAAA/jAAAAAAAAAAB/AAAAB4AAAAA4tBJ+yBpP/cQpNxUNO8/AAAAP4wAAAAAAAAAAf0AAAAeAAAAAOLQSfsgaT/TRNJ+rXDvPwAAAD+MAAAAAAAAAAH+AAAAHgAAAADi0En7IGk/y9Fdp8N/7z8AAAA/nAAAAAAAAAAB/wAAAB4AAAAAEi5o0fB0P7vrdPjvne8/AAAAP6sAAAAAAAAAAQABAAAeAAAAALNzKyVRfT+xeAAhBq3vPwAAAD/qAAAAAAAAAAEBAQAAHgAAAICpXHe82II/sXgAIQat7z8AAAA/+QAAAAAAAAABAgEAAB4AAACAqVx3vNiCP6kFjEkcvO8/AAAAPxgBAAAAAAAAAQMBAAAeAAAAAHr/WOYIhz+fkhdyMsvvPwAAAD8YAQAAAAAAAAEEAQAAHgAAAIBKojoQOYs/lx+jmkja7z8AAAA/KAEAAAAAAAABBQEAAB4AAACAGkUcOmmPP5cfo5pI2u8/AAAAPzgBAAAAAAAAAQYBAAAeAAAAAMaW4Nv8lT+NrC7DXunvPwAAAD84AQAAAAAAAAEHAQAAHgAAAIBm3KMvXZ4/jawuw17p7z8AAAA/RwEAAAAAAAABCAEAAB4AAACgTyg7t1KiP42sLsNe6e8/AAAAP0cBAAAAAAAAAQkBAAAeAAAAANQzleuOpz+NrC7DXunvPwAAAD9XAQAAAAAAAAEKAQAAHgAAAGDwbf4Ks6o/jawuw17p7z8AAAA/VwEAAAAAAAABCwEAAB4AAABwFHHopH2wP42sLsNe6e8/AAAAP2YBAAAAAAAAAQwBAAAeAAAAwOQTys6ttD+fkhdyMsvvPwAAAD92AQAAAAAAAAENAQAAHgAAADAP6+f9Y7k/wV7pz9mO7z8AAAA/dgEAAAAAAAABDgEAAB4AAACg343JJ5S9P923RlaXYe8/AAAAP3YBAAAAAAAAAQ8BAAAeAAAAOHTSPkgGxD8lUOoR5ujuPwAAAD+VAQAAAAAAAAEQAQAAHgAAAGgJvs1fYcY/NzbTwLnK7j8AAAA/lQEAAAAAAAABEQEAAB4AAACgcY++dHnIP0GpR5iju+4/AAAAP5UBAAAAAAAAARIBAAAeAAAAuH8sc4QLyj9bAqUeYY7uPwAAAD+lAQAAAAAAAAETAQAAHgAAAOCNySeUncs/beiNzTRw7j8AAAA/tAEAAAAAAAABFAEAAB4AAAAIyYB6pnLNP4lB61PyQu4/AAAAP7QBAAAAAAAAARUBAAAeAAAAMNcdL7YEzz+RtF8r3DPuPwAAAD+0AQAAAAAAAAEWAQAAHgAAADw9U7nueNE/x2YaOFfZ7T8AAAA/1AEAAAAAAAABFwEAAB4AAABQxKGT9kHSP+G/d74UrO0/AAAAP9QBAAAAAAAAARgBAAAeAAAAYB7Wz/vH0j/zpWBt6I3tPwAAAD/UAQAAAAAAAAEZAQAAHgAAAGx4CgwBTtM/Df+986Vg7T8AAAA/4wEAAAAAAAABGgEAAB4AAAD0uzH5hLLTPxdyMsuPUe0/AAAAP/MBAAAAAAAAARsBAAAeAAAAgCxzhAta1D8xy49RTSTtPwAAAD/zAQAAAAAAAAEcAQAAHgAAAIhZjSIOndQ/Q7F4ACEG7T8AAAA/8wEAAAAAAAABHQEAAB4AAACUs8FeEyPVP1WXYa/05+w/AAAAPwICAAAAAAAAAR4BAAAeAAAAFMrOrZRE1T9fCtaG3tjsPwAAAD8SAgAAAAAAAAEfAQAAHgAAACAkA+qZytU/eWMzDZyr7D8AAAA/EgIAAAAAAAABIAEAAB4AAACgOhA5G+zVP3ljMw2cq+w/AAAAPyICAAAAAAAAASEBAAAeAAAAKFEdiJwN1j95YzMNnKvsPwAAAD8xAgAAAAAAAAEiAQAAHgAAAChRHYicDdY/g9an5IWc7D8AAAA/MQIAAAAAAAABIwEAAB4AAAAwfjcmn1DWP5W8kJNZfuw/AAAAP0ECAAAAAAAAASQBAAAeAAAAsJREdSBy1j+VvJCTWX7sPwAAAD9QAgAAAAAAAAElAQAAHgAAADirUcShk9Y/nS8Fa0Nv7D8AAAA/UAIAAAAAAAABJgEAAB4AAACwwV4TI7XWP6eieUItYOw/AAAAP1ACAAAAAAAAAScBAAAeAAAAuO54sSX41j+nonlCLWDsPwAAAD9gAgAAAAAAAAEoAQAAHgAAALjueLEl+NY/rxXuGRdR7D8AAAA/cAIAAAAAAAAL</ink>
</athena>
</file>

<file path=customXml/item3.xml><?xml version="1.0" encoding="utf-8"?>
<athena xmlns="http://schemas.microsoft.com/edu/athena" version="0.1.3885.0">
  <timings duration="47057"/>
</athena>
</file>

<file path=customXml/item4.xml><?xml version="1.0" encoding="utf-8"?>
<athena xmlns="http://schemas.microsoft.com/edu/athena" version="0.1.3885.0">
  <timings duration="47057"/>
</athena>
</file>

<file path=customXml/item5.xml><?xml version="1.0" encoding="utf-8"?>
<athena xmlns="http://schemas.microsoft.com/edu/athena" version="0.1.3885.0">
  <timings duration="1533"/>
</athena>
</file>

<file path=customXml/itemProps1.xml><?xml version="1.0" encoding="utf-8"?>
<ds:datastoreItem xmlns:ds="http://schemas.openxmlformats.org/officeDocument/2006/customXml" ds:itemID="{1BA977A9-C848-4B99-853C-D423CC37C4DC}">
  <ds:schemaRefs>
    <ds:schemaRef ds:uri="http://schemas.microsoft.com/edu/athena"/>
  </ds:schemaRefs>
</ds:datastoreItem>
</file>

<file path=customXml/itemProps2.xml><?xml version="1.0" encoding="utf-8"?>
<ds:datastoreItem xmlns:ds="http://schemas.openxmlformats.org/officeDocument/2006/customXml" ds:itemID="{BAE01004-4DA3-4373-9643-492AA1ED0C85}">
  <ds:schemaRefs>
    <ds:schemaRef ds:uri="http://schemas.microsoft.com/edu/athena"/>
  </ds:schemaRefs>
</ds:datastoreItem>
</file>

<file path=customXml/itemProps3.xml><?xml version="1.0" encoding="utf-8"?>
<ds:datastoreItem xmlns:ds="http://schemas.openxmlformats.org/officeDocument/2006/customXml" ds:itemID="{6D3ED6D0-F7E1-4181-B1E2-C28D3C20349A}">
  <ds:schemaRefs>
    <ds:schemaRef ds:uri="http://schemas.microsoft.com/edu/athena"/>
  </ds:schemaRefs>
</ds:datastoreItem>
</file>

<file path=customXml/itemProps4.xml><?xml version="1.0" encoding="utf-8"?>
<ds:datastoreItem xmlns:ds="http://schemas.openxmlformats.org/officeDocument/2006/customXml" ds:itemID="{C6B7C09F-4BEE-4936-84B5-5391F3D8659D}">
  <ds:schemaRefs>
    <ds:schemaRef ds:uri="http://schemas.microsoft.com/edu/athena"/>
  </ds:schemaRefs>
</ds:datastoreItem>
</file>

<file path=customXml/itemProps5.xml><?xml version="1.0" encoding="utf-8"?>
<ds:datastoreItem xmlns:ds="http://schemas.openxmlformats.org/officeDocument/2006/customXml" ds:itemID="{FF6C7D99-C87D-4DCE-87AD-107A762F2537}">
  <ds:schemaRefs>
    <ds:schemaRef ds:uri="http://schemas.microsoft.com/edu/athena"/>
  </ds:schemaRefs>
</ds:datastoreItem>
</file>

<file path=docProps/app.xml><?xml version="1.0" encoding="utf-8"?>
<Properties xmlns="http://schemas.openxmlformats.org/officeDocument/2006/extended-properties" xmlns:vt="http://schemas.openxmlformats.org/officeDocument/2006/docPropsVTypes">
  <Template>V2</Template>
  <TotalTime>23444</TotalTime>
  <Words>2161</Words>
  <Application>Microsoft Office PowerPoint</Application>
  <PresentationFormat>宽屏</PresentationFormat>
  <Paragraphs>258</Paragraphs>
  <Slides>19</Slides>
  <Notes>19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Malgun Gothic Semilight</vt:lpstr>
      <vt:lpstr>Microsoft JhengHei Light</vt:lpstr>
      <vt:lpstr>宋体</vt:lpstr>
      <vt:lpstr>Arial</vt:lpstr>
      <vt:lpstr>Calibri</vt:lpstr>
      <vt:lpstr>Calibri Light</vt:lpstr>
      <vt:lpstr>Times New Roman</vt:lpstr>
      <vt:lpstr>Wingdings</vt:lpstr>
      <vt:lpstr>MOOC1</vt:lpstr>
      <vt:lpstr>Software Requirements Analysis, Design and Modeling</vt:lpstr>
      <vt:lpstr>Objectives</vt:lpstr>
      <vt:lpstr>Content Outline</vt:lpstr>
      <vt:lpstr>Quick Analysis Update :Introduction</vt:lpstr>
      <vt:lpstr>Case Study: NextGen POS</vt:lpstr>
      <vt:lpstr>SSDs-1</vt:lpstr>
      <vt:lpstr>SSDs-2</vt:lpstr>
      <vt:lpstr>Domain Model</vt:lpstr>
      <vt:lpstr>Content Outline</vt:lpstr>
      <vt:lpstr>More Patterns : Introduction</vt:lpstr>
      <vt:lpstr>From Iteration 1 to 2</vt:lpstr>
      <vt:lpstr>Iteration-2 Requirements and Emphasis: Object Design and Patterns</vt:lpstr>
      <vt:lpstr>Iteration-2 of the NextGen POS application</vt:lpstr>
      <vt:lpstr>Main Success Scenario</vt:lpstr>
      <vt:lpstr>Supplementary Specification</vt:lpstr>
      <vt:lpstr>Domain (Business) Rules</vt:lpstr>
      <vt:lpstr>Incremental Development for a Use Case Across Iterations </vt:lpstr>
      <vt:lpstr>Review : Elaboration Iteration 2 and Case Studies</vt:lpstr>
      <vt:lpstr>Special Topics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Dmitri Korzh</dc:creator>
  <cp:lastModifiedBy>admin</cp:lastModifiedBy>
  <cp:revision>1933</cp:revision>
  <dcterms:created xsi:type="dcterms:W3CDTF">2004-11-24T03:27:20Z</dcterms:created>
  <dcterms:modified xsi:type="dcterms:W3CDTF">2016-10-21T23:58:31Z</dcterms:modified>
</cp:coreProperties>
</file>