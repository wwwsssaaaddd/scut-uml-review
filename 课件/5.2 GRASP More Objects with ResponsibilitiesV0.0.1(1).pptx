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p:sldMasterIdLst>
    <p:sldMasterId id="2147483824" r:id="rId6"/>
  </p:sldMasterIdLst>
  <p:notesMasterIdLst>
    <p:notesMasterId r:id="rId38"/>
  </p:notesMasterIdLst>
  <p:handoutMasterIdLst>
    <p:handoutMasterId r:id="rId39"/>
  </p:handoutMasterIdLst>
  <p:sldIdLst>
    <p:sldId id="256" r:id="rId7"/>
    <p:sldId id="288" r:id="rId8"/>
    <p:sldId id="317" r:id="rId9"/>
    <p:sldId id="337" r:id="rId10"/>
    <p:sldId id="338" r:id="rId11"/>
    <p:sldId id="345" r:id="rId12"/>
    <p:sldId id="346" r:id="rId13"/>
    <p:sldId id="334" r:id="rId14"/>
    <p:sldId id="339" r:id="rId15"/>
    <p:sldId id="342" r:id="rId16"/>
    <p:sldId id="352" r:id="rId17"/>
    <p:sldId id="351" r:id="rId18"/>
    <p:sldId id="349" r:id="rId19"/>
    <p:sldId id="348" r:id="rId20"/>
    <p:sldId id="347" r:id="rId21"/>
    <p:sldId id="335" r:id="rId22"/>
    <p:sldId id="340" r:id="rId23"/>
    <p:sldId id="343" r:id="rId24"/>
    <p:sldId id="353" r:id="rId25"/>
    <p:sldId id="354" r:id="rId26"/>
    <p:sldId id="336" r:id="rId27"/>
    <p:sldId id="341" r:id="rId28"/>
    <p:sldId id="359" r:id="rId29"/>
    <p:sldId id="360" r:id="rId30"/>
    <p:sldId id="358" r:id="rId31"/>
    <p:sldId id="344" r:id="rId32"/>
    <p:sldId id="355" r:id="rId33"/>
    <p:sldId id="356" r:id="rId34"/>
    <p:sldId id="361" r:id="rId35"/>
    <p:sldId id="333" r:id="rId36"/>
    <p:sldId id="273" r:id="rId37"/>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0000"/>
    <a:srgbClr val="5583AC"/>
    <a:srgbClr val="C9C9C9"/>
    <a:srgbClr val="F2F2F2"/>
    <a:srgbClr val="DDDDDD"/>
    <a:srgbClr val="7F9EB8"/>
    <a:srgbClr val="5B9BD5"/>
    <a:srgbClr val="4286BF"/>
    <a:srgbClr val="739FC4"/>
    <a:srgbClr val="C8C8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8EC20E35-A176-4012-BC5E-935CFFF8708E}" styleName="中度样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0E3FDE45-AF77-4B5C-9715-49D594BDF05E}" styleName="浅色样式 1 - 强调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中度样式 3 - 强调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397" autoAdjust="0"/>
    <p:restoredTop sz="39262" autoAdjust="0"/>
  </p:normalViewPr>
  <p:slideViewPr>
    <p:cSldViewPr>
      <p:cViewPr varScale="1">
        <p:scale>
          <a:sx n="61" d="100"/>
          <a:sy n="61" d="100"/>
        </p:scale>
        <p:origin x="102" y="690"/>
      </p:cViewPr>
      <p:guideLst>
        <p:guide orient="horz" pos="2160"/>
        <p:guide pos="3840"/>
      </p:guideLst>
    </p:cSldViewPr>
  </p:slideViewPr>
  <p:notesTextViewPr>
    <p:cViewPr>
      <p:scale>
        <a:sx n="150" d="100"/>
        <a:sy n="150" d="100"/>
      </p:scale>
      <p:origin x="0" y="0"/>
    </p:cViewPr>
  </p:notesTextViewPr>
  <p:notesViewPr>
    <p:cSldViewPr>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1.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presProps" Target="presProps.xml"/><Relationship Id="rId5" Type="http://schemas.openxmlformats.org/officeDocument/2006/relationships/customXml" Target="../customXml/item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48EA1D00-F704-410D-8822-8E7F2FD0F3F4}" type="datetimeFigureOut">
              <a:rPr lang="zh-CN" altLang="en-US"/>
              <a:pPr>
                <a:defRPr/>
              </a:pPr>
              <a:t>2016/10/21</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E310FA45-57B3-46FF-9187-A5D22EEEA9F9}" type="slidenum">
              <a:rPr lang="zh-CN" altLang="en-US"/>
              <a:pPr>
                <a:defRPr/>
              </a:pPr>
              <a:t>‹#›</a:t>
            </a:fld>
            <a:endParaRPr lang="zh-CN" altLang="en-US"/>
          </a:p>
        </p:txBody>
      </p:sp>
    </p:spTree>
    <p:extLst>
      <p:ext uri="{BB962C8B-B14F-4D97-AF65-F5344CB8AC3E}">
        <p14:creationId xmlns:p14="http://schemas.microsoft.com/office/powerpoint/2010/main" val="40760340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25814F6A-3EEF-4727-864D-CF28325BAA64}" type="datetimeFigureOut">
              <a:rPr lang="zh-CN" altLang="en-US"/>
              <a:pPr>
                <a:defRPr/>
              </a:pPr>
              <a:t>2016/10/21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a:defRPr/>
            </a:pPr>
            <a:fld id="{EEE2F72D-D5C7-4DF3-B4ED-3587E774A382}" type="slidenum">
              <a:rPr lang="zh-CN" altLang="en-US"/>
              <a:pPr>
                <a:defRPr/>
              </a:pPr>
              <a:t>‹#›</a:t>
            </a:fld>
            <a:endParaRPr lang="zh-CN" altLang="en-US"/>
          </a:p>
        </p:txBody>
      </p:sp>
    </p:spTree>
    <p:extLst>
      <p:ext uri="{BB962C8B-B14F-4D97-AF65-F5344CB8AC3E}">
        <p14:creationId xmlns:p14="http://schemas.microsoft.com/office/powerpoint/2010/main" val="260819198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这节课，我们一起学习</a:t>
            </a:r>
            <a:endParaRPr lang="en-US" altLang="zh-CN" dirty="0"/>
          </a:p>
          <a:p>
            <a:r>
              <a:rPr lang="zh-CN" altLang="en-US" dirty="0"/>
              <a:t>第 </a:t>
            </a:r>
            <a:r>
              <a:rPr lang="en-US" altLang="zh-CN" dirty="0"/>
              <a:t>5.2 </a:t>
            </a:r>
            <a:r>
              <a:rPr lang="zh-CN" altLang="en-US" dirty="0"/>
              <a:t>章节 第 </a:t>
            </a:r>
            <a:r>
              <a:rPr lang="en-US" altLang="zh-CN" dirty="0"/>
              <a:t>19 </a:t>
            </a:r>
            <a:r>
              <a:rPr lang="zh-CN" altLang="en-US" dirty="0"/>
              <a:t>个知识域：</a:t>
            </a:r>
            <a:r>
              <a:rPr lang="en-US" altLang="zh-CN" dirty="0"/>
              <a:t>GRASP:</a:t>
            </a:r>
            <a:r>
              <a:rPr lang="zh-CN" altLang="en-US" dirty="0"/>
              <a:t>更多具有职责的对象</a:t>
            </a:r>
            <a:endParaRPr lang="en-US" altLang="zh-CN" dirty="0"/>
          </a:p>
          <a:p>
            <a:endParaRPr lang="en-US" altLang="zh-CN" dirty="0">
              <a:solidFill>
                <a:srgbClr val="FF0000"/>
              </a:solidFill>
            </a:endParaRPr>
          </a:p>
          <a:p>
            <a:r>
              <a:rPr lang="en-US" altLang="zh-CN" baseline="0" dirty="0">
                <a:solidFill>
                  <a:srgbClr val="FF0000"/>
                </a:solidFill>
              </a:rPr>
              <a:t>//</a:t>
            </a:r>
            <a:r>
              <a:rPr lang="zh-CN" altLang="en-US" baseline="0" dirty="0">
                <a:solidFill>
                  <a:srgbClr val="FF0000"/>
                </a:solidFill>
              </a:rPr>
              <a:t>下面是备注 不放入脚本</a:t>
            </a:r>
            <a:endParaRPr lang="en-US" altLang="zh-CN" baseline="0" dirty="0">
              <a:solidFill>
                <a:srgbClr val="FF0000"/>
              </a:solidFill>
            </a:endParaRPr>
          </a:p>
          <a:p>
            <a:r>
              <a:rPr lang="zh-CN" altLang="en-US" dirty="0"/>
              <a:t>对应课本第 </a:t>
            </a:r>
            <a:r>
              <a:rPr lang="en-US" altLang="zh-CN" dirty="0"/>
              <a:t>25 </a:t>
            </a:r>
            <a:r>
              <a:rPr lang="zh-CN" altLang="en-US" dirty="0"/>
              <a:t>章</a:t>
            </a:r>
            <a:r>
              <a:rPr lang="zh-CN" altLang="en-US" baseline="0" dirty="0"/>
              <a:t> </a:t>
            </a:r>
            <a:r>
              <a:rPr lang="en-US" altLang="zh-CN" baseline="0" dirty="0"/>
              <a:t>P300-310 </a:t>
            </a: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0</a:t>
            </a:fld>
            <a:endParaRPr lang="zh-CN" altLang="en-US"/>
          </a:p>
        </p:txBody>
      </p:sp>
    </p:spTree>
    <p:extLst>
      <p:ext uri="{BB962C8B-B14F-4D97-AF65-F5344CB8AC3E}">
        <p14:creationId xmlns:p14="http://schemas.microsoft.com/office/powerpoint/2010/main" val="20249402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indent="0">
              <a:buFont typeface="Arial" panose="020B0604020202020204" pitchFamily="34" charset="0"/>
              <a:buNone/>
            </a:pPr>
            <a:r>
              <a:rPr lang="zh-CN" altLang="en-US" dirty="0"/>
              <a:t>本次课的目标是</a:t>
            </a:r>
            <a:endParaRPr lang="en-US" altLang="zh-CN" dirty="0"/>
          </a:p>
          <a:p>
            <a:r>
              <a:rPr lang="zh-CN" altLang="en-US" dirty="0"/>
              <a:t>学习剩余的</a:t>
            </a:r>
            <a:r>
              <a:rPr lang="en-US" altLang="zh-CN" dirty="0"/>
              <a:t>4</a:t>
            </a:r>
            <a:r>
              <a:rPr lang="zh-CN" altLang="en-US" dirty="0"/>
              <a:t>个</a:t>
            </a:r>
            <a:r>
              <a:rPr lang="en-US" altLang="zh-CN" dirty="0"/>
              <a:t>GRASP</a:t>
            </a:r>
            <a:r>
              <a:rPr lang="zh-CN" altLang="en-US" dirty="0"/>
              <a:t>设计模式</a:t>
            </a:r>
            <a:endParaRPr lang="en-US" altLang="zh-CN"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a:t>
            </a:fld>
            <a:endParaRPr lang="zh-CN" altLang="en-US"/>
          </a:p>
        </p:txBody>
      </p:sp>
    </p:spTree>
    <p:extLst>
      <p:ext uri="{BB962C8B-B14F-4D97-AF65-F5344CB8AC3E}">
        <p14:creationId xmlns:p14="http://schemas.microsoft.com/office/powerpoint/2010/main" val="13626980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首先介绍</a:t>
            </a:r>
            <a:endParaRPr lang="en-US" altLang="zh-CN" dirty="0"/>
          </a:p>
          <a:p>
            <a:r>
              <a:rPr lang="zh-CN" altLang="en-US" dirty="0"/>
              <a:t>多态</a:t>
            </a:r>
            <a:endParaRPr lang="en-US" altLang="zh-CN" dirty="0"/>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 </a:t>
            </a:r>
            <a:r>
              <a:rPr lang="zh-CN" altLang="en-US" dirty="0"/>
              <a:t>后面仅供参考，不放入脚本</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下面介绍</a:t>
            </a:r>
            <a:endParaRPr lang="en-US" altLang="zh-CN" dirty="0"/>
          </a:p>
          <a:p>
            <a:r>
              <a:rPr lang="zh-CN" altLang="zh-CN" sz="1200" kern="1200" dirty="0">
                <a:solidFill>
                  <a:schemeClr val="tx1"/>
                </a:solidFill>
                <a:effectLst/>
                <a:latin typeface="+mn-lt"/>
                <a:ea typeface="+mn-ea"/>
                <a:cs typeface="+mn-cs"/>
              </a:rPr>
              <a:t>纯虚构</a:t>
            </a:r>
            <a:endParaRPr lang="en-US" altLang="zh-CN" sz="1200" kern="1200" dirty="0">
              <a:solidFill>
                <a:schemeClr val="tx1"/>
              </a:solidFill>
              <a:effectLst/>
              <a:latin typeface="+mn-lt"/>
              <a:ea typeface="+mn-ea"/>
              <a:cs typeface="+mn-cs"/>
            </a:endParaRPr>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下面介绍</a:t>
            </a:r>
            <a:endParaRPr lang="en-US" altLang="zh-CN" dirty="0"/>
          </a:p>
          <a:p>
            <a:r>
              <a:rPr lang="zh-CN" altLang="zh-CN" sz="1200" kern="1200" dirty="0">
                <a:solidFill>
                  <a:schemeClr val="tx1"/>
                </a:solidFill>
                <a:effectLst/>
                <a:latin typeface="+mn-lt"/>
                <a:ea typeface="+mn-ea"/>
                <a:cs typeface="+mn-cs"/>
              </a:rPr>
              <a:t>间接性</a:t>
            </a:r>
            <a:endParaRPr lang="en-US" altLang="zh-CN" sz="1200" kern="1200" dirty="0">
              <a:solidFill>
                <a:schemeClr val="tx1"/>
              </a:solidFill>
              <a:effectLst/>
              <a:latin typeface="+mn-lt"/>
              <a:ea typeface="+mn-ea"/>
              <a:cs typeface="+mn-cs"/>
            </a:endParaRPr>
          </a:p>
          <a:p>
            <a:endParaRPr lang="en-US" altLang="zh-CN" dirty="0"/>
          </a:p>
          <a:p>
            <a:r>
              <a:rPr lang="zh-CN" altLang="en-US" dirty="0"/>
              <a:t>最后介绍</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防止变异</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a:t>
            </a:fld>
            <a:endParaRPr lang="zh-CN" altLang="en-US"/>
          </a:p>
        </p:txBody>
      </p:sp>
    </p:spTree>
    <p:extLst>
      <p:ext uri="{BB962C8B-B14F-4D97-AF65-F5344CB8AC3E}">
        <p14:creationId xmlns:p14="http://schemas.microsoft.com/office/powerpoint/2010/main" val="2165482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问题</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 1.1</a:t>
            </a:r>
            <a:r>
              <a:rPr lang="zh-CN" altLang="zh-CN" sz="1200" kern="1200" dirty="0">
                <a:solidFill>
                  <a:schemeClr val="tx1"/>
                </a:solidFill>
                <a:effectLst/>
                <a:latin typeface="+mn-lt"/>
                <a:ea typeface="+mn-ea"/>
                <a:cs typeface="+mn-cs"/>
              </a:rPr>
              <a:t>如何处理基</a:t>
            </a:r>
            <a:r>
              <a:rPr lang="zh-CN" altLang="en-US" sz="1200" kern="1200" dirty="0">
                <a:solidFill>
                  <a:schemeClr val="tx1"/>
                </a:solidFill>
                <a:effectLst/>
                <a:latin typeface="+mn-lt"/>
                <a:ea typeface="+mn-ea"/>
                <a:cs typeface="+mn-cs"/>
              </a:rPr>
              <a:t>于</a:t>
            </a:r>
            <a:r>
              <a:rPr lang="zh-CN" altLang="zh-CN" sz="1200" kern="1200" dirty="0">
                <a:solidFill>
                  <a:schemeClr val="tx1"/>
                </a:solidFill>
                <a:effectLst/>
                <a:latin typeface="+mn-lt"/>
                <a:ea typeface="+mn-ea"/>
                <a:cs typeface="+mn-cs"/>
              </a:rPr>
              <a:t>类型的选择？</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 1.2</a:t>
            </a:r>
            <a:r>
              <a:rPr lang="zh-CN" altLang="zh-CN" sz="1200" kern="1200" dirty="0">
                <a:solidFill>
                  <a:schemeClr val="tx1"/>
                </a:solidFill>
                <a:effectLst/>
                <a:latin typeface="+mn-lt"/>
                <a:ea typeface="+mn-ea"/>
                <a:cs typeface="+mn-cs"/>
              </a:rPr>
              <a:t>如何创建可插拔的软件构件？</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解决方案</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2.1</a:t>
            </a:r>
            <a:r>
              <a:rPr lang="zh-CN" altLang="zh-CN" sz="1200" kern="1200" dirty="0">
                <a:solidFill>
                  <a:schemeClr val="tx1"/>
                </a:solidFill>
                <a:effectLst/>
                <a:latin typeface="+mn-lt"/>
                <a:ea typeface="+mn-ea"/>
                <a:cs typeface="+mn-cs"/>
              </a:rPr>
              <a:t>当相关选择或行为随类型（类）有所不同时</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使用多态操作为变化的行为类型分配职责</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2.2</a:t>
            </a:r>
            <a:r>
              <a:rPr lang="zh-CN" altLang="zh-CN" sz="1200" kern="1200" dirty="0">
                <a:solidFill>
                  <a:schemeClr val="tx1"/>
                </a:solidFill>
                <a:effectLst/>
                <a:latin typeface="+mn-lt"/>
                <a:ea typeface="+mn-ea"/>
                <a:cs typeface="+mn-cs"/>
              </a:rPr>
              <a:t>推论：不要测试对象的类型</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也不要使用条件逻辑来执行基于类型的不同选择</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a:t>
            </a:fld>
            <a:endParaRPr lang="zh-CN" altLang="en-US"/>
          </a:p>
        </p:txBody>
      </p:sp>
    </p:spTree>
    <p:extLst>
      <p:ext uri="{BB962C8B-B14F-4D97-AF65-F5344CB8AC3E}">
        <p14:creationId xmlns:p14="http://schemas.microsoft.com/office/powerpoint/2010/main" val="19092827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多态：例子</a:t>
            </a:r>
            <a:endParaRPr lang="en-US"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NextGen</a:t>
            </a:r>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问题：如何支持</a:t>
            </a:r>
            <a:r>
              <a:rPr lang="zh-CN" altLang="zh-CN" sz="1200" kern="1200" dirty="0">
                <a:solidFill>
                  <a:schemeClr val="tx1"/>
                </a:solidFill>
                <a:effectLst/>
                <a:latin typeface="+mn-lt"/>
                <a:ea typeface="+mn-ea"/>
                <a:cs typeface="+mn-cs"/>
              </a:rPr>
              <a:t>第三方税金计算器</a:t>
            </a:r>
            <a:r>
              <a:rPr lang="zh-CN" altLang="en-US"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NextGen</a:t>
            </a:r>
            <a:r>
              <a:rPr lang="en-US" altLang="zh-CN" sz="1200" kern="1200" dirty="0">
                <a:solidFill>
                  <a:schemeClr val="tx1"/>
                </a:solidFill>
                <a:effectLst/>
                <a:latin typeface="+mn-lt"/>
                <a:ea typeface="+mn-ea"/>
                <a:cs typeface="+mn-cs"/>
              </a:rPr>
              <a:t> POS </a:t>
            </a:r>
            <a:r>
              <a:rPr lang="zh-CN" altLang="zh-CN" sz="1200" kern="1200" dirty="0">
                <a:solidFill>
                  <a:schemeClr val="tx1"/>
                </a:solidFill>
                <a:effectLst/>
                <a:latin typeface="+mn-lt"/>
                <a:ea typeface="+mn-ea"/>
                <a:cs typeface="+mn-cs"/>
              </a:rPr>
              <a:t>应用中</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必须支持多种外部的第三方税金计算器</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（例如</a:t>
            </a:r>
            <a:r>
              <a:rPr lang="en-US" altLang="zh-CN" sz="1200" kern="1200" dirty="0">
                <a:solidFill>
                  <a:schemeClr val="tx1"/>
                </a:solidFill>
                <a:effectLst/>
                <a:latin typeface="+mn-lt"/>
                <a:ea typeface="+mn-ea"/>
                <a:cs typeface="+mn-cs"/>
              </a:rPr>
              <a:t> Tax-Master </a:t>
            </a:r>
            <a:r>
              <a:rPr lang="zh-CN" altLang="zh-CN" sz="1200" kern="1200" dirty="0">
                <a:solidFill>
                  <a:schemeClr val="tx1"/>
                </a:solidFill>
                <a:effectLst/>
                <a:latin typeface="+mn-lt"/>
                <a:ea typeface="+mn-ea"/>
                <a:cs typeface="+mn-cs"/>
              </a:rPr>
              <a:t>和</a:t>
            </a:r>
            <a:r>
              <a:rPr lang="en-US" altLang="zh-CN" sz="1200" kern="1200" dirty="0">
                <a:solidFill>
                  <a:schemeClr val="tx1"/>
                </a:solidFill>
                <a:effectLst/>
                <a:latin typeface="+mn-lt"/>
                <a:ea typeface="+mn-ea"/>
                <a:cs typeface="+mn-cs"/>
              </a:rPr>
              <a:t> Good- As-</a:t>
            </a:r>
            <a:r>
              <a:rPr lang="en-US" altLang="zh-CN" sz="1200" kern="1200" dirty="0" err="1">
                <a:solidFill>
                  <a:schemeClr val="tx1"/>
                </a:solidFill>
                <a:effectLst/>
                <a:latin typeface="+mn-lt"/>
                <a:ea typeface="+mn-ea"/>
                <a:cs typeface="+mn-cs"/>
              </a:rPr>
              <a:t>GoldTaxPro</a:t>
            </a:r>
            <a:r>
              <a:rPr lang="en-US" altLang="zh-CN" sz="1200" kern="1200" dirty="0">
                <a:solidFill>
                  <a:schemeClr val="tx1"/>
                </a:solidFill>
                <a:effectLst/>
                <a:latin typeface="+mn-lt"/>
                <a:ea typeface="+mn-ea"/>
                <a:cs typeface="+mn-cs"/>
              </a:rPr>
              <a:t> )</a:t>
            </a: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系统</a:t>
            </a:r>
            <a:r>
              <a:rPr lang="zh-CN" altLang="en-US" sz="1200" kern="1200" dirty="0">
                <a:solidFill>
                  <a:schemeClr val="tx1"/>
                </a:solidFill>
                <a:effectLst/>
                <a:latin typeface="+mn-lt"/>
                <a:ea typeface="+mn-ea"/>
                <a:cs typeface="+mn-cs"/>
              </a:rPr>
              <a:t>需</a:t>
            </a:r>
            <a:r>
              <a:rPr lang="zh-CN" altLang="zh-CN" sz="1200" kern="1200" dirty="0">
                <a:solidFill>
                  <a:schemeClr val="tx1"/>
                </a:solidFill>
                <a:effectLst/>
                <a:latin typeface="+mn-lt"/>
                <a:ea typeface="+mn-ea"/>
                <a:cs typeface="+mn-cs"/>
              </a:rPr>
              <a:t>要能够集成不同的产品</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每个税金计算器具有不</a:t>
            </a:r>
            <a:r>
              <a:rPr lang="zh-CN" altLang="en-US" sz="1200" kern="1200" dirty="0">
                <a:solidFill>
                  <a:schemeClr val="tx1"/>
                </a:solidFill>
                <a:effectLst/>
                <a:latin typeface="+mn-lt"/>
                <a:ea typeface="+mn-ea"/>
                <a:cs typeface="+mn-cs"/>
              </a:rPr>
              <a:t>同</a:t>
            </a:r>
            <a:r>
              <a:rPr lang="zh-CN" altLang="zh-CN" sz="1200" kern="1200" dirty="0">
                <a:solidFill>
                  <a:schemeClr val="tx1"/>
                </a:solidFill>
                <a:effectLst/>
                <a:latin typeface="+mn-lt"/>
                <a:ea typeface="+mn-ea"/>
                <a:cs typeface="+mn-cs"/>
              </a:rPr>
              <a:t>的接口</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因此</a:t>
            </a:r>
            <a:r>
              <a:rPr lang="zh-CN" altLang="en-US" sz="1200" kern="1200" dirty="0">
                <a:solidFill>
                  <a:schemeClr val="tx1"/>
                </a:solidFill>
                <a:effectLst/>
                <a:latin typeface="+mn-lt"/>
                <a:ea typeface="+mn-ea"/>
                <a:cs typeface="+mn-cs"/>
              </a:rPr>
              <a:t>需</a:t>
            </a:r>
            <a:r>
              <a:rPr lang="zh-CN" altLang="zh-CN" sz="1200" kern="1200" dirty="0">
                <a:solidFill>
                  <a:schemeClr val="tx1"/>
                </a:solidFill>
                <a:effectLst/>
                <a:latin typeface="+mn-lt"/>
                <a:ea typeface="+mn-ea"/>
                <a:cs typeface="+mn-cs"/>
              </a:rPr>
              <a:t>要有类似但不同的行为</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以适配每种外部的固定接口或</a:t>
            </a:r>
            <a:r>
              <a:rPr lang="en-US" altLang="zh-CN" sz="1200" kern="1200" dirty="0">
                <a:solidFill>
                  <a:schemeClr val="tx1"/>
                </a:solidFill>
                <a:effectLst/>
                <a:latin typeface="+mn-lt"/>
                <a:ea typeface="+mn-ea"/>
                <a:cs typeface="+mn-cs"/>
              </a:rPr>
              <a:t>API</a:t>
            </a:r>
          </a:p>
          <a:p>
            <a:r>
              <a:rPr lang="zh-CN" altLang="zh-CN" sz="1200" kern="1200" dirty="0">
                <a:solidFill>
                  <a:schemeClr val="tx1"/>
                </a:solidFill>
                <a:effectLst/>
                <a:latin typeface="+mn-lt"/>
                <a:ea typeface="+mn-ea"/>
                <a:cs typeface="+mn-cs"/>
              </a:rPr>
              <a:t>—种产品</a:t>
            </a:r>
            <a:r>
              <a:rPr lang="zh-CN" altLang="en-US" sz="1200" kern="1200" dirty="0">
                <a:solidFill>
                  <a:schemeClr val="tx1"/>
                </a:solidFill>
                <a:effectLst/>
                <a:latin typeface="+mn-lt"/>
                <a:ea typeface="+mn-ea"/>
                <a:cs typeface="+mn-cs"/>
              </a:rPr>
              <a:t>可</a:t>
            </a:r>
            <a:r>
              <a:rPr lang="zh-CN" altLang="zh-CN" sz="1200" kern="1200" dirty="0">
                <a:solidFill>
                  <a:schemeClr val="tx1"/>
                </a:solidFill>
                <a:effectLst/>
                <a:latin typeface="+mn-lt"/>
                <a:ea typeface="+mn-ea"/>
                <a:cs typeface="+mn-cs"/>
              </a:rPr>
              <a:t>能支</a:t>
            </a:r>
            <a:r>
              <a:rPr lang="zh-CN" altLang="en-US" sz="1200" kern="1200" dirty="0">
                <a:solidFill>
                  <a:schemeClr val="tx1"/>
                </a:solidFill>
                <a:effectLst/>
                <a:latin typeface="+mn-lt"/>
                <a:ea typeface="+mn-ea"/>
                <a:cs typeface="+mn-cs"/>
              </a:rPr>
              <a:t>持原</a:t>
            </a:r>
            <a:r>
              <a:rPr lang="zh-CN" altLang="zh-CN" sz="1200" kern="1200" dirty="0">
                <a:solidFill>
                  <a:schemeClr val="tx1"/>
                </a:solidFill>
                <a:effectLst/>
                <a:latin typeface="+mn-lt"/>
                <a:ea typeface="+mn-ea"/>
                <a:cs typeface="+mn-cs"/>
              </a:rPr>
              <a:t>生</a:t>
            </a:r>
            <a:r>
              <a:rPr lang="en-US" altLang="zh-CN" sz="1200" kern="1200" dirty="0">
                <a:solidFill>
                  <a:schemeClr val="tx1"/>
                </a:solidFill>
                <a:effectLst/>
                <a:latin typeface="+mn-lt"/>
                <a:ea typeface="+mn-ea"/>
                <a:cs typeface="+mn-cs"/>
              </a:rPr>
              <a:t> TCP socket </a:t>
            </a:r>
            <a:r>
              <a:rPr lang="zh-CN" altLang="zh-CN" sz="1200" kern="1200" dirty="0">
                <a:solidFill>
                  <a:schemeClr val="tx1"/>
                </a:solidFill>
                <a:effectLst/>
                <a:latin typeface="+mn-lt"/>
                <a:ea typeface="+mn-ea"/>
                <a:cs typeface="+mn-cs"/>
              </a:rPr>
              <a:t>协议</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另一种可能提供</a:t>
            </a:r>
            <a:r>
              <a:rPr lang="en-US" altLang="zh-CN" sz="1200" kern="1200" dirty="0">
                <a:solidFill>
                  <a:schemeClr val="tx1"/>
                </a:solidFill>
                <a:effectLst/>
                <a:latin typeface="+mn-lt"/>
                <a:ea typeface="+mn-ea"/>
                <a:cs typeface="+mn-cs"/>
              </a:rPr>
              <a:t> SOAP </a:t>
            </a:r>
            <a:r>
              <a:rPr lang="zh-CN" altLang="zh-CN" sz="1200" kern="1200" dirty="0">
                <a:solidFill>
                  <a:schemeClr val="tx1"/>
                </a:solidFill>
                <a:effectLst/>
                <a:latin typeface="+mn-lt"/>
                <a:ea typeface="+mn-ea"/>
                <a:cs typeface="+mn-cs"/>
              </a:rPr>
              <a:t>接口</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而第</a:t>
            </a:r>
            <a:r>
              <a:rPr lang="zh-CN" altLang="en-US" sz="1200" kern="1200" dirty="0">
                <a:solidFill>
                  <a:schemeClr val="tx1"/>
                </a:solidFill>
                <a:effectLst/>
                <a:latin typeface="+mn-lt"/>
                <a:ea typeface="+mn-ea"/>
                <a:cs typeface="+mn-cs"/>
              </a:rPr>
              <a:t>三</a:t>
            </a:r>
            <a:r>
              <a:rPr lang="zh-CN" altLang="zh-CN" sz="1200" kern="1200" dirty="0">
                <a:solidFill>
                  <a:schemeClr val="tx1"/>
                </a:solidFill>
                <a:effectLst/>
                <a:latin typeface="+mn-lt"/>
                <a:ea typeface="+mn-ea"/>
                <a:cs typeface="+mn-cs"/>
              </a:rPr>
              <a:t>种可能会提供</a:t>
            </a:r>
            <a:r>
              <a:rPr lang="en-US" altLang="zh-CN" sz="1200" kern="1200" dirty="0">
                <a:solidFill>
                  <a:schemeClr val="tx1"/>
                </a:solidFill>
                <a:effectLst/>
                <a:latin typeface="+mn-lt"/>
                <a:ea typeface="+mn-ea"/>
                <a:cs typeface="+mn-cs"/>
              </a:rPr>
              <a:t> Java RMI </a:t>
            </a:r>
            <a:r>
              <a:rPr lang="zh-CN" altLang="zh-CN" sz="1200" kern="1200" dirty="0">
                <a:solidFill>
                  <a:schemeClr val="tx1"/>
                </a:solidFill>
                <a:effectLst/>
                <a:latin typeface="+mn-lt"/>
                <a:ea typeface="+mn-ea"/>
                <a:cs typeface="+mn-cs"/>
              </a:rPr>
              <a:t>接口</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哪些对象应该负责处理这些不同的外部税金计算器接口呢？</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因为计算器适配的行为随计算器类型而有所不同</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所以基</a:t>
            </a:r>
            <a:r>
              <a:rPr lang="zh-CN" altLang="en-US" sz="1200" kern="1200" dirty="0">
                <a:solidFill>
                  <a:schemeClr val="tx1"/>
                </a:solidFill>
                <a:effectLst/>
                <a:latin typeface="+mn-lt"/>
                <a:ea typeface="+mn-ea"/>
                <a:cs typeface="+mn-cs"/>
              </a:rPr>
              <a:t>于</a:t>
            </a:r>
            <a:r>
              <a:rPr lang="zh-CN" altLang="zh-CN" sz="1200" kern="1200" dirty="0">
                <a:solidFill>
                  <a:schemeClr val="tx1"/>
                </a:solidFill>
                <a:effectLst/>
                <a:latin typeface="+mn-lt"/>
                <a:ea typeface="+mn-ea"/>
                <a:cs typeface="+mn-cs"/>
              </a:rPr>
              <a:t>多态，我们应该为不</a:t>
            </a:r>
            <a:r>
              <a:rPr lang="zh-CN" altLang="en-US" sz="1200" kern="1200" dirty="0">
                <a:solidFill>
                  <a:schemeClr val="tx1"/>
                </a:solidFill>
                <a:effectLst/>
                <a:latin typeface="+mn-lt"/>
                <a:ea typeface="+mn-ea"/>
                <a:cs typeface="+mn-cs"/>
              </a:rPr>
              <a:t>同</a:t>
            </a:r>
            <a:r>
              <a:rPr lang="zh-CN" altLang="zh-CN" sz="1200" kern="1200" dirty="0">
                <a:solidFill>
                  <a:schemeClr val="tx1"/>
                </a:solidFill>
                <a:effectLst/>
                <a:latin typeface="+mn-lt"/>
                <a:ea typeface="+mn-ea"/>
                <a:cs typeface="+mn-cs"/>
              </a:rPr>
              <a:t>的计算器</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或计算器适配器）对象自身分配适配的职责</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这可以通过多态的</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getTaxes</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操作来实现</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a:t>
            </a:r>
            <a:r>
              <a:rPr lang="zh-CN" altLang="en-US" sz="1200" kern="1200" dirty="0">
                <a:solidFill>
                  <a:schemeClr val="tx1"/>
                </a:solidFill>
                <a:effectLst/>
                <a:latin typeface="+mn-lt"/>
                <a:ea typeface="+mn-ea"/>
                <a:cs typeface="+mn-cs"/>
              </a:rPr>
              <a:t>图</a:t>
            </a:r>
            <a:r>
              <a:rPr lang="en-US" altLang="zh-CN" sz="1200" kern="1200" dirty="0">
                <a:solidFill>
                  <a:schemeClr val="tx1"/>
                </a:solidFill>
                <a:effectLst/>
                <a:latin typeface="+mn-lt"/>
                <a:ea typeface="+mn-ea"/>
                <a:cs typeface="+mn-cs"/>
              </a:rPr>
              <a:t>25.1</a:t>
            </a:r>
            <a:r>
              <a:rPr lang="zh-CN" altLang="zh-CN" sz="1200" kern="1200" dirty="0">
                <a:solidFill>
                  <a:schemeClr val="tx1"/>
                </a:solidFill>
                <a:effectLst/>
                <a:latin typeface="+mn-lt"/>
                <a:ea typeface="+mn-ea"/>
                <a:cs typeface="+mn-cs"/>
              </a:rPr>
              <a:t>所示</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这些计算器适配器对象并非是外部的计算器</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而是表示外部计算器或计算器适配器的本地软件对象</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每个</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getTaxes</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方法都以</a:t>
            </a:r>
            <a:r>
              <a:rPr lang="en-US" altLang="zh-CN" sz="1200" kern="1200" dirty="0">
                <a:solidFill>
                  <a:schemeClr val="tx1"/>
                </a:solidFill>
                <a:effectLst/>
                <a:latin typeface="+mn-lt"/>
                <a:ea typeface="+mn-ea"/>
                <a:cs typeface="+mn-cs"/>
              </a:rPr>
              <a:t> Sale </a:t>
            </a:r>
            <a:r>
              <a:rPr lang="zh-CN" altLang="zh-CN" sz="1200" kern="1200" dirty="0">
                <a:solidFill>
                  <a:schemeClr val="tx1"/>
                </a:solidFill>
                <a:effectLst/>
                <a:latin typeface="+mn-lt"/>
                <a:ea typeface="+mn-ea"/>
                <a:cs typeface="+mn-cs"/>
              </a:rPr>
              <a:t>对象作为参数</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这样才能够使计算器分析销售</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每个</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getTaxes</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方法的实现将会不同：</a:t>
            </a:r>
            <a:endParaRPr lang="en-US" altLang="zh-CN" sz="1200" kern="1200" dirty="0">
              <a:solidFill>
                <a:schemeClr val="tx1"/>
              </a:solidFill>
              <a:effectLst/>
              <a:latin typeface="+mn-lt"/>
              <a:ea typeface="+mn-ea"/>
              <a:cs typeface="+mn-cs"/>
            </a:endParaRPr>
          </a:p>
          <a:p>
            <a:r>
              <a:rPr lang="en-US" altLang="zh-CN" sz="1200" kern="1200" dirty="0" err="1">
                <a:solidFill>
                  <a:schemeClr val="tx1"/>
                </a:solidFill>
                <a:effectLst/>
                <a:latin typeface="+mn-lt"/>
                <a:ea typeface="+mn-ea"/>
                <a:cs typeface="+mn-cs"/>
              </a:rPr>
              <a:t>TaxMasterAdapter</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将改写对</a:t>
            </a:r>
            <a:r>
              <a:rPr lang="en-US" altLang="zh-CN" sz="1200" kern="1200" dirty="0">
                <a:solidFill>
                  <a:schemeClr val="tx1"/>
                </a:solidFill>
                <a:effectLst/>
                <a:latin typeface="+mn-lt"/>
                <a:ea typeface="+mn-ea"/>
                <a:cs typeface="+mn-cs"/>
              </a:rPr>
              <a:t> Tax-Master API </a:t>
            </a:r>
            <a:r>
              <a:rPr lang="zh-CN" altLang="zh-CN" sz="1200" kern="1200" dirty="0">
                <a:solidFill>
                  <a:schemeClr val="tx1"/>
                </a:solidFill>
                <a:effectLst/>
                <a:latin typeface="+mn-lt"/>
                <a:ea typeface="+mn-ea"/>
                <a:cs typeface="+mn-cs"/>
              </a:rPr>
              <a:t>的请求，依此类推</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注意：在图</a:t>
            </a:r>
            <a:r>
              <a:rPr lang="en-US" altLang="zh-CN" sz="1200" kern="1200" dirty="0">
                <a:solidFill>
                  <a:schemeClr val="tx1"/>
                </a:solidFill>
                <a:effectLst/>
                <a:latin typeface="+mn-lt"/>
                <a:ea typeface="+mn-ea"/>
                <a:cs typeface="+mn-cs"/>
              </a:rPr>
              <a:t> 25.1 </a:t>
            </a:r>
            <a:r>
              <a:rPr lang="zh-CN" altLang="zh-CN" sz="1200" kern="1200" dirty="0">
                <a:solidFill>
                  <a:schemeClr val="tx1"/>
                </a:solidFill>
                <a:effectLst/>
                <a:latin typeface="+mn-lt"/>
                <a:ea typeface="+mn-ea"/>
                <a:cs typeface="+mn-cs"/>
              </a:rPr>
              <a:t>中接口和接口实现的</a:t>
            </a:r>
            <a:r>
              <a:rPr lang="en-US" altLang="zh-CN" sz="1200" kern="1200" dirty="0">
                <a:solidFill>
                  <a:schemeClr val="tx1"/>
                </a:solidFill>
                <a:effectLst/>
                <a:latin typeface="+mn-lt"/>
                <a:ea typeface="+mn-ea"/>
                <a:cs typeface="+mn-cs"/>
              </a:rPr>
              <a:t> UML </a:t>
            </a:r>
            <a:r>
              <a:rPr lang="zh-CN" altLang="zh-CN" sz="1200" kern="1200" dirty="0">
                <a:solidFill>
                  <a:schemeClr val="tx1"/>
                </a:solidFill>
                <a:effectLst/>
                <a:latin typeface="+mn-lt"/>
                <a:ea typeface="+mn-ea"/>
                <a:cs typeface="+mn-cs"/>
              </a:rPr>
              <a:t>表示法</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4</a:t>
            </a:fld>
            <a:endParaRPr lang="zh-CN" altLang="en-US"/>
          </a:p>
        </p:txBody>
      </p:sp>
    </p:spTree>
    <p:extLst>
      <p:ext uri="{BB962C8B-B14F-4D97-AF65-F5344CB8AC3E}">
        <p14:creationId xmlns:p14="http://schemas.microsoft.com/office/powerpoint/2010/main" val="40720121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多态：讨论</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多</a:t>
            </a:r>
            <a:r>
              <a:rPr lang="zh-CN" altLang="en-US" sz="1200" kern="1200" dirty="0">
                <a:solidFill>
                  <a:schemeClr val="tx1"/>
                </a:solidFill>
                <a:effectLst/>
                <a:latin typeface="+mn-lt"/>
                <a:ea typeface="+mn-ea"/>
                <a:cs typeface="+mn-cs"/>
              </a:rPr>
              <a:t>态</a:t>
            </a:r>
            <a:r>
              <a:rPr lang="zh-CN" altLang="zh-CN" sz="1200" kern="1200" dirty="0">
                <a:solidFill>
                  <a:schemeClr val="tx1"/>
                </a:solidFill>
                <a:effectLst/>
                <a:latin typeface="+mn-lt"/>
                <a:ea typeface="+mn-ea"/>
                <a:cs typeface="+mn-cs"/>
              </a:rPr>
              <a:t>是一个基本的设计原则</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用于设计系统如何组织以处理</a:t>
            </a:r>
            <a:r>
              <a:rPr lang="zh-CN" altLang="en-US" sz="1200" kern="1200" dirty="0">
                <a:solidFill>
                  <a:schemeClr val="tx1"/>
                </a:solidFill>
                <a:effectLst/>
                <a:latin typeface="+mn-lt"/>
                <a:ea typeface="+mn-ea"/>
                <a:cs typeface="+mn-cs"/>
              </a:rPr>
              <a:t>类似</a:t>
            </a:r>
            <a:r>
              <a:rPr lang="zh-CN" altLang="zh-CN" sz="1200" kern="1200" dirty="0">
                <a:solidFill>
                  <a:schemeClr val="tx1"/>
                </a:solidFill>
                <a:effectLst/>
                <a:latin typeface="+mn-lt"/>
                <a:ea typeface="+mn-ea"/>
                <a:cs typeface="+mn-cs"/>
              </a:rPr>
              <a:t>的变化</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基于</a:t>
            </a:r>
            <a:r>
              <a:rPr lang="zh-CN" altLang="zh-CN" sz="1200" kern="1200" dirty="0">
                <a:solidFill>
                  <a:schemeClr val="tx1"/>
                </a:solidFill>
                <a:effectLst/>
                <a:latin typeface="+mn-lt"/>
                <a:ea typeface="+mn-ea"/>
                <a:cs typeface="+mn-cs"/>
              </a:rPr>
              <a:t>多态分配职责的设计</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能够被简便的扩展以处理新的变化</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例如，增加新的具有</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gettaxes</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多态方法的计算器适配器</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将会对现有系统产生很小的影响。</a:t>
            </a:r>
          </a:p>
          <a:p>
            <a:endParaRPr lang="en-US" altLang="zh-CN" dirty="0"/>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多态意味着</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在大部分</a:t>
            </a:r>
            <a:r>
              <a:rPr lang="en-US" altLang="zh-CN" sz="1200" kern="1200" dirty="0">
                <a:solidFill>
                  <a:schemeClr val="tx1"/>
                </a:solidFill>
                <a:effectLst/>
                <a:latin typeface="+mn-lt"/>
                <a:ea typeface="+mn-ea"/>
                <a:cs typeface="+mn-cs"/>
              </a:rPr>
              <a:t> OO </a:t>
            </a:r>
            <a:r>
              <a:rPr lang="zh-CN" altLang="en-US" sz="1200" kern="1200" dirty="0">
                <a:solidFill>
                  <a:schemeClr val="tx1"/>
                </a:solidFill>
                <a:effectLst/>
                <a:latin typeface="+mn-lt"/>
                <a:ea typeface="+mn-ea"/>
                <a:cs typeface="+mn-cs"/>
              </a:rPr>
              <a:t>语言</a:t>
            </a:r>
            <a:r>
              <a:rPr lang="zh-CN" altLang="zh-CN" sz="1200" kern="1200" dirty="0">
                <a:solidFill>
                  <a:schemeClr val="tx1"/>
                </a:solidFill>
                <a:effectLst/>
                <a:latin typeface="+mn-lt"/>
                <a:ea typeface="+mn-ea"/>
                <a:cs typeface="+mn-cs"/>
              </a:rPr>
              <a:t>中要使用抽象超类或</a:t>
            </a:r>
            <a:r>
              <a:rPr lang="zh-CN" altLang="en-US" sz="1200" kern="1200" dirty="0">
                <a:solidFill>
                  <a:schemeClr val="tx1"/>
                </a:solidFill>
                <a:effectLst/>
                <a:latin typeface="+mn-lt"/>
                <a:ea typeface="+mn-ea"/>
                <a:cs typeface="+mn-cs"/>
              </a:rPr>
              <a:t>接口</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何时应该考虑使用接口呢？</a:t>
            </a:r>
            <a:endParaRPr lang="en-US" altLang="zh-CN" sz="1200" kern="1200" dirty="0">
              <a:solidFill>
                <a:schemeClr val="tx1"/>
              </a:solidFill>
              <a:effectLst/>
              <a:latin typeface="+mn-lt"/>
              <a:ea typeface="+mn-ea"/>
              <a:cs typeface="+mn-cs"/>
            </a:endParaRPr>
          </a:p>
          <a:p>
            <a:pPr lvl="1"/>
            <a:r>
              <a:rPr lang="zh-CN" altLang="zh-CN" sz="1200" kern="1200" dirty="0">
                <a:solidFill>
                  <a:schemeClr val="tx1"/>
                </a:solidFill>
                <a:effectLst/>
                <a:latin typeface="+mn-lt"/>
                <a:ea typeface="+mn-ea"/>
                <a:cs typeface="+mn-cs"/>
              </a:rPr>
              <a:t>普遍的答案是</a:t>
            </a:r>
            <a:endParaRPr lang="en-US" altLang="zh-CN" sz="1200" kern="1200" dirty="0">
              <a:solidFill>
                <a:schemeClr val="tx1"/>
              </a:solidFill>
              <a:effectLst/>
              <a:latin typeface="+mn-lt"/>
              <a:ea typeface="+mn-ea"/>
              <a:cs typeface="+mn-cs"/>
            </a:endParaRPr>
          </a:p>
          <a:p>
            <a:pPr lvl="1"/>
            <a:r>
              <a:rPr lang="zh-CN" altLang="zh-CN" sz="1200" kern="1200" dirty="0">
                <a:solidFill>
                  <a:schemeClr val="tx1"/>
                </a:solidFill>
                <a:effectLst/>
                <a:latin typeface="+mn-lt"/>
                <a:ea typeface="+mn-ea"/>
                <a:cs typeface="+mn-cs"/>
              </a:rPr>
              <a:t>当你想要支持多态</a:t>
            </a:r>
            <a:endParaRPr lang="en-US" altLang="zh-CN" sz="1200" kern="1200" dirty="0">
              <a:solidFill>
                <a:schemeClr val="tx1"/>
              </a:solidFill>
              <a:effectLst/>
              <a:latin typeface="+mn-lt"/>
              <a:ea typeface="+mn-ea"/>
              <a:cs typeface="+mn-cs"/>
            </a:endParaRPr>
          </a:p>
          <a:p>
            <a:pPr lvl="1"/>
            <a:r>
              <a:rPr lang="zh-CN" altLang="zh-CN" sz="1200" kern="1200" dirty="0">
                <a:solidFill>
                  <a:schemeClr val="tx1"/>
                </a:solidFill>
                <a:effectLst/>
                <a:latin typeface="+mn-lt"/>
                <a:ea typeface="+mn-ea"/>
                <a:cs typeface="+mn-cs"/>
              </a:rPr>
              <a:t>但是又不想约束于特定的类层次结构时，可以考虑使用接口</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5</a:t>
            </a:fld>
            <a:endParaRPr lang="zh-CN" altLang="en-US"/>
          </a:p>
        </p:txBody>
      </p:sp>
    </p:spTree>
    <p:extLst>
      <p:ext uri="{BB962C8B-B14F-4D97-AF65-F5344CB8AC3E}">
        <p14:creationId xmlns:p14="http://schemas.microsoft.com/office/powerpoint/2010/main" val="572915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禁忌</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在投入灵活性的改进前</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要现实地对待可变性的真实可能性</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优点</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2.1</a:t>
            </a:r>
            <a:r>
              <a:rPr lang="zh-CN" altLang="zh-CN" sz="1200" kern="1200" dirty="0">
                <a:solidFill>
                  <a:schemeClr val="tx1"/>
                </a:solidFill>
                <a:effectLst/>
                <a:latin typeface="+mn-lt"/>
                <a:ea typeface="+mn-ea"/>
                <a:cs typeface="+mn-cs"/>
              </a:rPr>
              <a:t>易于增加新变化所需的扩展</a:t>
            </a:r>
          </a:p>
          <a:p>
            <a:r>
              <a:rPr lang="en-US" altLang="zh-CN" sz="1200" kern="1200" dirty="0">
                <a:solidFill>
                  <a:schemeClr val="tx1"/>
                </a:solidFill>
                <a:effectLst/>
                <a:latin typeface="+mn-lt"/>
                <a:ea typeface="+mn-ea"/>
                <a:cs typeface="+mn-cs"/>
              </a:rPr>
              <a:t> 2.2</a:t>
            </a:r>
            <a:r>
              <a:rPr lang="zh-CN" altLang="zh-CN" sz="1200" kern="1200" dirty="0">
                <a:solidFill>
                  <a:schemeClr val="tx1"/>
                </a:solidFill>
                <a:effectLst/>
                <a:latin typeface="+mn-lt"/>
                <a:ea typeface="+mn-ea"/>
                <a:cs typeface="+mn-cs"/>
              </a:rPr>
              <a:t>无需影响客户便能引入新的实现</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a:t>
            </a:r>
            <a:r>
              <a:rPr lang="zh-CN" altLang="en-US" sz="1200" kern="1200" dirty="0">
                <a:solidFill>
                  <a:schemeClr val="tx1"/>
                </a:solidFill>
                <a:effectLst/>
                <a:latin typeface="+mn-lt"/>
                <a:ea typeface="+mn-ea"/>
                <a:cs typeface="+mn-cs"/>
              </a:rPr>
              <a:t>相关模式</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3.1</a:t>
            </a:r>
            <a:r>
              <a:rPr lang="zh-CN" altLang="zh-CN" sz="1200" kern="1200" dirty="0">
                <a:solidFill>
                  <a:schemeClr val="tx1"/>
                </a:solidFill>
                <a:effectLst/>
                <a:latin typeface="+mn-lt"/>
                <a:ea typeface="+mn-ea"/>
                <a:cs typeface="+mn-cs"/>
              </a:rPr>
              <a:t>防止变异</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3.2</a:t>
            </a:r>
            <a:r>
              <a:rPr lang="zh-CN" altLang="zh-CN" sz="1200" kern="1200" dirty="0">
                <a:solidFill>
                  <a:schemeClr val="tx1"/>
                </a:solidFill>
                <a:effectLst/>
                <a:latin typeface="+mn-lt"/>
                <a:ea typeface="+mn-ea"/>
                <a:cs typeface="+mn-cs"/>
              </a:rPr>
              <a:t>适配器、命令、组合、代理、状态和策略模式</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4.</a:t>
            </a:r>
            <a:r>
              <a:rPr lang="zh-CN" altLang="zh-CN" sz="1200" kern="1200" dirty="0">
                <a:solidFill>
                  <a:schemeClr val="tx1"/>
                </a:solidFill>
                <a:effectLst/>
                <a:latin typeface="+mn-lt"/>
                <a:ea typeface="+mn-ea"/>
                <a:cs typeface="+mn-cs"/>
              </a:rPr>
              <a:t>别称和类似模式</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选择消息，不要询问</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什么类型</a:t>
            </a:r>
            <a:r>
              <a:rPr lang="en-US"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6</a:t>
            </a:fld>
            <a:endParaRPr lang="zh-CN" altLang="en-US"/>
          </a:p>
        </p:txBody>
      </p:sp>
    </p:spTree>
    <p:extLst>
      <p:ext uri="{BB962C8B-B14F-4D97-AF65-F5344CB8AC3E}">
        <p14:creationId xmlns:p14="http://schemas.microsoft.com/office/powerpoint/2010/main" val="4669378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下面介绍</a:t>
            </a:r>
            <a:endParaRPr lang="en-US" altLang="zh-CN" dirty="0"/>
          </a:p>
          <a:p>
            <a:r>
              <a:rPr lang="zh-CN" altLang="zh-CN" sz="1200" kern="1200" dirty="0">
                <a:solidFill>
                  <a:schemeClr val="tx1"/>
                </a:solidFill>
                <a:effectLst/>
                <a:latin typeface="+mn-lt"/>
                <a:ea typeface="+mn-ea"/>
                <a:cs typeface="+mn-cs"/>
              </a:rPr>
              <a:t>纯虚构</a:t>
            </a:r>
            <a:endParaRPr lang="en-US" altLang="zh-CN" sz="1200" kern="1200" dirty="0">
              <a:solidFill>
                <a:schemeClr val="tx1"/>
              </a:solidFill>
              <a:effectLst/>
              <a:latin typeface="+mn-lt"/>
              <a:ea typeface="+mn-ea"/>
              <a:cs typeface="+mn-cs"/>
            </a:endParaRPr>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 </a:t>
            </a:r>
            <a:r>
              <a:rPr lang="zh-CN" altLang="en-US" dirty="0"/>
              <a:t>后面仅供参考，不放入脚本</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下面介绍</a:t>
            </a:r>
            <a:endParaRPr lang="en-US" altLang="zh-CN" dirty="0"/>
          </a:p>
          <a:p>
            <a:r>
              <a:rPr lang="zh-CN" altLang="zh-CN" sz="1200" kern="1200" dirty="0">
                <a:solidFill>
                  <a:schemeClr val="tx1"/>
                </a:solidFill>
                <a:effectLst/>
                <a:latin typeface="+mn-lt"/>
                <a:ea typeface="+mn-ea"/>
                <a:cs typeface="+mn-cs"/>
              </a:rPr>
              <a:t>纯虚构</a:t>
            </a:r>
            <a:endParaRPr lang="en-US" altLang="zh-CN" sz="1200" kern="1200" dirty="0">
              <a:solidFill>
                <a:schemeClr val="tx1"/>
              </a:solidFill>
              <a:effectLst/>
              <a:latin typeface="+mn-lt"/>
              <a:ea typeface="+mn-ea"/>
              <a:cs typeface="+mn-cs"/>
            </a:endParaRPr>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下面介绍</a:t>
            </a:r>
            <a:endParaRPr lang="en-US" altLang="zh-CN" dirty="0"/>
          </a:p>
          <a:p>
            <a:r>
              <a:rPr lang="zh-CN" altLang="zh-CN" sz="1200" kern="1200" dirty="0">
                <a:solidFill>
                  <a:schemeClr val="tx1"/>
                </a:solidFill>
                <a:effectLst/>
                <a:latin typeface="+mn-lt"/>
                <a:ea typeface="+mn-ea"/>
                <a:cs typeface="+mn-cs"/>
              </a:rPr>
              <a:t>间接性</a:t>
            </a:r>
            <a:endParaRPr lang="en-US" altLang="zh-CN" sz="1200" kern="1200" dirty="0">
              <a:solidFill>
                <a:schemeClr val="tx1"/>
              </a:solidFill>
              <a:effectLst/>
              <a:latin typeface="+mn-lt"/>
              <a:ea typeface="+mn-ea"/>
              <a:cs typeface="+mn-cs"/>
            </a:endParaRPr>
          </a:p>
          <a:p>
            <a:endParaRPr lang="en-US" altLang="zh-CN" dirty="0"/>
          </a:p>
          <a:p>
            <a:r>
              <a:rPr lang="zh-CN" altLang="en-US" dirty="0"/>
              <a:t>最后介绍</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防止变异</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7</a:t>
            </a:fld>
            <a:endParaRPr lang="zh-CN" altLang="en-US"/>
          </a:p>
        </p:txBody>
      </p:sp>
    </p:spTree>
    <p:extLst>
      <p:ext uri="{BB962C8B-B14F-4D97-AF65-F5344CB8AC3E}">
        <p14:creationId xmlns:p14="http://schemas.microsoft.com/office/powerpoint/2010/main" val="26264526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问题</a:t>
            </a:r>
          </a:p>
          <a:p>
            <a:r>
              <a:rPr lang="zh-CN" altLang="zh-CN" sz="1200" kern="1200" dirty="0">
                <a:solidFill>
                  <a:schemeClr val="tx1"/>
                </a:solidFill>
                <a:effectLst/>
                <a:latin typeface="+mn-lt"/>
                <a:ea typeface="+mn-ea"/>
                <a:cs typeface="+mn-cs"/>
              </a:rPr>
              <a:t>当你并不想违背高内聚和低耦合或其他目标</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但是基于专家模式所提供的方案又不合适时</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解决方案</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对</a:t>
            </a:r>
            <a:r>
              <a:rPr lang="zh-CN" altLang="en-US" sz="1200" kern="1200" dirty="0">
                <a:solidFill>
                  <a:schemeClr val="tx1"/>
                </a:solidFill>
                <a:effectLst/>
                <a:latin typeface="+mn-lt"/>
                <a:ea typeface="+mn-ea"/>
                <a:cs typeface="+mn-cs"/>
              </a:rPr>
              <a:t>人</a:t>
            </a:r>
            <a:r>
              <a:rPr lang="zh-CN" altLang="zh-CN" sz="1200" kern="1200" dirty="0">
                <a:solidFill>
                  <a:schemeClr val="tx1"/>
                </a:solidFill>
                <a:effectLst/>
                <a:latin typeface="+mn-lt"/>
                <a:ea typeface="+mn-ea"/>
                <a:cs typeface="+mn-cs"/>
              </a:rPr>
              <a:t>为制造的</a:t>
            </a:r>
            <a:r>
              <a:rPr lang="zh-CN" altLang="en-US" sz="1200" kern="1200" dirty="0">
                <a:solidFill>
                  <a:schemeClr val="tx1"/>
                </a:solidFill>
                <a:effectLst/>
                <a:latin typeface="+mn-lt"/>
                <a:ea typeface="+mn-ea"/>
                <a:cs typeface="+mn-cs"/>
              </a:rPr>
              <a:t>类</a:t>
            </a:r>
            <a:r>
              <a:rPr lang="zh-CN" altLang="zh-CN" sz="1200" kern="1200" dirty="0">
                <a:solidFill>
                  <a:schemeClr val="tx1"/>
                </a:solidFill>
                <a:effectLst/>
                <a:latin typeface="+mn-lt"/>
                <a:ea typeface="+mn-ea"/>
                <a:cs typeface="+mn-cs"/>
              </a:rPr>
              <a:t>分配一组高内聚的职责</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该</a:t>
            </a:r>
            <a:r>
              <a:rPr lang="zh-CN" altLang="en-US" sz="1200" kern="1200" dirty="0">
                <a:solidFill>
                  <a:schemeClr val="tx1"/>
                </a:solidFill>
                <a:effectLst/>
                <a:latin typeface="+mn-lt"/>
                <a:ea typeface="+mn-ea"/>
                <a:cs typeface="+mn-cs"/>
              </a:rPr>
              <a:t>类</a:t>
            </a:r>
            <a:r>
              <a:rPr lang="zh-CN" altLang="zh-CN" sz="1200" kern="1200" dirty="0">
                <a:solidFill>
                  <a:schemeClr val="tx1"/>
                </a:solidFill>
                <a:effectLst/>
                <a:latin typeface="+mn-lt"/>
                <a:ea typeface="+mn-ea"/>
                <a:cs typeface="+mn-cs"/>
              </a:rPr>
              <a:t>并不代表问题领域的概念</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虚构的事物</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用以支持高内聚、低耦合和复用</a:t>
            </a: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8</a:t>
            </a:fld>
            <a:endParaRPr lang="zh-CN" altLang="en-US"/>
          </a:p>
        </p:txBody>
      </p:sp>
    </p:spTree>
    <p:extLst>
      <p:ext uri="{BB962C8B-B14F-4D97-AF65-F5344CB8AC3E}">
        <p14:creationId xmlns:p14="http://schemas.microsoft.com/office/powerpoint/2010/main" val="1256739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纯虚构：例子</a:t>
            </a:r>
            <a:r>
              <a:rPr lang="en-US" altLang="zh-CN" sz="1200" kern="1200" dirty="0">
                <a:solidFill>
                  <a:schemeClr val="tx1"/>
                </a:solidFill>
                <a:effectLst/>
                <a:latin typeface="+mn-lt"/>
                <a:ea typeface="+mn-ea"/>
                <a:cs typeface="+mn-cs"/>
              </a:rPr>
              <a:t>-1</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1.NextGen </a:t>
            </a:r>
            <a:r>
              <a:rPr lang="zh-CN" altLang="en-US" sz="1200" kern="1200" dirty="0">
                <a:solidFill>
                  <a:schemeClr val="tx1"/>
                </a:solidFill>
                <a:effectLst/>
                <a:latin typeface="+mn-lt"/>
                <a:ea typeface="+mn-ea"/>
                <a:cs typeface="+mn-cs"/>
              </a:rPr>
              <a:t>问题：在数据库中保存 </a:t>
            </a:r>
            <a:r>
              <a:rPr lang="en-US" altLang="zh-CN" sz="1200" kern="1200" dirty="0">
                <a:solidFill>
                  <a:schemeClr val="tx1"/>
                </a:solidFill>
                <a:effectLst/>
                <a:latin typeface="+mn-lt"/>
                <a:ea typeface="+mn-ea"/>
                <a:cs typeface="+mn-cs"/>
              </a:rPr>
              <a:t>Sale </a:t>
            </a:r>
            <a:r>
              <a:rPr lang="zh-CN" altLang="en-US" sz="1200" kern="1200" dirty="0">
                <a:solidFill>
                  <a:schemeClr val="tx1"/>
                </a:solidFill>
                <a:effectLst/>
                <a:latin typeface="+mn-lt"/>
                <a:ea typeface="+mn-ea"/>
                <a:cs typeface="+mn-cs"/>
              </a:rPr>
              <a:t>对象</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假如需要在关系数据库中保存</a:t>
            </a:r>
            <a:r>
              <a:rPr lang="en-US" altLang="zh-CN" sz="1200" kern="1200" dirty="0">
                <a:solidFill>
                  <a:schemeClr val="tx1"/>
                </a:solidFill>
                <a:effectLst/>
                <a:latin typeface="+mn-lt"/>
                <a:ea typeface="+mn-ea"/>
                <a:cs typeface="+mn-cs"/>
              </a:rPr>
              <a:t> Sale </a:t>
            </a:r>
            <a:r>
              <a:rPr lang="zh-CN" altLang="zh-CN" sz="1200" kern="1200" dirty="0">
                <a:solidFill>
                  <a:schemeClr val="tx1"/>
                </a:solidFill>
                <a:effectLst/>
                <a:latin typeface="+mn-lt"/>
                <a:ea typeface="+mn-ea"/>
                <a:cs typeface="+mn-cs"/>
              </a:rPr>
              <a:t>的实例</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根据信息专家模式，存在一些理由可以将此职责分配给</a:t>
            </a:r>
            <a:r>
              <a:rPr lang="en-US" altLang="zh-CN" sz="1200" kern="1200" dirty="0">
                <a:solidFill>
                  <a:schemeClr val="tx1"/>
                </a:solidFill>
                <a:effectLst/>
                <a:latin typeface="+mn-lt"/>
                <a:ea typeface="+mn-ea"/>
                <a:cs typeface="+mn-cs"/>
              </a:rPr>
              <a:t> Sale </a:t>
            </a:r>
            <a:r>
              <a:rPr lang="zh-CN" altLang="zh-CN" sz="1200" kern="1200" dirty="0">
                <a:solidFill>
                  <a:schemeClr val="tx1"/>
                </a:solidFill>
                <a:effectLst/>
                <a:latin typeface="+mn-lt"/>
                <a:ea typeface="+mn-ea"/>
                <a:cs typeface="+mn-cs"/>
              </a:rPr>
              <a:t>类本身</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因为</a:t>
            </a:r>
            <a:r>
              <a:rPr lang="en-US" altLang="zh-CN" sz="1200" kern="1200" dirty="0">
                <a:solidFill>
                  <a:schemeClr val="tx1"/>
                </a:solidFill>
                <a:effectLst/>
                <a:latin typeface="+mn-lt"/>
                <a:ea typeface="+mn-ea"/>
                <a:cs typeface="+mn-cs"/>
              </a:rPr>
              <a:t> Sale </a:t>
            </a:r>
            <a:r>
              <a:rPr lang="zh-CN" altLang="zh-CN" sz="1200" kern="1200" dirty="0">
                <a:solidFill>
                  <a:schemeClr val="tx1"/>
                </a:solidFill>
                <a:effectLst/>
                <a:latin typeface="+mn-lt"/>
                <a:ea typeface="+mn-ea"/>
                <a:cs typeface="+mn-cs"/>
              </a:rPr>
              <a:t>持有需要保存的数据</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但是考虑如下含义</a:t>
            </a:r>
          </a:p>
          <a:p>
            <a:r>
              <a:rPr lang="en-US" altLang="zh-CN" sz="1200" kern="1200" dirty="0">
                <a:solidFill>
                  <a:schemeClr val="tx1"/>
                </a:solidFill>
                <a:effectLst/>
                <a:latin typeface="+mn-lt"/>
                <a:ea typeface="+mn-ea"/>
                <a:cs typeface="+mn-cs"/>
              </a:rPr>
              <a:t> 3.1</a:t>
            </a:r>
            <a:r>
              <a:rPr lang="zh-CN" altLang="zh-CN" sz="1200" kern="1200" dirty="0">
                <a:solidFill>
                  <a:schemeClr val="tx1"/>
                </a:solidFill>
                <a:effectLst/>
                <a:latin typeface="+mn-lt"/>
                <a:ea typeface="+mn-ea"/>
                <a:cs typeface="+mn-cs"/>
              </a:rPr>
              <a:t>这一任务需要相当大量的支持面向数据库的操作</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而与实际的销售概念无关</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3.2</a:t>
            </a:r>
            <a:r>
              <a:rPr lang="zh-CN" altLang="zh-CN" sz="1200" kern="1200" dirty="0">
                <a:solidFill>
                  <a:schemeClr val="tx1"/>
                </a:solidFill>
                <a:effectLst/>
                <a:latin typeface="+mn-lt"/>
                <a:ea typeface="+mn-ea"/>
                <a:cs typeface="+mn-cs"/>
              </a:rPr>
              <a:t>这样会使</a:t>
            </a:r>
            <a:r>
              <a:rPr lang="en-US" altLang="zh-CN" sz="1200" kern="1200" dirty="0">
                <a:solidFill>
                  <a:schemeClr val="tx1"/>
                </a:solidFill>
                <a:effectLst/>
                <a:latin typeface="+mn-lt"/>
                <a:ea typeface="+mn-ea"/>
                <a:cs typeface="+mn-cs"/>
              </a:rPr>
              <a:t> Sale </a:t>
            </a:r>
            <a:r>
              <a:rPr lang="zh-CN" altLang="zh-CN" sz="1200" kern="1200" dirty="0">
                <a:solidFill>
                  <a:schemeClr val="tx1"/>
                </a:solidFill>
                <a:effectLst/>
                <a:latin typeface="+mn-lt"/>
                <a:ea typeface="+mn-ea"/>
                <a:cs typeface="+mn-cs"/>
              </a:rPr>
              <a:t>类变得非内聚</a:t>
            </a:r>
          </a:p>
          <a:p>
            <a:endParaRPr lang="zh-CN"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9</a:t>
            </a:fld>
            <a:endParaRPr lang="zh-CN" altLang="en-US"/>
          </a:p>
        </p:txBody>
      </p:sp>
    </p:spTree>
    <p:extLst>
      <p:ext uri="{BB962C8B-B14F-4D97-AF65-F5344CB8AC3E}">
        <p14:creationId xmlns:p14="http://schemas.microsoft.com/office/powerpoint/2010/main" val="31013711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3.3</a:t>
            </a:r>
            <a:r>
              <a:rPr lang="zh-CN" altLang="zh-CN" sz="1200" kern="1200" dirty="0">
                <a:solidFill>
                  <a:schemeClr val="tx1"/>
                </a:solidFill>
                <a:effectLst/>
                <a:latin typeface="+mn-lt"/>
                <a:ea typeface="+mn-ea"/>
                <a:cs typeface="+mn-cs"/>
              </a:rPr>
              <a:t>在关系数据库中保存的对象是十分普遍任务</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许多类都需要支持这一任务</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将</a:t>
            </a:r>
            <a:r>
              <a:rPr lang="zh-CN" altLang="zh-CN" sz="1200" kern="1200" dirty="0">
                <a:solidFill>
                  <a:schemeClr val="tx1"/>
                </a:solidFill>
                <a:effectLst/>
                <a:latin typeface="+mn-lt"/>
                <a:ea typeface="+mn-ea"/>
                <a:cs typeface="+mn-cs"/>
              </a:rPr>
              <a:t>此职责置于</a:t>
            </a:r>
            <a:r>
              <a:rPr lang="en-US" altLang="zh-CN" sz="1200" kern="1200" dirty="0">
                <a:solidFill>
                  <a:schemeClr val="tx1"/>
                </a:solidFill>
                <a:effectLst/>
                <a:latin typeface="+mn-lt"/>
                <a:ea typeface="+mn-ea"/>
                <a:cs typeface="+mn-cs"/>
              </a:rPr>
              <a:t> Sale </a:t>
            </a:r>
            <a:r>
              <a:rPr lang="zh-CN" altLang="zh-CN" sz="1200" kern="1200" dirty="0">
                <a:solidFill>
                  <a:schemeClr val="tx1"/>
                </a:solidFill>
                <a:effectLst/>
                <a:latin typeface="+mn-lt"/>
                <a:ea typeface="+mn-ea"/>
                <a:cs typeface="+mn-cs"/>
              </a:rPr>
              <a:t>类中表明了难以复用</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或是在其他类中</a:t>
            </a:r>
            <a:r>
              <a:rPr lang="zh-CN" altLang="en-US" sz="1200" kern="1200" dirty="0">
                <a:solidFill>
                  <a:schemeClr val="tx1"/>
                </a:solidFill>
                <a:effectLst/>
                <a:latin typeface="+mn-lt"/>
                <a:ea typeface="+mn-ea"/>
                <a:cs typeface="+mn-cs"/>
              </a:rPr>
              <a:t>存在大量完成此项工作的冗余</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4.</a:t>
            </a:r>
            <a:r>
              <a:rPr lang="zh-CN" altLang="en-US" sz="1200" kern="1200" dirty="0">
                <a:solidFill>
                  <a:schemeClr val="tx1"/>
                </a:solidFill>
                <a:effectLst/>
                <a:latin typeface="+mn-lt"/>
                <a:ea typeface="+mn-ea"/>
                <a:cs typeface="+mn-cs"/>
              </a:rPr>
              <a:t>因此</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即便就信息专家而言</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Sale </a:t>
            </a:r>
            <a:r>
              <a:rPr lang="zh-CN" altLang="en-US" sz="1200" kern="1200" dirty="0">
                <a:solidFill>
                  <a:schemeClr val="tx1"/>
                </a:solidFill>
                <a:effectLst/>
                <a:latin typeface="+mn-lt"/>
                <a:ea typeface="+mn-ea"/>
                <a:cs typeface="+mn-cs"/>
              </a:rPr>
              <a:t>是将其保存于数据库中的合理候选者</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en-US" sz="1200" kern="1200" dirty="0">
                <a:solidFill>
                  <a:schemeClr val="tx1"/>
                </a:solidFill>
                <a:effectLst/>
                <a:latin typeface="+mn-lt"/>
                <a:ea typeface="+mn-ea"/>
                <a:cs typeface="+mn-cs"/>
              </a:rPr>
              <a:t>但是这样会导致低内聚、高耦合和难以复用的设计</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5.</a:t>
            </a:r>
            <a:r>
              <a:rPr lang="zh-CN" altLang="zh-CN" sz="1200" kern="1200" dirty="0">
                <a:solidFill>
                  <a:schemeClr val="tx1"/>
                </a:solidFill>
                <a:effectLst/>
                <a:latin typeface="+mn-lt"/>
                <a:ea typeface="+mn-ea"/>
                <a:cs typeface="+mn-cs"/>
              </a:rPr>
              <a:t>正是此类困境使得我们需要虚构某些事物</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10</a:t>
            </a:fld>
            <a:endParaRPr lang="zh-CN" altLang="en-US"/>
          </a:p>
        </p:txBody>
      </p:sp>
    </p:spTree>
    <p:extLst>
      <p:ext uri="{BB962C8B-B14F-4D97-AF65-F5344CB8AC3E}">
        <p14:creationId xmlns:p14="http://schemas.microsoft.com/office/powerpoint/2010/main" val="25811209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合理的方案是创建一个新类</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使其独自在某种持久性储存介质中保存对象</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对该类命名为</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PersistentStorage</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该类是纯虚构的臆想之物</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注意其名称：</a:t>
            </a:r>
            <a:r>
              <a:rPr lang="en-US" altLang="zh-CN" sz="1200" kern="1200" dirty="0" err="1">
                <a:solidFill>
                  <a:schemeClr val="tx1"/>
                </a:solidFill>
                <a:effectLst/>
                <a:latin typeface="+mn-lt"/>
                <a:ea typeface="+mn-ea"/>
                <a:cs typeface="+mn-cs"/>
              </a:rPr>
              <a:t>PersistentStorage</a:t>
            </a:r>
            <a:r>
              <a:rPr lang="en-US" altLang="zh-CN" sz="1200" kern="1200" baseline="0" dirty="0">
                <a:solidFill>
                  <a:schemeClr val="tx1"/>
                </a:solidFill>
                <a:effectLst/>
                <a:latin typeface="+mn-lt"/>
                <a:ea typeface="+mn-ea"/>
                <a:cs typeface="+mn-cs"/>
              </a:rPr>
              <a:t> </a:t>
            </a: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虽然这个概念是可以被理解的</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但是我们却无法在领域模型中</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找到这个名称或“持久性存储”的概念</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并且如果开发者询问商店里的业务人员</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“你使用持久性存储对象吗”，他们不会理解</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他们能够理解诸如“销售”和“文件”的概念</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PersistentStorage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并不是领域概念</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它只是为了便于软件开发而凭空捏造或虚构的概念</a:t>
            </a: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11</a:t>
            </a:fld>
            <a:endParaRPr lang="zh-CN" altLang="en-US"/>
          </a:p>
        </p:txBody>
      </p:sp>
    </p:spTree>
    <p:extLst>
      <p:ext uri="{BB962C8B-B14F-4D97-AF65-F5344CB8AC3E}">
        <p14:creationId xmlns:p14="http://schemas.microsoft.com/office/powerpoint/2010/main" val="31483974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纯虚构解决了如下设计问题</a:t>
            </a:r>
            <a:endParaRPr lang="en-US" altLang="zh-CN" dirty="0"/>
          </a:p>
          <a:p>
            <a:r>
              <a:rPr lang="en-US" altLang="zh-CN" sz="1200" kern="1200" dirty="0">
                <a:solidFill>
                  <a:schemeClr val="tx1"/>
                </a:solidFill>
                <a:effectLst/>
                <a:latin typeface="+mn-lt"/>
                <a:ea typeface="+mn-ea"/>
                <a:cs typeface="+mn-cs"/>
              </a:rPr>
              <a:t> 1.1 </a:t>
            </a:r>
            <a:r>
              <a:rPr lang="zh-CN" altLang="zh-CN" sz="1200" kern="1200" dirty="0">
                <a:solidFill>
                  <a:schemeClr val="tx1"/>
                </a:solidFill>
                <a:effectLst/>
                <a:latin typeface="+mn-lt"/>
                <a:ea typeface="+mn-ea"/>
                <a:cs typeface="+mn-cs"/>
              </a:rPr>
              <a:t>使</a:t>
            </a:r>
            <a:r>
              <a:rPr lang="en-US" altLang="zh-CN" sz="1200" kern="1200" dirty="0">
                <a:solidFill>
                  <a:schemeClr val="tx1"/>
                </a:solidFill>
                <a:effectLst/>
                <a:latin typeface="+mn-lt"/>
                <a:ea typeface="+mn-ea"/>
                <a:cs typeface="+mn-cs"/>
              </a:rPr>
              <a:t> Sale </a:t>
            </a:r>
            <a:r>
              <a:rPr lang="zh-CN" altLang="zh-CN" sz="1200" kern="1200" dirty="0">
                <a:solidFill>
                  <a:schemeClr val="tx1"/>
                </a:solidFill>
                <a:effectLst/>
                <a:latin typeface="+mn-lt"/>
                <a:ea typeface="+mn-ea"/>
                <a:cs typeface="+mn-cs"/>
              </a:rPr>
              <a:t>保持高内聚和低耦合的良好设计</a:t>
            </a:r>
          </a:p>
          <a:p>
            <a:r>
              <a:rPr lang="en-US" altLang="zh-CN" sz="1200" kern="1200" dirty="0">
                <a:solidFill>
                  <a:schemeClr val="tx1"/>
                </a:solidFill>
                <a:effectLst/>
                <a:latin typeface="+mn-lt"/>
                <a:ea typeface="+mn-ea"/>
                <a:cs typeface="+mn-cs"/>
              </a:rPr>
              <a:t> 1.2 </a:t>
            </a:r>
            <a:r>
              <a:rPr lang="en-US" altLang="zh-CN" sz="1200" kern="1200" dirty="0" err="1">
                <a:solidFill>
                  <a:schemeClr val="tx1"/>
                </a:solidFill>
                <a:effectLst/>
                <a:latin typeface="+mn-lt"/>
                <a:ea typeface="+mn-ea"/>
                <a:cs typeface="+mn-cs"/>
              </a:rPr>
              <a:t>PersistentStorage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类本身是相对内聚的</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具有唯一目标，即在持久性存储介质中存储或插入对象</a:t>
            </a:r>
          </a:p>
          <a:p>
            <a:r>
              <a:rPr lang="en-US" altLang="zh-CN" sz="1200" kern="1200" dirty="0">
                <a:solidFill>
                  <a:schemeClr val="tx1"/>
                </a:solidFill>
                <a:effectLst/>
                <a:latin typeface="+mn-lt"/>
                <a:ea typeface="+mn-ea"/>
                <a:cs typeface="+mn-cs"/>
              </a:rPr>
              <a:t> 1.3 </a:t>
            </a:r>
            <a:r>
              <a:rPr lang="en-US" altLang="zh-CN" sz="1200" kern="1200" dirty="0" err="1">
                <a:solidFill>
                  <a:schemeClr val="tx1"/>
                </a:solidFill>
                <a:effectLst/>
                <a:latin typeface="+mn-lt"/>
                <a:ea typeface="+mn-ea"/>
                <a:cs typeface="+mn-cs"/>
              </a:rPr>
              <a:t>PersistentStorage</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类是十分普遍和可复用的对象</a:t>
            </a:r>
            <a:r>
              <a:rPr lang="en-US" altLang="zh-CN" sz="1200" kern="1200" dirty="0">
                <a:solidFill>
                  <a:schemeClr val="tx1"/>
                </a:solidFill>
                <a:effectLst/>
                <a:latin typeface="+mn-lt"/>
                <a:ea typeface="+mn-ea"/>
                <a:cs typeface="+mn-cs"/>
              </a:rPr>
              <a:t> </a:t>
            </a: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在本例中</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创建纯虚构正是由环境所驱使的</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消除了基于专家模式的不良设计</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改善了内聚和耦合，增加了潜在的复用性</a:t>
            </a: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12</a:t>
            </a:fld>
            <a:endParaRPr lang="zh-CN" altLang="en-US"/>
          </a:p>
        </p:txBody>
      </p:sp>
    </p:spTree>
    <p:extLst>
      <p:ext uri="{BB962C8B-B14F-4D97-AF65-F5344CB8AC3E}">
        <p14:creationId xmlns:p14="http://schemas.microsoft.com/office/powerpoint/2010/main" val="35441818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通常，</a:t>
            </a:r>
            <a:r>
              <a:rPr lang="zh-CN" altLang="zh-CN" sz="1200" kern="1200" dirty="0">
                <a:solidFill>
                  <a:schemeClr val="tx1"/>
                </a:solidFill>
                <a:effectLst/>
                <a:latin typeface="+mn-lt"/>
                <a:ea typeface="+mn-ea"/>
                <a:cs typeface="+mn-cs"/>
              </a:rPr>
              <a:t>此类的设计可以被广泛地分为两组</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   1.1 </a:t>
            </a:r>
            <a:r>
              <a:rPr lang="zh-CN" altLang="zh-CN" sz="1200" kern="1200" dirty="0">
                <a:solidFill>
                  <a:schemeClr val="tx1"/>
                </a:solidFill>
                <a:effectLst/>
                <a:latin typeface="+mn-lt"/>
                <a:ea typeface="+mn-ea"/>
                <a:cs typeface="+mn-cs"/>
              </a:rPr>
              <a:t>通过</a:t>
            </a:r>
            <a:r>
              <a:rPr lang="zh-CN" altLang="zh-CN" sz="1200" b="1" kern="1200" dirty="0">
                <a:solidFill>
                  <a:schemeClr val="tx1"/>
                </a:solidFill>
                <a:effectLst/>
                <a:latin typeface="+mn-lt"/>
                <a:ea typeface="+mn-ea"/>
                <a:cs typeface="+mn-cs"/>
              </a:rPr>
              <a:t>表示解析</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representational decomposition</a:t>
            </a:r>
            <a:r>
              <a:rPr lang="zh-CN" altLang="zh-CN" sz="1200" kern="1200" dirty="0">
                <a:solidFill>
                  <a:schemeClr val="tx1"/>
                </a:solidFill>
                <a:effectLst/>
                <a:latin typeface="+mn-lt"/>
                <a:ea typeface="+mn-ea"/>
                <a:cs typeface="+mn-cs"/>
              </a:rPr>
              <a:t>）所产生的选择</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   1.2 </a:t>
            </a:r>
            <a:r>
              <a:rPr lang="zh-CN" altLang="zh-CN" sz="1200" kern="1200" dirty="0">
                <a:solidFill>
                  <a:schemeClr val="tx1"/>
                </a:solidFill>
                <a:effectLst/>
                <a:latin typeface="+mn-lt"/>
                <a:ea typeface="+mn-ea"/>
                <a:cs typeface="+mn-cs"/>
              </a:rPr>
              <a:t>通过</a:t>
            </a:r>
            <a:r>
              <a:rPr lang="zh-CN" altLang="zh-CN" sz="1200" b="1" kern="1200" dirty="0">
                <a:solidFill>
                  <a:schemeClr val="tx1"/>
                </a:solidFill>
                <a:effectLst/>
                <a:latin typeface="+mn-lt"/>
                <a:ea typeface="+mn-ea"/>
                <a:cs typeface="+mn-cs"/>
              </a:rPr>
              <a:t>行为解析</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behavioral decomposition</a:t>
            </a:r>
            <a:r>
              <a:rPr lang="zh-CN" altLang="zh-CN" sz="1200" kern="1200" dirty="0">
                <a:solidFill>
                  <a:schemeClr val="tx1"/>
                </a:solidFill>
                <a:effectLst/>
                <a:latin typeface="+mn-lt"/>
                <a:ea typeface="+mn-ea"/>
                <a:cs typeface="+mn-cs"/>
              </a:rPr>
              <a:t>）所产生的选择</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纯虚构通常基于相关功能性进行划分</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因此这是一种以功能为中心的或行为的对象</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13</a:t>
            </a:fld>
            <a:endParaRPr lang="zh-CN" altLang="en-US"/>
          </a:p>
        </p:txBody>
      </p:sp>
    </p:spTree>
    <p:extLst>
      <p:ext uri="{BB962C8B-B14F-4D97-AF65-F5344CB8AC3E}">
        <p14:creationId xmlns:p14="http://schemas.microsoft.com/office/powerpoint/2010/main" val="6070546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禁忌</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如果滥用虚构，会导致大量行为对象</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其职责与执行职责所需的信息没有结合起来</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这样会对耦合产生不良影响</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优点</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2.1 </a:t>
            </a:r>
            <a:r>
              <a:rPr lang="zh-CN" altLang="zh-CN" sz="1200" kern="1200" dirty="0">
                <a:solidFill>
                  <a:schemeClr val="tx1"/>
                </a:solidFill>
                <a:effectLst/>
                <a:latin typeface="+mn-lt"/>
                <a:ea typeface="+mn-ea"/>
                <a:cs typeface="+mn-cs"/>
              </a:rPr>
              <a:t>支持高内聚，因为职责被解析为细粒度的类</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这种类只着重于极为特定的一组相关任务</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2.2 </a:t>
            </a:r>
            <a:r>
              <a:rPr lang="zh-CN" altLang="zh-CN" sz="1200" kern="1200" dirty="0">
                <a:solidFill>
                  <a:schemeClr val="tx1"/>
                </a:solidFill>
                <a:effectLst/>
                <a:latin typeface="+mn-lt"/>
                <a:ea typeface="+mn-ea"/>
                <a:cs typeface="+mn-cs"/>
              </a:rPr>
              <a:t>增加了潜在的复用性</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因为细粒度纯虚构类的职责可适用于其他应用</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类似模式</a:t>
            </a:r>
            <a:r>
              <a:rPr lang="zh-CN" altLang="en-US" sz="1200" kern="1200" dirty="0">
                <a:solidFill>
                  <a:schemeClr val="tx1"/>
                </a:solidFill>
                <a:effectLst/>
                <a:latin typeface="+mn-lt"/>
                <a:ea typeface="+mn-ea"/>
                <a:cs typeface="+mn-cs"/>
              </a:rPr>
              <a:t>和原则</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3.1</a:t>
            </a:r>
            <a:r>
              <a:rPr lang="zh-CN" altLang="en-US" sz="1200" kern="1200" dirty="0">
                <a:solidFill>
                  <a:schemeClr val="tx1"/>
                </a:solidFill>
                <a:effectLst/>
                <a:latin typeface="+mn-lt"/>
                <a:ea typeface="+mn-ea"/>
                <a:cs typeface="+mn-cs"/>
              </a:rPr>
              <a:t>低耦合和高内聚</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3.2</a:t>
            </a:r>
            <a:r>
              <a:rPr lang="zh-CN" altLang="en-US" sz="1200" kern="1200" dirty="0">
                <a:solidFill>
                  <a:schemeClr val="tx1"/>
                </a:solidFill>
                <a:effectLst/>
                <a:latin typeface="+mn-lt"/>
                <a:ea typeface="+mn-ea"/>
                <a:cs typeface="+mn-cs"/>
              </a:rPr>
              <a:t>适配器、命令和策略模式</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防止变异</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适配器、命令、组合、代理、状态和策略模式</a:t>
            </a:r>
            <a:endParaRPr lang="en-US" altLang="zh-CN" sz="1200" kern="1200" dirty="0">
              <a:solidFill>
                <a:schemeClr val="tx1"/>
              </a:solidFill>
              <a:effectLst/>
              <a:latin typeface="+mn-lt"/>
              <a:ea typeface="+mn-ea"/>
              <a:cs typeface="+mn-cs"/>
            </a:endParaRPr>
          </a:p>
          <a:p>
            <a:endParaRPr lang="zh-CN"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14</a:t>
            </a:fld>
            <a:endParaRPr lang="zh-CN" altLang="en-US"/>
          </a:p>
        </p:txBody>
      </p:sp>
    </p:spTree>
    <p:extLst>
      <p:ext uri="{BB962C8B-B14F-4D97-AF65-F5344CB8AC3E}">
        <p14:creationId xmlns:p14="http://schemas.microsoft.com/office/powerpoint/2010/main" val="2294400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下面介绍</a:t>
            </a:r>
            <a:endParaRPr lang="en-US" altLang="zh-CN" dirty="0"/>
          </a:p>
          <a:p>
            <a:r>
              <a:rPr lang="zh-CN" altLang="zh-CN" sz="1200" kern="1200" dirty="0">
                <a:solidFill>
                  <a:schemeClr val="tx1"/>
                </a:solidFill>
                <a:effectLst/>
                <a:latin typeface="+mn-lt"/>
                <a:ea typeface="+mn-ea"/>
                <a:cs typeface="+mn-cs"/>
              </a:rPr>
              <a:t>间接性</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 </a:t>
            </a:r>
            <a:r>
              <a:rPr lang="zh-CN" altLang="en-US" dirty="0"/>
              <a:t>后面仅供参考，不放入脚本</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下面介绍</a:t>
            </a:r>
            <a:endParaRPr lang="en-US" altLang="zh-CN" dirty="0"/>
          </a:p>
          <a:p>
            <a:r>
              <a:rPr lang="zh-CN" altLang="zh-CN" sz="1200" kern="1200" dirty="0">
                <a:solidFill>
                  <a:schemeClr val="tx1"/>
                </a:solidFill>
                <a:effectLst/>
                <a:latin typeface="+mn-lt"/>
                <a:ea typeface="+mn-ea"/>
                <a:cs typeface="+mn-cs"/>
              </a:rPr>
              <a:t>纯虚构</a:t>
            </a:r>
            <a:endParaRPr lang="en-US" altLang="zh-CN" sz="1200" kern="1200" dirty="0">
              <a:solidFill>
                <a:schemeClr val="tx1"/>
              </a:solidFill>
              <a:effectLst/>
              <a:latin typeface="+mn-lt"/>
              <a:ea typeface="+mn-ea"/>
              <a:cs typeface="+mn-cs"/>
            </a:endParaRPr>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下面介绍</a:t>
            </a:r>
            <a:endParaRPr lang="en-US" altLang="zh-CN" dirty="0"/>
          </a:p>
          <a:p>
            <a:r>
              <a:rPr lang="zh-CN" altLang="zh-CN" sz="1200" kern="1200" dirty="0">
                <a:solidFill>
                  <a:schemeClr val="tx1"/>
                </a:solidFill>
                <a:effectLst/>
                <a:latin typeface="+mn-lt"/>
                <a:ea typeface="+mn-ea"/>
                <a:cs typeface="+mn-cs"/>
              </a:rPr>
              <a:t>间接性</a:t>
            </a:r>
            <a:endParaRPr lang="en-US" altLang="zh-CN" sz="1200" kern="1200" dirty="0">
              <a:solidFill>
                <a:schemeClr val="tx1"/>
              </a:solidFill>
              <a:effectLst/>
              <a:latin typeface="+mn-lt"/>
              <a:ea typeface="+mn-ea"/>
              <a:cs typeface="+mn-cs"/>
            </a:endParaRPr>
          </a:p>
          <a:p>
            <a:endParaRPr lang="en-US" altLang="zh-CN" dirty="0"/>
          </a:p>
          <a:p>
            <a:r>
              <a:rPr lang="zh-CN" altLang="en-US" dirty="0"/>
              <a:t>最后介绍</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防止变异</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15</a:t>
            </a:fld>
            <a:endParaRPr lang="zh-CN" altLang="en-US"/>
          </a:p>
        </p:txBody>
      </p:sp>
    </p:spTree>
    <p:extLst>
      <p:ext uri="{BB962C8B-B14F-4D97-AF65-F5344CB8AC3E}">
        <p14:creationId xmlns:p14="http://schemas.microsoft.com/office/powerpoint/2010/main" val="27677165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问题</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两个或多个事物之间直接耦合应该如何分配职责？</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如何使对象解耦合，以支持低耦合并提高复用性潜力？</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解决方案</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将职责分配给中介对象</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使其作为其他构件或服务之间的媒介</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以避免它们之间的直接耦合</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中介实现了其他构件之间的间接性</a:t>
            </a:r>
            <a:r>
              <a:rPr lang="en-US" altLang="zh-CN" sz="1200" kern="1200" dirty="0">
                <a:solidFill>
                  <a:schemeClr val="tx1"/>
                </a:solidFill>
                <a:effectLst/>
                <a:latin typeface="+mn-lt"/>
                <a:ea typeface="+mn-ea"/>
                <a:cs typeface="+mn-cs"/>
              </a:rPr>
              <a:t>(indirection)</a:t>
            </a: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16</a:t>
            </a:fld>
            <a:endParaRPr lang="zh-CN" altLang="en-US"/>
          </a:p>
        </p:txBody>
      </p:sp>
    </p:spTree>
    <p:extLst>
      <p:ext uri="{BB962C8B-B14F-4D97-AF65-F5344CB8AC3E}">
        <p14:creationId xmlns:p14="http://schemas.microsoft.com/office/powerpoint/2010/main" val="3128087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这些对象对于外部税金计算器来说充当了中介的角色</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通过多态，它们为内部对象提供了一致的接口</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并且隐藏了外部</a:t>
            </a:r>
            <a:r>
              <a:rPr lang="en-US" altLang="zh-CN" sz="1200" kern="1200" dirty="0">
                <a:solidFill>
                  <a:schemeClr val="tx1"/>
                </a:solidFill>
                <a:effectLst/>
                <a:latin typeface="+mn-lt"/>
                <a:ea typeface="+mn-ea"/>
                <a:cs typeface="+mn-cs"/>
              </a:rPr>
              <a:t> API </a:t>
            </a:r>
            <a:r>
              <a:rPr lang="zh-CN" altLang="zh-CN" sz="1200" kern="1200" dirty="0">
                <a:solidFill>
                  <a:schemeClr val="tx1"/>
                </a:solidFill>
                <a:effectLst/>
                <a:latin typeface="+mn-lt"/>
                <a:ea typeface="+mn-ea"/>
                <a:cs typeface="+mn-cs"/>
              </a:rPr>
              <a:t>的变化</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通过增加一层中间性和多态</a:t>
            </a:r>
            <a:r>
              <a:rPr lang="zh-CN" altLang="en-US" sz="1200" kern="1200" dirty="0">
                <a:solidFill>
                  <a:schemeClr val="tx1"/>
                </a:solidFill>
                <a:effectLst/>
                <a:latin typeface="+mn-lt"/>
                <a:ea typeface="+mn-ea"/>
                <a:cs typeface="+mn-cs"/>
              </a:rPr>
              <a:t>性</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适配器对象保护了内部设计</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使其不受接口变化的影响（见图</a:t>
            </a:r>
            <a:r>
              <a:rPr lang="en-US" altLang="zh-CN" sz="1200" kern="1200" dirty="0">
                <a:solidFill>
                  <a:schemeClr val="tx1"/>
                </a:solidFill>
                <a:effectLst/>
                <a:latin typeface="+mn-lt"/>
                <a:ea typeface="+mn-ea"/>
                <a:cs typeface="+mn-cs"/>
              </a:rPr>
              <a:t> 25.10</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注意</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在图</a:t>
            </a:r>
            <a:r>
              <a:rPr lang="en-US" altLang="zh-CN" sz="1200" kern="1200" dirty="0">
                <a:solidFill>
                  <a:schemeClr val="tx1"/>
                </a:solidFill>
                <a:effectLst/>
                <a:latin typeface="+mn-lt"/>
                <a:ea typeface="+mn-ea"/>
                <a:cs typeface="+mn-cs"/>
              </a:rPr>
              <a:t> 25.10 </a:t>
            </a:r>
            <a:r>
              <a:rPr lang="zh-CN" altLang="zh-CN" sz="1200" kern="1200" dirty="0">
                <a:solidFill>
                  <a:schemeClr val="tx1"/>
                </a:solidFill>
                <a:effectLst/>
                <a:latin typeface="+mn-lt"/>
                <a:ea typeface="+mn-ea"/>
                <a:cs typeface="+mn-cs"/>
              </a:rPr>
              <a:t>中是如何对外部</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TaxMaster</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远程服务应用建模的</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使用</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actor</a:t>
            </a:r>
            <a:r>
              <a:rPr lang="zh-CN" altLang="zh-CN" sz="1200" kern="1200" dirty="0">
                <a:solidFill>
                  <a:schemeClr val="tx1"/>
                </a:solidFill>
                <a:effectLst/>
                <a:latin typeface="+mn-lt"/>
                <a:ea typeface="+mn-ea"/>
                <a:cs typeface="+mn-cs"/>
              </a:rPr>
              <a:t>》关键字作为标识</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用以指出这对我们的</a:t>
            </a:r>
            <a:r>
              <a:rPr lang="en-US" altLang="zh-CN" sz="1200" kern="1200" dirty="0">
                <a:solidFill>
                  <a:schemeClr val="tx1"/>
                </a:solidFill>
                <a:effectLst/>
                <a:latin typeface="+mn-lt"/>
                <a:ea typeface="+mn-ea"/>
                <a:cs typeface="+mn-cs"/>
              </a:rPr>
              <a:t> NextGen </a:t>
            </a:r>
            <a:r>
              <a:rPr lang="zh-CN" altLang="zh-CN" sz="1200" kern="1200" dirty="0">
                <a:solidFill>
                  <a:schemeClr val="tx1"/>
                </a:solidFill>
                <a:effectLst/>
                <a:latin typeface="+mn-lt"/>
                <a:ea typeface="+mn-ea"/>
                <a:cs typeface="+mn-cs"/>
              </a:rPr>
              <a:t>系统来说是外部软件构件</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17</a:t>
            </a:fld>
            <a:endParaRPr lang="zh-CN" altLang="en-US"/>
          </a:p>
        </p:txBody>
      </p:sp>
    </p:spTree>
    <p:extLst>
      <p:ext uri="{BB962C8B-B14F-4D97-AF65-F5344CB8AC3E}">
        <p14:creationId xmlns:p14="http://schemas.microsoft.com/office/powerpoint/2010/main" val="362389290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“计算机科学中的大多数问题都可以通过增加一层间接性来解决”</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这一格言特别适用于面向对象设计</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如同大量现有的设计模式是纯虚构的特例一样</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许多设计模式也同样是间接性的特例</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适配器（</a:t>
            </a:r>
            <a:r>
              <a:rPr lang="en-US" altLang="zh-CN" sz="1200" kern="1200" dirty="0">
                <a:solidFill>
                  <a:schemeClr val="tx1"/>
                </a:solidFill>
                <a:effectLst/>
                <a:latin typeface="+mn-lt"/>
                <a:ea typeface="+mn-ea"/>
                <a:cs typeface="+mn-cs"/>
              </a:rPr>
              <a:t>Adapter</a:t>
            </a:r>
            <a:r>
              <a:rPr lang="zh-CN" altLang="zh-CN" sz="1200" kern="1200" dirty="0">
                <a:solidFill>
                  <a:schemeClr val="tx1"/>
                </a:solidFill>
                <a:effectLst/>
                <a:latin typeface="+mn-lt"/>
                <a:ea typeface="+mn-ea"/>
                <a:cs typeface="+mn-cs"/>
              </a:rPr>
              <a:t>）、外观（</a:t>
            </a:r>
            <a:r>
              <a:rPr lang="en-US" altLang="zh-CN" sz="1200" kern="1200" dirty="0" err="1">
                <a:solidFill>
                  <a:schemeClr val="tx1"/>
                </a:solidFill>
                <a:effectLst/>
                <a:latin typeface="+mn-lt"/>
                <a:ea typeface="+mn-ea"/>
                <a:cs typeface="+mn-cs"/>
              </a:rPr>
              <a:t>Facede</a:t>
            </a:r>
            <a:r>
              <a:rPr lang="zh-CN" altLang="zh-CN" sz="1200" kern="1200" dirty="0">
                <a:solidFill>
                  <a:schemeClr val="tx1"/>
                </a:solidFill>
                <a:effectLst/>
                <a:latin typeface="+mn-lt"/>
                <a:ea typeface="+mn-ea"/>
                <a:cs typeface="+mn-cs"/>
              </a:rPr>
              <a:t>）和观察者（</a:t>
            </a:r>
            <a:r>
              <a:rPr lang="en-US" altLang="zh-CN" sz="1200" kern="1200" dirty="0" err="1">
                <a:solidFill>
                  <a:schemeClr val="tx1"/>
                </a:solidFill>
                <a:effectLst/>
                <a:latin typeface="+mn-lt"/>
                <a:ea typeface="+mn-ea"/>
                <a:cs typeface="+mn-cs"/>
              </a:rPr>
              <a:t>Obsever</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就是这样的例子</a:t>
            </a:r>
            <a:r>
              <a:rPr lang="en-US" altLang="zh-CN" sz="1200" kern="1200" dirty="0">
                <a:solidFill>
                  <a:schemeClr val="tx1"/>
                </a:solidFill>
                <a:effectLst/>
                <a:latin typeface="+mn-lt"/>
                <a:ea typeface="+mn-ea"/>
                <a:cs typeface="+mn-cs"/>
              </a:rPr>
              <a:t>[GHJV95]</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3.</a:t>
            </a:r>
            <a:r>
              <a:rPr lang="zh-CN" altLang="zh-CN" sz="1200" kern="1200" dirty="0">
                <a:solidFill>
                  <a:schemeClr val="tx1"/>
                </a:solidFill>
                <a:effectLst/>
                <a:latin typeface="+mn-lt"/>
                <a:ea typeface="+mn-ea"/>
                <a:cs typeface="+mn-cs"/>
              </a:rPr>
              <a:t>此外，许多纯虚构是因为间接性而产生的</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间接性的动机</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通常是为了低耦合，即在其他构件或服务之间加入中介以解耦</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18</a:t>
            </a:fld>
            <a:endParaRPr lang="zh-CN" altLang="en-US"/>
          </a:p>
        </p:txBody>
      </p:sp>
    </p:spTree>
    <p:extLst>
      <p:ext uri="{BB962C8B-B14F-4D97-AF65-F5344CB8AC3E}">
        <p14:creationId xmlns:p14="http://schemas.microsoft.com/office/powerpoint/2010/main" val="38632449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a:t>
            </a:r>
            <a:r>
              <a:rPr lang="zh-CN" altLang="en-US" sz="1200" kern="1200" dirty="0">
                <a:solidFill>
                  <a:schemeClr val="tx1"/>
                </a:solidFill>
                <a:effectLst/>
                <a:latin typeface="+mn-lt"/>
                <a:ea typeface="+mn-ea"/>
                <a:cs typeface="+mn-cs"/>
              </a:rPr>
              <a:t>优点</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实现了构件之间的低耦合</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相关模式和原则</a:t>
            </a:r>
          </a:p>
          <a:p>
            <a:r>
              <a:rPr lang="en-US" altLang="zh-CN" sz="1200" kern="1200" dirty="0">
                <a:solidFill>
                  <a:schemeClr val="tx1"/>
                </a:solidFill>
                <a:effectLst/>
                <a:latin typeface="+mn-lt"/>
                <a:ea typeface="+mn-ea"/>
                <a:cs typeface="+mn-cs"/>
              </a:rPr>
              <a:t> 2.1 </a:t>
            </a:r>
            <a:r>
              <a:rPr lang="zh-CN" altLang="zh-CN" sz="1200" kern="1200" dirty="0">
                <a:solidFill>
                  <a:schemeClr val="tx1"/>
                </a:solidFill>
                <a:effectLst/>
                <a:latin typeface="+mn-lt"/>
                <a:ea typeface="+mn-ea"/>
                <a:cs typeface="+mn-cs"/>
              </a:rPr>
              <a:t>防止变异</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2.2 </a:t>
            </a:r>
            <a:r>
              <a:rPr lang="zh-CN" altLang="zh-CN" sz="1200" kern="1200" dirty="0">
                <a:solidFill>
                  <a:schemeClr val="tx1"/>
                </a:solidFill>
                <a:effectLst/>
                <a:latin typeface="+mn-lt"/>
                <a:ea typeface="+mn-ea"/>
                <a:cs typeface="+mn-cs"/>
              </a:rPr>
              <a:t>低耦合</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2.3 </a:t>
            </a:r>
            <a:r>
              <a:rPr lang="zh-CN" altLang="zh-CN" sz="1200" kern="1200" dirty="0">
                <a:solidFill>
                  <a:schemeClr val="tx1"/>
                </a:solidFill>
                <a:effectLst/>
                <a:latin typeface="+mn-lt"/>
                <a:ea typeface="+mn-ea"/>
                <a:cs typeface="+mn-cs"/>
              </a:rPr>
              <a:t>大量</a:t>
            </a:r>
            <a:r>
              <a:rPr lang="en-US" altLang="zh-CN" sz="1200" kern="1200" dirty="0" err="1">
                <a:solidFill>
                  <a:schemeClr val="tx1"/>
                </a:solidFill>
                <a:effectLst/>
                <a:latin typeface="+mn-lt"/>
                <a:ea typeface="+mn-ea"/>
                <a:cs typeface="+mn-cs"/>
              </a:rPr>
              <a:t>GoF</a:t>
            </a:r>
            <a:r>
              <a:rPr lang="zh-CN" altLang="zh-CN" sz="1200" kern="1200" dirty="0">
                <a:solidFill>
                  <a:schemeClr val="tx1"/>
                </a:solidFill>
                <a:effectLst/>
                <a:latin typeface="+mn-lt"/>
                <a:ea typeface="+mn-ea"/>
                <a:cs typeface="+mn-cs"/>
              </a:rPr>
              <a:t>模式，诸如</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适配器（</a:t>
            </a:r>
            <a:r>
              <a:rPr lang="en-US" altLang="zh-CN" sz="1200" kern="1200" dirty="0">
                <a:solidFill>
                  <a:schemeClr val="tx1"/>
                </a:solidFill>
                <a:effectLst/>
                <a:latin typeface="+mn-lt"/>
                <a:ea typeface="+mn-ea"/>
                <a:cs typeface="+mn-cs"/>
              </a:rPr>
              <a:t>Adapter</a:t>
            </a:r>
            <a:r>
              <a:rPr lang="zh-CN" altLang="zh-CN" sz="1200" kern="1200" dirty="0">
                <a:solidFill>
                  <a:schemeClr val="tx1"/>
                </a:solidFill>
                <a:effectLst/>
                <a:latin typeface="+mn-lt"/>
                <a:ea typeface="+mn-ea"/>
                <a:cs typeface="+mn-cs"/>
              </a:rPr>
              <a:t>）、桥（</a:t>
            </a:r>
            <a:r>
              <a:rPr lang="en-US" altLang="zh-CN" sz="1200" kern="1200" dirty="0">
                <a:solidFill>
                  <a:schemeClr val="tx1"/>
                </a:solidFill>
                <a:effectLst/>
                <a:latin typeface="+mn-lt"/>
                <a:ea typeface="+mn-ea"/>
                <a:cs typeface="+mn-cs"/>
              </a:rPr>
              <a:t>Bridge</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外观（</a:t>
            </a:r>
            <a:r>
              <a:rPr lang="en-US" altLang="zh-CN" sz="1200" kern="1200" dirty="0">
                <a:solidFill>
                  <a:schemeClr val="tx1"/>
                </a:solidFill>
                <a:effectLst/>
                <a:latin typeface="+mn-lt"/>
                <a:ea typeface="+mn-ea"/>
                <a:cs typeface="+mn-cs"/>
              </a:rPr>
              <a:t>Facade</a:t>
            </a:r>
            <a:r>
              <a:rPr lang="zh-CN" altLang="zh-CN" sz="1200" kern="1200" dirty="0">
                <a:solidFill>
                  <a:schemeClr val="tx1"/>
                </a:solidFill>
                <a:effectLst/>
                <a:latin typeface="+mn-lt"/>
                <a:ea typeface="+mn-ea"/>
                <a:cs typeface="+mn-cs"/>
              </a:rPr>
              <a:t>）、观察者（</a:t>
            </a:r>
            <a:r>
              <a:rPr lang="en-US" altLang="zh-CN" sz="1200" kern="1200" dirty="0" err="1">
                <a:solidFill>
                  <a:schemeClr val="tx1"/>
                </a:solidFill>
                <a:effectLst/>
                <a:latin typeface="+mn-lt"/>
                <a:ea typeface="+mn-ea"/>
                <a:cs typeface="+mn-cs"/>
              </a:rPr>
              <a:t>Obesever</a:t>
            </a:r>
            <a:r>
              <a:rPr lang="zh-CN" altLang="zh-CN" sz="1200" kern="1200" dirty="0">
                <a:solidFill>
                  <a:schemeClr val="tx1"/>
                </a:solidFill>
                <a:effectLst/>
                <a:latin typeface="+mn-lt"/>
                <a:ea typeface="+mn-ea"/>
                <a:cs typeface="+mn-cs"/>
              </a:rPr>
              <a:t>）</a:t>
            </a: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中介（</a:t>
            </a:r>
            <a:r>
              <a:rPr lang="en-US" altLang="zh-CN" sz="1200" kern="1200" dirty="0">
                <a:solidFill>
                  <a:schemeClr val="tx1"/>
                </a:solidFill>
                <a:effectLst/>
                <a:latin typeface="+mn-lt"/>
                <a:ea typeface="+mn-ea"/>
                <a:cs typeface="+mn-cs"/>
              </a:rPr>
              <a:t>Mediator</a:t>
            </a:r>
            <a:r>
              <a:rPr lang="zh-CN" altLang="zh-CN" sz="1200" kern="1200" dirty="0">
                <a:solidFill>
                  <a:schemeClr val="tx1"/>
                </a:solidFill>
                <a:effectLst/>
                <a:latin typeface="+mn-lt"/>
                <a:ea typeface="+mn-ea"/>
                <a:cs typeface="+mn-cs"/>
              </a:rPr>
              <a:t>）</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2.4</a:t>
            </a:r>
            <a:r>
              <a:rPr lang="zh-CN" altLang="zh-CN" sz="1200" kern="1200" dirty="0">
                <a:solidFill>
                  <a:schemeClr val="tx1"/>
                </a:solidFill>
                <a:effectLst/>
                <a:latin typeface="+mn-lt"/>
                <a:ea typeface="+mn-ea"/>
                <a:cs typeface="+mn-cs"/>
              </a:rPr>
              <a:t>大量间接性中介都是纯虚构</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19</a:t>
            </a:fld>
            <a:endParaRPr lang="zh-CN" altLang="en-US"/>
          </a:p>
        </p:txBody>
      </p:sp>
    </p:spTree>
    <p:extLst>
      <p:ext uri="{BB962C8B-B14F-4D97-AF65-F5344CB8AC3E}">
        <p14:creationId xmlns:p14="http://schemas.microsoft.com/office/powerpoint/2010/main" val="86271727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最后介绍</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防止变异</a:t>
            </a:r>
            <a:endParaRPr lang="en-US" altLang="zh-CN" dirty="0"/>
          </a:p>
          <a:p>
            <a:endParaRPr lang="en-US" altLang="zh-CN" dirty="0"/>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dirty="0"/>
              <a:t>// </a:t>
            </a:r>
            <a:r>
              <a:rPr lang="zh-CN" altLang="en-US" dirty="0"/>
              <a:t>后面仅供参考，不放入脚本</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下面介绍</a:t>
            </a:r>
            <a:endParaRPr lang="en-US" altLang="zh-CN" dirty="0"/>
          </a:p>
          <a:p>
            <a:r>
              <a:rPr lang="zh-CN" altLang="zh-CN" sz="1200" kern="1200" dirty="0">
                <a:solidFill>
                  <a:schemeClr val="tx1"/>
                </a:solidFill>
                <a:effectLst/>
                <a:latin typeface="+mn-lt"/>
                <a:ea typeface="+mn-ea"/>
                <a:cs typeface="+mn-cs"/>
              </a:rPr>
              <a:t>纯虚构</a:t>
            </a:r>
            <a:endParaRPr lang="en-US" altLang="zh-CN" sz="1200" kern="1200" dirty="0">
              <a:solidFill>
                <a:schemeClr val="tx1"/>
              </a:solidFill>
              <a:effectLst/>
              <a:latin typeface="+mn-lt"/>
              <a:ea typeface="+mn-ea"/>
              <a:cs typeface="+mn-cs"/>
            </a:endParaRPr>
          </a:p>
          <a:p>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en-US" dirty="0"/>
              <a:t>下面介绍</a:t>
            </a:r>
            <a:endParaRPr lang="en-US" altLang="zh-CN" dirty="0"/>
          </a:p>
          <a:p>
            <a:r>
              <a:rPr lang="zh-CN" altLang="zh-CN" sz="1200" kern="1200" dirty="0">
                <a:solidFill>
                  <a:schemeClr val="tx1"/>
                </a:solidFill>
                <a:effectLst/>
                <a:latin typeface="+mn-lt"/>
                <a:ea typeface="+mn-ea"/>
                <a:cs typeface="+mn-cs"/>
              </a:rPr>
              <a:t>间接性</a:t>
            </a:r>
            <a:endParaRPr lang="en-US" altLang="zh-CN" sz="1200" kern="1200" dirty="0">
              <a:solidFill>
                <a:schemeClr val="tx1"/>
              </a:solidFill>
              <a:effectLst/>
              <a:latin typeface="+mn-lt"/>
              <a:ea typeface="+mn-ea"/>
              <a:cs typeface="+mn-cs"/>
            </a:endParaRPr>
          </a:p>
          <a:p>
            <a:endParaRPr lang="en-US" altLang="zh-CN" dirty="0"/>
          </a:p>
          <a:p>
            <a:r>
              <a:rPr lang="zh-CN" altLang="en-US" dirty="0"/>
              <a:t>最后介绍</a:t>
            </a:r>
            <a:endParaRPr lang="en-US" altLang="zh-CN" dirty="0"/>
          </a:p>
          <a:p>
            <a:pPr marL="0" marR="0" indent="0" algn="l" defTabSz="914400" rtl="0" eaLnBrk="0" fontAlgn="base" latinLnBrk="0" hangingPunct="0">
              <a:lnSpc>
                <a:spcPct val="100000"/>
              </a:lnSpc>
              <a:spcBef>
                <a:spcPct val="30000"/>
              </a:spcBef>
              <a:spcAft>
                <a:spcPct val="0"/>
              </a:spcAft>
              <a:buClrTx/>
              <a:buSzTx/>
              <a:buFontTx/>
              <a:buNone/>
              <a:tabLst/>
              <a:defRPr/>
            </a:pPr>
            <a:r>
              <a:rPr lang="zh-CN" altLang="zh-CN" sz="1200" kern="1200" dirty="0">
                <a:solidFill>
                  <a:schemeClr val="tx1"/>
                </a:solidFill>
                <a:effectLst/>
                <a:latin typeface="+mn-lt"/>
                <a:ea typeface="+mn-ea"/>
                <a:cs typeface="+mn-cs"/>
              </a:rPr>
              <a:t>防止变异</a:t>
            </a:r>
            <a:endParaRPr lang="en-US" altLang="zh-CN" dirty="0"/>
          </a:p>
          <a:p>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20</a:t>
            </a:fld>
            <a:endParaRPr lang="zh-CN" altLang="en-US"/>
          </a:p>
        </p:txBody>
      </p:sp>
    </p:spTree>
    <p:extLst>
      <p:ext uri="{BB962C8B-B14F-4D97-AF65-F5344CB8AC3E}">
        <p14:creationId xmlns:p14="http://schemas.microsoft.com/office/powerpoint/2010/main" val="9575586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问题</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如何设计对象、子系统和系统</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使其内部的变化或不稳定性</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不会对其他元素产生不良影响？</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解决方案</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2.1.</a:t>
            </a:r>
            <a:r>
              <a:rPr lang="zh-CN" altLang="zh-CN" sz="1200" kern="1200" dirty="0">
                <a:solidFill>
                  <a:schemeClr val="tx1"/>
                </a:solidFill>
                <a:effectLst/>
                <a:latin typeface="+mn-lt"/>
                <a:ea typeface="+mn-ea"/>
                <a:cs typeface="+mn-cs"/>
              </a:rPr>
              <a:t>识别预计变化或不稳定之处</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2.2.</a:t>
            </a:r>
            <a:r>
              <a:rPr lang="zh-CN" altLang="zh-CN" sz="1200" kern="1200" dirty="0">
                <a:solidFill>
                  <a:schemeClr val="tx1"/>
                </a:solidFill>
                <a:effectLst/>
                <a:latin typeface="+mn-lt"/>
                <a:ea typeface="+mn-ea"/>
                <a:cs typeface="+mn-cs"/>
              </a:rPr>
              <a:t>分配职责用以在这些变化之外创建稳定接口</a:t>
            </a:r>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21</a:t>
            </a:fld>
            <a:endParaRPr lang="zh-CN" altLang="en-US"/>
          </a:p>
        </p:txBody>
      </p:sp>
    </p:spTree>
    <p:extLst>
      <p:ext uri="{BB962C8B-B14F-4D97-AF65-F5344CB8AC3E}">
        <p14:creationId xmlns:p14="http://schemas.microsoft.com/office/powerpoint/2010/main" val="253574272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这是非常重要和基本的软件设计原则！</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本书中几乎所有的软件或架构设计技巧</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都是防止变异的特例</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例如</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数据封装</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多态</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数据驱动设计</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接口</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虚拟机</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配置文件</a:t>
            </a:r>
            <a:r>
              <a:rPr lang="zh-CN" altLang="en-US" sz="1200" kern="1200" dirty="0">
                <a:solidFill>
                  <a:schemeClr val="tx1"/>
                </a:solidFill>
                <a:effectLst/>
                <a:latin typeface="+mn-lt"/>
                <a:ea typeface="+mn-ea"/>
                <a:cs typeface="+mn-cs"/>
              </a:rPr>
              <a:t>和</a:t>
            </a:r>
            <a:r>
              <a:rPr lang="zh-CN" altLang="zh-CN" sz="1200" kern="1200" dirty="0">
                <a:solidFill>
                  <a:schemeClr val="tx1"/>
                </a:solidFill>
                <a:effectLst/>
                <a:latin typeface="+mn-lt"/>
                <a:ea typeface="+mn-ea"/>
                <a:cs typeface="+mn-cs"/>
              </a:rPr>
              <a:t>操作系统等</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22</a:t>
            </a:fld>
            <a:endParaRPr lang="zh-CN" altLang="en-US"/>
          </a:p>
        </p:txBody>
      </p:sp>
    </p:spTree>
    <p:extLst>
      <p:ext uri="{BB962C8B-B14F-4D97-AF65-F5344CB8AC3E}">
        <p14:creationId xmlns:p14="http://schemas.microsoft.com/office/powerpoint/2010/main" val="14846871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kern="1200" dirty="0">
                <a:solidFill>
                  <a:schemeClr val="tx1"/>
                </a:solidFill>
                <a:effectLst/>
                <a:latin typeface="+mn-lt"/>
                <a:ea typeface="+mn-ea"/>
                <a:cs typeface="+mn-cs"/>
              </a:rPr>
              <a:t>源于</a:t>
            </a:r>
            <a:r>
              <a:rPr lang="zh-CN" altLang="zh-CN" sz="1200" kern="1200" dirty="0">
                <a:solidFill>
                  <a:schemeClr val="tx1"/>
                </a:solidFill>
                <a:effectLst/>
                <a:latin typeface="+mn-lt"/>
                <a:ea typeface="+mn-ea"/>
                <a:cs typeface="+mn-cs"/>
              </a:rPr>
              <a:t>防止变异的核心机制</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1 PV</a:t>
            </a:r>
            <a:r>
              <a:rPr lang="zh-CN" altLang="zh-CN" sz="1200" kern="1200" dirty="0">
                <a:solidFill>
                  <a:schemeClr val="tx1"/>
                </a:solidFill>
                <a:effectLst/>
                <a:latin typeface="+mn-lt"/>
                <a:ea typeface="+mn-ea"/>
                <a:cs typeface="+mn-cs"/>
              </a:rPr>
              <a:t>是一个根本原则，其促成了大部分编程和设计的机制和模式</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用来提供灵活性</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和防止变异</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包括</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数据</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行为</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硬件</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软件构件</a:t>
            </a:r>
            <a:r>
              <a:rPr lang="zh-CN" altLang="en-US" sz="1200" kern="1200" dirty="0">
                <a:solidFill>
                  <a:schemeClr val="tx1"/>
                </a:solidFill>
                <a:effectLst/>
                <a:latin typeface="+mn-lt"/>
                <a:ea typeface="+mn-ea"/>
                <a:cs typeface="+mn-cs"/>
              </a:rPr>
              <a:t>和</a:t>
            </a:r>
            <a:r>
              <a:rPr lang="zh-CN" altLang="zh-CN" sz="1200" kern="1200" dirty="0">
                <a:solidFill>
                  <a:schemeClr val="tx1"/>
                </a:solidFill>
                <a:effectLst/>
                <a:latin typeface="+mn-lt"/>
                <a:ea typeface="+mn-ea"/>
                <a:cs typeface="+mn-cs"/>
              </a:rPr>
              <a:t>操作系统等</a:t>
            </a:r>
            <a:r>
              <a:rPr lang="zh-CN" altLang="en-US" sz="1200" kern="1200" dirty="0">
                <a:solidFill>
                  <a:schemeClr val="tx1"/>
                </a:solidFill>
                <a:effectLst/>
                <a:latin typeface="+mn-lt"/>
                <a:ea typeface="+mn-ea"/>
                <a:cs typeface="+mn-cs"/>
              </a:rPr>
              <a:t>方面</a:t>
            </a:r>
            <a:r>
              <a:rPr lang="zh-CN" altLang="zh-CN" sz="1200" kern="1200" dirty="0">
                <a:solidFill>
                  <a:schemeClr val="tx1"/>
                </a:solidFill>
                <a:effectLst/>
                <a:latin typeface="+mn-lt"/>
                <a:ea typeface="+mn-ea"/>
                <a:cs typeface="+mn-cs"/>
              </a:rPr>
              <a:t>的</a:t>
            </a:r>
            <a:r>
              <a:rPr lang="zh-CN" altLang="en-US" sz="1200" kern="1200" dirty="0">
                <a:solidFill>
                  <a:schemeClr val="tx1"/>
                </a:solidFill>
                <a:effectLst/>
                <a:latin typeface="+mn-lt"/>
                <a:ea typeface="+mn-ea"/>
                <a:cs typeface="+mn-cs"/>
              </a:rPr>
              <a:t>变异</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 </a:t>
            </a:r>
            <a:r>
              <a:rPr lang="zh-CN" altLang="zh-CN" sz="1200" kern="1200" dirty="0">
                <a:solidFill>
                  <a:schemeClr val="tx1"/>
                </a:solidFill>
                <a:effectLst/>
                <a:latin typeface="+mn-lt"/>
                <a:ea typeface="+mn-ea"/>
                <a:cs typeface="+mn-cs"/>
              </a:rPr>
              <a:t>数据封装</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接口</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多态</a:t>
            </a:r>
            <a:r>
              <a:rPr lang="zh-CN" altLang="en-US"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间接性和标准都是源于</a:t>
            </a:r>
            <a:r>
              <a:rPr lang="en-US" altLang="zh-CN" sz="1200" kern="1200" dirty="0">
                <a:solidFill>
                  <a:schemeClr val="tx1"/>
                </a:solidFill>
                <a:effectLst/>
                <a:latin typeface="+mn-lt"/>
                <a:ea typeface="+mn-ea"/>
                <a:cs typeface="+mn-cs"/>
              </a:rPr>
              <a:t>PV</a:t>
            </a:r>
            <a:r>
              <a:rPr lang="zh-CN" altLang="zh-CN" sz="1200" kern="1200" dirty="0">
                <a:solidFill>
                  <a:schemeClr val="tx1"/>
                </a:solidFill>
                <a:effectLst/>
                <a:latin typeface="+mn-lt"/>
                <a:ea typeface="+mn-ea"/>
                <a:cs typeface="+mn-cs"/>
              </a:rPr>
              <a:t>的</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注意：诸如虚拟机和操作系统等构件是实现</a:t>
            </a:r>
            <a:r>
              <a:rPr lang="en-US" altLang="zh-CN" sz="1200" kern="1200" dirty="0">
                <a:solidFill>
                  <a:schemeClr val="tx1"/>
                </a:solidFill>
                <a:effectLst/>
                <a:latin typeface="+mn-lt"/>
                <a:ea typeface="+mn-ea"/>
                <a:cs typeface="+mn-cs"/>
              </a:rPr>
              <a:t>PV</a:t>
            </a:r>
            <a:r>
              <a:rPr lang="zh-CN" altLang="zh-CN" sz="1200" kern="1200" dirty="0">
                <a:solidFill>
                  <a:schemeClr val="tx1"/>
                </a:solidFill>
                <a:effectLst/>
                <a:latin typeface="+mn-lt"/>
                <a:ea typeface="+mn-ea"/>
                <a:cs typeface="+mn-cs"/>
              </a:rPr>
              <a:t>的间接性的复杂例子</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23</a:t>
            </a:fld>
            <a:endParaRPr lang="zh-CN" altLang="en-US"/>
          </a:p>
        </p:txBody>
      </p:sp>
    </p:spTree>
    <p:extLst>
      <p:ext uri="{BB962C8B-B14F-4D97-AF65-F5344CB8AC3E}">
        <p14:creationId xmlns:p14="http://schemas.microsoft.com/office/powerpoint/2010/main" val="31401650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例如，前述的外部税金计算器问题</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及其使用多态的解决方案</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能够描述防止变异（见图</a:t>
            </a:r>
            <a:r>
              <a:rPr lang="en-US" altLang="zh-CN" sz="1200" kern="1200" dirty="0">
                <a:solidFill>
                  <a:schemeClr val="tx1"/>
                </a:solidFill>
                <a:effectLst/>
                <a:latin typeface="+mn-lt"/>
                <a:ea typeface="+mn-ea"/>
                <a:cs typeface="+mn-cs"/>
              </a:rPr>
              <a:t>25.1</a:t>
            </a:r>
            <a:r>
              <a:rPr lang="zh-CN"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其中的不稳定或变化之处是</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外部税金计算器所具有的不同接口或</a:t>
            </a:r>
            <a:r>
              <a:rPr lang="en-US" altLang="zh-CN" sz="1200" kern="1200" dirty="0">
                <a:solidFill>
                  <a:schemeClr val="tx1"/>
                </a:solidFill>
                <a:effectLst/>
                <a:latin typeface="+mn-lt"/>
                <a:ea typeface="+mn-ea"/>
                <a:cs typeface="+mn-cs"/>
              </a:rPr>
              <a:t> API</a:t>
            </a:r>
          </a:p>
          <a:p>
            <a:r>
              <a:rPr lang="en-US" altLang="zh-CN" sz="1200" kern="1200" dirty="0">
                <a:solidFill>
                  <a:schemeClr val="tx1"/>
                </a:solidFill>
                <a:effectLst/>
                <a:latin typeface="+mn-lt"/>
                <a:ea typeface="+mn-ea"/>
                <a:cs typeface="+mn-cs"/>
              </a:rPr>
              <a:t>POS </a:t>
            </a:r>
            <a:r>
              <a:rPr lang="zh-CN" altLang="zh-CN" sz="1200" kern="1200" dirty="0">
                <a:solidFill>
                  <a:schemeClr val="tx1"/>
                </a:solidFill>
                <a:effectLst/>
                <a:latin typeface="+mn-lt"/>
                <a:ea typeface="+mn-ea"/>
                <a:cs typeface="+mn-cs"/>
              </a:rPr>
              <a:t>系统需要能与大量现有税金计算器系统进行集成</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并且还能与现在还不存在</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但将来可能出现的第三方计算器进行集成</a:t>
            </a:r>
          </a:p>
          <a:p>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通过增加一层间接性，即接口</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并且使用具有不同</a:t>
            </a:r>
            <a:r>
              <a:rPr lang="en-US" altLang="zh-CN" sz="1200" kern="1200" dirty="0">
                <a:solidFill>
                  <a:schemeClr val="tx1"/>
                </a:solidFill>
                <a:effectLst/>
                <a:latin typeface="+mn-lt"/>
                <a:ea typeface="+mn-ea"/>
                <a:cs typeface="+mn-cs"/>
              </a:rPr>
              <a:t> </a:t>
            </a:r>
            <a:r>
              <a:rPr lang="en-US" altLang="zh-CN" sz="1200" kern="1200" dirty="0" err="1">
                <a:solidFill>
                  <a:schemeClr val="tx1"/>
                </a:solidFill>
                <a:effectLst/>
                <a:latin typeface="+mn-lt"/>
                <a:ea typeface="+mn-ea"/>
                <a:cs typeface="+mn-cs"/>
              </a:rPr>
              <a:t>ITaxCalculatorAdapter</a:t>
            </a: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实现</a:t>
            </a:r>
            <a:r>
              <a:rPr lang="zh-CN" altLang="en-US" sz="1200" kern="1200" dirty="0">
                <a:solidFill>
                  <a:schemeClr val="tx1"/>
                </a:solidFill>
                <a:effectLst/>
                <a:latin typeface="+mn-lt"/>
                <a:ea typeface="+mn-ea"/>
                <a:cs typeface="+mn-cs"/>
              </a:rPr>
              <a:t>的</a:t>
            </a:r>
            <a:r>
              <a:rPr lang="zh-CN" altLang="zh-CN" sz="1200" kern="1200" dirty="0">
                <a:solidFill>
                  <a:schemeClr val="tx1"/>
                </a:solidFill>
                <a:effectLst/>
                <a:latin typeface="+mn-lt"/>
                <a:ea typeface="+mn-ea"/>
                <a:cs typeface="+mn-cs"/>
              </a:rPr>
              <a:t>多态</a:t>
            </a:r>
            <a:r>
              <a:rPr lang="zh-CN" altLang="en-US" sz="1200" kern="1200" dirty="0">
                <a:solidFill>
                  <a:schemeClr val="tx1"/>
                </a:solidFill>
                <a:effectLst/>
                <a:latin typeface="+mn-lt"/>
                <a:ea typeface="+mn-ea"/>
                <a:cs typeface="+mn-cs"/>
              </a:rPr>
              <a:t>性</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这样便实现了对内部系统的保护</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而避免了外部</a:t>
            </a:r>
            <a:r>
              <a:rPr lang="en-US" altLang="zh-CN" sz="1200" kern="1200" dirty="0">
                <a:solidFill>
                  <a:schemeClr val="tx1"/>
                </a:solidFill>
                <a:effectLst/>
                <a:latin typeface="+mn-lt"/>
                <a:ea typeface="+mn-ea"/>
                <a:cs typeface="+mn-cs"/>
              </a:rPr>
              <a:t> API </a:t>
            </a:r>
            <a:r>
              <a:rPr lang="zh-CN" altLang="zh-CN" sz="1200" kern="1200" dirty="0">
                <a:solidFill>
                  <a:schemeClr val="tx1"/>
                </a:solidFill>
                <a:effectLst/>
                <a:latin typeface="+mn-lt"/>
                <a:ea typeface="+mn-ea"/>
                <a:cs typeface="+mn-cs"/>
              </a:rPr>
              <a:t>的变化所产生的影响</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内部对象只与稳定的接口协作</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各种适配器实现隐藏了外部系统的变化</a:t>
            </a:r>
          </a:p>
          <a:p>
            <a:pPr marL="0" marR="0" indent="0" algn="l" defTabSz="914400" rtl="0" eaLnBrk="0" fontAlgn="base" latinLnBrk="0" hangingPunct="0">
              <a:lnSpc>
                <a:spcPct val="100000"/>
              </a:lnSpc>
              <a:spcBef>
                <a:spcPct val="30000"/>
              </a:spcBef>
              <a:spcAft>
                <a:spcPct val="0"/>
              </a:spcAft>
              <a:buClrTx/>
              <a:buSzTx/>
              <a:buFontTx/>
              <a:buNone/>
              <a:tabLst/>
              <a:defRPr/>
            </a:pPr>
            <a:endParaRPr lang="zh-CN"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24</a:t>
            </a:fld>
            <a:endParaRPr lang="zh-CN" altLang="en-US"/>
          </a:p>
        </p:txBody>
      </p:sp>
    </p:spTree>
    <p:extLst>
      <p:ext uri="{BB962C8B-B14F-4D97-AF65-F5344CB8AC3E}">
        <p14:creationId xmlns:p14="http://schemas.microsoft.com/office/powerpoint/2010/main" val="169879625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sz="1200" kern="1200" dirty="0">
                <a:solidFill>
                  <a:schemeClr val="tx1"/>
                </a:solidFill>
                <a:effectLst/>
                <a:latin typeface="+mn-lt"/>
                <a:ea typeface="+mn-ea"/>
                <a:cs typeface="+mn-cs"/>
              </a:rPr>
              <a:t>防止变异</a:t>
            </a:r>
            <a:r>
              <a:rPr lang="zh-CN" altLang="en-US" sz="1200" kern="1200" dirty="0">
                <a:solidFill>
                  <a:schemeClr val="tx1"/>
                </a:solidFill>
                <a:effectLst/>
                <a:latin typeface="+mn-lt"/>
                <a:ea typeface="+mn-ea"/>
                <a:cs typeface="+mn-cs"/>
              </a:rPr>
              <a:t>：例子 </a:t>
            </a:r>
            <a:r>
              <a:rPr lang="en-US" altLang="zh-CN" sz="1200" kern="1200" dirty="0">
                <a:solidFill>
                  <a:schemeClr val="tx1"/>
                </a:solidFill>
                <a:effectLst/>
                <a:latin typeface="+mn-lt"/>
                <a:ea typeface="+mn-ea"/>
                <a:cs typeface="+mn-cs"/>
              </a:rPr>
              <a:t>2</a:t>
            </a: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这是一个例子</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在一定程度上 违反了“不要和陌生人讲话”的原则</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其中的注释解释了其中的违例</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在该代码中，从熟人对象 </a:t>
            </a:r>
            <a:r>
              <a:rPr lang="en-US" altLang="zh-CN" sz="1200" kern="1200" dirty="0">
                <a:solidFill>
                  <a:schemeClr val="tx1"/>
                </a:solidFill>
                <a:effectLst/>
                <a:latin typeface="+mn-lt"/>
                <a:ea typeface="+mn-ea"/>
                <a:cs typeface="+mn-cs"/>
              </a:rPr>
              <a:t>Sale </a:t>
            </a:r>
            <a:r>
              <a:rPr lang="zh-CN" altLang="en-US" sz="1200" kern="1200" dirty="0">
                <a:solidFill>
                  <a:schemeClr val="tx1"/>
                </a:solidFill>
                <a:effectLst/>
                <a:latin typeface="+mn-lt"/>
                <a:ea typeface="+mn-ea"/>
                <a:cs typeface="+mn-cs"/>
              </a:rPr>
              <a:t>到陌生人 </a:t>
            </a:r>
            <a:r>
              <a:rPr lang="en-US" altLang="zh-CN" sz="1200" kern="1200" dirty="0">
                <a:solidFill>
                  <a:schemeClr val="tx1"/>
                </a:solidFill>
                <a:effectLst/>
                <a:latin typeface="+mn-lt"/>
                <a:ea typeface="+mn-ea"/>
                <a:cs typeface="+mn-cs"/>
              </a:rPr>
              <a:t>Payment</a:t>
            </a:r>
            <a:r>
              <a:rPr lang="zh-CN" altLang="en-US" sz="1200" kern="1200" dirty="0">
                <a:solidFill>
                  <a:schemeClr val="tx1"/>
                </a:solidFill>
                <a:effectLst/>
                <a:latin typeface="+mn-lt"/>
                <a:ea typeface="+mn-ea"/>
                <a:cs typeface="+mn-cs"/>
              </a:rPr>
              <a:t> 对象建立了连接</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然后又向后者发送了消息</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这种设计十分脆弱</a:t>
            </a:r>
            <a:endParaRPr lang="en-US"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因为他依赖于实际</a:t>
            </a:r>
            <a:r>
              <a:rPr lang="zh-CN" altLang="en-US" sz="1200" kern="1200" baseline="0" dirty="0">
                <a:solidFill>
                  <a:schemeClr val="tx1"/>
                </a:solidFill>
                <a:effectLst/>
                <a:latin typeface="+mn-lt"/>
                <a:ea typeface="+mn-ea"/>
                <a:cs typeface="+mn-cs"/>
              </a:rPr>
              <a:t> </a:t>
            </a:r>
            <a:r>
              <a:rPr lang="en-US" altLang="zh-CN" sz="1200" kern="1200" dirty="0">
                <a:solidFill>
                  <a:schemeClr val="tx1"/>
                </a:solidFill>
                <a:effectLst/>
                <a:latin typeface="+mn-lt"/>
                <a:ea typeface="+mn-ea"/>
                <a:cs typeface="+mn-cs"/>
              </a:rPr>
              <a:t>Sale </a:t>
            </a:r>
            <a:r>
              <a:rPr lang="zh-CN" altLang="en-US" sz="1200" kern="1200" dirty="0">
                <a:solidFill>
                  <a:schemeClr val="tx1"/>
                </a:solidFill>
                <a:effectLst/>
                <a:latin typeface="+mn-lt"/>
                <a:ea typeface="+mn-ea"/>
                <a:cs typeface="+mn-cs"/>
              </a:rPr>
              <a:t>对象与 </a:t>
            </a:r>
            <a:r>
              <a:rPr lang="en-US" altLang="zh-CN" sz="1200" kern="1200" dirty="0">
                <a:solidFill>
                  <a:schemeClr val="tx1"/>
                </a:solidFill>
                <a:effectLst/>
                <a:latin typeface="+mn-lt"/>
                <a:ea typeface="+mn-ea"/>
                <a:cs typeface="+mn-cs"/>
              </a:rPr>
              <a:t>Payment</a:t>
            </a:r>
            <a:r>
              <a:rPr lang="zh-CN" altLang="en-US" sz="1200" kern="1200" dirty="0">
                <a:solidFill>
                  <a:schemeClr val="tx1"/>
                </a:solidFill>
                <a:effectLst/>
                <a:latin typeface="+mn-lt"/>
                <a:ea typeface="+mn-ea"/>
                <a:cs typeface="+mn-cs"/>
              </a:rPr>
              <a:t> 对象之间的连接</a:t>
            </a:r>
            <a:endParaRPr lang="en-US"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如情况 </a:t>
            </a:r>
            <a:r>
              <a:rPr lang="en-US" altLang="zh-CN" sz="1200" kern="1200" dirty="0">
                <a:solidFill>
                  <a:schemeClr val="tx1"/>
                </a:solidFill>
                <a:effectLst/>
                <a:latin typeface="+mn-lt"/>
                <a:ea typeface="+mn-ea"/>
                <a:cs typeface="+mn-cs"/>
              </a:rPr>
              <a:t>1</a:t>
            </a:r>
            <a:r>
              <a:rPr lang="en-US" altLang="zh-CN" sz="1200" kern="1200" baseline="0" dirty="0">
                <a:solidFill>
                  <a:schemeClr val="tx1"/>
                </a:solidFill>
                <a:effectLst/>
                <a:latin typeface="+mn-lt"/>
                <a:ea typeface="+mn-ea"/>
                <a:cs typeface="+mn-cs"/>
              </a:rPr>
              <a:t> </a:t>
            </a:r>
            <a:r>
              <a:rPr lang="zh-CN" altLang="en-US" sz="1200" kern="1200" baseline="0" dirty="0">
                <a:solidFill>
                  <a:schemeClr val="tx1"/>
                </a:solidFill>
                <a:effectLst/>
                <a:latin typeface="+mn-lt"/>
                <a:ea typeface="+mn-ea"/>
                <a:cs typeface="+mn-cs"/>
              </a:rPr>
              <a:t>和情况 </a:t>
            </a:r>
            <a:r>
              <a:rPr lang="en-US" altLang="zh-CN" sz="1200" kern="1200" baseline="0" dirty="0">
                <a:solidFill>
                  <a:schemeClr val="tx1"/>
                </a:solidFill>
                <a:effectLst/>
                <a:latin typeface="+mn-lt"/>
                <a:ea typeface="+mn-ea"/>
                <a:cs typeface="+mn-cs"/>
              </a:rPr>
              <a:t>2 </a:t>
            </a:r>
            <a:r>
              <a:rPr lang="zh-CN" altLang="en-US" sz="1200" kern="1200" baseline="0" dirty="0">
                <a:solidFill>
                  <a:schemeClr val="tx1"/>
                </a:solidFill>
                <a:effectLst/>
                <a:latin typeface="+mn-lt"/>
                <a:ea typeface="+mn-ea"/>
                <a:cs typeface="+mn-cs"/>
              </a:rPr>
              <a:t>所示</a:t>
            </a:r>
            <a:endParaRPr lang="en-US"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严格遵循“不要和陌生人讲话”的原则</a:t>
            </a:r>
            <a:endParaRPr lang="en-US"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需要对“熟人”对象增加新的公共操作</a:t>
            </a:r>
            <a:endParaRPr lang="en-US"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这些操作提供了最终所需的消息</a:t>
            </a:r>
            <a:endParaRPr lang="en-US"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kern="1200" dirty="0">
                <a:solidFill>
                  <a:schemeClr val="tx1"/>
                </a:solidFill>
                <a:effectLst/>
                <a:latin typeface="+mn-lt"/>
                <a:ea typeface="+mn-ea"/>
                <a:cs typeface="+mn-cs"/>
              </a:rPr>
              <a:t>并且隐藏了信息获取的细节</a:t>
            </a:r>
            <a:endParaRPr lang="en-US" altLang="zh-CN" sz="1200" kern="1200" dirty="0">
              <a:solidFill>
                <a:schemeClr val="tx1"/>
              </a:solidFill>
              <a:effectLst/>
              <a:latin typeface="+mn-lt"/>
              <a:ea typeface="+mn-ea"/>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25</a:t>
            </a:fld>
            <a:endParaRPr lang="zh-CN" altLang="en-US"/>
          </a:p>
        </p:txBody>
      </p:sp>
    </p:spTree>
    <p:extLst>
      <p:ext uri="{BB962C8B-B14F-4D97-AF65-F5344CB8AC3E}">
        <p14:creationId xmlns:p14="http://schemas.microsoft.com/office/powerpoint/2010/main" val="32208599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此类的设计可以被广泛地分为两组</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 1.1</a:t>
            </a:r>
            <a:r>
              <a:rPr lang="zh-CN" altLang="zh-CN" sz="1200" kern="1200" dirty="0">
                <a:solidFill>
                  <a:schemeClr val="tx1"/>
                </a:solidFill>
                <a:effectLst/>
                <a:latin typeface="+mn-lt"/>
                <a:ea typeface="+mn-ea"/>
                <a:cs typeface="+mn-cs"/>
              </a:rPr>
              <a:t>通过</a:t>
            </a:r>
            <a:r>
              <a:rPr lang="zh-CN" altLang="zh-CN" sz="1200" b="1" kern="1200" dirty="0">
                <a:solidFill>
                  <a:schemeClr val="tx1"/>
                </a:solidFill>
                <a:effectLst/>
                <a:latin typeface="+mn-lt"/>
                <a:ea typeface="+mn-ea"/>
                <a:cs typeface="+mn-cs"/>
              </a:rPr>
              <a:t>表示解析</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representational decomposition</a:t>
            </a:r>
            <a:r>
              <a:rPr lang="zh-CN" altLang="zh-CN" sz="1200" kern="1200" dirty="0">
                <a:solidFill>
                  <a:schemeClr val="tx1"/>
                </a:solidFill>
                <a:effectLst/>
                <a:latin typeface="+mn-lt"/>
                <a:ea typeface="+mn-ea"/>
                <a:cs typeface="+mn-cs"/>
              </a:rPr>
              <a:t>）所产生的选择</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 1.2</a:t>
            </a:r>
            <a:r>
              <a:rPr lang="zh-CN" altLang="zh-CN" sz="1200" kern="1200" dirty="0">
                <a:solidFill>
                  <a:schemeClr val="tx1"/>
                </a:solidFill>
                <a:effectLst/>
                <a:latin typeface="+mn-lt"/>
                <a:ea typeface="+mn-ea"/>
                <a:cs typeface="+mn-cs"/>
              </a:rPr>
              <a:t>通过</a:t>
            </a:r>
            <a:r>
              <a:rPr lang="zh-CN" altLang="zh-CN" sz="1200" b="1" kern="1200" dirty="0">
                <a:solidFill>
                  <a:schemeClr val="tx1"/>
                </a:solidFill>
                <a:effectLst/>
                <a:latin typeface="+mn-lt"/>
                <a:ea typeface="+mn-ea"/>
                <a:cs typeface="+mn-cs"/>
              </a:rPr>
              <a:t>行为解析</a:t>
            </a:r>
            <a:r>
              <a:rPr lang="zh-CN" altLang="zh-CN" sz="1200" kern="1200" dirty="0">
                <a:solidFill>
                  <a:schemeClr val="tx1"/>
                </a:solidFill>
                <a:effectLst/>
                <a:latin typeface="+mn-lt"/>
                <a:ea typeface="+mn-ea"/>
                <a:cs typeface="+mn-cs"/>
              </a:rPr>
              <a:t>（</a:t>
            </a:r>
            <a:r>
              <a:rPr lang="en-US" altLang="zh-CN" sz="1200" kern="1200" dirty="0">
                <a:solidFill>
                  <a:schemeClr val="tx1"/>
                </a:solidFill>
                <a:effectLst/>
                <a:latin typeface="+mn-lt"/>
                <a:ea typeface="+mn-ea"/>
                <a:cs typeface="+mn-cs"/>
              </a:rPr>
              <a:t>behavioral decomposition</a:t>
            </a:r>
            <a:r>
              <a:rPr lang="zh-CN" altLang="zh-CN" sz="1200" kern="1200" dirty="0">
                <a:solidFill>
                  <a:schemeClr val="tx1"/>
                </a:solidFill>
                <a:effectLst/>
                <a:latin typeface="+mn-lt"/>
                <a:ea typeface="+mn-ea"/>
                <a:cs typeface="+mn-cs"/>
              </a:rPr>
              <a:t>）所产生的选择</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2.</a:t>
            </a:r>
            <a:r>
              <a:rPr lang="zh-CN" altLang="zh-CN" sz="1200" kern="1200" dirty="0">
                <a:solidFill>
                  <a:schemeClr val="tx1"/>
                </a:solidFill>
                <a:effectLst/>
                <a:latin typeface="+mn-lt"/>
                <a:ea typeface="+mn-ea"/>
                <a:cs typeface="+mn-cs"/>
              </a:rPr>
              <a:t>纯虚构通常基于相关功能性进行划分</a:t>
            </a:r>
            <a:endParaRPr lang="en-US" altLang="zh-CN" sz="1200" kern="1200" dirty="0">
              <a:solidFill>
                <a:schemeClr val="tx1"/>
              </a:solidFill>
              <a:effectLst/>
              <a:latin typeface="+mn-lt"/>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altLang="zh-CN" sz="1200" kern="1200" dirty="0">
                <a:solidFill>
                  <a:schemeClr val="tx1"/>
                </a:solidFill>
                <a:effectLst/>
                <a:latin typeface="+mn-lt"/>
                <a:ea typeface="+mn-ea"/>
                <a:cs typeface="+mn-cs"/>
              </a:rPr>
              <a:t>  </a:t>
            </a:r>
            <a:r>
              <a:rPr lang="zh-CN" altLang="zh-CN" sz="1200" kern="1200" dirty="0">
                <a:solidFill>
                  <a:schemeClr val="tx1"/>
                </a:solidFill>
                <a:effectLst/>
                <a:latin typeface="+mn-lt"/>
                <a:ea typeface="+mn-ea"/>
                <a:cs typeface="+mn-cs"/>
              </a:rPr>
              <a:t>因此这是一种以功能为中心的或行为的对象</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26</a:t>
            </a:fld>
            <a:endParaRPr lang="zh-CN" altLang="en-US"/>
          </a:p>
        </p:txBody>
      </p:sp>
    </p:spTree>
    <p:extLst>
      <p:ext uri="{BB962C8B-B14F-4D97-AF65-F5344CB8AC3E}">
        <p14:creationId xmlns:p14="http://schemas.microsoft.com/office/powerpoint/2010/main" val="163443562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ea typeface="+mn-ea"/>
                <a:cs typeface="+mn-cs"/>
              </a:rPr>
              <a:t>1.</a:t>
            </a:r>
            <a:r>
              <a:rPr lang="zh-CN" altLang="zh-CN" sz="1200" kern="1200" dirty="0">
                <a:solidFill>
                  <a:schemeClr val="tx1"/>
                </a:solidFill>
                <a:effectLst/>
                <a:latin typeface="+mn-lt"/>
                <a:ea typeface="+mn-ea"/>
                <a:cs typeface="+mn-cs"/>
              </a:rPr>
              <a:t>禁忌</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初学者倾向于脆弱的设计</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而中等程度的开发者则倾向于过渡想象的、灵活的、一般化的设计</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专家级的开发者会理智地进行选择</a:t>
            </a:r>
            <a:endParaRPr lang="en-US" altLang="zh-CN" sz="1200" kern="1200" dirty="0">
              <a:solidFill>
                <a:schemeClr val="tx1"/>
              </a:solidFill>
              <a:effectLst/>
              <a:latin typeface="+mn-lt"/>
              <a:ea typeface="+mn-ea"/>
              <a:cs typeface="+mn-cs"/>
            </a:endParaRPr>
          </a:p>
          <a:p>
            <a:r>
              <a:rPr lang="zh-CN" altLang="en-US" sz="1200" kern="1200" dirty="0">
                <a:solidFill>
                  <a:schemeClr val="tx1"/>
                </a:solidFill>
                <a:effectLst/>
                <a:latin typeface="+mn-lt"/>
                <a:ea typeface="+mn-ea"/>
                <a:cs typeface="+mn-cs"/>
              </a:rPr>
              <a:t>有时</a:t>
            </a:r>
            <a:r>
              <a:rPr lang="zh-CN" altLang="en-US" sz="1200" kern="1200" baseline="0" dirty="0">
                <a:solidFill>
                  <a:schemeClr val="tx1"/>
                </a:solidFill>
                <a:effectLst/>
                <a:latin typeface="+mn-lt"/>
                <a:ea typeface="+mn-ea"/>
                <a:cs typeface="+mn-cs"/>
              </a:rPr>
              <a:t>简单、脆弱的设计可能会与其变化所需的成本达成平衡</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2.</a:t>
            </a:r>
            <a:r>
              <a:rPr lang="zh-CN" altLang="en-US" sz="1200" kern="1200" dirty="0">
                <a:solidFill>
                  <a:schemeClr val="tx1"/>
                </a:solidFill>
                <a:effectLst/>
                <a:latin typeface="+mn-lt"/>
                <a:ea typeface="+mn-ea"/>
                <a:cs typeface="+mn-cs"/>
              </a:rPr>
              <a:t>优点</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2.1</a:t>
            </a:r>
            <a:r>
              <a:rPr lang="zh-CN" altLang="en-US" sz="1200" kern="1200" dirty="0">
                <a:solidFill>
                  <a:schemeClr val="tx1"/>
                </a:solidFill>
                <a:effectLst/>
                <a:latin typeface="+mn-lt"/>
                <a:ea typeface="+mn-ea"/>
                <a:cs typeface="+mn-cs"/>
              </a:rPr>
              <a:t>易于增加新变化所需的扩展</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2.2</a:t>
            </a:r>
            <a:r>
              <a:rPr lang="zh-CN" altLang="en-US" sz="1200" kern="1200" dirty="0">
                <a:solidFill>
                  <a:schemeClr val="tx1"/>
                </a:solidFill>
                <a:effectLst/>
                <a:latin typeface="+mn-lt"/>
                <a:ea typeface="+mn-ea"/>
                <a:cs typeface="+mn-cs"/>
              </a:rPr>
              <a:t>可以引入新的实现而无需影响客户</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2.3</a:t>
            </a:r>
            <a:r>
              <a:rPr lang="zh-CN" altLang="en-US" sz="1200" kern="1200" dirty="0">
                <a:solidFill>
                  <a:schemeClr val="tx1"/>
                </a:solidFill>
                <a:effectLst/>
                <a:latin typeface="+mn-lt"/>
                <a:ea typeface="+mn-ea"/>
                <a:cs typeface="+mn-cs"/>
              </a:rPr>
              <a:t>降低耦合</a:t>
            </a:r>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 2.4</a:t>
            </a:r>
            <a:r>
              <a:rPr lang="zh-CN" altLang="en-US" sz="1200" kern="1200" dirty="0">
                <a:solidFill>
                  <a:schemeClr val="tx1"/>
                </a:solidFill>
                <a:effectLst/>
                <a:latin typeface="+mn-lt"/>
                <a:ea typeface="+mn-ea"/>
                <a:cs typeface="+mn-cs"/>
              </a:rPr>
              <a:t>能够降低变化的成本或影响</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en-US" altLang="zh-CN" sz="1200" kern="1200" dirty="0">
                <a:solidFill>
                  <a:schemeClr val="tx1"/>
                </a:solidFill>
                <a:effectLst/>
                <a:latin typeface="+mn-lt"/>
                <a:ea typeface="+mn-ea"/>
                <a:cs typeface="+mn-cs"/>
              </a:rPr>
              <a:t>//</a:t>
            </a:r>
          </a:p>
          <a:p>
            <a:r>
              <a:rPr lang="zh-CN" altLang="zh-CN" sz="1200" kern="1200" dirty="0">
                <a:solidFill>
                  <a:schemeClr val="tx1"/>
                </a:solidFill>
                <a:effectLst/>
                <a:latin typeface="+mn-lt"/>
                <a:ea typeface="+mn-ea"/>
                <a:cs typeface="+mn-cs"/>
              </a:rPr>
              <a:t>防止变异</a:t>
            </a:r>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适配器、命令、组合、代理、状态和策略模式</a:t>
            </a:r>
            <a:endParaRPr lang="en-US" altLang="zh-CN" sz="1200" kern="1200" dirty="0">
              <a:solidFill>
                <a:schemeClr val="tx1"/>
              </a:solidFill>
              <a:effectLst/>
              <a:latin typeface="+mn-lt"/>
              <a:ea typeface="+mn-ea"/>
              <a:cs typeface="+mn-cs"/>
            </a:endParaRPr>
          </a:p>
          <a:p>
            <a:endParaRPr lang="en-US" altLang="zh-CN" sz="1200" kern="1200" dirty="0">
              <a:solidFill>
                <a:schemeClr val="tx1"/>
              </a:solidFill>
              <a:effectLst/>
              <a:latin typeface="+mn-lt"/>
              <a:ea typeface="+mn-ea"/>
              <a:cs typeface="+mn-cs"/>
            </a:endParaRPr>
          </a:p>
          <a:p>
            <a:r>
              <a:rPr lang="zh-CN" altLang="zh-CN" sz="1200" kern="1200" dirty="0">
                <a:solidFill>
                  <a:schemeClr val="tx1"/>
                </a:solidFill>
                <a:effectLst/>
                <a:latin typeface="+mn-lt"/>
                <a:ea typeface="+mn-ea"/>
                <a:cs typeface="+mn-cs"/>
              </a:rPr>
              <a:t>别称和类似模式</a:t>
            </a:r>
          </a:p>
          <a:p>
            <a:r>
              <a:rPr lang="zh-CN" altLang="zh-CN" sz="1200" kern="1200" dirty="0">
                <a:solidFill>
                  <a:schemeClr val="tx1"/>
                </a:solidFill>
                <a:effectLst/>
                <a:latin typeface="+mn-lt"/>
                <a:ea typeface="+mn-ea"/>
                <a:cs typeface="+mn-cs"/>
              </a:rPr>
              <a:t>选择消息，不要询问</a:t>
            </a:r>
            <a:r>
              <a:rPr lang="en-US" altLang="zh-CN" sz="1200" kern="1200" dirty="0">
                <a:solidFill>
                  <a:schemeClr val="tx1"/>
                </a:solidFill>
                <a:effectLst/>
                <a:latin typeface="+mn-lt"/>
                <a:ea typeface="+mn-ea"/>
                <a:cs typeface="+mn-cs"/>
              </a:rPr>
              <a:t>“</a:t>
            </a:r>
            <a:r>
              <a:rPr lang="zh-CN" altLang="zh-CN" sz="1200" kern="1200" dirty="0">
                <a:solidFill>
                  <a:schemeClr val="tx1"/>
                </a:solidFill>
                <a:effectLst/>
                <a:latin typeface="+mn-lt"/>
                <a:ea typeface="+mn-ea"/>
                <a:cs typeface="+mn-cs"/>
              </a:rPr>
              <a:t>什么类型</a:t>
            </a:r>
            <a:r>
              <a:rPr lang="en-US" altLang="zh-CN" sz="1200" kern="1200" dirty="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27</a:t>
            </a:fld>
            <a:endParaRPr lang="zh-CN" altLang="en-US"/>
          </a:p>
        </p:txBody>
      </p:sp>
    </p:spTree>
    <p:extLst>
      <p:ext uri="{BB962C8B-B14F-4D97-AF65-F5344CB8AC3E}">
        <p14:creationId xmlns:p14="http://schemas.microsoft.com/office/powerpoint/2010/main" val="11515578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1.</a:t>
            </a:r>
            <a:r>
              <a:rPr lang="zh-CN" altLang="en-US" dirty="0"/>
              <a:t>相关模式和原则</a:t>
            </a:r>
            <a:endParaRPr lang="en-US" altLang="zh-CN" dirty="0"/>
          </a:p>
          <a:p>
            <a:r>
              <a:rPr lang="zh-CN" altLang="en-US" dirty="0"/>
              <a:t>大部分设计原则和模式都是防止变异的机制</a:t>
            </a:r>
            <a:endParaRPr lang="en-US" altLang="zh-CN" dirty="0"/>
          </a:p>
          <a:p>
            <a:r>
              <a:rPr lang="zh-CN" altLang="en-US" dirty="0"/>
              <a:t>这包括多态、接口、间接性、数据封装和大部分 </a:t>
            </a:r>
            <a:r>
              <a:rPr lang="en-US" altLang="zh-CN" dirty="0" err="1"/>
              <a:t>GoF</a:t>
            </a:r>
            <a:r>
              <a:rPr lang="en-US" altLang="zh-CN" dirty="0"/>
              <a:t> </a:t>
            </a:r>
            <a:r>
              <a:rPr lang="zh-CN" altLang="en-US" dirty="0"/>
              <a:t>设计模式等</a:t>
            </a:r>
            <a:endParaRPr lang="en-US" altLang="zh-CN" dirty="0"/>
          </a:p>
          <a:p>
            <a:endParaRPr lang="en-US" altLang="zh-CN" dirty="0"/>
          </a:p>
          <a:p>
            <a:r>
              <a:rPr lang="en-US" altLang="zh-CN" dirty="0"/>
              <a:t>2.</a:t>
            </a:r>
            <a:r>
              <a:rPr lang="zh-CN" altLang="en-US" dirty="0"/>
              <a:t>别称和类似模式</a:t>
            </a:r>
            <a:endParaRPr lang="en-US" altLang="zh-CN" dirty="0"/>
          </a:p>
          <a:p>
            <a:r>
              <a:rPr lang="en-US" altLang="zh-CN" dirty="0"/>
              <a:t>PV </a:t>
            </a:r>
            <a:r>
              <a:rPr lang="zh-CN" altLang="en-US" dirty="0"/>
              <a:t>基本上等同于信息隐藏</a:t>
            </a:r>
            <a:r>
              <a:rPr lang="zh-CN" altLang="en-US"/>
              <a:t>和开放封闭</a:t>
            </a:r>
            <a:r>
              <a:rPr lang="zh-CN" altLang="en-US" dirty="0"/>
              <a:t>原则</a:t>
            </a: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28</a:t>
            </a:fld>
            <a:endParaRPr lang="zh-CN" altLang="en-US"/>
          </a:p>
        </p:txBody>
      </p:sp>
    </p:spTree>
    <p:extLst>
      <p:ext uri="{BB962C8B-B14F-4D97-AF65-F5344CB8AC3E}">
        <p14:creationId xmlns:p14="http://schemas.microsoft.com/office/powerpoint/2010/main" val="262140976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下面请大家 回顾一下本次课的知识内容</a:t>
            </a:r>
            <a:endParaRPr lang="en-US" altLang="zh-CN" dirty="0"/>
          </a:p>
          <a:p>
            <a:r>
              <a:rPr lang="zh-CN" altLang="en-US" dirty="0"/>
              <a:t>如何应用下面 </a:t>
            </a:r>
            <a:r>
              <a:rPr lang="en-US" altLang="zh-CN" dirty="0"/>
              <a:t>4 </a:t>
            </a:r>
            <a:r>
              <a:rPr lang="zh-CN" altLang="en-US" dirty="0"/>
              <a:t>个</a:t>
            </a:r>
            <a:r>
              <a:rPr lang="en-US" altLang="zh-CN" dirty="0"/>
              <a:t>GRASP</a:t>
            </a:r>
            <a:r>
              <a:rPr lang="zh-CN" altLang="en-US"/>
              <a:t>设计模式</a:t>
            </a:r>
            <a:r>
              <a:rPr lang="zh-CN" altLang="en-US" dirty="0"/>
              <a:t>？</a:t>
            </a:r>
            <a:endParaRPr lang="en-US" altLang="zh-CN" dirty="0"/>
          </a:p>
          <a:p>
            <a:r>
              <a:rPr lang="en-US" altLang="zh-CN" dirty="0"/>
              <a:t>  </a:t>
            </a:r>
            <a:r>
              <a:rPr lang="zh-CN" altLang="en-US" dirty="0"/>
              <a:t>多态</a:t>
            </a:r>
            <a:endParaRPr lang="en-US" altLang="zh-CN" dirty="0"/>
          </a:p>
          <a:p>
            <a:r>
              <a:rPr lang="en-US" altLang="zh-CN" dirty="0"/>
              <a:t> </a:t>
            </a:r>
            <a:r>
              <a:rPr lang="zh-CN" altLang="en-US" dirty="0"/>
              <a:t> 间接性 </a:t>
            </a:r>
            <a:endParaRPr lang="en-US" altLang="zh-CN" dirty="0"/>
          </a:p>
          <a:p>
            <a:r>
              <a:rPr lang="en-US" altLang="zh-CN" dirty="0"/>
              <a:t>  </a:t>
            </a:r>
            <a:r>
              <a:rPr lang="zh-CN" altLang="en-US" dirty="0"/>
              <a:t>纯虚构 </a:t>
            </a:r>
            <a:endParaRPr lang="en-US" altLang="zh-CN" dirty="0"/>
          </a:p>
          <a:p>
            <a:r>
              <a:rPr lang="en-US" altLang="zh-CN" dirty="0"/>
              <a:t> </a:t>
            </a:r>
            <a:r>
              <a:rPr lang="zh-CN" altLang="en-US" dirty="0"/>
              <a:t> 防止变异</a:t>
            </a:r>
            <a:endParaRPr lang="en-US" altLang="zh-CN" dirty="0"/>
          </a:p>
          <a:p>
            <a:endParaRPr lang="zh-CN" altLang="en-US" dirty="0"/>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29</a:t>
            </a:fld>
            <a:endParaRPr lang="zh-CN" altLang="en-US"/>
          </a:p>
        </p:txBody>
      </p:sp>
    </p:spTree>
    <p:extLst>
      <p:ext uri="{BB962C8B-B14F-4D97-AF65-F5344CB8AC3E}">
        <p14:creationId xmlns:p14="http://schemas.microsoft.com/office/powerpoint/2010/main" val="9706602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最后，作为扩展知识域的学习，</a:t>
            </a:r>
            <a:endParaRPr lang="en-US" altLang="zh-CN" dirty="0"/>
          </a:p>
          <a:p>
            <a:r>
              <a:rPr lang="zh-CN" altLang="en-US" dirty="0"/>
              <a:t>请大家课后回答</a:t>
            </a:r>
            <a:endParaRPr lang="en-US" altLang="zh-CN" dirty="0"/>
          </a:p>
          <a:p>
            <a:r>
              <a:rPr lang="en-US" altLang="zh-CN" dirty="0"/>
              <a:t>1.</a:t>
            </a:r>
            <a:r>
              <a:rPr lang="zh-CN" altLang="en-US" dirty="0"/>
              <a:t>什么是 </a:t>
            </a:r>
            <a:r>
              <a:rPr lang="en-US" altLang="zh-CN" dirty="0" err="1"/>
              <a:t>Liskov</a:t>
            </a:r>
            <a:r>
              <a:rPr lang="en-US" altLang="zh-CN" dirty="0"/>
              <a:t> </a:t>
            </a:r>
            <a:r>
              <a:rPr lang="zh-CN" altLang="en-US" dirty="0"/>
              <a:t>替换原则？</a:t>
            </a:r>
            <a:endParaRPr lang="en-US" altLang="zh-CN" dirty="0"/>
          </a:p>
          <a:p>
            <a:r>
              <a:rPr lang="en-US" altLang="zh-CN" dirty="0"/>
              <a:t>2.</a:t>
            </a:r>
            <a:r>
              <a:rPr lang="zh-CN" altLang="en-US" dirty="0"/>
              <a:t>什么是信息隐藏？</a:t>
            </a:r>
            <a:endParaRPr lang="en-US" altLang="zh-CN" dirty="0"/>
          </a:p>
          <a:p>
            <a:r>
              <a:rPr lang="en-US" altLang="zh-CN" dirty="0"/>
              <a:t>3.</a:t>
            </a:r>
            <a:r>
              <a:rPr lang="zh-CN" altLang="en-US" dirty="0"/>
              <a:t>什么是开放</a:t>
            </a:r>
            <a:r>
              <a:rPr lang="en-US" altLang="zh-CN" dirty="0"/>
              <a:t>-</a:t>
            </a:r>
            <a:r>
              <a:rPr lang="zh-CN" altLang="en-US" dirty="0"/>
              <a:t>封闭原则？</a:t>
            </a:r>
          </a:p>
        </p:txBody>
      </p:sp>
      <p:sp>
        <p:nvSpPr>
          <p:cNvPr id="4" name="灯片编号占位符 3"/>
          <p:cNvSpPr>
            <a:spLocks noGrp="1"/>
          </p:cNvSpPr>
          <p:nvPr>
            <p:ph type="sldNum" sz="quarter" idx="10"/>
          </p:nvPr>
        </p:nvSpPr>
        <p:spPr/>
        <p:txBody>
          <a:bodyPr/>
          <a:lstStyle/>
          <a:p>
            <a:pPr>
              <a:defRPr/>
            </a:pPr>
            <a:fld id="{EEE2F72D-D5C7-4DF3-B4ED-3587E774A382}" type="slidenum">
              <a:rPr lang="zh-CN" altLang="en-US" smtClean="0"/>
              <a:pPr>
                <a:defRPr/>
              </a:pPr>
              <a:t>30</a:t>
            </a:fld>
            <a:endParaRPr lang="zh-CN" altLang="en-US"/>
          </a:p>
        </p:txBody>
      </p:sp>
    </p:spTree>
    <p:extLst>
      <p:ext uri="{BB962C8B-B14F-4D97-AF65-F5344CB8AC3E}">
        <p14:creationId xmlns:p14="http://schemas.microsoft.com/office/powerpoint/2010/main" val="3082964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baseline="0">
                <a:latin typeface="Microsoft JhengHei Light" panose="020B0304030504040204" pitchFamily="34" charset="-12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2" name="Title Placeholder 1"/>
          <p:cNvSpPr>
            <a:spLocks noGrp="1"/>
          </p:cNvSpPr>
          <p:nvPr>
            <p:ph type="title"/>
          </p:nvPr>
        </p:nvSpPr>
        <p:spPr bwMode="auto">
          <a:xfrm>
            <a:off x="828173" y="2132856"/>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b="1" baseline="0">
                <a:latin typeface="Microsoft JhengHei Light" panose="020B0304030504040204" pitchFamily="34" charset="-120"/>
                <a:ea typeface="+mn-ea"/>
                <a:cs typeface="Malgun Gothic Semilight" panose="020B0502040204020203" pitchFamily="34" charset="-122"/>
              </a:defRPr>
            </a:lvl1pPr>
          </a:lstStyle>
          <a:p>
            <a:pPr lvl="0"/>
            <a:r>
              <a:rPr lang="zh-CN" altLang="en-US"/>
              <a:t>单击此处编辑母版标题样式</a:t>
            </a:r>
            <a:endParaRPr lang="zh-CN" altLang="en-US" dirty="0"/>
          </a:p>
        </p:txBody>
      </p:sp>
    </p:spTree>
    <p:extLst>
      <p:ext uri="{BB962C8B-B14F-4D97-AF65-F5344CB8AC3E}">
        <p14:creationId xmlns:p14="http://schemas.microsoft.com/office/powerpoint/2010/main" val="62522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cxnSp>
        <p:nvCxnSpPr>
          <p:cNvPr id="4" name="直接连接符 3"/>
          <p:cNvCxnSpPr/>
          <p:nvPr/>
        </p:nvCxnSpPr>
        <p:spPr>
          <a:xfrm>
            <a:off x="0" y="981075"/>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5" name="直接连接符 4"/>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Content Placeholder 2"/>
          <p:cNvSpPr>
            <a:spLocks noGrp="1"/>
          </p:cNvSpPr>
          <p:nvPr>
            <p:ph idx="1"/>
          </p:nvPr>
        </p:nvSpPr>
        <p:spPr>
          <a:xfrm>
            <a:off x="533400" y="1341438"/>
            <a:ext cx="10515600" cy="4351337"/>
          </a:xfrm>
        </p:spPr>
        <p:txBody>
          <a:bodyPr/>
          <a:lstStyle>
            <a:lvl1pPr>
              <a:defRPr>
                <a:latin typeface="Microsoft JhengHei Light" panose="020B0304030504040204" pitchFamily="34" charset="-120"/>
                <a:cs typeface="Times New Roman" panose="02020603050405020304" pitchFamily="18" charset="0"/>
              </a:defRPr>
            </a:lvl1pPr>
            <a:lvl2pPr>
              <a:defRPr>
                <a:solidFill>
                  <a:schemeClr val="tx1"/>
                </a:solidFill>
                <a:latin typeface="Microsoft JhengHei Light" panose="020B0304030504040204" pitchFamily="34" charset="-120"/>
                <a:cs typeface="Times New Roman" panose="02020603050405020304" pitchFamily="18" charset="0"/>
              </a:defRPr>
            </a:lvl2pPr>
            <a:lvl3pPr>
              <a:defRPr>
                <a:latin typeface="Microsoft JhengHei Light" panose="020B0304030504040204" pitchFamily="34" charset="-120"/>
                <a:cs typeface="Times New Roman" panose="02020603050405020304" pitchFamily="18" charset="0"/>
              </a:defRPr>
            </a:lvl3pPr>
            <a:lvl4pPr>
              <a:defRPr>
                <a:latin typeface="Microsoft JhengHei Light" panose="020B0304030504040204" pitchFamily="34" charset="-120"/>
                <a:cs typeface="Times New Roman" panose="02020603050405020304" pitchFamily="18" charset="0"/>
              </a:defRPr>
            </a:lvl4pPr>
            <a:lvl5pPr>
              <a:defRPr>
                <a:latin typeface="Microsoft JhengHei Light" panose="020B0304030504040204" pitchFamily="34" charset="-120"/>
                <a:cs typeface="Times New Roman" panose="02020603050405020304" pitchFamily="18" charset="0"/>
              </a:defRPr>
            </a:lvl5pPr>
          </a:lstStyle>
          <a:p>
            <a:pPr lvl="0"/>
            <a:r>
              <a:rPr lang="zh-CN" altLang="en-US"/>
              <a:t>单击此处编辑母版文本样式</a:t>
            </a:r>
          </a:p>
          <a:p>
            <a:pPr lvl="1"/>
            <a:r>
              <a:rPr lang="zh-CN" altLang="en-US"/>
              <a:t>第二级</a:t>
            </a:r>
          </a:p>
        </p:txBody>
      </p:sp>
      <p:sp>
        <p:nvSpPr>
          <p:cNvPr id="11" name="Title Placeholder 1"/>
          <p:cNvSpPr>
            <a:spLocks noGrp="1"/>
          </p:cNvSpPr>
          <p:nvPr>
            <p:ph type="title"/>
          </p:nvPr>
        </p:nvSpPr>
        <p:spPr bwMode="auto">
          <a:xfrm>
            <a:off x="44831" y="-27384"/>
            <a:ext cx="12099841"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baseline="0">
                <a:latin typeface="Microsoft JhengHei Light" panose="020B0304030504040204" pitchFamily="34" charset="-120"/>
                <a:cs typeface="Times New Roman" panose="02020603050405020304" pitchFamily="18" charset="0"/>
              </a:defRPr>
            </a:lvl1pPr>
          </a:lstStyle>
          <a:p>
            <a:pPr lvl="0"/>
            <a:r>
              <a:rPr lang="zh-CN" altLang="en-US"/>
              <a:t>单击此处编辑母版标题样式</a:t>
            </a:r>
            <a:endParaRPr lang="zh-CN" altLang="en-US" dirty="0"/>
          </a:p>
        </p:txBody>
      </p:sp>
      <p:sp>
        <p:nvSpPr>
          <p:cNvPr id="6"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32FF13E5-C1A9-42CB-8AE4-222DCECB0FC2}" type="slidenum">
              <a:rPr lang="en-US" altLang="zh-CN" smtClean="0"/>
              <a:pPr>
                <a:defRPr/>
              </a:pPr>
              <a:t>‹#›</a:t>
            </a:fld>
            <a:endParaRPr lang="zh-CN" altLang="en-US"/>
          </a:p>
        </p:txBody>
      </p:sp>
    </p:spTree>
    <p:extLst>
      <p:ext uri="{BB962C8B-B14F-4D97-AF65-F5344CB8AC3E}">
        <p14:creationId xmlns:p14="http://schemas.microsoft.com/office/powerpoint/2010/main" val="42916643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节标题">
    <p:spTree>
      <p:nvGrpSpPr>
        <p:cNvPr id="1" name=""/>
        <p:cNvGrpSpPr/>
        <p:nvPr/>
      </p:nvGrpSpPr>
      <p:grpSpPr>
        <a:xfrm>
          <a:off x="0" y="0"/>
          <a:ext cx="0" cy="0"/>
          <a:chOff x="0" y="0"/>
          <a:chExt cx="0" cy="0"/>
        </a:xfrm>
      </p:grpSpPr>
      <p:cxnSp>
        <p:nvCxnSpPr>
          <p:cNvPr id="4" name="直接连接符 3"/>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5" name="直接连接符 4"/>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7" name="标题 6"/>
          <p:cNvSpPr>
            <a:spLocks noGrp="1"/>
          </p:cNvSpPr>
          <p:nvPr>
            <p:ph type="title"/>
          </p:nvPr>
        </p:nvSpPr>
        <p:spPr>
          <a:xfrm>
            <a:off x="28872" y="-27384"/>
            <a:ext cx="12115800" cy="1309687"/>
          </a:xfrm>
        </p:spPr>
        <p:txBody>
          <a:bodyPr/>
          <a:lstStyle>
            <a:lvl1pPr>
              <a:defRPr>
                <a:latin typeface="Times New Roman" panose="02020603050405020304" pitchFamily="18" charset="0"/>
                <a:cs typeface="Times New Roman" panose="02020603050405020304" pitchFamily="18" charset="0"/>
              </a:defRPr>
            </a:lvl1pPr>
          </a:lstStyle>
          <a:p>
            <a:r>
              <a:rPr lang="zh-CN" altLang="en-US"/>
              <a:t>单击此处编辑母版标题样式</a:t>
            </a:r>
            <a:endParaRPr lang="zh-CN" altLang="en-US" dirty="0"/>
          </a:p>
        </p:txBody>
      </p:sp>
      <p:sp>
        <p:nvSpPr>
          <p:cNvPr id="6"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6E0E08C0-E34A-41E9-8C60-04DBC2740B40}" type="slidenum">
              <a:rPr lang="en-US" altLang="zh-CN" smtClean="0"/>
              <a:pPr>
                <a:defRPr/>
              </a:pPr>
              <a:t>‹#›</a:t>
            </a:fld>
            <a:endParaRPr lang="en-US" altLang="zh-CN"/>
          </a:p>
        </p:txBody>
      </p:sp>
    </p:spTree>
    <p:extLst>
      <p:ext uri="{BB962C8B-B14F-4D97-AF65-F5344CB8AC3E}">
        <p14:creationId xmlns:p14="http://schemas.microsoft.com/office/powerpoint/2010/main" val="364840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cxnSp>
        <p:nvCxnSpPr>
          <p:cNvPr id="5" name="直接连接符 4"/>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6" name="直接连接符 5"/>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28872" y="-27384"/>
            <a:ext cx="12115800" cy="1309687"/>
          </a:xfrm>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2AB90974-DD9F-401C-BCD5-5C52FB14960C}" type="slidenum">
              <a:rPr lang="en-US" altLang="zh-CN" smtClean="0"/>
              <a:pPr>
                <a:defRPr/>
              </a:pPr>
              <a:t>‹#›</a:t>
            </a:fld>
            <a:endParaRPr lang="en-US" altLang="zh-CN"/>
          </a:p>
        </p:txBody>
      </p:sp>
    </p:spTree>
    <p:extLst>
      <p:ext uri="{BB962C8B-B14F-4D97-AF65-F5344CB8AC3E}">
        <p14:creationId xmlns:p14="http://schemas.microsoft.com/office/powerpoint/2010/main" val="13174538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cxnSp>
        <p:nvCxnSpPr>
          <p:cNvPr id="7" name="直接连接符 6"/>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8" name="直接连接符 7"/>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1" name="Title Placeholder 1"/>
          <p:cNvSpPr>
            <a:spLocks noGrp="1"/>
          </p:cNvSpPr>
          <p:nvPr>
            <p:ph type="title"/>
          </p:nvPr>
        </p:nvSpPr>
        <p:spPr bwMode="auto">
          <a:xfrm>
            <a:off x="49523" y="-27384"/>
            <a:ext cx="12167157"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9"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3564FCCF-ECFC-4384-BBB6-CBB436201AF4}" type="slidenum">
              <a:rPr lang="en-US" altLang="zh-CN" smtClean="0"/>
              <a:pPr>
                <a:defRPr/>
              </a:pPr>
              <a:t>‹#›</a:t>
            </a:fld>
            <a:endParaRPr lang="en-US" altLang="zh-CN"/>
          </a:p>
        </p:txBody>
      </p:sp>
    </p:spTree>
    <p:extLst>
      <p:ext uri="{BB962C8B-B14F-4D97-AF65-F5344CB8AC3E}">
        <p14:creationId xmlns:p14="http://schemas.microsoft.com/office/powerpoint/2010/main" val="11461864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cxnSp>
        <p:nvCxnSpPr>
          <p:cNvPr id="3" name="直接连接符 2"/>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4" name="直接连接符 3"/>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a:xfrm>
            <a:off x="28872" y="-27384"/>
            <a:ext cx="12115800" cy="1309687"/>
          </a:xfrm>
        </p:spPr>
        <p:txBody>
          <a:bodyPr/>
          <a:lstStyle/>
          <a:p>
            <a:r>
              <a:rPr lang="zh-CN" altLang="en-US"/>
              <a:t>单击此处编辑母版标题样式</a:t>
            </a:r>
            <a:endParaRPr 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247C9950-AB1E-410B-AA3D-ED32C3E8627F}" type="slidenum">
              <a:rPr lang="en-US" altLang="zh-CN" smtClean="0"/>
              <a:pPr>
                <a:defRPr/>
              </a:pPr>
              <a:t>‹#›</a:t>
            </a:fld>
            <a:endParaRPr lang="en-US" altLang="zh-CN"/>
          </a:p>
        </p:txBody>
      </p:sp>
    </p:spTree>
    <p:extLst>
      <p:ext uri="{BB962C8B-B14F-4D97-AF65-F5344CB8AC3E}">
        <p14:creationId xmlns:p14="http://schemas.microsoft.com/office/powerpoint/2010/main" val="177229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cxnSp>
        <p:nvCxnSpPr>
          <p:cNvPr id="3" name="直接连接符 2"/>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4" name="直接连接符 3"/>
          <p:cNvCxnSpPr/>
          <p:nvPr/>
        </p:nvCxnSpPr>
        <p:spPr>
          <a:xfrm>
            <a:off x="0" y="6802438"/>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6" name="Title Placeholder 1"/>
          <p:cNvSpPr>
            <a:spLocks noGrp="1"/>
          </p:cNvSpPr>
          <p:nvPr>
            <p:ph type="title"/>
          </p:nvPr>
        </p:nvSpPr>
        <p:spPr bwMode="auto">
          <a:xfrm>
            <a:off x="49523" y="-27384"/>
            <a:ext cx="12095149"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1B25AAC3-67D6-43A1-B13B-90A7556932A2}" type="slidenum">
              <a:rPr lang="en-US" altLang="zh-CN" smtClean="0"/>
              <a:pPr>
                <a:defRPr/>
              </a:pPr>
              <a:t>‹#›</a:t>
            </a:fld>
            <a:endParaRPr lang="en-US" altLang="zh-CN"/>
          </a:p>
        </p:txBody>
      </p:sp>
    </p:spTree>
    <p:extLst>
      <p:ext uri="{BB962C8B-B14F-4D97-AF65-F5344CB8AC3E}">
        <p14:creationId xmlns:p14="http://schemas.microsoft.com/office/powerpoint/2010/main" val="4094455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内容与标题">
    <p:spTree>
      <p:nvGrpSpPr>
        <p:cNvPr id="1" name=""/>
        <p:cNvGrpSpPr/>
        <p:nvPr/>
      </p:nvGrpSpPr>
      <p:grpSpPr>
        <a:xfrm>
          <a:off x="0" y="0"/>
          <a:ext cx="0" cy="0"/>
          <a:chOff x="0" y="0"/>
          <a:chExt cx="0" cy="0"/>
        </a:xfrm>
      </p:grpSpPr>
      <p:cxnSp>
        <p:nvCxnSpPr>
          <p:cNvPr id="5" name="直接连接符 4"/>
          <p:cNvCxnSpPr/>
          <p:nvPr/>
        </p:nvCxnSpPr>
        <p:spPr>
          <a:xfrm>
            <a:off x="0" y="981075"/>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cxnSp>
        <p:nvCxnSpPr>
          <p:cNvPr id="6" name="直接连接符 5"/>
          <p:cNvCxnSpPr/>
          <p:nvPr/>
        </p:nvCxnSpPr>
        <p:spPr>
          <a:xfrm>
            <a:off x="0" y="6811963"/>
            <a:ext cx="12192000" cy="1587"/>
          </a:xfrm>
          <a:prstGeom prst="line">
            <a:avLst/>
          </a:prstGeom>
          <a:ln w="3175">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Content Placeholder 2"/>
          <p:cNvSpPr>
            <a:spLocks noGrp="1"/>
          </p:cNvSpPr>
          <p:nvPr>
            <p:ph idx="1"/>
          </p:nvPr>
        </p:nvSpPr>
        <p:spPr>
          <a:xfrm>
            <a:off x="5257800"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9144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9" name="Title Placeholder 1"/>
          <p:cNvSpPr>
            <a:spLocks noGrp="1"/>
          </p:cNvSpPr>
          <p:nvPr>
            <p:ph type="title"/>
          </p:nvPr>
        </p:nvSpPr>
        <p:spPr bwMode="auto">
          <a:xfrm>
            <a:off x="82633" y="8021"/>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7"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E7D3CED3-13D6-4067-92F3-384BFE2D7B63}" type="slidenum">
              <a:rPr lang="en-US" altLang="zh-CN" smtClean="0"/>
              <a:pPr>
                <a:defRPr/>
              </a:pPr>
              <a:t>‹#›</a:t>
            </a:fld>
            <a:endParaRPr lang="en-US" altLang="zh-CN"/>
          </a:p>
        </p:txBody>
      </p:sp>
    </p:spTree>
    <p:extLst>
      <p:ext uri="{BB962C8B-B14F-4D97-AF65-F5344CB8AC3E}">
        <p14:creationId xmlns:p14="http://schemas.microsoft.com/office/powerpoint/2010/main" val="2299007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cxnSp>
        <p:nvCxnSpPr>
          <p:cNvPr id="5" name="直接连接符 4"/>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Picture Placeholder 2"/>
          <p:cNvSpPr>
            <a:spLocks noGrp="1" noChangeAspect="1"/>
          </p:cNvSpPr>
          <p:nvPr>
            <p:ph type="pic" idx="1"/>
          </p:nvPr>
        </p:nvSpPr>
        <p:spPr>
          <a:xfrm>
            <a:off x="5257800"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zh-CN" altLang="en-US" noProof="0"/>
              <a:t>单击图标添加图片</a:t>
            </a:r>
            <a:endParaRPr lang="en-US" altLang="en-US" noProof="0" dirty="0"/>
          </a:p>
        </p:txBody>
      </p:sp>
      <p:sp>
        <p:nvSpPr>
          <p:cNvPr id="4" name="Text Placeholder 3"/>
          <p:cNvSpPr>
            <a:spLocks noGrp="1"/>
          </p:cNvSpPr>
          <p:nvPr>
            <p:ph type="body" sz="half" idx="2"/>
          </p:nvPr>
        </p:nvSpPr>
        <p:spPr>
          <a:xfrm>
            <a:off x="914400"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9" name="Title Placeholder 1"/>
          <p:cNvSpPr>
            <a:spLocks noGrp="1"/>
          </p:cNvSpPr>
          <p:nvPr>
            <p:ph type="title"/>
          </p:nvPr>
        </p:nvSpPr>
        <p:spPr bwMode="auto">
          <a:xfrm>
            <a:off x="82633" y="8021"/>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6"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6A98F42C-13FA-4910-870C-46D85C5F2F08}" type="slidenum">
              <a:rPr lang="en-US" altLang="zh-CN" smtClean="0"/>
              <a:pPr>
                <a:defRPr/>
              </a:pPr>
              <a:t>‹#›</a:t>
            </a:fld>
            <a:endParaRPr lang="en-US" altLang="zh-CN"/>
          </a:p>
        </p:txBody>
      </p:sp>
    </p:spTree>
    <p:extLst>
      <p:ext uri="{BB962C8B-B14F-4D97-AF65-F5344CB8AC3E}">
        <p14:creationId xmlns:p14="http://schemas.microsoft.com/office/powerpoint/2010/main" val="20100024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cxnSp>
        <p:nvCxnSpPr>
          <p:cNvPr id="4" name="直接连接符 3"/>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CB0C8DD1-9D3B-42A1-84B1-8E869690B5F6}" type="slidenum">
              <a:rPr lang="en-US" altLang="zh-CN" smtClean="0"/>
              <a:pPr>
                <a:defRPr/>
              </a:pPr>
              <a:t>‹#›</a:t>
            </a:fld>
            <a:endParaRPr lang="en-US" altLang="zh-CN"/>
          </a:p>
        </p:txBody>
      </p:sp>
    </p:spTree>
    <p:extLst>
      <p:ext uri="{BB962C8B-B14F-4D97-AF65-F5344CB8AC3E}">
        <p14:creationId xmlns:p14="http://schemas.microsoft.com/office/powerpoint/2010/main" val="155117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垂直排列标题与&#10;文本">
    <p:spTree>
      <p:nvGrpSpPr>
        <p:cNvPr id="1" name=""/>
        <p:cNvGrpSpPr/>
        <p:nvPr/>
      </p:nvGrpSpPr>
      <p:grpSpPr>
        <a:xfrm>
          <a:off x="0" y="0"/>
          <a:ext cx="0" cy="0"/>
          <a:chOff x="0" y="0"/>
          <a:chExt cx="0" cy="0"/>
        </a:xfrm>
      </p:grpSpPr>
      <p:cxnSp>
        <p:nvCxnSpPr>
          <p:cNvPr id="4" name="直接连接符 3"/>
          <p:cNvCxnSpPr/>
          <p:nvPr/>
        </p:nvCxnSpPr>
        <p:spPr>
          <a:xfrm>
            <a:off x="0" y="990600"/>
            <a:ext cx="12192000" cy="1588"/>
          </a:xfrm>
          <a:prstGeom prst="line">
            <a:avLst/>
          </a:prstGeom>
          <a:ln>
            <a:solidFill>
              <a:srgbClr val="00B0F0"/>
            </a:solidFill>
          </a:ln>
        </p:spPr>
        <p:style>
          <a:lnRef idx="1">
            <a:schemeClr val="accent3"/>
          </a:lnRef>
          <a:fillRef idx="0">
            <a:schemeClr val="accent3"/>
          </a:fillRef>
          <a:effectRef idx="0">
            <a:schemeClr val="accent3"/>
          </a:effectRef>
          <a:fontRef idx="minor">
            <a:schemeClr val="tx1"/>
          </a:fontRef>
        </p:style>
      </p:cxnSp>
      <p:sp>
        <p:nvSpPr>
          <p:cNvPr id="3" name="Vertical Text Placeholder 2"/>
          <p:cNvSpPr>
            <a:spLocks noGrp="1"/>
          </p:cNvSpPr>
          <p:nvPr>
            <p:ph type="body" orient="vert" idx="1"/>
          </p:nvPr>
        </p:nvSpPr>
        <p:spPr>
          <a:xfrm>
            <a:off x="886326"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8" name="Title Placeholder 1"/>
          <p:cNvSpPr>
            <a:spLocks noGrp="1"/>
          </p:cNvSpPr>
          <p:nvPr>
            <p:ph type="title"/>
          </p:nvPr>
        </p:nvSpPr>
        <p:spPr bwMode="auto">
          <a:xfrm>
            <a:off x="56147" y="8021"/>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CN" altLang="en-US"/>
              <a:t>单击此处编辑母版标题样式</a:t>
            </a:r>
            <a:endParaRPr lang="zh-CN" altLang="en-US" dirty="0"/>
          </a:p>
        </p:txBody>
      </p:sp>
      <p:sp>
        <p:nvSpPr>
          <p:cNvPr id="5" name="Slide Number Placeholder 5"/>
          <p:cNvSpPr>
            <a:spLocks noGrp="1"/>
          </p:cNvSpPr>
          <p:nvPr>
            <p:ph type="sldNum" sz="quarter" idx="10"/>
          </p:nvPr>
        </p:nvSpPr>
        <p:spPr>
          <a:xfrm>
            <a:off x="4724400" y="6492875"/>
            <a:ext cx="2743200" cy="365125"/>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0" anchor="ctr" anchorCtr="0" compatLnSpc="1">
            <a:prstTxWarp prst="textNoShape">
              <a:avLst/>
            </a:prstTxWarp>
          </a:bodyPr>
          <a:lstStyle>
            <a:lvl1pPr algn="ctr">
              <a:defRPr lang="en-US" altLang="zh-CN" sz="800">
                <a:solidFill>
                  <a:srgbClr val="00B0F0"/>
                </a:solidFill>
                <a:ea typeface="+mn-ea"/>
              </a:defRPr>
            </a:lvl1pPr>
          </a:lstStyle>
          <a:p>
            <a:pPr>
              <a:defRPr/>
            </a:pPr>
            <a:fld id="{B0268A1A-ECCE-469A-91A9-370D3004D396}" type="slidenum">
              <a:rPr lang="en-US" altLang="zh-CN" smtClean="0"/>
              <a:pPr>
                <a:defRPr/>
              </a:pPr>
              <a:t>‹#›</a:t>
            </a:fld>
            <a:endParaRPr lang="en-US" altLang="zh-CN"/>
          </a:p>
        </p:txBody>
      </p:sp>
    </p:spTree>
    <p:extLst>
      <p:ext uri="{BB962C8B-B14F-4D97-AF65-F5344CB8AC3E}">
        <p14:creationId xmlns:p14="http://schemas.microsoft.com/office/powerpoint/2010/main" val="39313353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28872" y="-27384"/>
            <a:ext cx="12115800" cy="1309687"/>
          </a:xfrm>
        </p:spPr>
        <p:txBody>
          <a:bodyPr/>
          <a:lstStyle/>
          <a:p>
            <a:r>
              <a:rPr lang="zh-CN" altLang="en-US"/>
              <a:t>单击此处编辑母版标题样式</a:t>
            </a:r>
          </a:p>
        </p:txBody>
      </p:sp>
    </p:spTree>
    <p:extLst>
      <p:ext uri="{BB962C8B-B14F-4D97-AF65-F5344CB8AC3E}">
        <p14:creationId xmlns:p14="http://schemas.microsoft.com/office/powerpoint/2010/main" val="225294038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标题幻灯片">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524000" y="3602038"/>
            <a:ext cx="9144000" cy="1655762"/>
          </a:xfrm>
        </p:spPr>
        <p:txBody>
          <a:bodyPr/>
          <a:lstStyle>
            <a:lvl1pPr marL="0" indent="0" algn="ctr">
              <a:buNone/>
              <a:defRPr sz="2400" baseline="0">
                <a:latin typeface="Microsoft JhengHei Light" panose="020B0304030504040204" pitchFamily="34" charset="-120"/>
                <a:ea typeface="+mn-ea"/>
                <a:cs typeface="Times New Roman" panose="020206030504050203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12" name="Title Placeholder 1"/>
          <p:cNvSpPr>
            <a:spLocks noGrp="1"/>
          </p:cNvSpPr>
          <p:nvPr>
            <p:ph type="title"/>
          </p:nvPr>
        </p:nvSpPr>
        <p:spPr bwMode="auto">
          <a:xfrm>
            <a:off x="828173" y="2132856"/>
            <a:ext cx="10535653" cy="13095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ctr">
              <a:defRPr b="1" baseline="0">
                <a:latin typeface="Microsoft JhengHei Light" panose="020B0304030504040204" pitchFamily="34" charset="-120"/>
                <a:ea typeface="+mn-ea"/>
                <a:cs typeface="Malgun Gothic Semilight" panose="020B0502040204020203" pitchFamily="34" charset="-122"/>
              </a:defRPr>
            </a:lvl1pPr>
          </a:lstStyle>
          <a:p>
            <a:pPr lvl="0"/>
            <a:r>
              <a:rPr lang="zh-CN" altLang="en-US"/>
              <a:t>单击此处编辑母版标题样式</a:t>
            </a:r>
            <a:endParaRPr lang="zh-CN" altLang="en-US" dirty="0"/>
          </a:p>
        </p:txBody>
      </p:sp>
    </p:spTree>
    <p:extLst>
      <p:ext uri="{BB962C8B-B14F-4D97-AF65-F5344CB8AC3E}">
        <p14:creationId xmlns:p14="http://schemas.microsoft.com/office/powerpoint/2010/main" val="754139891"/>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28872" y="-27384"/>
            <a:ext cx="12115800" cy="1309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单击此处编辑母版文本样式</a:t>
            </a:r>
          </a:p>
        </p:txBody>
      </p:sp>
      <p:sp>
        <p:nvSpPr>
          <p:cNvPr id="1027" name="Text Placeholder 2"/>
          <p:cNvSpPr>
            <a:spLocks noGrp="1"/>
          </p:cNvSpPr>
          <p:nvPr>
            <p:ph type="body" idx="1"/>
          </p:nvPr>
        </p:nvSpPr>
        <p:spPr bwMode="auto">
          <a:xfrm>
            <a:off x="449262" y="1341438"/>
            <a:ext cx="105156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 </a:t>
            </a:r>
            <a:r>
              <a:rPr lang="en-US" altLang="zh-CN"/>
              <a:t>Enter your Theme</a:t>
            </a:r>
            <a:endParaRPr lang="zh-CN" altLang="en-US"/>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910965386"/>
      </p:ext>
    </p:extLst>
  </p:cSld>
  <p:clrMap bg1="dk1" tx1="lt1" bg2="dk2" tx2="lt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Lst>
  <p:hf hdr="0" ftr="0" dt="0"/>
  <p:txStyles>
    <p:titleStyle>
      <a:lvl1pPr algn="l" rtl="0" eaLnBrk="1" fontAlgn="base" hangingPunct="1">
        <a:lnSpc>
          <a:spcPct val="90000"/>
        </a:lnSpc>
        <a:spcBef>
          <a:spcPct val="0"/>
        </a:spcBef>
        <a:spcAft>
          <a:spcPct val="0"/>
        </a:spcAft>
        <a:defRPr lang="zh-CN" altLang="en-US" sz="3600" b="1" kern="1200">
          <a:solidFill>
            <a:srgbClr val="FFFF9A"/>
          </a:solidFill>
          <a:latin typeface="Microsoft JhengHei Light" panose="020B0304030504040204" pitchFamily="34" charset="-120"/>
          <a:ea typeface="+mn-ea"/>
          <a:cs typeface="Malgun Gothic Semilight" panose="020B0502040204020203" pitchFamily="34" charset="-122"/>
        </a:defRPr>
      </a:lvl1pPr>
      <a:lvl2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2pPr>
      <a:lvl3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3pPr>
      <a:lvl4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4pPr>
      <a:lvl5pPr algn="l" rtl="0" eaLnBrk="1" fontAlgn="base" hangingPunct="1">
        <a:lnSpc>
          <a:spcPct val="90000"/>
        </a:lnSpc>
        <a:spcBef>
          <a:spcPct val="0"/>
        </a:spcBef>
        <a:spcAft>
          <a:spcPct val="0"/>
        </a:spcAft>
        <a:defRPr sz="3600" b="1">
          <a:solidFill>
            <a:srgbClr val="FFFF9A"/>
          </a:solidFill>
          <a:latin typeface="Microsoft JhengHei Light" panose="020B0304030504040204" pitchFamily="34" charset="-120"/>
          <a:ea typeface="宋体" panose="02010600030101010101" pitchFamily="2" charset="-122"/>
          <a:cs typeface="Malgun Gothic Semilight" pitchFamily="34" charset="-122"/>
        </a:defRPr>
      </a:lvl5pPr>
      <a:lvl6pPr marL="4572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6pPr>
      <a:lvl7pPr marL="9144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7pPr>
      <a:lvl8pPr marL="13716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8pPr>
      <a:lvl9pPr marL="1828800" algn="l" rtl="0" eaLnBrk="1" fontAlgn="base" hangingPunct="1">
        <a:lnSpc>
          <a:spcPct val="90000"/>
        </a:lnSpc>
        <a:spcBef>
          <a:spcPct val="0"/>
        </a:spcBef>
        <a:spcAft>
          <a:spcPct val="0"/>
        </a:spcAft>
        <a:defRPr sz="4400">
          <a:solidFill>
            <a:srgbClr val="FFEA9C"/>
          </a:solidFill>
          <a:latin typeface="Calibri Light" panose="020F0302020204030204" pitchFamily="34" charset="0"/>
        </a:defRPr>
      </a:lvl9pPr>
    </p:titleStyle>
    <p:bodyStyle>
      <a:lvl1pPr marL="457200" indent="-457200" algn="l" rtl="0" eaLnBrk="1" fontAlgn="base" hangingPunct="1">
        <a:lnSpc>
          <a:spcPct val="90000"/>
        </a:lnSpc>
        <a:spcBef>
          <a:spcPts val="1000"/>
        </a:spcBef>
        <a:spcAft>
          <a:spcPct val="0"/>
        </a:spcAft>
        <a:buFont typeface="Wingdings" panose="05000000000000000000" pitchFamily="2" charset="2"/>
        <a:buChar char="u"/>
        <a:defRPr lang="zh-CN" altLang="en-US" sz="2800" b="1" kern="1200" dirty="0">
          <a:solidFill>
            <a:srgbClr val="E8E88C"/>
          </a:solidFill>
          <a:latin typeface="Microsoft JhengHei Light" panose="020B0304030504040204" pitchFamily="34" charset="-120"/>
          <a:ea typeface="+mn-ea"/>
          <a:cs typeface="Times New Roman" panose="02020603050405020304" pitchFamily="18" charset="0"/>
        </a:defRPr>
      </a:lvl1pPr>
      <a:lvl2pPr marL="800100" indent="-342900" algn="l" rtl="0" eaLnBrk="1" fontAlgn="base" hangingPunct="1">
        <a:lnSpc>
          <a:spcPct val="90000"/>
        </a:lnSpc>
        <a:spcBef>
          <a:spcPts val="500"/>
        </a:spcBef>
        <a:spcAft>
          <a:spcPct val="0"/>
        </a:spcAft>
        <a:buFont typeface="Wingdings" panose="05000000000000000000" pitchFamily="2" charset="2"/>
        <a:buChar char="n"/>
        <a:defRPr sz="2400" b="1" kern="1200">
          <a:solidFill>
            <a:srgbClr val="FFEA9C"/>
          </a:solidFill>
          <a:latin typeface="Microsoft JhengHei Light" panose="020B0304030504040204" pitchFamily="34" charset="-120"/>
          <a:ea typeface="+mn-ea"/>
          <a:cs typeface="Times New Roman" panose="02020603050405020304" pitchFamily="18"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1.xml"/><Relationship Id="rId1" Type="http://schemas.openxmlformats.org/officeDocument/2006/relationships/customXml" Target="../../customXml/item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customXml" Target="../../customXml/item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mk:@MSITStore:D:\2016\XM\MOOC\I\REF\&#20316;&#19994;1\&#21442;&#32771;&#25991;&#29486;&#19979;&#36733;\Applying%20UML%20and%20Patterns%20An%20Introduction%20to%20Object-Oriented%20Analysis%20and%20Design%20and%20Iterative%20Development%20(3rd%20Edition).chm::/0131489062/biblio01.html#biblio01entry58"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mk:@MSITStore:D:\2016\XM\MOOC\I\REF\&#20316;&#19994;1\&#21442;&#32771;&#25991;&#29486;&#19979;&#36733;\Applying%20UML%20and%20Patterns%20An%20Introduction%20to%20Object-Oriented%20Analysis%20and%20Design%20and%20Iterative%20Development%20(3rd%20Edition).chm::/0131489062/biblio01.html#biblio01entry58"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mk:@MSITStore:D:\2016\XM\MOOC\I\REF\&#20316;&#19994;1\&#21442;&#32771;&#25991;&#29486;&#19979;&#36733;\Applying%20UML%20and%20Patterns%20An%20Introduction%20to%20Object-Oriented%20Analysis%20and%20Design%20and%20Iterative%20Development%20(3rd%20Edition).chm::/0131489062/ch25lev1sec2.html#ch25fig01"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p:cNvSpPr>
            <a:spLocks noGrp="1" noChangeArrowheads="1"/>
          </p:cNvSpPr>
          <p:nvPr>
            <p:ph type="subTitle" idx="1"/>
          </p:nvPr>
        </p:nvSpPr>
        <p:spPr>
          <a:xfrm>
            <a:off x="2895600" y="3886200"/>
            <a:ext cx="6400800" cy="1752600"/>
          </a:xfrm>
        </p:spPr>
        <p:txBody>
          <a:bodyPr/>
          <a:lstStyle/>
          <a:p>
            <a:r>
              <a:rPr lang="en-US" altLang="zh-CN" sz="3200" dirty="0"/>
              <a:t>Chapter 5.2 </a:t>
            </a:r>
          </a:p>
          <a:p>
            <a:r>
              <a:rPr lang="en-US" altLang="zh-CN" sz="3200" dirty="0"/>
              <a:t>GRASP: More Objects with Responsibilities </a:t>
            </a:r>
            <a:endParaRPr lang="zh-CN" altLang="zh-CN" sz="3200" dirty="0"/>
          </a:p>
        </p:txBody>
      </p:sp>
      <p:sp>
        <p:nvSpPr>
          <p:cNvPr id="14339" name="Rectangle 2"/>
          <p:cNvSpPr>
            <a:spLocks noGrp="1" noChangeArrowheads="1"/>
          </p:cNvSpPr>
          <p:nvPr>
            <p:ph type="title"/>
          </p:nvPr>
        </p:nvSpPr>
        <p:spPr>
          <a:xfrm>
            <a:off x="609600" y="1676401"/>
            <a:ext cx="10744200" cy="1924050"/>
          </a:xfrm>
        </p:spPr>
        <p:txBody>
          <a:bodyPr/>
          <a:lstStyle/>
          <a:p>
            <a:r>
              <a:rPr lang="en-US" altLang="zh-CN" sz="4800" dirty="0"/>
              <a:t>Software Requirements</a:t>
            </a:r>
            <a:r>
              <a:rPr lang="zh-CN" altLang="en-US" sz="4800" dirty="0"/>
              <a:t> </a:t>
            </a:r>
            <a:r>
              <a:rPr lang="en-US" altLang="zh-CN" sz="4800" dirty="0"/>
              <a:t>Analysis, Design and Modeling</a:t>
            </a:r>
          </a:p>
        </p:txBody>
      </p:sp>
    </p:spTree>
    <p:custDataLst>
      <p:custData r:id="rId1"/>
      <p:tags r:id="rId2"/>
    </p:custDataLst>
  </p:cSld>
  <p:clrMapOvr>
    <a:masterClrMapping/>
  </p:clrMapOvr>
  <mc:AlternateContent xmlns:mc="http://schemas.openxmlformats.org/markup-compatibility/2006" xmlns:p14="http://schemas.microsoft.com/office/powerpoint/2010/main">
    <mc:Choice Requires="p14">
      <p:transition spd="slow" p14:dur="2000" advTm="5713"/>
    </mc:Choice>
    <mc:Fallback xmlns="">
      <p:transition spd="slow" advTm="571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内容占位符 1"/>
          <p:cNvSpPr>
            <a:spLocks noGrp="1"/>
          </p:cNvSpPr>
          <p:nvPr>
            <p:ph idx="1"/>
          </p:nvPr>
        </p:nvSpPr>
        <p:spPr>
          <a:xfrm>
            <a:off x="304800" y="1317542"/>
            <a:ext cx="11734800" cy="4016458"/>
          </a:xfrm>
        </p:spPr>
        <p:txBody>
          <a:bodyPr/>
          <a:lstStyle/>
          <a:p>
            <a:r>
              <a:rPr lang="en-US" altLang="zh-CN" dirty="0"/>
              <a:t>Learn to apply the remaining 4 GRASP patterns.</a:t>
            </a:r>
            <a:r>
              <a:rPr lang="en-US" altLang="zh-CN" b="0" dirty="0"/>
              <a:t> </a:t>
            </a:r>
          </a:p>
          <a:p>
            <a:pPr lvl="1"/>
            <a:endParaRPr lang="en-US" altLang="zh-CN" b="0" dirty="0"/>
          </a:p>
        </p:txBody>
      </p:sp>
      <p:sp>
        <p:nvSpPr>
          <p:cNvPr id="3" name="标题 2"/>
          <p:cNvSpPr>
            <a:spLocks noGrp="1"/>
          </p:cNvSpPr>
          <p:nvPr>
            <p:ph type="title"/>
          </p:nvPr>
        </p:nvSpPr>
        <p:spPr/>
        <p:txBody>
          <a:bodyPr/>
          <a:lstStyle/>
          <a:p>
            <a:r>
              <a:rPr lang="en-US" altLang="zh-CN" dirty="0"/>
              <a:t>Objectives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a:t>
            </a:fld>
            <a:endParaRPr lang="zh-CN" altLang="en-US"/>
          </a:p>
        </p:txBody>
      </p:sp>
    </p:spTree>
    <p:custDataLst>
      <p:custData r:id="rId1"/>
      <p:tags r:id="rId2"/>
    </p:custDataLst>
    <p:extLst>
      <p:ext uri="{BB962C8B-B14F-4D97-AF65-F5344CB8AC3E}">
        <p14:creationId xmlns:p14="http://schemas.microsoft.com/office/powerpoint/2010/main" val="2329249893"/>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Polymorphism.</a:t>
            </a:r>
          </a:p>
          <a:p>
            <a:r>
              <a:rPr lang="en-US" altLang="zh-CN" dirty="0">
                <a:solidFill>
                  <a:schemeClr val="tx1">
                    <a:lumMod val="50000"/>
                  </a:schemeClr>
                </a:solidFill>
              </a:rPr>
              <a:t>Pure Fabrication. </a:t>
            </a:r>
          </a:p>
          <a:p>
            <a:r>
              <a:rPr lang="en-US" altLang="zh-CN" dirty="0">
                <a:solidFill>
                  <a:schemeClr val="tx1">
                    <a:lumMod val="50000"/>
                  </a:schemeClr>
                </a:solidFill>
              </a:rPr>
              <a:t>Indirection. </a:t>
            </a:r>
          </a:p>
          <a:p>
            <a:r>
              <a:rPr lang="en-US" altLang="zh-CN" dirty="0">
                <a:solidFill>
                  <a:schemeClr val="tx1">
                    <a:lumMod val="50000"/>
                  </a:schemeClr>
                </a:solidFill>
              </a:rPr>
              <a:t>Protected Variations</a:t>
            </a: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2</a:t>
            </a:fld>
            <a:endParaRPr lang="zh-CN" altLang="en-US"/>
          </a:p>
        </p:txBody>
      </p:sp>
      <p:sp>
        <p:nvSpPr>
          <p:cNvPr id="5" name="五角星 4"/>
          <p:cNvSpPr/>
          <p:nvPr/>
        </p:nvSpPr>
        <p:spPr>
          <a:xfrm>
            <a:off x="58615" y="1337480"/>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944740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Problem</a:t>
            </a:r>
          </a:p>
          <a:p>
            <a:pPr lvl="1"/>
            <a:r>
              <a:rPr lang="en-US" altLang="zh-CN" dirty="0"/>
              <a:t>How handle alternatives based on type? </a:t>
            </a:r>
          </a:p>
          <a:p>
            <a:pPr lvl="1"/>
            <a:r>
              <a:rPr lang="en-US" altLang="zh-CN" dirty="0"/>
              <a:t>How to create pluggable software components?</a:t>
            </a:r>
          </a:p>
          <a:p>
            <a:r>
              <a:rPr lang="en-US" altLang="zh-CN" dirty="0"/>
              <a:t>Solution</a:t>
            </a:r>
          </a:p>
          <a:p>
            <a:pPr lvl="1"/>
            <a:r>
              <a:rPr lang="en-US" altLang="zh-CN" dirty="0"/>
              <a:t>When related alternatives or behaviors vary by type (class), assign responsibility for the behavior using polymorphic operations to the types for which the behavior varies.</a:t>
            </a:r>
          </a:p>
          <a:p>
            <a:pPr lvl="1"/>
            <a:r>
              <a:rPr lang="en-US" altLang="zh-CN" dirty="0"/>
              <a:t>Corollary: Do not test for the type of an object and use conditional logic to perform varying alternatives based on type.</a:t>
            </a:r>
          </a:p>
          <a:p>
            <a:pPr lvl="1"/>
            <a:endParaRPr lang="zh-CN" altLang="en-US" dirty="0"/>
          </a:p>
        </p:txBody>
      </p:sp>
      <p:sp>
        <p:nvSpPr>
          <p:cNvPr id="3" name="标题 2"/>
          <p:cNvSpPr>
            <a:spLocks noGrp="1"/>
          </p:cNvSpPr>
          <p:nvPr>
            <p:ph type="title"/>
          </p:nvPr>
        </p:nvSpPr>
        <p:spPr/>
        <p:txBody>
          <a:bodyPr/>
          <a:lstStyle/>
          <a:p>
            <a:r>
              <a:rPr lang="en-US" altLang="zh-CN" dirty="0"/>
              <a:t>Polymorphism</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a:t>
            </a:fld>
            <a:endParaRPr lang="zh-CN" altLang="en-US"/>
          </a:p>
        </p:txBody>
      </p:sp>
    </p:spTree>
    <p:extLst>
      <p:ext uri="{BB962C8B-B14F-4D97-AF65-F5344CB8AC3E}">
        <p14:creationId xmlns:p14="http://schemas.microsoft.com/office/powerpoint/2010/main" val="28183197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1000" y="1143000"/>
            <a:ext cx="10515600" cy="4351337"/>
          </a:xfrm>
        </p:spPr>
        <p:txBody>
          <a:bodyPr/>
          <a:lstStyle/>
          <a:p>
            <a:r>
              <a:rPr lang="en-US" altLang="zh-CN" sz="2400" dirty="0"/>
              <a:t>NextGen Problem: How Support Third-Party Tax Calculators?</a:t>
            </a:r>
          </a:p>
          <a:p>
            <a:endParaRPr lang="zh-CN" altLang="en-US" dirty="0"/>
          </a:p>
        </p:txBody>
      </p:sp>
      <p:sp>
        <p:nvSpPr>
          <p:cNvPr id="3" name="标题 2"/>
          <p:cNvSpPr>
            <a:spLocks noGrp="1"/>
          </p:cNvSpPr>
          <p:nvPr>
            <p:ph type="title"/>
          </p:nvPr>
        </p:nvSpPr>
        <p:spPr/>
        <p:txBody>
          <a:bodyPr/>
          <a:lstStyle/>
          <a:p>
            <a:r>
              <a:rPr lang="en-US" altLang="zh-CN" dirty="0"/>
              <a:t>Polymorphism: Example</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4</a:t>
            </a:fld>
            <a:endParaRPr lang="zh-CN" altLang="en-US"/>
          </a:p>
        </p:txBody>
      </p:sp>
      <p:pic>
        <p:nvPicPr>
          <p:cNvPr id="5" name="图片 4"/>
          <p:cNvPicPr>
            <a:picLocks noChangeAspect="1"/>
          </p:cNvPicPr>
          <p:nvPr/>
        </p:nvPicPr>
        <p:blipFill>
          <a:blip r:embed="rId3"/>
          <a:stretch>
            <a:fillRect/>
          </a:stretch>
        </p:blipFill>
        <p:spPr>
          <a:xfrm>
            <a:off x="3657600" y="1600200"/>
            <a:ext cx="6738217" cy="4682771"/>
          </a:xfrm>
          <a:prstGeom prst="rect">
            <a:avLst/>
          </a:prstGeom>
        </p:spPr>
      </p:pic>
      <p:sp>
        <p:nvSpPr>
          <p:cNvPr id="7" name="矩形 6"/>
          <p:cNvSpPr/>
          <p:nvPr/>
        </p:nvSpPr>
        <p:spPr>
          <a:xfrm>
            <a:off x="1168810" y="3064422"/>
            <a:ext cx="1676400" cy="1754326"/>
          </a:xfrm>
          <a:prstGeom prst="rect">
            <a:avLst/>
          </a:prstGeom>
        </p:spPr>
        <p:txBody>
          <a:bodyPr wrap="square">
            <a:spAutoFit/>
          </a:bodyPr>
          <a:lstStyle/>
          <a:p>
            <a:r>
              <a:rPr lang="en-US" altLang="zh-CN" b="1" dirty="0"/>
              <a:t>Figure 25.1. Polymorphism in adapting to different external tax calculators.</a:t>
            </a:r>
          </a:p>
        </p:txBody>
      </p:sp>
    </p:spTree>
    <p:extLst>
      <p:ext uri="{BB962C8B-B14F-4D97-AF65-F5344CB8AC3E}">
        <p14:creationId xmlns:p14="http://schemas.microsoft.com/office/powerpoint/2010/main" val="1123849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8600" y="1143000"/>
            <a:ext cx="10515600" cy="4351337"/>
          </a:xfrm>
        </p:spPr>
        <p:txBody>
          <a:bodyPr/>
          <a:lstStyle/>
          <a:p>
            <a:r>
              <a:rPr lang="en-US" altLang="zh-CN" dirty="0"/>
              <a:t>Polymorphism is a fundamental principle in designing how a system is organized to handle similar variations. A design based on assigning responsibilities by Polymorphism can be easily extended to handle new variations. For example, adding a new calculator adapter class with its own polymorphic </a:t>
            </a:r>
            <a:r>
              <a:rPr lang="en-US" altLang="zh-CN" dirty="0" err="1"/>
              <a:t>getTaxes</a:t>
            </a:r>
            <a:r>
              <a:rPr lang="en-US" altLang="zh-CN" dirty="0"/>
              <a:t> method will have minor impact on the existing design.</a:t>
            </a:r>
          </a:p>
          <a:p>
            <a:r>
              <a:rPr lang="en-US" altLang="zh-CN" dirty="0"/>
              <a:t>Polymorphism implies the presence of abstract </a:t>
            </a:r>
            <a:r>
              <a:rPr lang="en-US" altLang="zh-CN" dirty="0" err="1"/>
              <a:t>superclasses</a:t>
            </a:r>
            <a:r>
              <a:rPr lang="en-US" altLang="zh-CN" dirty="0"/>
              <a:t> or interfaces in most OO languages. When should you consider using an interface? </a:t>
            </a:r>
          </a:p>
          <a:p>
            <a:pPr lvl="1"/>
            <a:r>
              <a:rPr lang="en-US" altLang="zh-CN" dirty="0"/>
              <a:t>The general answer is to introduce one when you want to support polymorphism without being committed to a particular class hierarchy.</a:t>
            </a:r>
          </a:p>
          <a:p>
            <a:endParaRPr lang="zh-CN" altLang="en-US" dirty="0"/>
          </a:p>
        </p:txBody>
      </p:sp>
      <p:sp>
        <p:nvSpPr>
          <p:cNvPr id="3" name="标题 2"/>
          <p:cNvSpPr>
            <a:spLocks noGrp="1"/>
          </p:cNvSpPr>
          <p:nvPr>
            <p:ph type="title"/>
          </p:nvPr>
        </p:nvSpPr>
        <p:spPr/>
        <p:txBody>
          <a:bodyPr/>
          <a:lstStyle/>
          <a:p>
            <a:r>
              <a:rPr lang="en-US" altLang="zh-CN" dirty="0"/>
              <a:t>Polymorphism: Discussion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5</a:t>
            </a:fld>
            <a:endParaRPr lang="zh-CN" altLang="en-US"/>
          </a:p>
        </p:txBody>
      </p:sp>
    </p:spTree>
    <p:extLst>
      <p:ext uri="{BB962C8B-B14F-4D97-AF65-F5344CB8AC3E}">
        <p14:creationId xmlns:p14="http://schemas.microsoft.com/office/powerpoint/2010/main" val="20302098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04800" y="1143000"/>
            <a:ext cx="10515600" cy="4351337"/>
          </a:xfrm>
        </p:spPr>
        <p:txBody>
          <a:bodyPr/>
          <a:lstStyle/>
          <a:p>
            <a:r>
              <a:rPr lang="en-US" altLang="zh-CN" dirty="0"/>
              <a:t>Contraindications</a:t>
            </a:r>
          </a:p>
          <a:p>
            <a:pPr lvl="1"/>
            <a:r>
              <a:rPr lang="en-US" altLang="zh-CN" dirty="0"/>
              <a:t>Be realistic about the true likelihood of variability before investing in increased flexibility.</a:t>
            </a:r>
          </a:p>
          <a:p>
            <a:r>
              <a:rPr lang="en-US" altLang="zh-CN" dirty="0"/>
              <a:t>Benefits</a:t>
            </a:r>
          </a:p>
          <a:p>
            <a:pPr lvl="1"/>
            <a:r>
              <a:rPr lang="en-US" altLang="zh-CN" dirty="0"/>
              <a:t>Extensions required for new variations are easy to add.</a:t>
            </a:r>
          </a:p>
          <a:p>
            <a:pPr lvl="1"/>
            <a:r>
              <a:rPr lang="en-US" altLang="zh-CN" dirty="0"/>
              <a:t>New implementations can be introduced without affecting clients.</a:t>
            </a:r>
          </a:p>
          <a:p>
            <a:r>
              <a:rPr lang="en-US" altLang="zh-CN" dirty="0"/>
              <a:t>Related Patterns</a:t>
            </a:r>
          </a:p>
          <a:p>
            <a:pPr lvl="1"/>
            <a:r>
              <a:rPr lang="en-US" altLang="zh-CN" dirty="0"/>
              <a:t>Protected Variations</a:t>
            </a:r>
          </a:p>
          <a:p>
            <a:pPr lvl="1"/>
            <a:r>
              <a:rPr lang="en-US" altLang="zh-CN" dirty="0"/>
              <a:t>Adapter, Command, Composite, Proxy, State, and Strategy</a:t>
            </a:r>
          </a:p>
          <a:p>
            <a:r>
              <a:rPr lang="en-US" altLang="zh-CN" dirty="0"/>
              <a:t>Also Known As; Similar To</a:t>
            </a:r>
          </a:p>
          <a:p>
            <a:pPr lvl="1"/>
            <a:r>
              <a:rPr lang="en-US" altLang="zh-CN" dirty="0"/>
              <a:t>Choosing Message, Don't Ask "What Kind?"</a:t>
            </a:r>
          </a:p>
          <a:p>
            <a:endParaRPr lang="zh-CN" altLang="en-US" dirty="0"/>
          </a:p>
        </p:txBody>
      </p:sp>
      <p:sp>
        <p:nvSpPr>
          <p:cNvPr id="3" name="标题 2"/>
          <p:cNvSpPr>
            <a:spLocks noGrp="1"/>
          </p:cNvSpPr>
          <p:nvPr>
            <p:ph type="title"/>
          </p:nvPr>
        </p:nvSpPr>
        <p:spPr/>
        <p:txBody>
          <a:bodyPr/>
          <a:lstStyle/>
          <a:p>
            <a:r>
              <a:rPr lang="en-US" altLang="zh-CN" dirty="0"/>
              <a:t>Polymorphism: Others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6</a:t>
            </a:fld>
            <a:endParaRPr lang="zh-CN" altLang="en-US"/>
          </a:p>
        </p:txBody>
      </p:sp>
    </p:spTree>
    <p:extLst>
      <p:ext uri="{BB962C8B-B14F-4D97-AF65-F5344CB8AC3E}">
        <p14:creationId xmlns:p14="http://schemas.microsoft.com/office/powerpoint/2010/main" val="11740071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solidFill>
                  <a:schemeClr val="tx1">
                    <a:lumMod val="50000"/>
                  </a:schemeClr>
                </a:solidFill>
              </a:rPr>
              <a:t>Polymorphism.</a:t>
            </a:r>
          </a:p>
          <a:p>
            <a:r>
              <a:rPr lang="en-US" altLang="zh-CN" dirty="0"/>
              <a:t>Pure Fabrication. </a:t>
            </a:r>
          </a:p>
          <a:p>
            <a:r>
              <a:rPr lang="en-US" altLang="zh-CN" dirty="0">
                <a:solidFill>
                  <a:schemeClr val="tx1">
                    <a:lumMod val="50000"/>
                  </a:schemeClr>
                </a:solidFill>
              </a:rPr>
              <a:t>Indirection. </a:t>
            </a:r>
          </a:p>
          <a:p>
            <a:r>
              <a:rPr lang="en-US" altLang="zh-CN" dirty="0">
                <a:solidFill>
                  <a:schemeClr val="tx1">
                    <a:lumMod val="50000"/>
                  </a:schemeClr>
                </a:solidFill>
              </a:rPr>
              <a:t>Protected Variations</a:t>
            </a: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7</a:t>
            </a:fld>
            <a:endParaRPr lang="zh-CN" altLang="en-US"/>
          </a:p>
        </p:txBody>
      </p:sp>
      <p:sp>
        <p:nvSpPr>
          <p:cNvPr id="5" name="五角星 4"/>
          <p:cNvSpPr/>
          <p:nvPr/>
        </p:nvSpPr>
        <p:spPr>
          <a:xfrm>
            <a:off x="44831" y="1828800"/>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2453991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Problem</a:t>
            </a:r>
          </a:p>
          <a:p>
            <a:pPr lvl="1"/>
            <a:r>
              <a:rPr lang="en-US" altLang="zh-CN" dirty="0"/>
              <a:t>What object should have the responsibility, when you do not want to violate High Cohesion and Low Coupling, or other goals, but solutions offered by Expert (for example) are not appropriate?</a:t>
            </a:r>
          </a:p>
          <a:p>
            <a:r>
              <a:rPr lang="en-US" altLang="zh-CN" dirty="0"/>
              <a:t>Solution</a:t>
            </a:r>
          </a:p>
          <a:p>
            <a:pPr lvl="1"/>
            <a:r>
              <a:rPr lang="en-US" altLang="zh-CN" dirty="0"/>
              <a:t>Assign a highly cohesive set of responsibilities to an artificial or convenience class that does not represent a problem domain concept something made up, to support high cohesion, low coupling, and reuse.</a:t>
            </a:r>
          </a:p>
          <a:p>
            <a:endParaRPr lang="zh-CN" altLang="en-US" dirty="0"/>
          </a:p>
        </p:txBody>
      </p:sp>
      <p:sp>
        <p:nvSpPr>
          <p:cNvPr id="3" name="标题 2"/>
          <p:cNvSpPr>
            <a:spLocks noGrp="1"/>
          </p:cNvSpPr>
          <p:nvPr>
            <p:ph type="title"/>
          </p:nvPr>
        </p:nvSpPr>
        <p:spPr/>
        <p:txBody>
          <a:bodyPr/>
          <a:lstStyle/>
          <a:p>
            <a:r>
              <a:rPr lang="en-US" altLang="zh-CN" dirty="0"/>
              <a:t>Pure Fabrication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8</a:t>
            </a:fld>
            <a:endParaRPr lang="zh-CN" altLang="en-US"/>
          </a:p>
        </p:txBody>
      </p:sp>
    </p:spTree>
    <p:extLst>
      <p:ext uri="{BB962C8B-B14F-4D97-AF65-F5344CB8AC3E}">
        <p14:creationId xmlns:p14="http://schemas.microsoft.com/office/powerpoint/2010/main" val="301486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0" y="1066800"/>
            <a:ext cx="11811000" cy="4427537"/>
          </a:xfrm>
        </p:spPr>
        <p:txBody>
          <a:bodyPr/>
          <a:lstStyle/>
          <a:p>
            <a:r>
              <a:rPr lang="en-US" altLang="zh-CN" dirty="0"/>
              <a:t>NextGen Problem: Saving a Sale Object in a Database</a:t>
            </a:r>
          </a:p>
          <a:p>
            <a:r>
              <a:rPr lang="en-US" altLang="zh-CN" dirty="0"/>
              <a:t>For example, suppose that support is needed to save Sale instances in a relational database. By Information Expert, there is some justification to assign this responsibility to the Sale class itself, because the sale has the data that needs to be saved. </a:t>
            </a:r>
          </a:p>
          <a:p>
            <a:r>
              <a:rPr lang="en-US" altLang="zh-CN" dirty="0"/>
              <a:t>But consider the following implications:</a:t>
            </a:r>
          </a:p>
          <a:p>
            <a:pPr lvl="1"/>
            <a:r>
              <a:rPr lang="en-US" altLang="zh-CN" dirty="0"/>
              <a:t>The task requires a relatively large number of supporting database-oriented operations, none related to the concept of sale-ness, so the Sale class becomes </a:t>
            </a:r>
            <a:r>
              <a:rPr lang="en-US" altLang="zh-CN" dirty="0" err="1"/>
              <a:t>incohesive</a:t>
            </a:r>
            <a:r>
              <a:rPr lang="en-US" altLang="zh-CN" dirty="0"/>
              <a:t>.</a:t>
            </a:r>
          </a:p>
          <a:p>
            <a:pPr lvl="1"/>
            <a:r>
              <a:rPr lang="en-US" altLang="zh-CN" dirty="0"/>
              <a:t>The Sale class has to be coupled to the relational database interface (such as JDBC in Java technologies), so its coupling goes up. And the coupling is not even to another domain object, but to a particular kind of database interface.</a:t>
            </a:r>
          </a:p>
          <a:p>
            <a:endParaRPr lang="en-US" altLang="zh-CN" dirty="0"/>
          </a:p>
          <a:p>
            <a:endParaRPr lang="zh-CN" altLang="en-US" dirty="0"/>
          </a:p>
        </p:txBody>
      </p:sp>
      <p:sp>
        <p:nvSpPr>
          <p:cNvPr id="3" name="标题 2"/>
          <p:cNvSpPr>
            <a:spLocks noGrp="1"/>
          </p:cNvSpPr>
          <p:nvPr>
            <p:ph type="title"/>
          </p:nvPr>
        </p:nvSpPr>
        <p:spPr/>
        <p:txBody>
          <a:bodyPr/>
          <a:lstStyle/>
          <a:p>
            <a:r>
              <a:rPr lang="en-US" altLang="zh-CN" dirty="0"/>
              <a:t>Pure Fabrication:Example-1</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9</a:t>
            </a:fld>
            <a:endParaRPr lang="zh-CN" altLang="en-US"/>
          </a:p>
        </p:txBody>
      </p:sp>
    </p:spTree>
    <p:extLst>
      <p:ext uri="{BB962C8B-B14F-4D97-AF65-F5344CB8AC3E}">
        <p14:creationId xmlns:p14="http://schemas.microsoft.com/office/powerpoint/2010/main" val="32236492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8600" y="1143000"/>
            <a:ext cx="11201400" cy="4351337"/>
          </a:xfrm>
        </p:spPr>
        <p:txBody>
          <a:bodyPr/>
          <a:lstStyle/>
          <a:p>
            <a:pPr lvl="1"/>
            <a:r>
              <a:rPr lang="en-US" altLang="zh-CN" dirty="0"/>
              <a:t>Saving objects in a relational database is a very general task for which many classes need support. Placing these responsibilities in the Sale class suggests there is going to be poor reuse or lots of duplication in other classes that do the same thing.</a:t>
            </a:r>
          </a:p>
          <a:p>
            <a:r>
              <a:rPr lang="en-US" altLang="zh-CN" dirty="0"/>
              <a:t>Thus, even though Sale is a logical candidate by virtue of Information Expert to save itself in a database, it leads to a design with low cohesion, high coupling, and low reuse potential. </a:t>
            </a:r>
          </a:p>
          <a:p>
            <a:r>
              <a:rPr lang="en-US" altLang="zh-CN" dirty="0"/>
              <a:t>Exactly the kind of desperate situation that calls for making something up.</a:t>
            </a:r>
          </a:p>
          <a:p>
            <a:pPr lvl="1"/>
            <a:endParaRPr lang="zh-CN" altLang="en-US" dirty="0"/>
          </a:p>
        </p:txBody>
      </p:sp>
      <p:sp>
        <p:nvSpPr>
          <p:cNvPr id="3" name="标题 2"/>
          <p:cNvSpPr>
            <a:spLocks noGrp="1"/>
          </p:cNvSpPr>
          <p:nvPr>
            <p:ph type="title"/>
          </p:nvPr>
        </p:nvSpPr>
        <p:spPr/>
        <p:txBody>
          <a:bodyPr/>
          <a:lstStyle/>
          <a:p>
            <a:r>
              <a:rPr lang="en-US" altLang="zh-CN" dirty="0"/>
              <a:t>Pure Fabrication:Example-2</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10</a:t>
            </a:fld>
            <a:endParaRPr lang="zh-CN" altLang="en-US"/>
          </a:p>
        </p:txBody>
      </p:sp>
    </p:spTree>
    <p:extLst>
      <p:ext uri="{BB962C8B-B14F-4D97-AF65-F5344CB8AC3E}">
        <p14:creationId xmlns:p14="http://schemas.microsoft.com/office/powerpoint/2010/main" val="33766667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1000" y="1143000"/>
            <a:ext cx="10515600" cy="4351337"/>
          </a:xfrm>
        </p:spPr>
        <p:txBody>
          <a:bodyPr/>
          <a:lstStyle/>
          <a:p>
            <a:endParaRPr lang="zh-CN" altLang="en-US" dirty="0"/>
          </a:p>
        </p:txBody>
      </p:sp>
      <p:sp>
        <p:nvSpPr>
          <p:cNvPr id="3" name="标题 2"/>
          <p:cNvSpPr>
            <a:spLocks noGrp="1"/>
          </p:cNvSpPr>
          <p:nvPr>
            <p:ph type="title"/>
          </p:nvPr>
        </p:nvSpPr>
        <p:spPr/>
        <p:txBody>
          <a:bodyPr/>
          <a:lstStyle/>
          <a:p>
            <a:r>
              <a:rPr lang="en-US" altLang="zh-CN" dirty="0"/>
              <a:t>Pure Fabrication:Example-3</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11</a:t>
            </a:fld>
            <a:endParaRPr lang="zh-CN" altLang="en-US"/>
          </a:p>
        </p:txBody>
      </p:sp>
      <p:pic>
        <p:nvPicPr>
          <p:cNvPr id="6" name="图片 5"/>
          <p:cNvPicPr>
            <a:picLocks noChangeAspect="1"/>
          </p:cNvPicPr>
          <p:nvPr/>
        </p:nvPicPr>
        <p:blipFill>
          <a:blip r:embed="rId3"/>
          <a:stretch>
            <a:fillRect/>
          </a:stretch>
        </p:blipFill>
        <p:spPr>
          <a:xfrm>
            <a:off x="503852" y="2057400"/>
            <a:ext cx="10269896" cy="3436937"/>
          </a:xfrm>
          <a:prstGeom prst="rect">
            <a:avLst/>
          </a:prstGeom>
        </p:spPr>
      </p:pic>
    </p:spTree>
    <p:extLst>
      <p:ext uri="{BB962C8B-B14F-4D97-AF65-F5344CB8AC3E}">
        <p14:creationId xmlns:p14="http://schemas.microsoft.com/office/powerpoint/2010/main" val="36123977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1000" y="1143000"/>
            <a:ext cx="11049000" cy="4351337"/>
          </a:xfrm>
        </p:spPr>
        <p:txBody>
          <a:bodyPr/>
          <a:lstStyle/>
          <a:p>
            <a:r>
              <a:rPr lang="en-US" altLang="zh-CN" dirty="0"/>
              <a:t>This Pure Fabrication solves the following design problems:</a:t>
            </a:r>
          </a:p>
          <a:p>
            <a:pPr lvl="1"/>
            <a:r>
              <a:rPr lang="en-US" altLang="zh-CN" dirty="0"/>
              <a:t>The Sale remains well-designed, with high cohesion and low coupling.</a:t>
            </a:r>
          </a:p>
          <a:p>
            <a:pPr lvl="1"/>
            <a:r>
              <a:rPr lang="en-US" altLang="zh-CN" dirty="0"/>
              <a:t>The </a:t>
            </a:r>
            <a:r>
              <a:rPr lang="en-US" altLang="zh-CN" dirty="0" err="1"/>
              <a:t>PersistentStorage</a:t>
            </a:r>
            <a:r>
              <a:rPr lang="en-US" altLang="zh-CN" dirty="0"/>
              <a:t> class is itself relatively cohesive, having the sole purpose of storing or inserting objects in a persistent storage medium.</a:t>
            </a:r>
          </a:p>
          <a:p>
            <a:pPr lvl="1"/>
            <a:r>
              <a:rPr lang="en-US" altLang="zh-CN" dirty="0"/>
              <a:t>The </a:t>
            </a:r>
            <a:r>
              <a:rPr lang="en-US" altLang="zh-CN" dirty="0" err="1"/>
              <a:t>PersistentStorage</a:t>
            </a:r>
            <a:r>
              <a:rPr lang="en-US" altLang="zh-CN" dirty="0"/>
              <a:t> class is a very generic and reusable object.</a:t>
            </a:r>
          </a:p>
          <a:p>
            <a:r>
              <a:rPr lang="en-US" altLang="zh-CN" dirty="0"/>
              <a:t>Creating a pure fabrication in this example is exactly the situation in which their use is called for eliminating a bad design based on Expert, with poor cohesion and coupling, with a good design in which there is greater potential for reuse.</a:t>
            </a:r>
          </a:p>
          <a:p>
            <a:endParaRPr lang="zh-CN" altLang="en-US" dirty="0"/>
          </a:p>
        </p:txBody>
      </p:sp>
      <p:sp>
        <p:nvSpPr>
          <p:cNvPr id="3" name="标题 2"/>
          <p:cNvSpPr>
            <a:spLocks noGrp="1"/>
          </p:cNvSpPr>
          <p:nvPr>
            <p:ph type="title"/>
          </p:nvPr>
        </p:nvSpPr>
        <p:spPr/>
        <p:txBody>
          <a:bodyPr/>
          <a:lstStyle/>
          <a:p>
            <a:r>
              <a:rPr lang="en-US" altLang="zh-CN" dirty="0"/>
              <a:t>Pure Fabrication:Example-4</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12</a:t>
            </a:fld>
            <a:endParaRPr lang="zh-CN" altLang="en-US"/>
          </a:p>
        </p:txBody>
      </p:sp>
    </p:spTree>
    <p:extLst>
      <p:ext uri="{BB962C8B-B14F-4D97-AF65-F5344CB8AC3E}">
        <p14:creationId xmlns:p14="http://schemas.microsoft.com/office/powerpoint/2010/main" val="3379620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8600" y="1143000"/>
            <a:ext cx="10515600" cy="4351337"/>
          </a:xfrm>
        </p:spPr>
        <p:txBody>
          <a:bodyPr/>
          <a:lstStyle/>
          <a:p>
            <a:r>
              <a:rPr lang="en-US" altLang="zh-CN" dirty="0"/>
              <a:t>The design of objects can be broadly divided into two groups:</a:t>
            </a:r>
          </a:p>
          <a:p>
            <a:pPr lvl="1"/>
            <a:r>
              <a:rPr lang="en-US" altLang="zh-CN" b="0" dirty="0"/>
              <a:t>Those chosen by representational decomposition.</a:t>
            </a:r>
          </a:p>
          <a:p>
            <a:pPr lvl="1"/>
            <a:r>
              <a:rPr lang="en-US" altLang="zh-CN" b="0" dirty="0"/>
              <a:t>Those chosen by behavioral decomposition.</a:t>
            </a:r>
          </a:p>
          <a:p>
            <a:r>
              <a:rPr lang="en-US" altLang="zh-CN" dirty="0"/>
              <a:t>A Pure Fabrication is usually partitioned based on related functionality, so it is a kind of function-centric or behavioral object.</a:t>
            </a:r>
            <a:endParaRPr lang="zh-CN" altLang="en-US" dirty="0"/>
          </a:p>
          <a:p>
            <a:endParaRPr lang="zh-CN" altLang="en-US" dirty="0"/>
          </a:p>
        </p:txBody>
      </p:sp>
      <p:sp>
        <p:nvSpPr>
          <p:cNvPr id="3" name="标题 2"/>
          <p:cNvSpPr>
            <a:spLocks noGrp="1"/>
          </p:cNvSpPr>
          <p:nvPr>
            <p:ph type="title"/>
          </p:nvPr>
        </p:nvSpPr>
        <p:spPr/>
        <p:txBody>
          <a:bodyPr/>
          <a:lstStyle/>
          <a:p>
            <a:r>
              <a:rPr lang="en-US" altLang="zh-CN" dirty="0"/>
              <a:t>Pure Fabrication: Discussion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13</a:t>
            </a:fld>
            <a:endParaRPr lang="zh-CN" altLang="en-US"/>
          </a:p>
        </p:txBody>
      </p:sp>
    </p:spTree>
    <p:extLst>
      <p:ext uri="{BB962C8B-B14F-4D97-AF65-F5344CB8AC3E}">
        <p14:creationId xmlns:p14="http://schemas.microsoft.com/office/powerpoint/2010/main" val="15794897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52400" y="990600"/>
            <a:ext cx="11887200" cy="4351337"/>
          </a:xfrm>
        </p:spPr>
        <p:txBody>
          <a:bodyPr/>
          <a:lstStyle/>
          <a:p>
            <a:r>
              <a:rPr lang="en-US" altLang="zh-CN" dirty="0"/>
              <a:t>Contraindications</a:t>
            </a:r>
          </a:p>
          <a:p>
            <a:pPr lvl="1"/>
            <a:r>
              <a:rPr lang="en-US" altLang="zh-CN" dirty="0"/>
              <a:t>If overused, Pure Fabrication could lead to too many behavior objects that have responsibilities not co-located with the information required for their fulfillment, which can adversely affect coupling. </a:t>
            </a:r>
          </a:p>
          <a:p>
            <a:r>
              <a:rPr lang="en-US" altLang="zh-CN" dirty="0"/>
              <a:t>Benefits</a:t>
            </a:r>
          </a:p>
          <a:p>
            <a:pPr lvl="1"/>
            <a:r>
              <a:rPr lang="en-US" altLang="zh-CN" dirty="0"/>
              <a:t>High Cohesion is supported because responsibilities are factored into a fine-grained class that only focuses on a very specific set of related tasks.</a:t>
            </a:r>
          </a:p>
          <a:p>
            <a:pPr lvl="1"/>
            <a:r>
              <a:rPr lang="en-US" altLang="zh-CN" dirty="0"/>
              <a:t>Reuse potential may increase because of the presence of fine-grained Pure Fabrication classes whose responsibilities have applicability in other applications.</a:t>
            </a:r>
          </a:p>
          <a:p>
            <a:r>
              <a:rPr lang="en-US" altLang="zh-CN" dirty="0"/>
              <a:t>Related Patterns and Principles</a:t>
            </a:r>
          </a:p>
          <a:p>
            <a:pPr lvl="1"/>
            <a:r>
              <a:rPr lang="en-US" altLang="zh-CN" dirty="0"/>
              <a:t>Low Coupling and High Cohesion.</a:t>
            </a:r>
          </a:p>
          <a:p>
            <a:pPr lvl="1"/>
            <a:r>
              <a:rPr lang="en-US" altLang="zh-CN" dirty="0"/>
              <a:t>Adapter, Command and Strategy</a:t>
            </a:r>
          </a:p>
          <a:p>
            <a:endParaRPr lang="zh-CN" altLang="en-US" dirty="0"/>
          </a:p>
        </p:txBody>
      </p:sp>
      <p:sp>
        <p:nvSpPr>
          <p:cNvPr id="3" name="标题 2"/>
          <p:cNvSpPr>
            <a:spLocks noGrp="1"/>
          </p:cNvSpPr>
          <p:nvPr>
            <p:ph type="title"/>
          </p:nvPr>
        </p:nvSpPr>
        <p:spPr/>
        <p:txBody>
          <a:bodyPr/>
          <a:lstStyle/>
          <a:p>
            <a:r>
              <a:rPr lang="en-US" altLang="zh-CN" dirty="0"/>
              <a:t>Pure Fabrication: Others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14</a:t>
            </a:fld>
            <a:endParaRPr lang="zh-CN" altLang="en-US"/>
          </a:p>
        </p:txBody>
      </p:sp>
    </p:spTree>
    <p:extLst>
      <p:ext uri="{BB962C8B-B14F-4D97-AF65-F5344CB8AC3E}">
        <p14:creationId xmlns:p14="http://schemas.microsoft.com/office/powerpoint/2010/main" val="21012367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solidFill>
                  <a:schemeClr val="tx1">
                    <a:lumMod val="50000"/>
                  </a:schemeClr>
                </a:solidFill>
              </a:rPr>
              <a:t>Polymorphism.</a:t>
            </a:r>
          </a:p>
          <a:p>
            <a:r>
              <a:rPr lang="en-US" altLang="zh-CN" dirty="0">
                <a:solidFill>
                  <a:schemeClr val="tx1">
                    <a:lumMod val="50000"/>
                  </a:schemeClr>
                </a:solidFill>
              </a:rPr>
              <a:t>Pure Fabrication. </a:t>
            </a:r>
          </a:p>
          <a:p>
            <a:r>
              <a:rPr lang="en-US" altLang="zh-CN" dirty="0"/>
              <a:t>Indirection. </a:t>
            </a:r>
          </a:p>
          <a:p>
            <a:r>
              <a:rPr lang="en-US" altLang="zh-CN" dirty="0">
                <a:solidFill>
                  <a:schemeClr val="tx1">
                    <a:lumMod val="50000"/>
                  </a:schemeClr>
                </a:solidFill>
              </a:rPr>
              <a:t>Protected Variations</a:t>
            </a: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15</a:t>
            </a:fld>
            <a:endParaRPr lang="zh-CN" altLang="en-US"/>
          </a:p>
        </p:txBody>
      </p:sp>
      <p:sp>
        <p:nvSpPr>
          <p:cNvPr id="5" name="五角星 4"/>
          <p:cNvSpPr/>
          <p:nvPr/>
        </p:nvSpPr>
        <p:spPr>
          <a:xfrm>
            <a:off x="30906" y="2286000"/>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28000545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Problem</a:t>
            </a:r>
          </a:p>
          <a:p>
            <a:pPr lvl="1"/>
            <a:r>
              <a:rPr lang="en-US" altLang="zh-CN" dirty="0"/>
              <a:t>Where to assign a responsibility, to avoid direct coupling between two (or more) things? </a:t>
            </a:r>
          </a:p>
          <a:p>
            <a:pPr lvl="1"/>
            <a:r>
              <a:rPr lang="en-US" altLang="zh-CN" dirty="0"/>
              <a:t>How to de-couple objects so that low coupling is supported and reuse potential remains higher?</a:t>
            </a:r>
          </a:p>
          <a:p>
            <a:r>
              <a:rPr lang="en-US" altLang="zh-CN" dirty="0"/>
              <a:t>Solution</a:t>
            </a:r>
          </a:p>
          <a:p>
            <a:pPr lvl="1"/>
            <a:r>
              <a:rPr lang="en-US" altLang="zh-CN" dirty="0"/>
              <a:t>Assign the responsibility to an intermediate object to mediate between other components or services so that they are not directly coupled.</a:t>
            </a:r>
          </a:p>
          <a:p>
            <a:pPr lvl="1"/>
            <a:r>
              <a:rPr lang="en-US" altLang="zh-CN" dirty="0"/>
              <a:t>The intermediary creates an indirection between the other components.</a:t>
            </a:r>
          </a:p>
          <a:p>
            <a:pPr lvl="1"/>
            <a:endParaRPr lang="en-US" altLang="zh-CN" dirty="0"/>
          </a:p>
          <a:p>
            <a:endParaRPr lang="zh-CN" altLang="en-US" dirty="0"/>
          </a:p>
        </p:txBody>
      </p:sp>
      <p:sp>
        <p:nvSpPr>
          <p:cNvPr id="3" name="标题 2"/>
          <p:cNvSpPr>
            <a:spLocks noGrp="1"/>
          </p:cNvSpPr>
          <p:nvPr>
            <p:ph type="title"/>
          </p:nvPr>
        </p:nvSpPr>
        <p:spPr/>
        <p:txBody>
          <a:bodyPr/>
          <a:lstStyle/>
          <a:p>
            <a:r>
              <a:rPr lang="en-US" altLang="zh-CN" dirty="0"/>
              <a:t>Indirection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16</a:t>
            </a:fld>
            <a:endParaRPr lang="zh-CN" altLang="en-US"/>
          </a:p>
        </p:txBody>
      </p:sp>
    </p:spTree>
    <p:extLst>
      <p:ext uri="{BB962C8B-B14F-4D97-AF65-F5344CB8AC3E}">
        <p14:creationId xmlns:p14="http://schemas.microsoft.com/office/powerpoint/2010/main" val="9088695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81000" y="1143000"/>
            <a:ext cx="10515600" cy="4351337"/>
          </a:xfrm>
        </p:spPr>
        <p:txBody>
          <a:bodyPr/>
          <a:lstStyle/>
          <a:p>
            <a:r>
              <a:rPr lang="en-US" altLang="zh-CN" dirty="0" err="1"/>
              <a:t>TaxCalculatorAdapter</a:t>
            </a:r>
            <a:endParaRPr lang="zh-CN" altLang="en-US" dirty="0"/>
          </a:p>
        </p:txBody>
      </p:sp>
      <p:sp>
        <p:nvSpPr>
          <p:cNvPr id="3" name="标题 2"/>
          <p:cNvSpPr>
            <a:spLocks noGrp="1"/>
          </p:cNvSpPr>
          <p:nvPr>
            <p:ph type="title"/>
          </p:nvPr>
        </p:nvSpPr>
        <p:spPr/>
        <p:txBody>
          <a:bodyPr/>
          <a:lstStyle/>
          <a:p>
            <a:r>
              <a:rPr lang="en-US" altLang="zh-CN" dirty="0" err="1"/>
              <a:t>Indirection:Example</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17</a:t>
            </a:fld>
            <a:endParaRPr lang="zh-CN" altLang="en-US"/>
          </a:p>
        </p:txBody>
      </p:sp>
      <p:pic>
        <p:nvPicPr>
          <p:cNvPr id="6" name="图片 5"/>
          <p:cNvPicPr>
            <a:picLocks noChangeAspect="1"/>
          </p:cNvPicPr>
          <p:nvPr/>
        </p:nvPicPr>
        <p:blipFill>
          <a:blip r:embed="rId3"/>
          <a:stretch>
            <a:fillRect/>
          </a:stretch>
        </p:blipFill>
        <p:spPr>
          <a:xfrm>
            <a:off x="685800" y="1858534"/>
            <a:ext cx="11162974" cy="3864106"/>
          </a:xfrm>
          <a:prstGeom prst="rect">
            <a:avLst/>
          </a:prstGeom>
        </p:spPr>
      </p:pic>
      <p:sp>
        <p:nvSpPr>
          <p:cNvPr id="7" name="矩形 6"/>
          <p:cNvSpPr/>
          <p:nvPr/>
        </p:nvSpPr>
        <p:spPr>
          <a:xfrm>
            <a:off x="3733800" y="5938972"/>
            <a:ext cx="6045886" cy="461665"/>
          </a:xfrm>
          <a:prstGeom prst="rect">
            <a:avLst/>
          </a:prstGeom>
        </p:spPr>
        <p:txBody>
          <a:bodyPr wrap="none">
            <a:spAutoFit/>
          </a:bodyPr>
          <a:lstStyle/>
          <a:p>
            <a:r>
              <a:rPr lang="en-US" altLang="zh-CN" sz="2400" b="1" dirty="0"/>
              <a:t>Figure 25.10. Indirection via the adapter.</a:t>
            </a:r>
          </a:p>
        </p:txBody>
      </p:sp>
    </p:spTree>
    <p:extLst>
      <p:ext uri="{BB962C8B-B14F-4D97-AF65-F5344CB8AC3E}">
        <p14:creationId xmlns:p14="http://schemas.microsoft.com/office/powerpoint/2010/main" val="3507817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8600" y="1143000"/>
            <a:ext cx="10515600" cy="4351337"/>
          </a:xfrm>
        </p:spPr>
        <p:txBody>
          <a:bodyPr/>
          <a:lstStyle/>
          <a:p>
            <a:r>
              <a:rPr lang="en-US" altLang="zh-CN" dirty="0"/>
              <a:t>"Most problems in computer science can be solved by another level of indirection" is an old adage with particular relevance to object-oriented designs.</a:t>
            </a:r>
          </a:p>
          <a:p>
            <a:r>
              <a:rPr lang="en-US" altLang="zh-CN" dirty="0"/>
              <a:t>Just as many existing design patterns are specializations of Pure Fabrication, many are also specializations of Indirection. Adapter, Facade, and Observer are examples [</a:t>
            </a:r>
            <a:r>
              <a:rPr lang="en-US" altLang="zh-CN" dirty="0">
                <a:hlinkClick r:id="rId3" action="ppaction://hlinkfile"/>
              </a:rPr>
              <a:t>GHJV95</a:t>
            </a:r>
            <a:r>
              <a:rPr lang="en-US" altLang="zh-CN" dirty="0"/>
              <a:t>]. </a:t>
            </a:r>
          </a:p>
          <a:p>
            <a:r>
              <a:rPr lang="en-US" altLang="zh-CN" dirty="0"/>
              <a:t>In addition, many Pure Fabrications are generated because of Indirection. The motivation for Indirection is usually Low Coupling; an intermediary is added to decouple other components or services.</a:t>
            </a:r>
          </a:p>
          <a:p>
            <a:endParaRPr lang="zh-CN" altLang="en-US" dirty="0"/>
          </a:p>
        </p:txBody>
      </p:sp>
      <p:sp>
        <p:nvSpPr>
          <p:cNvPr id="3" name="标题 2"/>
          <p:cNvSpPr>
            <a:spLocks noGrp="1"/>
          </p:cNvSpPr>
          <p:nvPr>
            <p:ph type="title"/>
          </p:nvPr>
        </p:nvSpPr>
        <p:spPr/>
        <p:txBody>
          <a:bodyPr/>
          <a:lstStyle/>
          <a:p>
            <a:r>
              <a:rPr lang="en-US" altLang="zh-CN" dirty="0"/>
              <a:t>Indirection: Discussion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18</a:t>
            </a:fld>
            <a:endParaRPr lang="zh-CN" altLang="en-US"/>
          </a:p>
        </p:txBody>
      </p:sp>
    </p:spTree>
    <p:extLst>
      <p:ext uri="{BB962C8B-B14F-4D97-AF65-F5344CB8AC3E}">
        <p14:creationId xmlns:p14="http://schemas.microsoft.com/office/powerpoint/2010/main" val="30784956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52400" y="990600"/>
            <a:ext cx="11887200" cy="4351337"/>
          </a:xfrm>
        </p:spPr>
        <p:txBody>
          <a:bodyPr/>
          <a:lstStyle/>
          <a:p>
            <a:r>
              <a:rPr lang="en-US" altLang="zh-CN" dirty="0"/>
              <a:t>Benefits</a:t>
            </a:r>
          </a:p>
          <a:p>
            <a:pPr lvl="1"/>
            <a:r>
              <a:rPr lang="en-US" altLang="zh-CN" dirty="0"/>
              <a:t>Lower coupling between components.</a:t>
            </a:r>
          </a:p>
          <a:p>
            <a:r>
              <a:rPr lang="en-US" altLang="zh-CN" dirty="0"/>
              <a:t>Related Patterns and Principles</a:t>
            </a:r>
          </a:p>
          <a:p>
            <a:pPr lvl="1"/>
            <a:r>
              <a:rPr lang="en-US" altLang="zh-CN" dirty="0"/>
              <a:t>Protected Variations</a:t>
            </a:r>
          </a:p>
          <a:p>
            <a:pPr lvl="1"/>
            <a:r>
              <a:rPr lang="en-US" altLang="zh-CN" dirty="0"/>
              <a:t>Low Coupling</a:t>
            </a:r>
          </a:p>
          <a:p>
            <a:pPr lvl="1"/>
            <a:r>
              <a:rPr lang="en-US" altLang="zh-CN" dirty="0"/>
              <a:t>Many </a:t>
            </a:r>
            <a:r>
              <a:rPr lang="en-US" altLang="zh-CN" dirty="0" err="1"/>
              <a:t>GoF</a:t>
            </a:r>
            <a:r>
              <a:rPr lang="en-US" altLang="zh-CN" dirty="0"/>
              <a:t> patterns, such as Adapter, Bridge, Facade, Observer, and Mediator [</a:t>
            </a:r>
            <a:r>
              <a:rPr lang="en-US" altLang="zh-CN" dirty="0">
                <a:hlinkClick r:id="rId3" action="ppaction://hlinkfile"/>
              </a:rPr>
              <a:t>GHJV95</a:t>
            </a:r>
            <a:r>
              <a:rPr lang="en-US" altLang="zh-CN" dirty="0"/>
              <a:t>].</a:t>
            </a:r>
          </a:p>
          <a:p>
            <a:pPr lvl="1"/>
            <a:r>
              <a:rPr lang="en-US" altLang="zh-CN" dirty="0"/>
              <a:t>Many Indirection intermediaries are Pure Fabrications.</a:t>
            </a:r>
          </a:p>
          <a:p>
            <a:endParaRPr lang="zh-CN" altLang="en-US" dirty="0"/>
          </a:p>
        </p:txBody>
      </p:sp>
      <p:sp>
        <p:nvSpPr>
          <p:cNvPr id="3" name="标题 2"/>
          <p:cNvSpPr>
            <a:spLocks noGrp="1"/>
          </p:cNvSpPr>
          <p:nvPr>
            <p:ph type="title"/>
          </p:nvPr>
        </p:nvSpPr>
        <p:spPr/>
        <p:txBody>
          <a:bodyPr/>
          <a:lstStyle/>
          <a:p>
            <a:r>
              <a:rPr lang="en-US" altLang="zh-CN" dirty="0"/>
              <a:t>Indirection: Others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19</a:t>
            </a:fld>
            <a:endParaRPr lang="zh-CN" altLang="en-US"/>
          </a:p>
        </p:txBody>
      </p:sp>
    </p:spTree>
    <p:extLst>
      <p:ext uri="{BB962C8B-B14F-4D97-AF65-F5344CB8AC3E}">
        <p14:creationId xmlns:p14="http://schemas.microsoft.com/office/powerpoint/2010/main" val="194951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solidFill>
                  <a:schemeClr val="tx1">
                    <a:lumMod val="50000"/>
                  </a:schemeClr>
                </a:solidFill>
              </a:rPr>
              <a:t>Polymorphism.</a:t>
            </a:r>
          </a:p>
          <a:p>
            <a:r>
              <a:rPr lang="en-US" altLang="zh-CN" dirty="0">
                <a:solidFill>
                  <a:schemeClr val="tx1">
                    <a:lumMod val="50000"/>
                  </a:schemeClr>
                </a:solidFill>
              </a:rPr>
              <a:t>Pure Fabrication. </a:t>
            </a:r>
          </a:p>
          <a:p>
            <a:r>
              <a:rPr lang="en-US" altLang="zh-CN" dirty="0">
                <a:solidFill>
                  <a:schemeClr val="tx1">
                    <a:lumMod val="50000"/>
                  </a:schemeClr>
                </a:solidFill>
              </a:rPr>
              <a:t>Indirection. </a:t>
            </a:r>
          </a:p>
          <a:p>
            <a:r>
              <a:rPr lang="en-US" altLang="zh-CN" dirty="0"/>
              <a:t>Protected Variations</a:t>
            </a:r>
          </a:p>
          <a:p>
            <a:endParaRPr lang="en-US" altLang="zh-CN" dirty="0">
              <a:solidFill>
                <a:schemeClr val="tx1">
                  <a:lumMod val="50000"/>
                </a:schemeClr>
              </a:solidFill>
            </a:endParaRPr>
          </a:p>
        </p:txBody>
      </p:sp>
      <p:sp>
        <p:nvSpPr>
          <p:cNvPr id="3" name="标题 2"/>
          <p:cNvSpPr>
            <a:spLocks noGrp="1"/>
          </p:cNvSpPr>
          <p:nvPr>
            <p:ph type="title"/>
          </p:nvPr>
        </p:nvSpPr>
        <p:spPr/>
        <p:txBody>
          <a:bodyPr/>
          <a:lstStyle/>
          <a:p>
            <a:r>
              <a:rPr lang="en-US" altLang="zh-CN" b="0" dirty="0"/>
              <a:t>Content Outline</a:t>
            </a:r>
            <a:endParaRPr lang="zh-CN" altLang="en-US" dirty="0"/>
          </a:p>
        </p:txBody>
      </p:sp>
      <p:sp>
        <p:nvSpPr>
          <p:cNvPr id="4" name="灯片编号占位符 3"/>
          <p:cNvSpPr>
            <a:spLocks noGrp="1"/>
          </p:cNvSpPr>
          <p:nvPr>
            <p:ph type="sldNum" sz="quarter" idx="10"/>
          </p:nvPr>
        </p:nvSpPr>
        <p:spPr/>
        <p:txBody>
          <a:bodyPr/>
          <a:lstStyle/>
          <a:p>
            <a:pPr>
              <a:defRPr/>
            </a:pPr>
            <a:fld id="{089D5952-B418-4B8D-AD2C-D98A402A865E}" type="slidenum">
              <a:rPr lang="en-US" altLang="zh-CN" smtClean="0"/>
              <a:pPr>
                <a:defRPr/>
              </a:pPr>
              <a:t>20</a:t>
            </a:fld>
            <a:endParaRPr lang="zh-CN" altLang="en-US"/>
          </a:p>
        </p:txBody>
      </p:sp>
      <p:sp>
        <p:nvSpPr>
          <p:cNvPr id="5" name="五角星 4"/>
          <p:cNvSpPr/>
          <p:nvPr/>
        </p:nvSpPr>
        <p:spPr>
          <a:xfrm>
            <a:off x="44831" y="2819400"/>
            <a:ext cx="474785" cy="474785"/>
          </a:xfrm>
          <a:prstGeom prst="star5">
            <a:avLst/>
          </a:prstGeom>
          <a:solidFill>
            <a:srgbClr val="E8E88C"/>
          </a:solidFill>
          <a:ln>
            <a:noFill/>
          </a:ln>
        </p:spPr>
        <p:style>
          <a:lnRef idx="2">
            <a:schemeClr val="accent1">
              <a:shade val="50000"/>
            </a:schemeClr>
          </a:lnRef>
          <a:fillRef idx="1001">
            <a:schemeClr val="lt1"/>
          </a:fillRef>
          <a:effectRef idx="0">
            <a:schemeClr val="accent1"/>
          </a:effectRef>
          <a:fontRef idx="minor">
            <a:schemeClr val="lt1"/>
          </a:fontRef>
        </p:style>
        <p:txBody>
          <a:bodyPr rtlCol="0" anchor="ctr"/>
          <a:lstStyle/>
          <a:p>
            <a:pPr algn="ctr"/>
            <a:endParaRPr lang="zh-CN" altLang="en-US" sz="1200" dirty="0">
              <a:noFill/>
            </a:endParaRPr>
          </a:p>
        </p:txBody>
      </p:sp>
    </p:spTree>
    <p:extLst>
      <p:ext uri="{BB962C8B-B14F-4D97-AF65-F5344CB8AC3E}">
        <p14:creationId xmlns:p14="http://schemas.microsoft.com/office/powerpoint/2010/main" val="26482036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Problem</a:t>
            </a:r>
          </a:p>
          <a:p>
            <a:pPr lvl="1"/>
            <a:r>
              <a:rPr lang="en-US" altLang="zh-CN" dirty="0"/>
              <a:t>How to design objects, subsystems, and systems so that the variations or instability in these elements does not have an undesirable impact on other elements?</a:t>
            </a:r>
          </a:p>
          <a:p>
            <a:r>
              <a:rPr lang="en-US" altLang="zh-CN" dirty="0"/>
              <a:t>Solution </a:t>
            </a:r>
          </a:p>
          <a:p>
            <a:pPr lvl="1"/>
            <a:r>
              <a:rPr lang="en-US" altLang="zh-CN" dirty="0"/>
              <a:t>Identify points of predicted variation or instability;</a:t>
            </a:r>
          </a:p>
          <a:p>
            <a:pPr lvl="1"/>
            <a:r>
              <a:rPr lang="en-US" altLang="zh-CN" dirty="0"/>
              <a:t>Assign responsibilities to create a stable interface around them.</a:t>
            </a:r>
          </a:p>
          <a:p>
            <a:endParaRPr lang="zh-CN" altLang="en-US" dirty="0"/>
          </a:p>
        </p:txBody>
      </p:sp>
      <p:sp>
        <p:nvSpPr>
          <p:cNvPr id="3" name="标题 2"/>
          <p:cNvSpPr>
            <a:spLocks noGrp="1"/>
          </p:cNvSpPr>
          <p:nvPr>
            <p:ph type="title"/>
          </p:nvPr>
        </p:nvSpPr>
        <p:spPr/>
        <p:txBody>
          <a:bodyPr/>
          <a:lstStyle/>
          <a:p>
            <a:r>
              <a:rPr lang="en-US" altLang="zh-CN" dirty="0"/>
              <a:t>Protected Variations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21</a:t>
            </a:fld>
            <a:endParaRPr lang="zh-CN" altLang="en-US"/>
          </a:p>
        </p:txBody>
      </p:sp>
    </p:spTree>
    <p:extLst>
      <p:ext uri="{BB962C8B-B14F-4D97-AF65-F5344CB8AC3E}">
        <p14:creationId xmlns:p14="http://schemas.microsoft.com/office/powerpoint/2010/main" val="41023887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8600" y="1143000"/>
            <a:ext cx="10515600" cy="4351337"/>
          </a:xfrm>
        </p:spPr>
        <p:txBody>
          <a:bodyPr/>
          <a:lstStyle/>
          <a:p>
            <a:r>
              <a:rPr lang="en-US" altLang="zh-CN" dirty="0"/>
              <a:t>This is a very important, fundamental principle of software design!</a:t>
            </a:r>
          </a:p>
          <a:p>
            <a:r>
              <a:rPr lang="en-US" altLang="zh-CN" dirty="0"/>
              <a:t>Almost every software or architectural design trick in book data encapsulation, polymorphism, data-driven designs, interfaces, virtual machines, configuration files, operating systems, and much more is a specialization of Protected Variations.</a:t>
            </a:r>
          </a:p>
          <a:p>
            <a:pPr marL="0" indent="0" eaLnBrk="0" hangingPunct="0">
              <a:lnSpc>
                <a:spcPct val="100000"/>
              </a:lnSpc>
              <a:spcBef>
                <a:spcPct val="30000"/>
              </a:spcBef>
              <a:buNone/>
              <a:defRPr/>
            </a:pPr>
            <a:endParaRPr lang="zh-CN" altLang="en-US" dirty="0"/>
          </a:p>
          <a:p>
            <a:endParaRPr lang="zh-CN" altLang="en-US" dirty="0"/>
          </a:p>
        </p:txBody>
      </p:sp>
      <p:sp>
        <p:nvSpPr>
          <p:cNvPr id="3" name="标题 2"/>
          <p:cNvSpPr>
            <a:spLocks noGrp="1"/>
          </p:cNvSpPr>
          <p:nvPr>
            <p:ph type="title"/>
          </p:nvPr>
        </p:nvSpPr>
        <p:spPr/>
        <p:txBody>
          <a:bodyPr/>
          <a:lstStyle/>
          <a:p>
            <a:r>
              <a:rPr lang="en-US" altLang="zh-CN" dirty="0"/>
              <a:t>Protected Variations: Discussion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22</a:t>
            </a:fld>
            <a:endParaRPr lang="zh-CN" altLang="en-US"/>
          </a:p>
        </p:txBody>
      </p:sp>
    </p:spTree>
    <p:extLst>
      <p:ext uri="{BB962C8B-B14F-4D97-AF65-F5344CB8AC3E}">
        <p14:creationId xmlns:p14="http://schemas.microsoft.com/office/powerpoint/2010/main" val="197690472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8600" y="1143000"/>
            <a:ext cx="10515600" cy="4351337"/>
          </a:xfrm>
        </p:spPr>
        <p:txBody>
          <a:bodyPr/>
          <a:lstStyle/>
          <a:p>
            <a:r>
              <a:rPr lang="en-US" altLang="zh-CN" dirty="0"/>
              <a:t>Mechanisms Motivated by Protected Variations</a:t>
            </a:r>
          </a:p>
          <a:p>
            <a:pPr lvl="1"/>
            <a:r>
              <a:rPr lang="en-US" altLang="zh-CN" dirty="0"/>
              <a:t>PV is a root principle motivating most of the mechanisms and patterns in programming and design to provide flexibility and protection from variations in data, behavior, hardware, software components, operating systems, and more.</a:t>
            </a:r>
          </a:p>
          <a:p>
            <a:pPr lvl="1"/>
            <a:r>
              <a:rPr lang="en-US" altLang="zh-CN" dirty="0"/>
              <a:t>Data encapsulation, interfaces, polymorphism, indirection, and standards are motivated by PV. Note that components such as virtual machines and operating systems are complex examples of indirection to achieve PV.</a:t>
            </a:r>
          </a:p>
          <a:p>
            <a:endParaRPr lang="en-US" altLang="zh-CN" dirty="0"/>
          </a:p>
          <a:p>
            <a:pPr marL="0" indent="0" eaLnBrk="0" hangingPunct="0">
              <a:lnSpc>
                <a:spcPct val="100000"/>
              </a:lnSpc>
              <a:spcBef>
                <a:spcPct val="30000"/>
              </a:spcBef>
              <a:buNone/>
              <a:defRPr/>
            </a:pPr>
            <a:endParaRPr lang="zh-CN" altLang="en-US" dirty="0"/>
          </a:p>
          <a:p>
            <a:endParaRPr lang="zh-CN" altLang="en-US" dirty="0"/>
          </a:p>
        </p:txBody>
      </p:sp>
      <p:sp>
        <p:nvSpPr>
          <p:cNvPr id="3" name="标题 2"/>
          <p:cNvSpPr>
            <a:spLocks noGrp="1"/>
          </p:cNvSpPr>
          <p:nvPr>
            <p:ph type="title"/>
          </p:nvPr>
        </p:nvSpPr>
        <p:spPr/>
        <p:txBody>
          <a:bodyPr/>
          <a:lstStyle/>
          <a:p>
            <a:r>
              <a:rPr lang="en-US" altLang="zh-CN" dirty="0"/>
              <a:t>Protected Variations: Discussion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23</a:t>
            </a:fld>
            <a:endParaRPr lang="zh-CN" altLang="en-US"/>
          </a:p>
        </p:txBody>
      </p:sp>
    </p:spTree>
    <p:extLst>
      <p:ext uri="{BB962C8B-B14F-4D97-AF65-F5344CB8AC3E}">
        <p14:creationId xmlns:p14="http://schemas.microsoft.com/office/powerpoint/2010/main" val="8139003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0" y="1066800"/>
            <a:ext cx="11811000" cy="4427537"/>
          </a:xfrm>
        </p:spPr>
        <p:txBody>
          <a:bodyPr/>
          <a:lstStyle/>
          <a:p>
            <a:endParaRPr lang="en-US" altLang="zh-CN" dirty="0"/>
          </a:p>
          <a:p>
            <a:endParaRPr lang="zh-CN" altLang="en-US" dirty="0"/>
          </a:p>
        </p:txBody>
      </p:sp>
      <p:sp>
        <p:nvSpPr>
          <p:cNvPr id="3" name="标题 2"/>
          <p:cNvSpPr>
            <a:spLocks noGrp="1"/>
          </p:cNvSpPr>
          <p:nvPr>
            <p:ph type="title"/>
          </p:nvPr>
        </p:nvSpPr>
        <p:spPr/>
        <p:txBody>
          <a:bodyPr/>
          <a:lstStyle/>
          <a:p>
            <a:r>
              <a:rPr lang="en-US" altLang="zh-CN" dirty="0"/>
              <a:t>Protected Variations :Example-1</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24</a:t>
            </a:fld>
            <a:endParaRPr lang="zh-CN" altLang="en-US"/>
          </a:p>
        </p:txBody>
      </p:sp>
      <p:sp>
        <p:nvSpPr>
          <p:cNvPr id="5" name="内容占位符 1"/>
          <p:cNvSpPr txBox="1">
            <a:spLocks/>
          </p:cNvSpPr>
          <p:nvPr/>
        </p:nvSpPr>
        <p:spPr bwMode="auto">
          <a:xfrm>
            <a:off x="44830" y="1143000"/>
            <a:ext cx="12099842"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457200" indent="-457200" algn="l" rtl="0" eaLnBrk="1" fontAlgn="base" hangingPunct="1">
              <a:lnSpc>
                <a:spcPct val="90000"/>
              </a:lnSpc>
              <a:spcBef>
                <a:spcPts val="1000"/>
              </a:spcBef>
              <a:spcAft>
                <a:spcPct val="0"/>
              </a:spcAft>
              <a:buFont typeface="Wingdings" panose="05000000000000000000" pitchFamily="2" charset="2"/>
              <a:buChar char="u"/>
              <a:defRPr lang="zh-CN" altLang="en-US" sz="2800" b="1" kern="1200">
                <a:solidFill>
                  <a:srgbClr val="E8E88C"/>
                </a:solidFill>
                <a:latin typeface="Microsoft JhengHei Light" panose="020B0304030504040204" pitchFamily="34" charset="-120"/>
                <a:ea typeface="+mn-ea"/>
                <a:cs typeface="Times New Roman" panose="02020603050405020304" pitchFamily="18" charset="0"/>
              </a:defRPr>
            </a:lvl1pPr>
            <a:lvl2pPr marL="800100" indent="-342900" algn="l" rtl="0" eaLnBrk="1" fontAlgn="base" hangingPunct="1">
              <a:lnSpc>
                <a:spcPct val="90000"/>
              </a:lnSpc>
              <a:spcBef>
                <a:spcPts val="500"/>
              </a:spcBef>
              <a:spcAft>
                <a:spcPct val="0"/>
              </a:spcAft>
              <a:buFont typeface="Wingdings" panose="05000000000000000000" pitchFamily="2" charset="2"/>
              <a:buChar char="n"/>
              <a:defRPr sz="2400" b="1" kern="1200">
                <a:solidFill>
                  <a:schemeClr val="tx1"/>
                </a:solidFill>
                <a:latin typeface="Microsoft JhengHei Light" panose="020B0304030504040204" pitchFamily="34" charset="-120"/>
                <a:ea typeface="+mn-ea"/>
                <a:cs typeface="Times New Roman" panose="02020603050405020304" pitchFamily="18" charset="0"/>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2000" b="1" kern="1200">
                <a:solidFill>
                  <a:srgbClr val="FFEA9C"/>
                </a:solidFill>
                <a:latin typeface="Microsoft JhengHei Light" panose="020B0304030504040204" pitchFamily="34" charset="-12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dirty="0"/>
              <a:t>For example, the prior external tax calculator problem and its solution with Polymorphism illustrate Protected Variations (</a:t>
            </a:r>
            <a:r>
              <a:rPr lang="en-US" altLang="zh-CN" dirty="0">
                <a:hlinkClick r:id="rId3" action="ppaction://hlinkfile"/>
              </a:rPr>
              <a:t>Figure 25.1</a:t>
            </a:r>
            <a:r>
              <a:rPr lang="en-US" altLang="zh-CN" dirty="0"/>
              <a:t>). The point of instability or variation is the different interfaces or APIs of external tax calculators. The POS system needs to be able to integrate with many existing tax calculator systems, and also with future third-party calculators not yet in existence.</a:t>
            </a:r>
          </a:p>
          <a:p>
            <a:r>
              <a:rPr lang="en-US" altLang="zh-CN" dirty="0"/>
              <a:t>By adding a level of indirection, an interface, and using polymorphism with various </a:t>
            </a:r>
            <a:r>
              <a:rPr lang="en-US" altLang="zh-CN" dirty="0" err="1"/>
              <a:t>ITaxCalculatorAdapter</a:t>
            </a:r>
            <a:r>
              <a:rPr lang="en-US" altLang="zh-CN" dirty="0"/>
              <a:t> implementations, protection within the system from variations in external APIs is achieved. Internal objects collaborate with a stable interface; the various adapter implementations hide the variations to the external systems.</a:t>
            </a:r>
          </a:p>
          <a:p>
            <a:endParaRPr lang="en-US" dirty="0"/>
          </a:p>
        </p:txBody>
      </p:sp>
    </p:spTree>
    <p:extLst>
      <p:ext uri="{BB962C8B-B14F-4D97-AF65-F5344CB8AC3E}">
        <p14:creationId xmlns:p14="http://schemas.microsoft.com/office/powerpoint/2010/main" val="37105321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4831" y="1143000"/>
            <a:ext cx="10515600" cy="4351337"/>
          </a:xfrm>
        </p:spPr>
        <p:txBody>
          <a:bodyPr/>
          <a:lstStyle/>
          <a:p>
            <a:r>
              <a:rPr lang="en-US" altLang="zh-CN" dirty="0"/>
              <a:t>Here is an example that (mildly) violates Don't Talk to Strangers. The comments explain the violation.</a:t>
            </a:r>
          </a:p>
          <a:p>
            <a:endParaRPr lang="zh-CN" altLang="en-US" dirty="0"/>
          </a:p>
        </p:txBody>
      </p:sp>
      <p:sp>
        <p:nvSpPr>
          <p:cNvPr id="3" name="标题 2"/>
          <p:cNvSpPr>
            <a:spLocks noGrp="1"/>
          </p:cNvSpPr>
          <p:nvPr>
            <p:ph type="title"/>
          </p:nvPr>
        </p:nvSpPr>
        <p:spPr/>
        <p:txBody>
          <a:bodyPr/>
          <a:lstStyle/>
          <a:p>
            <a:r>
              <a:rPr lang="en-US" altLang="zh-CN" dirty="0"/>
              <a:t>Protected Variations : Example-2</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25</a:t>
            </a:fld>
            <a:endParaRPr lang="zh-CN" altLang="en-US"/>
          </a:p>
        </p:txBody>
      </p:sp>
      <p:pic>
        <p:nvPicPr>
          <p:cNvPr id="6" name="图片 5"/>
          <p:cNvPicPr>
            <a:picLocks noChangeAspect="1"/>
          </p:cNvPicPr>
          <p:nvPr/>
        </p:nvPicPr>
        <p:blipFill>
          <a:blip r:embed="rId3"/>
          <a:stretch>
            <a:fillRect/>
          </a:stretch>
        </p:blipFill>
        <p:spPr>
          <a:xfrm>
            <a:off x="602460" y="2133600"/>
            <a:ext cx="8243879" cy="4212200"/>
          </a:xfrm>
          <a:prstGeom prst="rect">
            <a:avLst/>
          </a:prstGeom>
        </p:spPr>
      </p:pic>
      <p:pic>
        <p:nvPicPr>
          <p:cNvPr id="7" name="图片 6"/>
          <p:cNvPicPr>
            <a:picLocks noChangeAspect="1"/>
          </p:cNvPicPr>
          <p:nvPr/>
        </p:nvPicPr>
        <p:blipFill>
          <a:blip r:embed="rId4"/>
          <a:stretch>
            <a:fillRect/>
          </a:stretch>
        </p:blipFill>
        <p:spPr>
          <a:xfrm>
            <a:off x="5127868" y="5222479"/>
            <a:ext cx="6690056" cy="1406921"/>
          </a:xfrm>
          <a:prstGeom prst="rect">
            <a:avLst/>
          </a:prstGeom>
        </p:spPr>
      </p:pic>
      <p:sp>
        <p:nvSpPr>
          <p:cNvPr id="8" name="矩形 7"/>
          <p:cNvSpPr/>
          <p:nvPr/>
        </p:nvSpPr>
        <p:spPr>
          <a:xfrm>
            <a:off x="418753" y="4648200"/>
            <a:ext cx="8725247" cy="472392"/>
          </a:xfrm>
          <a:prstGeom prst="rect">
            <a:avLst/>
          </a:prstGeom>
          <a:noFill/>
          <a:ln w="254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635731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28600" y="1143000"/>
            <a:ext cx="10515600" cy="4351337"/>
          </a:xfrm>
        </p:spPr>
        <p:txBody>
          <a:bodyPr/>
          <a:lstStyle/>
          <a:p>
            <a:r>
              <a:rPr lang="en-US" altLang="zh-CN" dirty="0"/>
              <a:t>The design of objects can be broadly divided into two groups:</a:t>
            </a:r>
          </a:p>
          <a:p>
            <a:pPr lvl="1"/>
            <a:r>
              <a:rPr lang="en-US" altLang="zh-CN" b="0" dirty="0"/>
              <a:t>Those chosen by representational decomposition.</a:t>
            </a:r>
          </a:p>
          <a:p>
            <a:pPr lvl="1"/>
            <a:r>
              <a:rPr lang="en-US" altLang="zh-CN" b="0" dirty="0"/>
              <a:t>Those chosen by behavioral decomposition.</a:t>
            </a:r>
          </a:p>
          <a:p>
            <a:r>
              <a:rPr lang="en-US" altLang="zh-CN" dirty="0"/>
              <a:t>A Pure Fabrication is usually partitioned based on related functionality, so it is a kind of function-centric or behavioral object.</a:t>
            </a:r>
            <a:endParaRPr lang="zh-CN" altLang="en-US" dirty="0"/>
          </a:p>
          <a:p>
            <a:endParaRPr lang="zh-CN" altLang="en-US" dirty="0"/>
          </a:p>
        </p:txBody>
      </p:sp>
      <p:sp>
        <p:nvSpPr>
          <p:cNvPr id="3" name="标题 2"/>
          <p:cNvSpPr>
            <a:spLocks noGrp="1"/>
          </p:cNvSpPr>
          <p:nvPr>
            <p:ph type="title"/>
          </p:nvPr>
        </p:nvSpPr>
        <p:spPr/>
        <p:txBody>
          <a:bodyPr/>
          <a:lstStyle/>
          <a:p>
            <a:r>
              <a:rPr lang="en-US" altLang="zh-CN" dirty="0"/>
              <a:t>Protected Variations : Discussion</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26</a:t>
            </a:fld>
            <a:endParaRPr lang="zh-CN" altLang="en-US"/>
          </a:p>
        </p:txBody>
      </p:sp>
    </p:spTree>
    <p:extLst>
      <p:ext uri="{BB962C8B-B14F-4D97-AF65-F5344CB8AC3E}">
        <p14:creationId xmlns:p14="http://schemas.microsoft.com/office/powerpoint/2010/main" val="1022822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52400" y="990600"/>
            <a:ext cx="11887200" cy="4351337"/>
          </a:xfrm>
        </p:spPr>
        <p:txBody>
          <a:bodyPr/>
          <a:lstStyle/>
          <a:p>
            <a:r>
              <a:rPr lang="en-US" altLang="zh-CN" dirty="0"/>
              <a:t>Contraindications</a:t>
            </a:r>
          </a:p>
          <a:p>
            <a:pPr lvl="1"/>
            <a:r>
              <a:rPr lang="en-US" altLang="zh-CN" dirty="0"/>
              <a:t>Novice developers tend toward brittle designs, intermediate developers tend toward overly fancy and flexible, generalized ones (in ways that never get used). Expert designers choose with insight; perhaps a simple and brittle design whose cost of change is balanced against its likelihood.</a:t>
            </a:r>
          </a:p>
          <a:p>
            <a:r>
              <a:rPr lang="en-US" altLang="zh-CN" dirty="0"/>
              <a:t>Benefits</a:t>
            </a:r>
          </a:p>
          <a:p>
            <a:pPr lvl="1"/>
            <a:r>
              <a:rPr lang="en-US" altLang="zh-CN" dirty="0"/>
              <a:t>Extensions required for new variations are easy to add.</a:t>
            </a:r>
          </a:p>
          <a:p>
            <a:pPr lvl="1"/>
            <a:r>
              <a:rPr lang="en-US" altLang="zh-CN" dirty="0"/>
              <a:t>New implementations can be introduced without affecting clients.</a:t>
            </a:r>
          </a:p>
          <a:p>
            <a:pPr lvl="1"/>
            <a:r>
              <a:rPr lang="en-US" altLang="zh-CN" dirty="0"/>
              <a:t>Coupling is lowered.</a:t>
            </a:r>
          </a:p>
          <a:p>
            <a:pPr lvl="1"/>
            <a:r>
              <a:rPr lang="en-US" altLang="zh-CN" dirty="0"/>
              <a:t>The impact or cost of changes can be lowered.</a:t>
            </a:r>
          </a:p>
          <a:p>
            <a:endParaRPr lang="zh-CN" altLang="en-US" dirty="0"/>
          </a:p>
        </p:txBody>
      </p:sp>
      <p:sp>
        <p:nvSpPr>
          <p:cNvPr id="3" name="标题 2"/>
          <p:cNvSpPr>
            <a:spLocks noGrp="1"/>
          </p:cNvSpPr>
          <p:nvPr>
            <p:ph type="title"/>
          </p:nvPr>
        </p:nvSpPr>
        <p:spPr/>
        <p:txBody>
          <a:bodyPr/>
          <a:lstStyle/>
          <a:p>
            <a:r>
              <a:rPr lang="en-US" altLang="zh-CN" dirty="0"/>
              <a:t>Protected Variations : Others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27</a:t>
            </a:fld>
            <a:endParaRPr lang="zh-CN" altLang="en-US"/>
          </a:p>
        </p:txBody>
      </p:sp>
    </p:spTree>
    <p:extLst>
      <p:ext uri="{BB962C8B-B14F-4D97-AF65-F5344CB8AC3E}">
        <p14:creationId xmlns:p14="http://schemas.microsoft.com/office/powerpoint/2010/main" val="3931365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en-US" altLang="zh-CN" dirty="0"/>
              <a:t>Related Patterns and Principles</a:t>
            </a:r>
          </a:p>
          <a:p>
            <a:pPr lvl="1"/>
            <a:r>
              <a:rPr lang="en-US" altLang="zh-CN" dirty="0"/>
              <a:t>Most design principles and patterns are mechanisms for protected variation, including polymorphism, interfaces, indirection, data encapsulation, most of the </a:t>
            </a:r>
            <a:r>
              <a:rPr lang="en-US" altLang="zh-CN" dirty="0" err="1"/>
              <a:t>GoF</a:t>
            </a:r>
            <a:r>
              <a:rPr lang="en-US" altLang="zh-CN" dirty="0"/>
              <a:t> design patterns, and so on.</a:t>
            </a:r>
          </a:p>
          <a:p>
            <a:r>
              <a:rPr lang="en-US" altLang="zh-CN" dirty="0"/>
              <a:t>Also Known As; Similar To</a:t>
            </a:r>
          </a:p>
          <a:p>
            <a:pPr lvl="1"/>
            <a:r>
              <a:rPr lang="en-US" altLang="zh-CN" dirty="0"/>
              <a:t>PV is essentially the same as the information hiding and open-closed principles, which are older terms. </a:t>
            </a:r>
            <a:endParaRPr lang="zh-CN" altLang="en-US" dirty="0"/>
          </a:p>
        </p:txBody>
      </p:sp>
      <p:sp>
        <p:nvSpPr>
          <p:cNvPr id="3" name="标题 2"/>
          <p:cNvSpPr>
            <a:spLocks noGrp="1"/>
          </p:cNvSpPr>
          <p:nvPr>
            <p:ph type="title"/>
          </p:nvPr>
        </p:nvSpPr>
        <p:spPr/>
        <p:txBody>
          <a:bodyPr/>
          <a:lstStyle/>
          <a:p>
            <a:r>
              <a:rPr lang="en-US" altLang="zh-CN" dirty="0"/>
              <a:t>Protected Variations : Others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28</a:t>
            </a:fld>
            <a:endParaRPr lang="zh-CN" altLang="en-US"/>
          </a:p>
        </p:txBody>
      </p:sp>
    </p:spTree>
    <p:extLst>
      <p:ext uri="{BB962C8B-B14F-4D97-AF65-F5344CB8AC3E}">
        <p14:creationId xmlns:p14="http://schemas.microsoft.com/office/powerpoint/2010/main" val="41457090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8399418" y="4043989"/>
            <a:ext cx="3733800" cy="2743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内容占位符 1"/>
          <p:cNvSpPr>
            <a:spLocks noGrp="1"/>
          </p:cNvSpPr>
          <p:nvPr>
            <p:ph idx="1"/>
          </p:nvPr>
        </p:nvSpPr>
        <p:spPr>
          <a:xfrm>
            <a:off x="228600" y="1330242"/>
            <a:ext cx="11811000" cy="4079958"/>
          </a:xfrm>
        </p:spPr>
        <p:txBody>
          <a:bodyPr/>
          <a:lstStyle/>
          <a:p>
            <a:r>
              <a:rPr lang="en-US" altLang="zh-CN" dirty="0"/>
              <a:t>How to apply the four GRASP patterns </a:t>
            </a:r>
          </a:p>
          <a:p>
            <a:pPr lvl="1"/>
            <a:r>
              <a:rPr lang="en-US" altLang="zh-CN" dirty="0"/>
              <a:t>Polymorphism</a:t>
            </a:r>
          </a:p>
          <a:p>
            <a:pPr lvl="1"/>
            <a:r>
              <a:rPr lang="en-US" altLang="zh-CN" dirty="0"/>
              <a:t>Indirection</a:t>
            </a:r>
          </a:p>
          <a:p>
            <a:pPr lvl="1"/>
            <a:r>
              <a:rPr lang="en-US" altLang="zh-CN" dirty="0"/>
              <a:t>Pure Fabrication</a:t>
            </a:r>
          </a:p>
          <a:p>
            <a:pPr lvl="1"/>
            <a:r>
              <a:rPr lang="en-US" altLang="zh-CN" dirty="0"/>
              <a:t>Protected Variations</a:t>
            </a:r>
          </a:p>
          <a:p>
            <a:pPr lvl="1"/>
            <a:endParaRPr lang="en-US" altLang="zh-CN" dirty="0"/>
          </a:p>
        </p:txBody>
      </p:sp>
      <p:sp>
        <p:nvSpPr>
          <p:cNvPr id="3" name="标题 2"/>
          <p:cNvSpPr>
            <a:spLocks noGrp="1"/>
          </p:cNvSpPr>
          <p:nvPr>
            <p:ph type="title"/>
          </p:nvPr>
        </p:nvSpPr>
        <p:spPr/>
        <p:txBody>
          <a:bodyPr/>
          <a:lstStyle/>
          <a:p>
            <a:r>
              <a:rPr lang="en-US" altLang="zh-CN" sz="3200" dirty="0"/>
              <a:t>Review : GRASP: More Objects with Responsibilities </a:t>
            </a:r>
            <a:endParaRPr lang="zh-CN" altLang="zh-CN" sz="3200"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29</a:t>
            </a:fld>
            <a:endParaRPr lang="zh-CN" altLang="en-US"/>
          </a:p>
        </p:txBody>
      </p:sp>
    </p:spTree>
    <p:extLst>
      <p:ext uri="{BB962C8B-B14F-4D97-AF65-F5344CB8AC3E}">
        <p14:creationId xmlns:p14="http://schemas.microsoft.com/office/powerpoint/2010/main" val="34557687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8074" y="1371600"/>
            <a:ext cx="10515600" cy="4351338"/>
          </a:xfrm>
        </p:spPr>
        <p:txBody>
          <a:bodyPr/>
          <a:lstStyle/>
          <a:p>
            <a:r>
              <a:rPr lang="en-US" altLang="zh-CN" dirty="0"/>
              <a:t>What is </a:t>
            </a:r>
            <a:r>
              <a:rPr lang="en-US" altLang="zh-CN" dirty="0" err="1"/>
              <a:t>Liskov</a:t>
            </a:r>
            <a:r>
              <a:rPr lang="en-US" altLang="zh-CN" dirty="0"/>
              <a:t> Substitution Principle?</a:t>
            </a:r>
          </a:p>
          <a:p>
            <a:r>
              <a:rPr lang="en-US" altLang="zh-CN" dirty="0"/>
              <a:t>What is Information Hiding?</a:t>
            </a:r>
          </a:p>
          <a:p>
            <a:r>
              <a:rPr lang="en-US" altLang="zh-CN" dirty="0"/>
              <a:t>What is OCP Principle?</a:t>
            </a:r>
          </a:p>
        </p:txBody>
      </p:sp>
      <p:sp>
        <p:nvSpPr>
          <p:cNvPr id="3" name="标题 2"/>
          <p:cNvSpPr>
            <a:spLocks noGrp="1"/>
          </p:cNvSpPr>
          <p:nvPr>
            <p:ph type="title"/>
          </p:nvPr>
        </p:nvSpPr>
        <p:spPr/>
        <p:txBody>
          <a:bodyPr/>
          <a:lstStyle/>
          <a:p>
            <a:r>
              <a:rPr lang="en-US" altLang="zh-CN" dirty="0"/>
              <a:t>Special Topics</a:t>
            </a:r>
            <a:endParaRPr lang="zh-CN" altLang="en-US" dirty="0"/>
          </a:p>
        </p:txBody>
      </p:sp>
      <p:sp>
        <p:nvSpPr>
          <p:cNvPr id="4" name="灯片编号占位符 3"/>
          <p:cNvSpPr>
            <a:spLocks noGrp="1"/>
          </p:cNvSpPr>
          <p:nvPr>
            <p:ph type="sldNum" sz="quarter" idx="10"/>
          </p:nvPr>
        </p:nvSpPr>
        <p:spPr/>
        <p:txBody>
          <a:bodyPr/>
          <a:lstStyle/>
          <a:p>
            <a:pPr>
              <a:defRPr/>
            </a:pPr>
            <a:fld id="{32FF13E5-C1A9-42CB-8AE4-222DCECB0FC2}" type="slidenum">
              <a:rPr lang="en-US" altLang="zh-CN" smtClean="0"/>
              <a:pPr>
                <a:defRPr/>
              </a:pPr>
              <a:t>30</a:t>
            </a:fld>
            <a:endParaRPr lang="zh-CN" altLang="en-US"/>
          </a:p>
        </p:txBody>
      </p:sp>
    </p:spTree>
    <p:extLst>
      <p:ext uri="{BB962C8B-B14F-4D97-AF65-F5344CB8AC3E}">
        <p14:creationId xmlns:p14="http://schemas.microsoft.com/office/powerpoint/2010/main" val="69442855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THENA.CUSTOMXMLID" val="{1BA977A9-C848-4B99-853C-D423CC37C4DC}"/>
  <p:tag name="ATHENA.CUSTOMXMLCONTENT" val="&lt;?xml version=&quot;1.0&quot;?&gt;&lt;athena xmlns=&quot;http://schemas.microsoft.com/edu/athena&quot; version=&quot;0.1.3885.0&quot;&gt;&lt;timings duration=&quot;1799&quot;/&gt;&lt;/athena&gt;"/>
</p:tagLst>
</file>

<file path=ppt/tags/tag2.xml><?xml version="1.0" encoding="utf-8"?>
<p:tagLst xmlns:a="http://schemas.openxmlformats.org/drawingml/2006/main" xmlns:r="http://schemas.openxmlformats.org/officeDocument/2006/relationships" xmlns:p="http://schemas.openxmlformats.org/presentationml/2006/main">
  <p:tag name="ATHENA.CUSTOMXMLID" val="{BADBF95C-E216-48C4-85AB-263444C3FC94}"/>
  <p:tag name="ATHENA.CUSTOMXMLCONTENT" val="&lt;?xml version=&quot;1.0&quot;?&gt;&lt;athena xmlns=&quot;http://schemas.microsoft.com/edu/athena&quot; version=&quot;0.1.3885.0&quot;&gt;&lt;timings duration=&quot;1533&quot;/&gt;&lt;/athena&gt;"/>
</p:tagLst>
</file>

<file path=ppt/theme/theme1.xml><?xml version="1.0" encoding="utf-8"?>
<a:theme xmlns:a="http://schemas.openxmlformats.org/drawingml/2006/main" name="MOOC1">
  <a:themeElements>
    <a:clrScheme name="黄色">
      <a:dk1>
        <a:sysClr val="windowText" lastClr="000000"/>
      </a:dk1>
      <a:lt1>
        <a:sysClr val="window" lastClr="FFFFFF"/>
      </a:lt1>
      <a:dk2>
        <a:srgbClr val="39302A"/>
      </a:dk2>
      <a:lt2>
        <a:srgbClr val="E5DEDB"/>
      </a:lt2>
      <a:accent1>
        <a:srgbClr val="FFCA08"/>
      </a:accent1>
      <a:accent2>
        <a:srgbClr val="F8931D"/>
      </a:accent2>
      <a:accent3>
        <a:srgbClr val="CE8D3E"/>
      </a:accent3>
      <a:accent4>
        <a:srgbClr val="EC7016"/>
      </a:accent4>
      <a:accent5>
        <a:srgbClr val="E64823"/>
      </a:accent5>
      <a:accent6>
        <a:srgbClr val="9C6A6A"/>
      </a:accent6>
      <a:hlink>
        <a:srgbClr val="2998E3"/>
      </a:hlink>
      <a:folHlink>
        <a:srgbClr val="7F723D"/>
      </a:folHlink>
    </a:clrScheme>
    <a:fontScheme name="自定义 1">
      <a:majorFont>
        <a:latin typeface="Microsoft JhengHei Light"/>
        <a:ea typeface="宋体"/>
        <a:cs typeface=""/>
      </a:majorFont>
      <a:minorFont>
        <a:latin typeface="Microsoft JhengHei Light"/>
        <a:ea typeface="宋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演示文稿3" id="{47F42896-E946-4BA2-AE8A-BB0F9E22AB7F}" vid="{41889D29-1765-4963-89B1-6E31CFD5ACF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item1.xml><?xml version="1.0" encoding="utf-8"?>
<athena xmlns="http://schemas.microsoft.com/edu/athena" version="0.1.3885.0">
  <timings duration="1533"/>
</athena>
</file>

<file path=customXml/item2.xml><?xml version="1.0" encoding="utf-8"?>
<athena xmlns="http://schemas.microsoft.com/edu/athena" version="0.1.3885.0">
  <timings duration="1799"/>
</athena>
</file>

<file path=customXml/item3.xml><?xml version="1.0" encoding="utf-8"?>
<athena xmlns="http://schemas.microsoft.com/edu/athena" version="0.1.3885.0">
  <ink scale="0.5600933">AAEAAAD/////AQAAAAAAAAAMAgAAAE9BdXRob3JQUFQsIFZlcnNpb249MC4xLjM4ODUuMCwgQ3VsdHVyZT1uZXV0cmFsLCBQdWJsaWNLZXlUb2tlbj0zMWJmMzg1NmFkMzY0ZTM1BQEAAAALSW5rTWF0dGVyVjEDAAAADUxpc3RgMStfaXRlbXMMTGlzdGAxK19zaXplD0xpc3RgMStfdmVyc2lvbgQAABdTaGFyZWQuSW5raW5nLklua0F0b21bXQIAAAAICAIAAAAJAwAAAAUAAAAZAAAABwMAAAAAAQAAAAgAAAAECUlua0F0b21WMQIAAAAJBAAAAAkFAAAACQYAAAAJBwAAAAkIAAAADQMFBAAAAAtQZW5TdHJva2VWMQQAAAAKQXR0cmlidXRlcwVUcmFjZQlTdGFydFRpbWUEVHlwZQQEAAQPUGVuQXR0cmlidXRlc1YxAgAAAApJbmtUcmFjZVYxAgAAABAMQWN0aW9uVHlwZVYxAgAAAAIAAAAJCQAAAAkKAAAAnPYBAAAAAAAF9f///wxBY3Rpb25UeXBlVjEBAAAAB3ZhbHVlX18ACAIAAAAAAAAAAQUAAAAEAAAACQwAAAAJDQAAABn9AQAAAAAAAfL////1////AAAAAAEGAAAABAAAAAkPAAAACRAAAAAbAwIAAAAAAAHv////9f///wAAAAABBwAAAAQAAAAJEgAAAAkTAAAA0q8CAAAAAAAB7P////X///8AAAAABQgAAAANQ2xlYXJDYW52YXNWMQIAAAAJU3RhcnRUaW1lBFR5cGUABBAMQWN0aW9uVHlwZVYxAgAAAAIAAADMUQQAAAAAAAHr////9f///wAAAAAFCQAAAA9QZW5BdHRyaWJ1dGVzVjEKAAAAB19jb2xvckEHX2NvbG9yUgdfY29sb3JHB19jb2xvckIKRml0VG9DdXJ2ZQZIZWlnaHQOSWdub3JlUHJlc3N1cmUNSXNIaWdobGlnaHRlcgVTaGFwZQVXaWR0aAAAAAAAAAAABAACAgICAQYBAQxCcnVzaFNoYXBlVjECAAAABgIAAAD//wAAAAAAAAAAAAhAAAAF6v///wxCcnVzaFNoYXBlVjEBAAAAB3ZhbHVlX18ACAIAAAABAAAAAAAAAAAACEAFCgAAAApJbmtUcmFjZVYxAwAAAA1MaXN0YDErX2l0ZW1zDExpc3RgMStfc2l6ZQ9MaXN0YDErX3ZlcnNpb24EAAAYU2hhcmVkLklua2luZy5JbmtQb2ludFtdAgAAAAgIAgAAAAkXAAAAYAAAAGAAAAABDAAAAAkAAAD//wAAAAAAAAAAAAhAAAAB6P///+r///8BAAAAAAAAAAAACEABDQAAAAoAAAAJGQAAAEcAAABHAAAAAQ8AAAAJAAAA//8AAAAAAAAAAAAIQAAAAeb////q////AQAAAAAAAAAAAAhAARAAAAAKAAAACRsAAAApAAAAKQAAAAESAAAACQAAAP//AAAAAAAAAAAACEAAAAHk////6v///wEAAAAAAAAAAAAIQAETAAAACgAAAAkdAAAAOwAAADsAAAAHFwAAAAABAAAAgAAAAAQKSW5rUG9pbnRWMQIAAAAJHgAAAAkfAAAACSAAAAAJIQAAAAkiAAAACSMAAAAJJAAAAAklAAAACSYAAAAJJwAAAAkoAAAACSkAAAAJKgAAAAkrAAAACSwAAAAJLQAAAAkuAAAACS8AAAAJMAAAAAkxAAAACTIAAAAJMwAAAAk0AAAACTUAAAAJNgAAAAk3AAAACTgAAAAJOQAAAAk6AAAACTsAAAAJPAAAAAk9AAAACT4AAAAJPwAAAAlAAAAACUEAAAAJQgAAAAlDAAAACUQAAAAJRQAAAAlGAAAACUcAAAAJSAAAAAlJAAAACUoAAAAJSwAAAAlMAAAACU0AAAAJTgAAAAlPAAAACVAAAAAJUQAAAAlSAAAACVMAAAAJVAAAAAlVAAAACVYAAAAJVwAAAAlYAAAACVkAAAAJWgAAAAlbAAAACVwAAAAJXQAAAAleAAAACV8AAAAJYAAAAAlhAAAACWIAAAAJYwAAAAlkAAAACWUAAAAJZgAAAAlnAAAACWgAAAAJaQAAAAlqAAAACWsAAAAJbAAAAAltAAAACW4AAAAJbwAAAAlwAAAACXEAAAAJcgAAAAlzAAAACXQAAAAJdQAAAAl2AAAACXcAAAAJeAAAAAl5AAAACXoAAAAJewAAAAl8AAAACX0AAAANIAcZAAAAAAEAAACAAAAABApJbmtQb2ludFYxAgAAAAl+AAAACX8AAAAJgAAAAAmBAAAACYIAAAAJgwAAAAmEAAAACYUAAAAJhgAAAAmHAAAACYgAAAAJiQAAAAmKAAAACYsAAAAJjAAAAAmNAAAACY4AAAAJjwAAAAmQAAAACZEAAAAJkgAAAAmTAAAACZQAAAAJlQAAAAmWAAAACZcAAAAJmAAAAAmZAAAACZoAAAAJmwAAAAmcAAAACZ0AAAAJngAAAAmfAAAACaAAAAAJoQAAAAmiAAAACaMAAAAJpAAAAAmlAAAACaYAAAAJpwAAAAmoAAAACakAAAAJqgAAAAmrAAAACawAAAAJrQAAAAmuAAAACa8AAAAJsAAAAAmxAAAACbIAAAAJswAAAAm0AAAACbUAAAAJtgAAAAm3AAAACbgAAAAJuQAAAAm6AAAACbsAAAAJvAAAAAm9AAAACb4AAAAJvwAAAAnAAAAACcEAAAAJwgAAAAnDAAAACcQAAAANOQcbAAAAAAEAAABAAAAABApJbmtQb2ludFYxAgAAAAnFAAAACcYAAAAJxwAAAAnIAAAACckAAAAJygAAAAnLAAAACcwAAAAJzQAAAAnOAAAACc8AAAAJ0AAAAAnRAAAACdIAAAAJ0wAAAAnUAAAACdUAAAAJ1gAAAAnXAAAACdgAAAAJ2QAAAAnaAAAACdsAAAAJ3AAAAAndAAAACd4AAAAJ3wAAAAngAAAACeEAAAAJ4gAAAAnjAAAACeQAAAAJ5QAAAAnmAAAACecAAAAJ6AAAAAnpAAAACeoAAAAJ6wAAAAnsAAAACe0AAAANFwcdAAAAAAEAAABAAAAABApJbmtQb2ludFYxAgAAAAnuAAAACe8AAAAJ8AAAAAnxAAAACfIAAAAJ8wAAAAn0AAAACfUAAAAJ9gAAAAn3AAAACfgAAAAJ+QAAAAn6AAAACfsAAAAJ/AAAAAn9AAAACf4AAAAJ/wAAAAkAAQAACQEBAAAJAgEAAAkDAQAACQQBAAAJBQEAAAkGAQAACQcBAAAJCAEAAAkJAQAACQoBAAAJCwEAAAkMAQAACQ0BAAAJDgEAAAkPAQAACRABAAAJEQEAAAkSAQAACRMBAAAJFAEAAAkVAQAACRYBAAAJFwEAAAkYAQAACRkBAAAJGgEAAAkbAQAACRwBAAAJHQEAAAkeAQAACR8BAAAJIAEAAAkhAQAACSIBAAAJIwEAAAkkAQAACSUBAAAJJgEAAAknAQAACSgBAAANBQUeAAAACklua1BvaW50VjEEAAAAAVgBWQ5QcmVzc3VyZUZhY3RvcglUaW1lU3RhbXAAAAAABgYLEAIAAABAljnCBS2aP+B9a2R1GdY/AAAAPwAAAAAAAAAAAR8AAAAeAAAAgP4KsxpFnD+8sZkGzlXWPwAAAD8AAAAAAAAAAAEgAAAAHgAAAIBm3KMvXZ4/qsuwV/pz1j8AAAA/AAAAAAAAAAABIQAAAB4AAACgTyg7t1KiP5jlx6gmktY/AAAAPw8AAAAAAAAAASIAAAAeAAAAwAORs8Feoz+G/975UrDWPwAAAD8PAAAAAAAAAAEjAAAAHgAAAOAfyxzhgqY/YjMNnKvs1j8AAAA/HwAAAAAAAAABJAAAAB4AAABgpNZ2Fb+rPz5nOz4EKdc/AAAAPx8AAAAAAAAAASUAAAAeAAAAcBRx6KR9sD8sgVKPMEfXPwAAAD8vAAAAAAAAAAEmAAAAHgAAALAwq1HEobM/CrWAMYmD1z8AAAA/LwAAAAAAAAABJwAAAB4AAAAATeW648W2P9QCxiQO3tc/AAAAPz4AAAAAAAAAASgAAAAeAAAAMA/r5/1juT/CHN11OvzXPwAAAD8+AAAAAAAAAAEpAAAAHgAAAJCT9kEyoL4/nlALGJM42D8AAAA/XQAAAAAAAAABKgAAAB4AAADwV5jVKOLAP55QCxiTONg/AAAAP10AAAAAAAAAASsAAAAeAAAAGJNPKDu3wj+eUAsYkzjYPwAAAD9dAAAAAAAAAAEsAAAAHgAAAGCCb/NXmMU/nlALGJM42D8AAAA/fQAAAAAAAAABLQAAAB4AAAB4NthrYqTGP55QCxiTONg/AAAAP30AAAAAAAAAAS4AAAAeAAAAoHGPvnR5yD+eUAsYkzjYPwAAAD99AAAAAAAAAAEvAAAAHgAAAPDn/WOZI8w/nlALGJM42D8AAAA/jAAAAAAAAAABMAAAAB4AAAAQUM9UrjvOP55QCxiTONg/AAAAP5wAAAAAAAAAATEAAAAeAAAApEXDU2AI0D+eUAsYkzjYPwAAAD+rAAAAAAAAAAEyAAAAHgAAALj5K8xqFNE/nlALGJM42D8AAAA/qwAAAAAAAAABMwAAAB4AAABMl4f18/7RP7A29MZmGtg/AAAAP7sAAAAAAAAAATQAAAAeAAAAbHgKDAFO0z/m6K7T4b/XPwAAAD+7AAAAAAAAAAE1AAAAHgAAABTKzq2URNU/UE0k7dcK1z8AAAA/ywAAAAAAAAABNgAAAB4AAAAY9+hLl4fVP3QZ9kp/ztY/AAAAP8sAAAAAAAAAATcAAAAeAAAAKFEdiJwN1j+Y5ceoJpLWPwAAAD/aAAAAAAAAAAE4AAAAHgAAAChRHYicDdY/qsuwV/pz1j8AAAA/2gAAAAAAAAABOQAAAB4AAAAwfjcmn1DWP+B9a2R1GdY/AAAAP+oAAAAAAAAAAToAAAAeAAAAMH43Jp9Q1j8WMCZx8L7VPwAAAD/5AAAAAAAAAAE7AAAAHgAAADB+NyafUNY/XsjJLD9G1T8AAAA/+QAAAAAAAAABPAAAAB4AAAAwfjcmn1DWP5R6hDm669Q/AAAAP/kAAAAAAAAAAT0AAAAeAAAAMH43Jp9Q1j+4RlaXYa/UPwAAAD8JAQAAAAAAAAE+AAAAHgAAADB+NyafUNY/7vgQpNxU1D8AAAA/GQEAAAAAAAABPwAAAB4AAAAwfjcmn1DWPySry7BX+tM/AAAAPxkBAAAAAAAAAUAAAAAeAAAAMH43Jp9Q1j9qQ29spoHTPwAAAD8oAQAAAAAAAAFBAAAAHgAAADB+NyafUNY/oPUpeSEn0z8AAAA/KAEAAAAAAAABQgAAAB4AAACoZyrXHS/WP9an5IWczNI/AAAAPzgBAAAAAAAAAUMAAAAeAAAAoDoQORvs1T8MWp+SF3LSPwAAAD84AQAAAAAAAAFEAAAAHgAAAJgN9poYqdU/MCZx8L410j8AAAA/RwEAAAAAAAABRQAAAB4AAAAMnbQPkgHVP3a+FKwNvdE/AAAAP0cBAAAAAAAAAUYAAAAeAAAAiFmNIg6d1D++VrhnXETRPwAAAD9XAQAAAAAAAAFHAAAAHgAAAHTSPkgG1NM/Bu9bI6vL0D8AAAA/VwEAAAAAAAABSAAAAB4AAABseAoMAU7TPyq7LYFSj9A/AAAAP2cBAAAAAAAAAUkAAAAeAAAAWPG7MfmE0j9ibeiNzTTQPwAAAD92AQAAAAAAAAFKAAAAHgAAAERqbVfxu9E/CHN01+nwzz8AAAA/dgEAAAAAAAABSwAAAB4AAAA44x596fLQP1ALGJM4eM8/AAAAP3YBAAAAAAAAAUwAAAAeAAAApEXDU2AI0D+8b42sLsPOPwAAAD+GAQAAAAAAAAFNAAAAHgAAACB96fKwfs4/KNQCxiQOzj8AAAA/lQEAAAAAAAABTgAAAB4AAADw5/1jmSPMP3BspoFzlc0/AAAAP5UBAAAAAAAAAU8AAAAeAAAAyKxGEYdOyj/c0BubaeDMPwAAAD+VAQAAAAAAAAFQAAAAHgAAAJDqQORssMc/RDWRtF8rzD8AAAA/pQEAAAAAAAABUQAAAB4AAABo3KMvXR7GP2gBYxIH78s/AAAAP7UBAAAAAAAAAVIAAAAeAAAAOHTSPkgGxD/UZdgr/TnLPwAAAD+1AQAAAAAAAAFTAAAAHgAAABhmNYo4dMI/+DGqiaT9yj8AAAA/tQEAAAAAAAABVAAAAB4AAADo/WOZI1zAP0DKTUXzhMo/AAAAP8QBAAAAAAAAAVUAAAAeAAAAoN+NySeUvT9Ayk1F84TKPwAAAD/EAQAAAAAAAAFWAAAAHgAAAGB3vNgSfLs/QMpNRfOEyj8AAAA/1AEAAAAAAAABVwAAAB4AAAAQW4Jv81e4P0DKTUXzhMo/AAAAP+MBAAAAAAAAAVgAAAAeAAAAAE3luuPFtj9Ayk1F84TKPwAAAD/jAQAAAAAAAAFZAAAAHgAAAMDkE8rOrbQ/QMpNRfOEyj8AAAA/4wEAAAAAAAABWgAAAB4AAACw1nYVvxuzP0DKTUXzhMo/AAAAP/MBAAAAAAAAAVsAAAAeAAAAkCIOnbQPsj9Ayk1F84TKPwAAAD/zAQAAAAAAAAFcAAAAHgAAAHAUceikfbA/QMpNRfOEyj8AAAA/AwIAAAAAAAABXQAAAB4AAACgDKhnKtetPxz+e+dLwco/AAAAPwMCAAAAAAAAAV4AAAAeAAAAIIicDfaaqD+wmQbOVXbLPwAAAD8SAgAAAAAAAAFfAAAAHgAAAOAfyxzhgqY/jM00cK6yyz8AAAA/IgIAAAAAAAABYAAAAB4AAADAA5GzwV6jPyBpv1a4Z8w/AAAAPyICAAAAAAAAAWEAAAAeAAAAoE8oO7dSoj/8nO34EKTMPwAAAD8iAgAAAAAAAAFiAAAAHgAAAICbv8KsRqE/lDh43xpZzT8AAAA/MQIAAAAAAAABYwAAAB4AAACAZtyjL12eP0yg1CPM0c0/AAAAP0ECAAAAAAAAAWQAAAAeAAAAgP4KsxpFnD8ECDFofUrOPwAAAD9BAgAAAAAAAAFlAAAAHgAAAEAuaNHwFJg/mKO7Tof/zj8AAAA/QQIAAAAAAAABZgAAAB4AAABALmjR8BSYP3TX6fDfO88/AAAAP2ACAAAAAAAAAWcAAAAeAAAAAMaW4Nv8lT8sP0Y1kbTPPwAAAD9gAgAAAAAAAAFoAAAAHgAAAADGluDb/JU/CHN01+nwzz8AAAA/YAIAAAAAAAABaQAAAB4AAAAAxpbg2/yVPyq7LYFSj9A/AAAAP3ACAAAAAAAAAWoAAAAeAAAAAMaW4Nv8lT/0CHN01+nQPwAAAD9/AgAAAAAAAAFrAAAAHgAAAADGluDb/JU/vla4Z1xE0T8AAAA/fwIAAAAAAAABbAAAAB4AAAAAxpbg2/yVP4ik/VrhntE/AAAAP48CAAAAAAAAAW0AAAAeAAAAAMaW4Nv8lT9k2Cv9OdvRPwAAAD+PAgAAAAAAAAFuAAAAHgAAAADGluDb/JU/HkCIQetT0j8AAAA/nwIAAAAAAAABbwAAAB4AAAAAxpbg2/yVP9an5IWczNI/AAAAP58CAAAAAAAAAXAAAAAeAAAAQJY5wgUtmj+OD0HKTUXTPwAAAD+uAgAAAAAAAAFxAAAAHgAAAGDnVkqiOqA/NpG0Xyvc0z8AAAA/rgIAAAAAAAABcgAAAB4AAACAm7/CrEahPxLF4gGEGNQ/AAAAP7kCAAAAAAAAAXMAAAAeAAAAoE8oO7dSoj8A3/lSsDbUPwAAAD+5AgAAAAAAAAF0AAAAHgAAAKBPKDu3UqI/yiw/RjWR1D8AAAA/yAIAAAAAAAABdQAAAB4AAADgt/krzGqkP7hGVpdhr9Q/AAAAP9gCAAAAAAAAAXYAAAAeAAAA4Lf5K8xqpD+mYG3ojc3UPwAAAD/YAgAAAAAAAAF3AAAAHgAAAOAfyxzhgqY/gpSbiuYJ1T8AAAA/9wIAAAAAAAABeAAAAB4AAAAgiJwN9pqoP17IySw/RtU/AAAAP/cCAAAAAAAAAXkAAAAeAAAAYKTWdhW/qz9M4uB9a2TVPwAAAD/3AgAAAAAAAAF6AAAAHgAAAKDAEOA0464/Ovz3zpeC1T8AAAA/FgMAAAAAAAABewAAAB4AAABwFHHopH2wPygWDyDEoNU/AAAAPxYDAAAAAAAAAXwAAAAeAAAAkCIOnbQPsj8WMCZx8L7VPwAAAD8WAwAAAAAAAAF9AAAAHgAAAKB8Qtm5lbI/BEo9whzd1T8AAAA/NgMAAAAAAAABfgAAAB4AAACQZY5wQYvmP/hrhXvGRaQ/AAAAPwAAAAAAAAAAAX8AAAAeAAAAzMP6ef9Y5j/4a4V7xkWkPwAAAD8QAAAAAAAAAAGAAAAAHgAAAEit7Sp+N+Y/2Ar3jIsopj8AAAA/EAAAAAAAAAABgQAAAB4AAADEluDb/BXmPwgYkzh436o/AAAAPxAAAAAAAAAAAYIAAAAeAAAARIDTjHv05T/otgRKPcKsPwAAAD8gAAAAAAAAAAGDAAAAHgAAAMBpxj360uU/OCUv5GSWrz8AAAA/IAAAAAAAAAABhAAAAB4AAACA3j+WOcLlP8jJLD9GNbE/AAAAPy8AAAAAAAAAAYUAAAAeAAAAPFO57nix5T+oaJ5QCxizPwAAAD8vAAAAAAAAAAGGAAAAHgAAAPzHMke4oOU/0J+zHR+CtD8AAAA/PwAAAAAAAAABhwAAAB4AAAD8xzJHuKDlP/jWyOoy7LU/AAAAP04AAAAAAAAAAYgAAAAeAAAA/McyR7ig5T+0PiUv5GS2PwAAAD9OAAAAAAAAAAGJAAAAHgAAAPzHMke4oOU/3HU6/PfOtz8AAAA/TgAAAAAAAAABigAAAB4AAADAacY9+tLlP3R8CFJuKro/AAAAP2wAAAAAAAAAAYsAAAAeAAAAhAtaNDwF5j8Mg9an5IW8PwAAAD9sAAAAAAAAAAGMAAAAHgAAAEit7Sp+N+Y/9CFIualovj8AAAA/ewAAAAAAAAABjQAAAB4AAACcv8KsRhHnPyBIualonsA/AAAAP4sAAAAAAAAAAY4AAAAeAAAAJAPqmcp15z+040OQclPBPwAAAD+LAAAAAAAAAAGPAAAAHgAAAGi7it+Nyec/bEug1CPMwT8AAAA/iwAAAAAAAAABkAAAAB4AAAB4Fb8bk0/oPwTnKrstgcI/AAAAP5oAAAAAAAAAAZEAAAAeAAAAQORssNfE6D/gGlldhr3CPwAAAD+qAAAAAAAAAAGSAAAAHgAAAEw+oezcSuk/mIK1oTc2wz8AAAA/qgAAAAAAAAABkwAAAB4AAABYmNUo4tDpP1DqEeborsM/AAAAP7oAAAAAAAAAAZQAAAAeAAAAnFB2bqUk6j8IUm4qmifEPwAAAD+6AAAAAAAAAAGVAAAAHgAAADDBt/krzOo/CFJuKponxD8AAAA/yQAAAAAAAAABlgAAAB4AAAA4G+w1MVLrPwhSbiqaJ8Q/AAAAP8kAAAAAAAAAAZcAAAAeAAAARHUgcjbY6z8IUm4qmifEPwAAAD/ZAAAAAAAAAAGYAAAAHgAAAJRa21X8buw/CFJuKponxD8AAAA/2QAAAAAAAAABmQAAAB4AAABcKYnqQOTsPwhSbiqaJ8Q/AAAAP+gAAAAAAAAAAZoAAAAeAAAApOEpMAQ47T8IUm4qmifEPwAAAD/oAAAAAAAAAAGbAAAAHgAAAKgORM4Ge+0/LB5AiEHrwz8AAAA/+AAAAAAAAAABnAAAAB4AAABssNfESK3tP3S240OQcsM/AAAAP/gAAAAAAAAAAZ0AAAAeAAAAMFJru4rf7T8E5yq7LYHCPwAAAD8IAQAAAAAAAAGeAAAAHgAAALRoeAoMAe4/SH/OdnwIwj8AAAA/FwEAAAAAAAABnwAAAB4AAAC0aHgKDAHuP2xLoNQjzME/AAAAPxcBAAAAAAAAAaAAAAAeAAAAOH+FWY0i7j8gSLmpaJ7APwAAAD82AQAAAAAAAAGhAAAAHgAAAHgKDAFOM+4/auBcZbclwD8AAAA/NgEAAAAAAAABogAAAB4AAAD4IBlQz1TuP/QhSLmpaL4/AAAAPzYBAAAAAAAAAaMAAAAeAAAA+CAZUM9U7j9UG3pjMw28PwAAAD9WAQAAAAAAAAGkAAAAHgAAAPggGVDPVO4/LORklh+juj8AAAA/VgEAAAAAAAABpQAAAB4AAAD4IBlQz1TuPwStT8kLObk/AAAAP1YBAAAAAAAAAaYAAAAeAAAA+CAZUM9U7j+IBxBi0Pq0PwAAAD91AQAAAAAAAAGnAAAAHgAAAPggGVDPVO4/GDhX2W0JtD8AAAA/dQEAAAAAAAABqAAAAB4AAAB4CgwBTjPuP/AAQgxan7I/AAAAP4QBAAAAAAAAAakAAAAeAAAAOH+FWY0i7j+AMYmD962xPwAAAD+EAQAAAAAAAAGqAAAAHgAAADBSa7uK3+0/WIa90p+zrT8AAAA/lAEAAAAAAAABqwAAAB4AAADwxuQTys7tP3jnS8Ha0Ks/AAAAP5QBAAAAAAAAAawAAAAeAAAArDtebAm+7T+YSNqvFe6pPwAAAD+UAQAAAAAAAAGtAAAAHgAAACwlUR2InO0/2Ar3jIsopj8AAAA/pAEAAAAAAAABrgAAAB4AAACoDkTOBnvtP/hrhXvGRaQ/AAAAP7MBAAAAAAAAAa8AAAAeAAAA5Gyw18RI7T+g/VrhnnGhPwAAAD+zAQAAAAAAAAGwAAAAHgAAAGRWo4hDJ+0/gL3Sn7Mdnz8AAAA/wwEAAAAAAAABsQAAAB4AAADgP5Y5wgXtP8B/73wpWJs/AAAAP8MBAAAAAAAAAbIAAAAeAAAAVPxuTD6h7D/wQQxan5KXPwAAAD/SAQAAAAAAAAGzAAAAHgAAAJRa21X8buw/EKOaSNqvlT8AAAA/0gEAAAAAAAABtAAAAB4AAAAIF7RoeArsP4DGRRSLB5A/AAAAP+IBAAAAAAAAAbUAAAAeAAAAgNOMe/Sl6z9AT6gFjEmMPwAAAD/iAQAAAAAAAAG2AAAAHgAAADDu0ZcuD+s/oNPhv3e+hD8AAAA/8gEAAAAAAAABtwAAAB4AAACsqqqqqqrqP0CwNvTGZno/AAAAPwECAAAAAAAAAbgAAAAeAAAAnFB2bqUk6j+AclPRPKFmPwAAAD8RAgAAAAAAAAG5AAAAHgAAAJwjXNCi4ek/gHJT0TyhZj8AAAA/EQIAAAAAAAABugAAAB4AAAAYDU+BIcDpP4ByU9E8oWY/AAAAPyACAAAAAAAAAbsAAAAeAAAAEOA04x596T+AclPRPKFmPwAAAD8gAgAAAAAAAAG8AAAAHgAAAEw+oezcSuk/gHJT0TyhZj8AAAA/MAIAAAAAAAABvQAAAB4AAACInA32mhjpP4ByU9E8oWY/AAAAP0ACAAAAAAAAAb4AAAAeAAAAhG/zV5jV6D+AclPRPKFmPwAAAD9AAgAAAAAAAAG/AAAAHgAAAEDkbLDXxOg/gHJT0TyhZj8AAAA/QAIAAAAAAAABwAAAAB4AAAB8Qtm5lZLoP4ByU9E8oWY/AAAAP08CAAAAAAAAAcEAAAAeAAAAuKBFw1Ng6D+AclPRPKFmPwAAAD9fAgAAAAAAAAHCAAAAHgAAAHgVvxuTT+g/gHJT0TyhZj8AAAA/XwIAAAAAAAABwwAAAB4AAAA4ijh00j7oP4ByU9E8oWY/AAAAP18CAAAAAAAAAcQAAAAeAAAA9P6xzBEu6D+AclPRPKFmPwAAAD9uAgAAAAAAAAHFAAAAHgAAAHixJfg2f+U/tcI94yKK5T8AAAA/AAAAAAAAAAABxgAAAB4AAAB4sSX4Nn/lP61PyQs5meU/AAAAPw8AAAAAAAAAAccAAAAeAAAAeLEl+DZ/5T9tKpon1ALmPwAAAD8fAAAAAAAAAAHIAAAAHgAAAHixJfg2f+U/N3jfGlld5j8AAAA/LwAAAAAAAAAByQAAAB4AAAB4sSX4Nn/lPxOsDb2xmeY/AAAAPy8AAAAAAAAAAcoAAAAeAAAAeLEl+DZ/5T/Xht7YTAPnPwAAAD8+AAAAAAAAAAHLAAAAHgAAAHixJfg2f+U/qUeYo7tO5z8AAAA/TgAAAAAAAAABzAAAAB4AAAB4sSX4Nn/lP3OV3ZZAqec/AAAAP04AAAAAAAAAAc0AAAAeAAAAeLEl+DZ/5T8zcK6y2xLoPwAAAD9OAAAAAAAAAAHOAAAAHgAAAHixJfg2f+U/BzFofUpe6D8AAAA/XQAAAAAAAAABzwAAAB4AAAB4sSX4Nn/lP+3XCveMi+g/AAAAP20AAAAAAAAAAdAAAAAeAAAAeLEl+DZ/5T/Tfq1wz7joPwAAAD9tAAAAAAAAAAHRAAAAHgAAAHixJfg2f+U/wZjEwfvW6D8AAAA/fQAAAAAAAAAB0gAAAB4AAAB4sSX4Nn/lP7clUOoR5ug/AAAAP30AAAAAAAAAAdMAAAAeAAAAeLEl+DZ/5T+vstsSKPXoPwAAAD99AAAAAAAAAAHUAAAAHgAAAHixJfg2f+U/pT9nOz4E6T8AAAA/igAAAAAAAAAB1QAAAB4AAAC8PKyf94/lP53M8mNUE+k/AAAAP6kAAAAAAAAAAdYAAAAeAAAAPFO57nix5T+dzPJjVBPpPwAAAD/JAAAAAAAAAAHXAAAAHgAAAAT1TOW64+U/pT9nOz4E6T8AAAA/yQAAAAAAAAAB2AAAAB4AAABIre0qfjfmP8GYxMH71ug/AAAAP9gAAAAAAAAAAdkAAAAeAAAA1PAUGAKc5j/b8SFIuanoPwAAAD/oAAAAAAAAAAHaAAAAHgAAAFg0PAWGAOc/9Up/znZ86D8AAAA/6AAAAAAAAAAB2wAAAB4AAADopH2QDKjnPxkXUSweQOg/AAAAP+gAAAAAAAAAAdwAAAAeAAAAtHMrJVEd6D9FVpdhr/TnPwAAAD/3AAAAAAAAAAHdAAAAHgAAAMT6ef9Y5ug/fQhSbiqa5z8AAAA/9wAAAAAAAAAB3gAAAB4AAABQa7uK343pP7O6DHulP+c/AAAAPwcBAAAAAAAAAd8AAAAeAAAAnFB2bqUk6j/x3ztfCtbmPwAAAD8XAQAAAAAAAAHgAAAAHgAAALQE3+avMOs/W0SxeAAh5j8AAAA/FwEAAAAAAAAB4QAAAB4AAACA04x79KXrP4mD962R1eU/AAAAPyYBAAAAAAAAAeIAAAAeAAAAzLhHX7o87D+tT8kLOZnlPwAAAD8mAQAAAAAAAAHjAAAAHgAAAFT8bkw+oew/4wGEGLQ+5T8AAAA/NgEAAAAAAAAB5AAAAB4AAABkVqOIQyftP/1a4Z5xEeU/AAAAPzYBAAAAAAAAAeUAAAAeAAAA6JnKdceL7T8hJ7P8GNXkPwAAAD9FAQAAAAAAAAHmAAAAHgAAADBSa7uK3+0/O4AQg9an5D8AAAA/VQEAAAAAAAAB5wAAAB4AAAD4IBlQz1TuP01m+TGqieQ/AAAAP1UBAAAAAAAAAegAAAAeAAAARNm5lZKo7j9xMsuPUU3kPwAAAD9VAQAAAAAAAAHpAAAAHgAAAEgG1DOV6+4/e6U/Zzs+5D8AAAA/ZQEAAAAAAAAB6gAAAB4AAADQSfsgGVDvP5b+nO34EOQ/AAAAP3QBAAAAAAAAAesAAAAeAAAAlOuOF1uC7z+W/pzt+BDkPwAAAD90AQAAAAAAAAHsAAAAHgAAAJwYqbVdxe8/n3ERxeIB5D8AAAA/dAEAAAAAAAAB7QAAAB4AAAAcL7YE3+bvP7FX+nO24+M/AAAAP4QBAAAAAAAAAe4AAAAeAAAAABIuaNHwdD+VvJCTWX7sPwAAAD8AAAAAAAAAAAHvAAAAHgAAAADi0En7IGk/lbyQk1l+7D8AAAA/DwAAAAAAAAAB8AAAAB4AAAAA4tBJ+yBpP4PWp+SFnOw/AAAAPx8AAAAAAAAAAfEAAAAeAAAAAOLQSfsgaT9x8L41srrsPwAAAD8fAAAAAAAAAAHyAAAAHgAAAADi0En7IGk/TSTt1wr37D8AAAA/LgAAAAAAAAAB8wAAAB4AAAAA4tBJ+yBpPzs+BCk3Fe0/AAAAPz4AAAAAAAAAAfQAAAAeAAAAAOLQSfsgaT8f5aaieULtPwAAAD8+AAAAAAAAAAH1AAAAHgAAAADi0En7IGk/86VgbeiN7T8AAAA/XQAAAAAAAAAB9gAAAB4AAAAA4tBJ+yBpP9dMA+cqu+0/AAAAP10AAAAAAAAAAfcAAAAeAAAAAOLQSfsgaT+tDb2xmQbuPwAAAD9tAAAAAAAAAAH4AAAAHgAAAADi0En7IGk/kbRfK9wz7j8AAAA/bQAAAAAAAAAB+QAAAB4AAAAA4tBJ+yBpP23ojc00cO4/AAAAP20AAAAAAAAAAfoAAAAeAAAAAOLQSfsgaT9JHLxvjazuPwAAAD98AAAAAAAAAAH7AAAAHgAAAADi0En7IGk/G911Ovz37j8AAAA/jAAAAAAAAAAB/AAAAB4AAAAA4tBJ+yBpP/cQpNxUNO8/AAAAP4wAAAAAAAAAAf0AAAAeAAAAAOLQSfsgaT/TRNJ+rXDvPwAAAD+MAAAAAAAAAAH+AAAAHgAAAADi0En7IGk/y9Fdp8N/7z8AAAA/nAAAAAAAAAAB/wAAAB4AAAAAEi5o0fB0P7vrdPjvne8/AAAAP6sAAAAAAAAAAQABAAAeAAAAALNzKyVRfT+xeAAhBq3vPwAAAD/qAAAAAAAAAAEBAQAAHgAAAICpXHe82II/sXgAIQat7z8AAAA/+QAAAAAAAAABAgEAAB4AAACAqVx3vNiCP6kFjEkcvO8/AAAAPxgBAAAAAAAAAQMBAAAeAAAAAHr/WOYIhz+fkhdyMsvvPwAAAD8YAQAAAAAAAAEEAQAAHgAAAIBKojoQOYs/lx+jmkja7z8AAAA/KAEAAAAAAAABBQEAAB4AAACAGkUcOmmPP5cfo5pI2u8/AAAAPzgBAAAAAAAAAQYBAAAeAAAAAMaW4Nv8lT+NrC7DXunvPwAAAD84AQAAAAAAAAEHAQAAHgAAAIBm3KMvXZ4/jawuw17p7z8AAAA/RwEAAAAAAAABCAEAAB4AAACgTyg7t1KiP42sLsNe6e8/AAAAP0cBAAAAAAAAAQkBAAAeAAAAANQzleuOpz+NrC7DXunvPwAAAD9XAQAAAAAAAAEKAQAAHgAAAGDwbf4Ks6o/jawuw17p7z8AAAA/VwEAAAAAAAABCwEAAB4AAABwFHHopH2wP42sLsNe6e8/AAAAP2YBAAAAAAAAAQwBAAAeAAAAwOQTys6ttD+fkhdyMsvvPwAAAD92AQAAAAAAAAENAQAAHgAAADAP6+f9Y7k/wV7pz9mO7z8AAAA/dgEAAAAAAAABDgEAAB4AAACg343JJ5S9P923RlaXYe8/AAAAP3YBAAAAAAAAAQ8BAAAeAAAAOHTSPkgGxD8lUOoR5ujuPwAAAD+VAQAAAAAAAAEQAQAAHgAAAGgJvs1fYcY/NzbTwLnK7j8AAAA/lQEAAAAAAAABEQEAAB4AAACgcY++dHnIP0GpR5iju+4/AAAAP5UBAAAAAAAAARIBAAAeAAAAuH8sc4QLyj9bAqUeYY7uPwAAAD+lAQAAAAAAAAETAQAAHgAAAOCNySeUncs/beiNzTRw7j8AAAA/tAEAAAAAAAABFAEAAB4AAAAIyYB6pnLNP4lB61PyQu4/AAAAP7QBAAAAAAAAARUBAAAeAAAAMNcdL7YEzz+RtF8r3DPuPwAAAD+0AQAAAAAAAAEWAQAAHgAAADw9U7nueNE/x2YaOFfZ7T8AAAA/1AEAAAAAAAABFwEAAB4AAABQxKGT9kHSP+G/d74UrO0/AAAAP9QBAAAAAAAAARgBAAAeAAAAYB7Wz/vH0j/zpWBt6I3tPwAAAD/UAQAAAAAAAAEZAQAAHgAAAGx4CgwBTtM/Df+986Vg7T8AAAA/4wEAAAAAAAABGgEAAB4AAAD0uzH5hLLTPxdyMsuPUe0/AAAAP/MBAAAAAAAAARsBAAAeAAAAgCxzhAta1D8xy49RTSTtPwAAAD/zAQAAAAAAAAEcAQAAHgAAAIhZjSIOndQ/Q7F4ACEG7T8AAAA/8wEAAAAAAAABHQEAAB4AAACUs8FeEyPVP1WXYa/05+w/AAAAPwICAAAAAAAAAR4BAAAeAAAAFMrOrZRE1T9fCtaG3tjsPwAAAD8SAgAAAAAAAAEfAQAAHgAAACAkA+qZytU/eWMzDZyr7D8AAAA/EgIAAAAAAAABIAEAAB4AAACgOhA5G+zVP3ljMw2cq+w/AAAAPyICAAAAAAAAASEBAAAeAAAAKFEdiJwN1j95YzMNnKvsPwAAAD8xAgAAAAAAAAEiAQAAHgAAAChRHYicDdY/g9an5IWc7D8AAAA/MQIAAAAAAAABIwEAAB4AAAAwfjcmn1DWP5W8kJNZfuw/AAAAP0ECAAAAAAAAASQBAAAeAAAAsJREdSBy1j+VvJCTWX7sPwAAAD9QAgAAAAAAAAElAQAAHgAAADirUcShk9Y/nS8Fa0Nv7D8AAAA/UAIAAAAAAAABJgEAAB4AAACwwV4TI7XWP6eieUItYOw/AAAAP1ACAAAAAAAAAScBAAAeAAAAuO54sSX41j+nonlCLWDsPwAAAD9gAgAAAAAAAAEoAQAAHgAAALjueLEl+NY/rxXuGRdR7D8AAAA/cAIAAAAAAAAL</ink>
</athena>
</file>

<file path=customXml/item4.xml><?xml version="1.0" encoding="utf-8"?>
<athena xmlns="http://schemas.microsoft.com/edu/athena" version="0.1.3885.0">
  <timings duration="47057"/>
</athena>
</file>

<file path=customXml/item5.xml><?xml version="1.0" encoding="utf-8"?>
<athena xmlns="http://schemas.microsoft.com/edu/athena" version="0.1.3885.0">
  <timings duration="47057"/>
</athena>
</file>

<file path=customXml/itemProps1.xml><?xml version="1.0" encoding="utf-8"?>
<ds:datastoreItem xmlns:ds="http://schemas.openxmlformats.org/officeDocument/2006/customXml" ds:itemID="{FF6C7D99-C87D-4DCE-87AD-107A762F2537}">
  <ds:schemaRefs>
    <ds:schemaRef ds:uri="http://schemas.microsoft.com/edu/athena"/>
  </ds:schemaRefs>
</ds:datastoreItem>
</file>

<file path=customXml/itemProps2.xml><?xml version="1.0" encoding="utf-8"?>
<ds:datastoreItem xmlns:ds="http://schemas.openxmlformats.org/officeDocument/2006/customXml" ds:itemID="{1BA977A9-C848-4B99-853C-D423CC37C4DC}">
  <ds:schemaRefs>
    <ds:schemaRef ds:uri="http://schemas.microsoft.com/edu/athena"/>
  </ds:schemaRefs>
</ds:datastoreItem>
</file>

<file path=customXml/itemProps3.xml><?xml version="1.0" encoding="utf-8"?>
<ds:datastoreItem xmlns:ds="http://schemas.openxmlformats.org/officeDocument/2006/customXml" ds:itemID="{BAE01004-4DA3-4373-9643-492AA1ED0C85}">
  <ds:schemaRefs>
    <ds:schemaRef ds:uri="http://schemas.microsoft.com/edu/athena"/>
  </ds:schemaRefs>
</ds:datastoreItem>
</file>

<file path=customXml/itemProps4.xml><?xml version="1.0" encoding="utf-8"?>
<ds:datastoreItem xmlns:ds="http://schemas.openxmlformats.org/officeDocument/2006/customXml" ds:itemID="{C6B7C09F-4BEE-4936-84B5-5391F3D8659D}">
  <ds:schemaRefs>
    <ds:schemaRef ds:uri="http://schemas.microsoft.com/edu/athena"/>
  </ds:schemaRefs>
</ds:datastoreItem>
</file>

<file path=customXml/itemProps5.xml><?xml version="1.0" encoding="utf-8"?>
<ds:datastoreItem xmlns:ds="http://schemas.openxmlformats.org/officeDocument/2006/customXml" ds:itemID="{6D3ED6D0-F7E1-4181-B1E2-C28D3C20349A}">
  <ds:schemaRefs>
    <ds:schemaRef ds:uri="http://schemas.microsoft.com/edu/athena"/>
  </ds:schemaRefs>
</ds:datastoreItem>
</file>

<file path=docProps/app.xml><?xml version="1.0" encoding="utf-8"?>
<Properties xmlns="http://schemas.openxmlformats.org/officeDocument/2006/extended-properties" xmlns:vt="http://schemas.openxmlformats.org/officeDocument/2006/docPropsVTypes">
  <Template>V2</Template>
  <TotalTime>23103</TotalTime>
  <Words>4060</Words>
  <Application>Microsoft Office PowerPoint</Application>
  <PresentationFormat>宽屏</PresentationFormat>
  <Paragraphs>574</Paragraphs>
  <Slides>31</Slides>
  <Notes>31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31</vt:i4>
      </vt:variant>
    </vt:vector>
  </HeadingPairs>
  <TitlesOfParts>
    <vt:vector size="40" baseType="lpstr">
      <vt:lpstr>Malgun Gothic Semilight</vt:lpstr>
      <vt:lpstr>Microsoft JhengHei Light</vt:lpstr>
      <vt:lpstr>宋体</vt:lpstr>
      <vt:lpstr>Arial</vt:lpstr>
      <vt:lpstr>Calibri</vt:lpstr>
      <vt:lpstr>Calibri Light</vt:lpstr>
      <vt:lpstr>Times New Roman</vt:lpstr>
      <vt:lpstr>Wingdings</vt:lpstr>
      <vt:lpstr>MOOC1</vt:lpstr>
      <vt:lpstr>Software Requirements Analysis, Design and Modeling</vt:lpstr>
      <vt:lpstr>Objectives</vt:lpstr>
      <vt:lpstr>Content Outline</vt:lpstr>
      <vt:lpstr>Polymorphism</vt:lpstr>
      <vt:lpstr>Polymorphism: Example</vt:lpstr>
      <vt:lpstr>Polymorphism: Discussion</vt:lpstr>
      <vt:lpstr>Polymorphism: Others</vt:lpstr>
      <vt:lpstr>Content Outline</vt:lpstr>
      <vt:lpstr>Pure Fabrication</vt:lpstr>
      <vt:lpstr>Pure Fabrication:Example-1</vt:lpstr>
      <vt:lpstr>Pure Fabrication:Example-2</vt:lpstr>
      <vt:lpstr>Pure Fabrication:Example-3</vt:lpstr>
      <vt:lpstr>Pure Fabrication:Example-4</vt:lpstr>
      <vt:lpstr>Pure Fabrication: Discussion</vt:lpstr>
      <vt:lpstr>Pure Fabrication: Others</vt:lpstr>
      <vt:lpstr>Content Outline</vt:lpstr>
      <vt:lpstr>Indirection</vt:lpstr>
      <vt:lpstr>Indirection:Example</vt:lpstr>
      <vt:lpstr>Indirection: Discussion</vt:lpstr>
      <vt:lpstr>Indirection: Others</vt:lpstr>
      <vt:lpstr>Content Outline</vt:lpstr>
      <vt:lpstr>Protected Variations</vt:lpstr>
      <vt:lpstr>Protected Variations: Discussion</vt:lpstr>
      <vt:lpstr>Protected Variations: Discussion</vt:lpstr>
      <vt:lpstr>Protected Variations :Example-1</vt:lpstr>
      <vt:lpstr>Protected Variations : Example-2</vt:lpstr>
      <vt:lpstr>Protected Variations : Discussion</vt:lpstr>
      <vt:lpstr>Protected Variations : Others</vt:lpstr>
      <vt:lpstr>Protected Variations : Others</vt:lpstr>
      <vt:lpstr>Review : GRASP: More Objects with Responsibilities </vt:lpstr>
      <vt:lpstr>Special Topics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dc:title>
  <dc:creator>Dmitri Korzh</dc:creator>
  <cp:lastModifiedBy>admin</cp:lastModifiedBy>
  <cp:revision>2034</cp:revision>
  <dcterms:created xsi:type="dcterms:W3CDTF">2004-11-24T03:27:20Z</dcterms:created>
  <dcterms:modified xsi:type="dcterms:W3CDTF">2016-10-21T11:43:23Z</dcterms:modified>
</cp:coreProperties>
</file>