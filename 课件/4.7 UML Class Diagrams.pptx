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bookmarkIdSeed="2">
  <p:sldMasterIdLst>
    <p:sldMasterId id="2147483824" r:id="rId5"/>
  </p:sldMasterIdLst>
  <p:notesMasterIdLst>
    <p:notesMasterId r:id="rId38"/>
  </p:notesMasterIdLst>
  <p:handoutMasterIdLst>
    <p:handoutMasterId r:id="rId39"/>
  </p:handoutMasterIdLst>
  <p:sldIdLst>
    <p:sldId id="256" r:id="rId6"/>
    <p:sldId id="406" r:id="rId7"/>
    <p:sldId id="317" r:id="rId8"/>
    <p:sldId id="412" r:id="rId9"/>
    <p:sldId id="413" r:id="rId10"/>
    <p:sldId id="414" r:id="rId11"/>
    <p:sldId id="427" r:id="rId12"/>
    <p:sldId id="415" r:id="rId13"/>
    <p:sldId id="432" r:id="rId14"/>
    <p:sldId id="433" r:id="rId15"/>
    <p:sldId id="434" r:id="rId16"/>
    <p:sldId id="416" r:id="rId17"/>
    <p:sldId id="435" r:id="rId18"/>
    <p:sldId id="417" r:id="rId19"/>
    <p:sldId id="439" r:id="rId20"/>
    <p:sldId id="440" r:id="rId21"/>
    <p:sldId id="418" r:id="rId22"/>
    <p:sldId id="419" r:id="rId23"/>
    <p:sldId id="420" r:id="rId24"/>
    <p:sldId id="421" r:id="rId25"/>
    <p:sldId id="422" r:id="rId26"/>
    <p:sldId id="423" r:id="rId27"/>
    <p:sldId id="424" r:id="rId28"/>
    <p:sldId id="425" r:id="rId29"/>
    <p:sldId id="426" r:id="rId30"/>
    <p:sldId id="429" r:id="rId31"/>
    <p:sldId id="431" r:id="rId32"/>
    <p:sldId id="430" r:id="rId33"/>
    <p:sldId id="436" r:id="rId34"/>
    <p:sldId id="437" r:id="rId35"/>
    <p:sldId id="333" r:id="rId36"/>
    <p:sldId id="273" r:id="rId3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DEAF3"/>
    <a:srgbClr val="5B9BD5"/>
    <a:srgbClr val="000000"/>
    <a:srgbClr val="5583AC"/>
    <a:srgbClr val="C9C9C9"/>
    <a:srgbClr val="F2F2F2"/>
    <a:srgbClr val="DDDDDD"/>
    <a:srgbClr val="7F9EB8"/>
    <a:srgbClr val="4286BF"/>
    <a:srgbClr val="739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28" autoAdjust="0"/>
    <p:restoredTop sz="43318" autoAdjust="0"/>
  </p:normalViewPr>
  <p:slideViewPr>
    <p:cSldViewPr>
      <p:cViewPr varScale="1">
        <p:scale>
          <a:sx n="50" d="100"/>
          <a:sy n="50" d="100"/>
        </p:scale>
        <p:origin x="195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7266"/>
    </p:cViewPr>
  </p:sorterViewPr>
  <p:notesViewPr>
    <p:cSldViewPr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EA1D00-F704-410D-8822-8E7F2FD0F3F4}" type="datetimeFigureOut">
              <a:rPr lang="zh-CN" altLang="en-US"/>
              <a:pPr>
                <a:defRPr/>
              </a:pPr>
              <a:t>2016/3/1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10FA45-57B3-46FF-9187-A5D22EEEA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034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5814F6A-3EEF-4727-864D-CF28325BAA64}" type="datetimeFigureOut">
              <a:rPr lang="zh-CN" altLang="en-US"/>
              <a:pPr>
                <a:defRPr/>
              </a:pPr>
              <a:t>2016/3/1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E2F72D-D5C7-4DF3-B4ED-3587E774A3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91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这节课，我们一起学习</a:t>
            </a:r>
            <a:endParaRPr lang="en-US" altLang="zh-CN" dirty="0" smtClean="0"/>
          </a:p>
          <a:p>
            <a:r>
              <a:rPr lang="zh-CN" altLang="en-US" dirty="0" smtClean="0"/>
              <a:t>第 </a:t>
            </a:r>
            <a:r>
              <a:rPr lang="en-US" altLang="zh-CN" dirty="0" smtClean="0"/>
              <a:t>4.7 </a:t>
            </a:r>
            <a:r>
              <a:rPr lang="zh-CN" altLang="en-US" dirty="0" smtClean="0"/>
              <a:t>章节 第 </a:t>
            </a:r>
            <a:r>
              <a:rPr lang="en-US" altLang="zh-CN" dirty="0" smtClean="0"/>
              <a:t>15 </a:t>
            </a:r>
            <a:r>
              <a:rPr lang="zh-CN" altLang="en-US" dirty="0" smtClean="0"/>
              <a:t>个知识域，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类图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baseline="0" dirty="0" smtClean="0">
              <a:solidFill>
                <a:srgbClr val="FF0000"/>
              </a:solidFill>
            </a:endParaRPr>
          </a:p>
          <a:p>
            <a:r>
              <a:rPr lang="en-US" altLang="zh-CN" baseline="0" dirty="0" smtClean="0">
                <a:solidFill>
                  <a:srgbClr val="FF0000"/>
                </a:solidFill>
              </a:rPr>
              <a:t>//</a:t>
            </a:r>
            <a:r>
              <a:rPr lang="zh-CN" altLang="en-US" baseline="0" dirty="0" smtClean="0">
                <a:solidFill>
                  <a:srgbClr val="FF0000"/>
                </a:solidFill>
              </a:rPr>
              <a:t>下面是备注</a:t>
            </a:r>
            <a:endParaRPr lang="en-US" altLang="zh-CN" baseline="0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对应课本第 </a:t>
            </a:r>
            <a:r>
              <a:rPr lang="en-US" altLang="zh-CN" dirty="0" smtClean="0"/>
              <a:t>16 </a:t>
            </a:r>
            <a:r>
              <a:rPr lang="zh-CN" altLang="en-US" dirty="0" smtClean="0"/>
              <a:t>章</a:t>
            </a:r>
            <a:r>
              <a:rPr lang="zh-CN" altLang="en-US" baseline="0" dirty="0" smtClean="0"/>
              <a:t> </a:t>
            </a:r>
            <a:r>
              <a:rPr lang="en-US" altLang="zh-CN" baseline="0" smtClean="0"/>
              <a:t>P180-195 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40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为快速使用 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类</a:t>
            </a:r>
            <a:r>
              <a:rPr lang="zh-CN" altLang="en-US" dirty="0" smtClean="0"/>
              <a:t>图表示法 提供参考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08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首先介绍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应用：常用类图表示法 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//</a:t>
            </a:r>
          </a:p>
          <a:p>
            <a:r>
              <a:rPr lang="en-US" altLang="zh-CN" dirty="0" smtClean="0"/>
              <a:t>Generalization, Abstract Classes, Abstract Operations</a:t>
            </a:r>
          </a:p>
          <a:p>
            <a:r>
              <a:rPr lang="en-US" altLang="zh-CN" dirty="0" smtClean="0"/>
              <a:t>Dependency</a:t>
            </a:r>
          </a:p>
          <a:p>
            <a:r>
              <a:rPr lang="en-US" altLang="zh-CN" dirty="0" smtClean="0"/>
              <a:t>Association Class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Singleton Classes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Template Classes and Interfaces.</a:t>
            </a:r>
          </a:p>
          <a:p>
            <a:r>
              <a:rPr lang="en-US" altLang="zh-CN" dirty="0" smtClean="0"/>
              <a:t>Active Class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482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UML </a:t>
            </a:r>
            <a:r>
              <a:rPr lang="zh-CN" altLang="en-US" dirty="0" smtClean="0"/>
              <a:t>用类图表示类、接口及其关联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类图用于静态对象建模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在领域建模时，我们已经介绍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并使用了这种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当时 是在概念透视图中应用类图的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本章概括了更多的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类图表示法</a:t>
            </a:r>
          </a:p>
          <a:p>
            <a:r>
              <a:rPr lang="zh-CN" altLang="en-US" dirty="0" smtClean="0"/>
              <a:t>这些表示法并不特定于透视图（概念或软件）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与前一章对交互图的介绍相同，这只是参考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40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16-1</a:t>
            </a:r>
            <a:r>
              <a:rPr lang="zh-CN" altLang="en-US" dirty="0" smtClean="0"/>
              <a:t>所示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可以用一幅图来概括（和理解）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大部分常用的类图表示法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其中的大部分元素都是可选的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建模者根据语境和读者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或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工具的需要来选择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绘制、展示或隐藏这些元素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r>
              <a:rPr lang="zh-CN" altLang="en-US" dirty="0" smtClean="0"/>
              <a:t>类的表示法通常包含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个常见分栏</a:t>
            </a:r>
          </a:p>
          <a:p>
            <a:r>
              <a:rPr lang="zh-CN" altLang="en-US" dirty="0" smtClean="0"/>
              <a:t>类元名称</a:t>
            </a:r>
          </a:p>
          <a:p>
            <a:r>
              <a:rPr lang="zh-CN" altLang="en-US" dirty="0" smtClean="0"/>
              <a:t>属性</a:t>
            </a:r>
          </a:p>
          <a:p>
            <a:r>
              <a:rPr lang="zh-CN" altLang="en-US" dirty="0" smtClean="0"/>
              <a:t>操作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类与类之间存在关联 包括：</a:t>
            </a:r>
          </a:p>
          <a:p>
            <a:r>
              <a:rPr lang="zh-CN" altLang="en-US" dirty="0" smtClean="0"/>
              <a:t>接口的实现和子类化</a:t>
            </a:r>
          </a:p>
          <a:p>
            <a:r>
              <a:rPr lang="zh-CN" altLang="en-US" dirty="0" smtClean="0"/>
              <a:t>具有多重性的关联</a:t>
            </a:r>
          </a:p>
          <a:p>
            <a:r>
              <a:rPr lang="zh-CN" altLang="en-US" dirty="0" smtClean="0"/>
              <a:t>依赖等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如图所示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泛化用由子类到超类的实线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和空心三角形箭头表示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抽象类和操作既可以采用</a:t>
            </a:r>
            <a:r>
              <a:rPr lang="en-US" altLang="zh-CN" dirty="0" smtClean="0"/>
              <a:t>{abstract}</a:t>
            </a:r>
            <a:r>
              <a:rPr lang="zh-CN" altLang="en-US" dirty="0" smtClean="0"/>
              <a:t>标记表示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这有助于绘制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草图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也可以用斜体名称表示</a:t>
            </a:r>
            <a:endParaRPr lang="en-US" altLang="zh-CN" dirty="0" smtClean="0"/>
          </a:p>
          <a:p>
            <a:r>
              <a:rPr lang="zh-CN" altLang="en-US" dirty="0" smtClean="0"/>
              <a:t>这有助于得到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工具的支持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16-2 </a:t>
            </a:r>
            <a:r>
              <a:rPr lang="zh-CN" altLang="en-US" dirty="0" smtClean="0"/>
              <a:t>两种透视图中的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类图</a:t>
            </a:r>
            <a:endParaRPr lang="en-US" altLang="zh-CN" dirty="0" smtClean="0"/>
          </a:p>
          <a:p>
            <a:r>
              <a:rPr lang="zh-CN" altLang="en-US" dirty="0" smtClean="0"/>
              <a:t>同一种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图可以用于多种透视图</a:t>
            </a:r>
            <a:endParaRPr lang="en-US" altLang="zh-CN" dirty="0" smtClean="0"/>
          </a:p>
          <a:p>
            <a:r>
              <a:rPr lang="zh-CN" altLang="en-US" dirty="0" smtClean="0"/>
              <a:t>在透视图里，类图可以将领域模型可视化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而设计类图</a:t>
            </a:r>
            <a:r>
              <a:rPr lang="en-US" altLang="zh-CN" dirty="0" smtClean="0"/>
              <a:t>DCD</a:t>
            </a:r>
            <a:r>
              <a:rPr lang="zh-CN" altLang="en-US" dirty="0" smtClean="0"/>
              <a:t>用于软件透视图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UP</a:t>
            </a:r>
            <a:r>
              <a:rPr lang="zh-CN" altLang="en-US" dirty="0" smtClean="0"/>
              <a:t>中，所有的</a:t>
            </a:r>
            <a:r>
              <a:rPr lang="en-US" altLang="zh-CN" dirty="0" smtClean="0"/>
              <a:t>DCD</a:t>
            </a:r>
            <a:r>
              <a:rPr lang="zh-CN" altLang="en-US" dirty="0" smtClean="0"/>
              <a:t>的集合形成了</a:t>
            </a:r>
            <a:endParaRPr lang="en-US" altLang="zh-CN" dirty="0" smtClean="0"/>
          </a:p>
          <a:p>
            <a:r>
              <a:rPr lang="zh-CN" altLang="en-US" dirty="0" smtClean="0"/>
              <a:t>设计模型的一部分</a:t>
            </a:r>
            <a:endParaRPr lang="en-US" altLang="zh-CN" dirty="0" smtClean="0"/>
          </a:p>
          <a:p>
            <a:r>
              <a:rPr lang="zh-CN" altLang="en-US" dirty="0" smtClean="0"/>
              <a:t>设计模型的其它部分包括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交互图和包图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01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定义和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表示法：类图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r>
              <a:rPr lang="en-US" altLang="zh-CN" dirty="0" smtClean="0"/>
              <a:t>//</a:t>
            </a:r>
          </a:p>
          <a:p>
            <a:r>
              <a:rPr lang="en-US" altLang="zh-CN" dirty="0" smtClean="0"/>
              <a:t>Generalization, Abstract Classes, Abstract Operations</a:t>
            </a:r>
          </a:p>
          <a:p>
            <a:r>
              <a:rPr lang="en-US" altLang="zh-CN" dirty="0" smtClean="0"/>
              <a:t>Dependency</a:t>
            </a:r>
          </a:p>
          <a:p>
            <a:r>
              <a:rPr lang="en-US" altLang="zh-CN" dirty="0" smtClean="0"/>
              <a:t>Association Class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Singleton Classes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Template Classes and Interfaces.</a:t>
            </a:r>
          </a:p>
          <a:p>
            <a:r>
              <a:rPr lang="en-US" altLang="zh-CN" dirty="0" smtClean="0"/>
              <a:t>Active Class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930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</a:t>
            </a:r>
            <a:r>
              <a:rPr lang="en-US" altLang="zh-CN" dirty="0" smtClean="0"/>
              <a:t>16-3 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en-US" altLang="zh-CN" dirty="0" smtClean="0"/>
              <a:t>UML </a:t>
            </a:r>
            <a:r>
              <a:rPr lang="zh-CN" altLang="en-US" dirty="0" smtClean="0"/>
              <a:t>属性表示法：属性文本与关联线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既可以使用属性文本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也可以使用关联线 </a:t>
            </a:r>
          </a:p>
          <a:p>
            <a:r>
              <a:rPr lang="zh-CN" altLang="en-US" dirty="0" smtClean="0"/>
              <a:t>指明</a:t>
            </a:r>
            <a:r>
              <a:rPr lang="en-US" altLang="zh-CN" dirty="0" smtClean="0"/>
              <a:t>Register</a:t>
            </a:r>
            <a:r>
              <a:rPr lang="zh-CN" altLang="en-US" dirty="0" smtClean="0"/>
              <a:t>具有对一个</a:t>
            </a:r>
            <a:r>
              <a:rPr lang="en-US" altLang="zh-CN" dirty="0" smtClean="0"/>
              <a:t>Sale</a:t>
            </a:r>
            <a:r>
              <a:rPr lang="zh-CN" altLang="en-US" dirty="0" smtClean="0"/>
              <a:t>实例的引用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76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16-6 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中表示集合属性的两种方式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需要注意的是</a:t>
            </a:r>
            <a:endParaRPr lang="en-US" altLang="zh-CN" dirty="0" smtClean="0"/>
          </a:p>
          <a:p>
            <a:r>
              <a:rPr lang="zh-CN" altLang="en-US" dirty="0" smtClean="0"/>
              <a:t>在关联的末端也可以有特性字符串</a:t>
            </a:r>
            <a:endParaRPr lang="en-US" altLang="zh-CN" dirty="0" smtClean="0"/>
          </a:p>
          <a:p>
            <a:r>
              <a:rPr lang="en-US" altLang="zh-CN" dirty="0" smtClean="0"/>
              <a:t>{ordered}</a:t>
            </a:r>
            <a:r>
              <a:rPr lang="zh-CN" altLang="en-US" dirty="0" smtClean="0"/>
              <a:t>是</a:t>
            </a:r>
            <a:r>
              <a:rPr lang="en-US" altLang="zh-CN" dirty="0" smtClean="0"/>
              <a:t>UML</a:t>
            </a:r>
            <a:r>
              <a:rPr lang="zh-CN" altLang="en-US" dirty="0" smtClean="0"/>
              <a:t>默认的关键字 </a:t>
            </a:r>
            <a:endParaRPr lang="en-US" altLang="zh-CN" dirty="0" smtClean="0"/>
          </a:p>
          <a:p>
            <a:r>
              <a:rPr lang="zh-CN" altLang="en-US" dirty="0" smtClean="0"/>
              <a:t>表示集合中的元素是（暂时形成）有序的</a:t>
            </a:r>
            <a:endParaRPr lang="en-US" altLang="zh-CN" dirty="0" smtClean="0"/>
          </a:p>
          <a:p>
            <a:r>
              <a:rPr lang="en-US" altLang="zh-CN" dirty="0" smtClean="0"/>
              <a:t>{List}</a:t>
            </a:r>
            <a:r>
              <a:rPr lang="zh-CN" altLang="en-US" dirty="0" smtClean="0"/>
              <a:t>关键字证明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也支持用户定义的关键字</a:t>
            </a:r>
            <a:endParaRPr lang="en-US" altLang="zh-CN" dirty="0" smtClean="0"/>
          </a:p>
          <a:p>
            <a:r>
              <a:rPr lang="zh-CN" altLang="en-US" dirty="0" smtClean="0"/>
              <a:t>它表示集合属性 </a:t>
            </a:r>
            <a:r>
              <a:rPr lang="en-US" altLang="zh-CN" dirty="0" err="1" smtClean="0"/>
              <a:t>lineItems</a:t>
            </a:r>
            <a:r>
              <a:rPr lang="en-US" altLang="zh-CN" dirty="0" smtClean="0"/>
              <a:t> </a:t>
            </a:r>
            <a:r>
              <a:rPr lang="zh-CN" altLang="en-US" dirty="0" smtClean="0"/>
              <a:t>将通过实现了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r>
              <a:rPr lang="zh-CN" altLang="en-US" dirty="0" smtClean="0"/>
              <a:t>的对象来实现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948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任何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图都可以使用注解符号</a:t>
            </a:r>
            <a:endParaRPr lang="en-US" altLang="zh-CN" dirty="0" smtClean="0"/>
          </a:p>
          <a:p>
            <a:r>
              <a:rPr lang="zh-CN" altLang="en-US" dirty="0" smtClean="0"/>
              <a:t>但在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类图中更为常用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注解符号可以表示多种事物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注解、注释，其定义没有语义冲突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UML</a:t>
            </a:r>
            <a:r>
              <a:rPr lang="zh-CN" altLang="en-US" dirty="0" smtClean="0"/>
              <a:t>注解符号显示为</a:t>
            </a:r>
            <a:r>
              <a:rPr lang="zh-CN" altLang="en-US" baseline="0" dirty="0" smtClean="0"/>
              <a:t> </a:t>
            </a:r>
            <a:endParaRPr lang="en-US" altLang="zh-CN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折角举行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16.6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约束 必须使用 花括号 </a:t>
            </a:r>
            <a:r>
              <a:rPr lang="en-US" altLang="zh-CN" dirty="0" smtClean="0"/>
              <a:t>{ … } </a:t>
            </a:r>
          </a:p>
          <a:p>
            <a:r>
              <a:rPr lang="zh-CN" altLang="en-US" dirty="0" smtClean="0"/>
              <a:t>表示对 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元素的限制或条件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16.14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方法体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UML </a:t>
            </a:r>
            <a:r>
              <a:rPr lang="zh-CN" altLang="en-US" baseline="0" dirty="0" smtClean="0"/>
              <a:t>操作的实现</a:t>
            </a:r>
            <a:endParaRPr lang="en-US" altLang="zh-CN" dirty="0" smtClean="0"/>
          </a:p>
          <a:p>
            <a:r>
              <a:rPr lang="zh-CN" altLang="en-US" dirty="0" smtClean="0"/>
              <a:t>：注解、注释、约束和方法体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16.17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037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UML </a:t>
            </a:r>
            <a:r>
              <a:rPr lang="zh-CN" altLang="en-US" dirty="0" smtClean="0"/>
              <a:t>约束是对 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元素的限制或条件</a:t>
            </a:r>
            <a:endParaRPr lang="en-US" altLang="zh-CN" dirty="0" smtClean="0"/>
          </a:p>
          <a:p>
            <a:r>
              <a:rPr lang="zh-CN" altLang="en-US" dirty="0" smtClean="0"/>
              <a:t>约束以花括号之间的文本表示</a:t>
            </a:r>
            <a:endParaRPr lang="en-US" altLang="zh-CN" dirty="0" smtClean="0"/>
          </a:p>
          <a:p>
            <a:r>
              <a:rPr lang="zh-CN" altLang="en-US" dirty="0" smtClean="0"/>
              <a:t>例如图</a:t>
            </a:r>
            <a:r>
              <a:rPr lang="en-US" altLang="zh-CN" dirty="0" smtClean="0"/>
              <a:t>16.14</a:t>
            </a:r>
            <a:r>
              <a:rPr lang="zh-CN" altLang="en-US" dirty="0" smtClean="0"/>
              <a:t>显示的三种方式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其中的文本可以是自然语言或其他语言</a:t>
            </a:r>
            <a:endParaRPr lang="en-US" altLang="zh-CN" dirty="0" smtClean="0"/>
          </a:p>
          <a:p>
            <a:r>
              <a:rPr lang="zh-CN" altLang="en-US" dirty="0" smtClean="0"/>
              <a:t>例如 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的形式化规约语言</a:t>
            </a:r>
            <a:r>
              <a:rPr lang="en-US" altLang="zh-CN" baseline="0" dirty="0" smtClean="0"/>
              <a:t> </a:t>
            </a:r>
          </a:p>
          <a:p>
            <a:r>
              <a:rPr lang="zh-CN" altLang="en-US" baseline="0" dirty="0" smtClean="0"/>
              <a:t>对象约束语言 </a:t>
            </a:r>
            <a:r>
              <a:rPr lang="en-US" altLang="zh-CN" baseline="0" dirty="0" smtClean="0"/>
              <a:t>OCL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244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操作和方法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在类框图的一个分栏里表示操作特征标记</a:t>
            </a:r>
          </a:p>
          <a:p>
            <a:r>
              <a:rPr lang="zh-CN" altLang="en-US" dirty="0" smtClean="0"/>
              <a:t>完整正式的操作语法形式如下</a:t>
            </a:r>
          </a:p>
          <a:p>
            <a:r>
              <a:rPr lang="zh-CN" altLang="en-US" dirty="0" smtClean="0"/>
              <a:t>可以不包括或包括 返回类型元素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除了正式的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操作语法外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允许任何编程语言编写操作特征标记</a:t>
            </a:r>
            <a:endParaRPr lang="en-US" altLang="zh-CN" dirty="0" smtClean="0"/>
          </a:p>
          <a:p>
            <a:r>
              <a:rPr lang="zh-CN" altLang="en-US" dirty="0" smtClean="0"/>
              <a:t>例如用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语言编写 但是需要告知读者或工具</a:t>
            </a:r>
            <a:endParaRPr lang="en-US" altLang="zh-CN" dirty="0" smtClean="0"/>
          </a:p>
          <a:p>
            <a:r>
              <a:rPr lang="zh-CN" altLang="en-US" dirty="0" smtClean="0"/>
              <a:t>例如以下表达式都是允许的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069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操作不是方法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操作是声明 </a:t>
            </a:r>
            <a:endParaRPr lang="en-US" altLang="zh-CN" dirty="0" smtClean="0"/>
          </a:p>
          <a:p>
            <a:r>
              <a:rPr lang="zh-CN" altLang="en-US" dirty="0" smtClean="0"/>
              <a:t>名称 参数 返回类型 异常列表 可能的前置和后置条件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但是，操作不是实现，而方法是实现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当我们在讨论操作契约时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按</a:t>
            </a:r>
            <a:r>
              <a:rPr lang="en-US" altLang="zh-CN" dirty="0" smtClean="0"/>
              <a:t>UML</a:t>
            </a:r>
            <a:r>
              <a:rPr lang="zh-CN" altLang="en-US" dirty="0" smtClean="0"/>
              <a:t>术语来说</a:t>
            </a:r>
            <a:endParaRPr lang="en-US" altLang="zh-CN" dirty="0" smtClean="0"/>
          </a:p>
          <a:p>
            <a:r>
              <a:rPr lang="zh-CN" altLang="en-US" dirty="0" smtClean="0"/>
              <a:t>我们在讨论</a:t>
            </a:r>
            <a:r>
              <a:rPr lang="en-US" altLang="zh-CN" dirty="0" smtClean="0"/>
              <a:t>UML</a:t>
            </a:r>
            <a:r>
              <a:rPr lang="zh-CN" altLang="en-US" dirty="0" smtClean="0"/>
              <a:t>操作约束的定义</a:t>
            </a:r>
            <a:endParaRPr lang="en-US" altLang="zh-CN" dirty="0" smtClean="0"/>
          </a:p>
          <a:p>
            <a:r>
              <a:rPr lang="zh-CN" altLang="en-US" dirty="0" smtClean="0"/>
              <a:t>参见</a:t>
            </a:r>
            <a:r>
              <a:rPr lang="en-US" altLang="zh-CN" dirty="0" smtClean="0"/>
              <a:t>11.11</a:t>
            </a:r>
            <a:r>
              <a:rPr lang="zh-CN" altLang="en-US" dirty="0" smtClean="0"/>
              <a:t>章节讨论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16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泛化 抽象类 抽象操作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泛化是普通的类元与特殊的类元之间的分类学关系</a:t>
            </a:r>
            <a:endParaRPr lang="en-US" altLang="zh-CN" dirty="0" smtClean="0"/>
          </a:p>
          <a:p>
            <a:r>
              <a:rPr lang="zh-CN" altLang="en-US" dirty="0" smtClean="0"/>
              <a:t>特殊类元的每个实例也是普通类元的间接实例</a:t>
            </a:r>
            <a:endParaRPr lang="en-US" altLang="zh-CN" dirty="0" smtClean="0"/>
          </a:p>
          <a:p>
            <a:r>
              <a:rPr lang="zh-CN" altLang="en-US" dirty="0" smtClean="0"/>
              <a:t>因此 特殊类元间接地拥有了普通的类元的特性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泛化与</a:t>
            </a:r>
            <a:r>
              <a:rPr lang="en-US" altLang="zh-CN" dirty="0" smtClean="0"/>
              <a:t>OOPL</a:t>
            </a:r>
            <a:r>
              <a:rPr lang="zh-CN" altLang="en-US" dirty="0" smtClean="0"/>
              <a:t>中的继承的意义是否相同？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这要视条件而定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在领域模型概念视角的类图中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答案为否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对于领域模型，更恰当的解释是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超类是超集而子类是子集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另一方面，在</a:t>
            </a:r>
            <a:r>
              <a:rPr lang="en-US" altLang="zh-CN" dirty="0" smtClean="0"/>
              <a:t>DCD</a:t>
            </a:r>
            <a:r>
              <a:rPr lang="zh-CN" altLang="en-US" dirty="0" smtClean="0"/>
              <a:t>软件视角的类图中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答案为是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655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UML</a:t>
            </a:r>
            <a:r>
              <a:rPr lang="zh-CN" altLang="en-US" dirty="0" smtClean="0"/>
              <a:t>中所包含的普通依赖关系表示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客户元素了解其他的提供者元素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并且表示当提供者有所改变时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会对客户产生影响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这是一种广义的关系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依赖可以视为耦合的另外一种版本</a:t>
            </a:r>
            <a:endParaRPr lang="en-US" altLang="zh-CN" dirty="0" smtClean="0"/>
          </a:p>
          <a:p>
            <a:r>
              <a:rPr lang="zh-CN" altLang="en-US" dirty="0" smtClean="0"/>
              <a:t>耦合是软件开发中的传统术语</a:t>
            </a:r>
            <a:endParaRPr lang="en-US" altLang="zh-CN" dirty="0" smtClean="0"/>
          </a:p>
          <a:p>
            <a:r>
              <a:rPr lang="zh-CN" altLang="en-US" dirty="0" smtClean="0"/>
              <a:t>意为元素耦合或依赖于另一元素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7906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依赖有许多种类</a:t>
            </a:r>
            <a:endParaRPr lang="en-US" altLang="zh-CN" dirty="0" smtClean="0"/>
          </a:p>
          <a:p>
            <a:r>
              <a:rPr lang="zh-CN" altLang="en-US" dirty="0" smtClean="0"/>
              <a:t>以下是在对象图和类图中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比较常见的类型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拥有提供者类型的属性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向提供者发送消息</a:t>
            </a:r>
            <a:r>
              <a:rPr lang="zh-CN" altLang="en-US" baseline="0" dirty="0" smtClean="0"/>
              <a:t> </a:t>
            </a:r>
            <a:endParaRPr lang="en-US" altLang="zh-CN" baseline="0" dirty="0" smtClean="0"/>
          </a:p>
          <a:p>
            <a:pPr lvl="1"/>
            <a:r>
              <a:rPr lang="zh-CN" altLang="en-US" baseline="0" dirty="0" smtClean="0"/>
              <a:t>对提供者的可见性可能是</a:t>
            </a:r>
            <a:endParaRPr lang="en-US" altLang="zh-CN" baseline="0" dirty="0" smtClean="0"/>
          </a:p>
          <a:p>
            <a:pPr lvl="1"/>
            <a:r>
              <a:rPr lang="en-US" altLang="zh-CN" baseline="0" dirty="0" smtClean="0"/>
              <a:t>	</a:t>
            </a:r>
            <a:r>
              <a:rPr lang="zh-CN" altLang="en-US" baseline="0" dirty="0" smtClean="0"/>
              <a:t>属性 参数变量  局部变量 </a:t>
            </a:r>
            <a:endParaRPr lang="en-US" altLang="zh-CN" baseline="0" dirty="0" smtClean="0"/>
          </a:p>
          <a:p>
            <a:pPr lvl="1"/>
            <a:r>
              <a:rPr lang="en-US" altLang="zh-CN" baseline="0" dirty="0" smtClean="0"/>
              <a:t>	</a:t>
            </a:r>
            <a:r>
              <a:rPr lang="zh-CN" altLang="en-US" baseline="0" dirty="0" smtClean="0"/>
              <a:t>全局变量或类的可见性 （调用静态或类方法）</a:t>
            </a:r>
            <a:endParaRPr lang="en-US" altLang="zh-CN" baseline="0" dirty="0" smtClean="0"/>
          </a:p>
          <a:p>
            <a:pPr lvl="1"/>
            <a:r>
              <a:rPr lang="zh-CN" altLang="en-US" baseline="0" dirty="0" smtClean="0"/>
              <a:t>接受提供类型的参数</a:t>
            </a:r>
            <a:endParaRPr lang="en-US" altLang="zh-CN" baseline="0" dirty="0" smtClean="0"/>
          </a:p>
          <a:p>
            <a:pPr lvl="1"/>
            <a:r>
              <a:rPr lang="zh-CN" altLang="en-US" baseline="0" dirty="0" smtClean="0"/>
              <a:t>提供者是超类或接口</a:t>
            </a:r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652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依赖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如图所示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依赖用从客户到提供者的虚线箭头表示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依赖线可以用于任何图形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但在类图和包图中更为常用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0111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接口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提供了多种方法表示接口实现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图</a:t>
            </a:r>
            <a:r>
              <a:rPr lang="en-US" altLang="zh-CN" dirty="0" smtClean="0"/>
              <a:t>16-12 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Clock1 </a:t>
            </a:r>
            <a:r>
              <a:rPr lang="zh-CN" altLang="en-US" dirty="0" smtClean="0"/>
              <a:t>实现并提供</a:t>
            </a:r>
            <a:r>
              <a:rPr lang="en-US" altLang="zh-CN" dirty="0" smtClean="0"/>
              <a:t>Timer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如图所示</a:t>
            </a:r>
            <a:endParaRPr lang="en-US" altLang="zh-CN" dirty="0" smtClean="0"/>
          </a:p>
          <a:p>
            <a:r>
              <a:rPr lang="zh-CN" altLang="en-US" dirty="0" smtClean="0"/>
              <a:t>在 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中表示接口有</a:t>
            </a:r>
            <a:r>
              <a:rPr lang="en-US" altLang="zh-CN" dirty="0" smtClean="0"/>
              <a:t>3</a:t>
            </a:r>
            <a:r>
              <a:rPr lang="zh-CN" altLang="en-US" dirty="0" smtClean="0"/>
              <a:t>种不同方法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棒棒糖</a:t>
            </a:r>
            <a:endParaRPr lang="en-US" altLang="zh-CN" dirty="0" smtClean="0"/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Clock3</a:t>
            </a:r>
            <a:r>
              <a:rPr lang="zh-CN" altLang="en-US" dirty="0" smtClean="0"/>
              <a:t>为客户实现并提供了</a:t>
            </a:r>
            <a:r>
              <a:rPr lang="en-US" altLang="zh-CN" dirty="0" smtClean="0"/>
              <a:t>Timer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插座线</a:t>
            </a:r>
            <a:endParaRPr lang="en-US" altLang="zh-CN" dirty="0" smtClean="0"/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Window3</a:t>
            </a:r>
            <a:r>
              <a:rPr lang="zh-CN" altLang="en-US" dirty="0" smtClean="0"/>
              <a:t>在与</a:t>
            </a:r>
            <a:r>
              <a:rPr lang="en-US" altLang="zh-CN" dirty="0" smtClean="0"/>
              <a:t>Clock3</a:t>
            </a:r>
            <a:r>
              <a:rPr lang="zh-CN" altLang="en-US" dirty="0" smtClean="0"/>
              <a:t>对象协作</a:t>
            </a:r>
            <a:endParaRPr lang="en-US" altLang="zh-CN" dirty="0" smtClean="0"/>
          </a:p>
          <a:p>
            <a:r>
              <a:rPr lang="zh-CN" altLang="en-US" dirty="0" smtClean="0"/>
              <a:t>时依赖于</a:t>
            </a:r>
            <a:r>
              <a:rPr lang="en-US" altLang="zh-CN" dirty="0" smtClean="0"/>
              <a:t>Timer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依赖线</a:t>
            </a:r>
            <a:endParaRPr lang="en-US" altLang="zh-CN" dirty="0" smtClean="0"/>
          </a:p>
          <a:p>
            <a:r>
              <a:rPr lang="en-US" altLang="zh-CN" dirty="0" smtClean="0"/>
              <a:t>Window2</a:t>
            </a:r>
            <a:r>
              <a:rPr lang="zh-CN" altLang="en-US" dirty="0" smtClean="0"/>
              <a:t>在与</a:t>
            </a:r>
            <a:r>
              <a:rPr lang="en-US" altLang="zh-CN" dirty="0" smtClean="0"/>
              <a:t>Clock2</a:t>
            </a:r>
            <a:r>
              <a:rPr lang="zh-CN" altLang="en-US" dirty="0" smtClean="0"/>
              <a:t>对象协作</a:t>
            </a:r>
            <a:endParaRPr lang="en-US" altLang="zh-CN" dirty="0" smtClean="0"/>
          </a:p>
          <a:p>
            <a:r>
              <a:rPr lang="zh-CN" altLang="en-US" dirty="0" smtClean="0"/>
              <a:t>时依赖于</a:t>
            </a:r>
            <a:r>
              <a:rPr lang="en-US" altLang="zh-CN" dirty="0" smtClean="0"/>
              <a:t>Timer</a:t>
            </a:r>
            <a:r>
              <a:rPr lang="zh-CN" altLang="en-US" dirty="0" smtClean="0"/>
              <a:t>接口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006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组合优于聚合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聚合是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中的一种模糊关联</a:t>
            </a:r>
            <a:endParaRPr lang="en-US" altLang="zh-CN" dirty="0" smtClean="0"/>
          </a:p>
          <a:p>
            <a:r>
              <a:rPr lang="zh-CN" altLang="en-US" dirty="0" smtClean="0"/>
              <a:t>其不精确地暗示了整体</a:t>
            </a:r>
            <a:r>
              <a:rPr lang="en-US" altLang="zh-CN" dirty="0" smtClean="0"/>
              <a:t>-</a:t>
            </a:r>
            <a:r>
              <a:rPr lang="zh-CN" altLang="en-US" dirty="0" smtClean="0"/>
              <a:t>部分关系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组合也被称为组成聚合 </a:t>
            </a:r>
            <a:endParaRPr lang="en-US" altLang="zh-CN" dirty="0" smtClean="0"/>
          </a:p>
          <a:p>
            <a:r>
              <a:rPr lang="zh-CN" altLang="en-US" dirty="0" smtClean="0"/>
              <a:t>这是一种很强的整体部分聚合关系</a:t>
            </a:r>
            <a:endParaRPr lang="en-US" altLang="zh-CN" dirty="0" smtClean="0"/>
          </a:p>
          <a:p>
            <a:r>
              <a:rPr lang="zh-CN" altLang="en-US" dirty="0" smtClean="0"/>
              <a:t>并且在某些模型中具有效用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组合关系有以下几层含义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）在某</a:t>
            </a:r>
            <a:r>
              <a:rPr lang="en-US" altLang="zh-CN" dirty="0" smtClean="0"/>
              <a:t>1</a:t>
            </a:r>
            <a:r>
              <a:rPr lang="zh-CN" altLang="en-US" dirty="0" smtClean="0"/>
              <a:t>时刻</a:t>
            </a:r>
            <a:endParaRPr lang="en-US" altLang="zh-CN" dirty="0" smtClean="0"/>
          </a:p>
          <a:p>
            <a:r>
              <a:rPr lang="zh-CN" altLang="en-US" dirty="0" smtClean="0"/>
              <a:t>部分的实例只属于一个组成实例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）部分必须总是术语组成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）组成要负责创建和删除其部分</a:t>
            </a:r>
            <a:endParaRPr lang="en-US" altLang="zh-CN" dirty="0" smtClean="0"/>
          </a:p>
          <a:p>
            <a:r>
              <a:rPr lang="zh-CN" altLang="en-US" dirty="0" smtClean="0"/>
              <a:t>既可以自己来创建</a:t>
            </a:r>
            <a:r>
              <a:rPr lang="zh-CN" altLang="en-US" dirty="0" smtClean="0"/>
              <a:t>和删除其部分</a:t>
            </a:r>
            <a:endParaRPr lang="en-US" altLang="zh-CN" dirty="0" smtClean="0"/>
          </a:p>
          <a:p>
            <a:r>
              <a:rPr lang="zh-CN" altLang="en-US" dirty="0" smtClean="0"/>
              <a:t>也可以与其他对象协作来创建删除其部分</a:t>
            </a:r>
            <a:endParaRPr lang="en-US" altLang="zh-CN" dirty="0" smtClean="0"/>
          </a:p>
          <a:p>
            <a:r>
              <a:rPr lang="zh-CN" altLang="en-US" dirty="0" smtClean="0"/>
              <a:t>与该约束相关的是</a:t>
            </a:r>
            <a:endParaRPr lang="en-US" altLang="zh-CN" dirty="0" smtClean="0"/>
          </a:p>
          <a:p>
            <a:r>
              <a:rPr lang="zh-CN" altLang="en-US" dirty="0" smtClean="0"/>
              <a:t>如果组成被销毁，其部分也必须被销毁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3743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16.15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en-US" altLang="zh-CN" dirty="0" smtClean="0"/>
              <a:t>UML </a:t>
            </a:r>
            <a:r>
              <a:rPr lang="zh-CN" altLang="en-US" dirty="0" smtClean="0"/>
              <a:t>中的限定关联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对于限定关联</a:t>
            </a:r>
            <a:endParaRPr lang="en-US" altLang="zh-CN" dirty="0" smtClean="0"/>
          </a:p>
          <a:p>
            <a:r>
              <a:rPr lang="zh-CN" altLang="en-US" dirty="0" smtClean="0"/>
              <a:t>有一点需要注意</a:t>
            </a:r>
            <a:endParaRPr lang="en-US" altLang="zh-CN" dirty="0" smtClean="0"/>
          </a:p>
          <a:p>
            <a:r>
              <a:rPr lang="zh-CN" altLang="en-US" dirty="0" smtClean="0"/>
              <a:t>多重性由多变为</a:t>
            </a:r>
            <a:r>
              <a:rPr lang="en-US" altLang="zh-CN" dirty="0" smtClean="0"/>
              <a:t>1</a:t>
            </a:r>
          </a:p>
          <a:p>
            <a:r>
              <a:rPr lang="zh-CN" altLang="en-US" dirty="0" smtClean="0"/>
              <a:t>因为限定关联通常暗示</a:t>
            </a:r>
            <a:endParaRPr lang="en-US" altLang="zh-CN" dirty="0" smtClean="0"/>
          </a:p>
          <a:p>
            <a:r>
              <a:rPr lang="zh-CN" altLang="en-US" dirty="0" smtClean="0"/>
              <a:t>从较大集合中选择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个实例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801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16-16 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中的 关联类</a:t>
            </a:r>
            <a:endParaRPr lang="en-US" altLang="zh-CN" dirty="0" smtClean="0"/>
          </a:p>
          <a:p>
            <a:r>
              <a:rPr lang="zh-CN" altLang="en-US" dirty="0" smtClean="0"/>
              <a:t>关联类允许将关联本身作为类</a:t>
            </a:r>
            <a:endParaRPr lang="en-US" altLang="zh-CN" dirty="0" smtClean="0"/>
          </a:p>
          <a:p>
            <a:r>
              <a:rPr lang="zh-CN" altLang="en-US" dirty="0" smtClean="0"/>
              <a:t>并且使用属性、操作</a:t>
            </a:r>
            <a:endParaRPr lang="en-US" altLang="zh-CN" dirty="0" smtClean="0"/>
          </a:p>
          <a:p>
            <a:r>
              <a:rPr lang="zh-CN" altLang="en-US" dirty="0" smtClean="0"/>
              <a:t>和其它特性对其建模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zh-CN" altLang="en-US" dirty="0" smtClean="0"/>
              <a:t>用从关联到关联类的 虚线 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272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单实例类</a:t>
            </a:r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OO</a:t>
            </a:r>
            <a:r>
              <a:rPr lang="zh-CN" altLang="en-US" dirty="0" smtClean="0"/>
              <a:t>设计模式的世界中</a:t>
            </a:r>
            <a:endParaRPr lang="en-US" altLang="zh-CN" dirty="0" smtClean="0"/>
          </a:p>
          <a:p>
            <a:r>
              <a:rPr lang="zh-CN" altLang="en-US" dirty="0" smtClean="0"/>
              <a:t>有一种极为常见的模式</a:t>
            </a:r>
            <a:endParaRPr lang="en-US" altLang="zh-CN" dirty="0" smtClean="0"/>
          </a:p>
          <a:p>
            <a:r>
              <a:rPr lang="zh-CN" altLang="en-US" dirty="0" smtClean="0"/>
              <a:t>单实例类模式（</a:t>
            </a:r>
            <a:r>
              <a:rPr lang="en-US" altLang="zh-CN" dirty="0" smtClean="0"/>
              <a:t>Singleton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该模式的含义是</a:t>
            </a:r>
            <a:endParaRPr lang="en-US" altLang="zh-CN" dirty="0" smtClean="0"/>
          </a:p>
          <a:p>
            <a:r>
              <a:rPr lang="zh-CN" altLang="en-US" dirty="0" smtClean="0"/>
              <a:t>类实例化后只存在一个实例</a:t>
            </a:r>
            <a:endParaRPr lang="en-US" altLang="zh-CN" dirty="0" smtClean="0"/>
          </a:p>
          <a:p>
            <a:r>
              <a:rPr lang="zh-CN" altLang="en-US" dirty="0" smtClean="0"/>
              <a:t>永远不会有第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</a:t>
            </a:r>
            <a:endParaRPr lang="en-US" altLang="zh-CN" dirty="0" smtClean="0"/>
          </a:p>
          <a:p>
            <a:r>
              <a:rPr lang="zh-CN" altLang="en-US" dirty="0" smtClean="0"/>
              <a:t>换言之</a:t>
            </a:r>
            <a:endParaRPr lang="en-US" altLang="zh-CN" dirty="0" smtClean="0"/>
          </a:p>
          <a:p>
            <a:r>
              <a:rPr lang="zh-CN" altLang="en-US" dirty="0" smtClean="0"/>
              <a:t>这是</a:t>
            </a:r>
            <a:r>
              <a:rPr lang="zh-CN" altLang="en-US" dirty="0" smtClean="0"/>
              <a:t>单</a:t>
            </a:r>
            <a:r>
              <a:rPr lang="zh-CN" altLang="en-US" dirty="0" smtClean="0"/>
              <a:t>实例类的实例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中，可以在类框中名称分栏</a:t>
            </a:r>
            <a:endParaRPr lang="en-US" altLang="zh-CN" dirty="0" smtClean="0"/>
          </a:p>
          <a:p>
            <a:r>
              <a:rPr lang="zh-CN" altLang="en-US" dirty="0" smtClean="0"/>
              <a:t>的右上角标记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1 </a:t>
            </a:r>
            <a:r>
              <a:rPr lang="zh-CN" altLang="en-US" baseline="0" dirty="0" smtClean="0"/>
              <a:t>来表示这种类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在类框图中，具有下划线的属性或方法表示</a:t>
            </a:r>
            <a:endParaRPr lang="en-US" altLang="zh-CN" baseline="0" dirty="0" smtClean="0"/>
          </a:p>
          <a:p>
            <a:r>
              <a:rPr lang="zh-CN" altLang="en-US" baseline="0" dirty="0" smtClean="0"/>
              <a:t>静态（类级别）成员，而不是实例成员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4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16-18 UML</a:t>
            </a:r>
            <a:r>
              <a:rPr lang="zh-CN" altLang="en-US" dirty="0" smtClean="0"/>
              <a:t>中的模板类和接口</a:t>
            </a:r>
          </a:p>
          <a:p>
            <a:r>
              <a:rPr lang="zh-CN" altLang="en-US" dirty="0" smtClean="0"/>
              <a:t>许多</a:t>
            </a:r>
            <a:r>
              <a:rPr lang="en-US" altLang="zh-CN" dirty="0" smtClean="0"/>
              <a:t>OO</a:t>
            </a:r>
            <a:r>
              <a:rPr lang="zh-CN" altLang="en-US" dirty="0" smtClean="0"/>
              <a:t>语言支持模板类型，也叫模板、参数化类型和泛型</a:t>
            </a:r>
          </a:p>
          <a:p>
            <a:r>
              <a:rPr lang="zh-CN" altLang="en-US" dirty="0" smtClean="0"/>
              <a:t>模板在集合类的元素类型中常用</a:t>
            </a:r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List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如图所示 </a:t>
            </a:r>
          </a:p>
          <a:p>
            <a:r>
              <a:rPr lang="en-US" altLang="zh-CN" dirty="0" err="1" smtClean="0"/>
              <a:t>ArrayList</a:t>
            </a:r>
            <a:r>
              <a:rPr lang="en-US" altLang="zh-CN" dirty="0" smtClean="0"/>
              <a:t> </a:t>
            </a:r>
            <a:r>
              <a:rPr lang="zh-CN" altLang="en-US" dirty="0" smtClean="0"/>
              <a:t>类实现了 </a:t>
            </a:r>
            <a:r>
              <a:rPr lang="en-US" altLang="zh-CN" dirty="0" smtClean="0"/>
              <a:t>List </a:t>
            </a:r>
            <a:r>
              <a:rPr lang="zh-CN" altLang="en-US" dirty="0" smtClean="0"/>
              <a:t>接口</a:t>
            </a:r>
          </a:p>
          <a:p>
            <a:r>
              <a:rPr lang="en-US" altLang="zh-CN" dirty="0" smtClean="0"/>
              <a:t>List </a:t>
            </a:r>
            <a:r>
              <a:rPr lang="zh-CN" altLang="en-US" dirty="0" smtClean="0"/>
              <a:t>接口和 </a:t>
            </a:r>
            <a:r>
              <a:rPr lang="en-US" altLang="zh-CN" dirty="0" err="1" smtClean="0"/>
              <a:t>ArrayList</a:t>
            </a:r>
            <a:r>
              <a:rPr lang="en-US" altLang="zh-CN" dirty="0" smtClean="0"/>
              <a:t> </a:t>
            </a:r>
            <a:r>
              <a:rPr lang="zh-CN" altLang="en-US" dirty="0" smtClean="0"/>
              <a:t>类</a:t>
            </a:r>
          </a:p>
          <a:p>
            <a:r>
              <a:rPr lang="zh-CN" altLang="en-US" dirty="0" smtClean="0"/>
              <a:t>使用元素类型 </a:t>
            </a:r>
            <a:r>
              <a:rPr lang="en-US" altLang="zh-CN" dirty="0" smtClean="0"/>
              <a:t>Square </a:t>
            </a:r>
            <a:r>
              <a:rPr lang="zh-CN" altLang="en-US" dirty="0" smtClean="0"/>
              <a:t>而被参数化了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772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16-20 UML</a:t>
            </a:r>
            <a:r>
              <a:rPr lang="zh-CN" altLang="en-US" dirty="0" smtClean="0"/>
              <a:t>中的主动类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主动对象（</a:t>
            </a:r>
            <a:r>
              <a:rPr lang="en-US" altLang="zh-CN" dirty="0" smtClean="0"/>
              <a:t>active object</a:t>
            </a:r>
            <a:r>
              <a:rPr lang="zh-CN" altLang="en-US" dirty="0" smtClean="0"/>
              <a:t>）运行于自己控制的线程之上</a:t>
            </a:r>
          </a:p>
          <a:p>
            <a:r>
              <a:rPr lang="zh-CN" altLang="en-US" dirty="0" smtClean="0"/>
              <a:t>毫无疑问，主动对象的类即为主动类（</a:t>
            </a:r>
            <a:r>
              <a:rPr lang="en-US" altLang="zh-CN" dirty="0" smtClean="0"/>
              <a:t>active class</a:t>
            </a:r>
            <a:r>
              <a:rPr lang="zh-CN" altLang="en-US" dirty="0" smtClean="0"/>
              <a:t>）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中，主动类 使用左右两边为双竖线的类框来表示</a:t>
            </a:r>
          </a:p>
          <a:p>
            <a:r>
              <a:rPr lang="zh-CN" altLang="en-US" dirty="0" smtClean="0"/>
              <a:t>如图所示 </a:t>
            </a:r>
            <a:r>
              <a:rPr lang="en-US" altLang="zh-CN" dirty="0" smtClean="0"/>
              <a:t>Clock </a:t>
            </a:r>
            <a:r>
              <a:rPr lang="zh-CN" altLang="en-US" dirty="0" smtClean="0"/>
              <a:t>主动类</a:t>
            </a:r>
          </a:p>
          <a:p>
            <a:r>
              <a:rPr lang="zh-CN" altLang="en-US" dirty="0" smtClean="0"/>
              <a:t>实现了接口</a:t>
            </a:r>
            <a:r>
              <a:rPr lang="en-US" altLang="zh-CN" dirty="0" smtClean="0"/>
              <a:t>Runnable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0568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16.21 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zh-CN" altLang="en-US" dirty="0" smtClean="0"/>
              <a:t>交互图对类图的影响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当我们绘制交互图时</a:t>
            </a:r>
          </a:p>
          <a:p>
            <a:r>
              <a:rPr lang="zh-CN" altLang="en-US" dirty="0" smtClean="0"/>
              <a:t>在此动态对象建模的创造性设计过程中</a:t>
            </a:r>
          </a:p>
          <a:p>
            <a:r>
              <a:rPr lang="zh-CN" altLang="en-US" dirty="0" smtClean="0"/>
              <a:t>会产生一组类及其方法</a:t>
            </a:r>
          </a:p>
          <a:p>
            <a:r>
              <a:rPr lang="zh-CN" altLang="en-US" dirty="0" smtClean="0"/>
              <a:t>因此类图的定义能够从交互图中产生</a:t>
            </a:r>
          </a:p>
          <a:p>
            <a:r>
              <a:rPr lang="zh-CN" altLang="en-US" dirty="0" smtClean="0"/>
              <a:t>这表明一种线性的顺序</a:t>
            </a:r>
          </a:p>
          <a:p>
            <a:r>
              <a:rPr lang="zh-CN" altLang="en-US" dirty="0" smtClean="0"/>
              <a:t>即先绘制交互图 再绘制类图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但是，在实践中，尤其是应用了并行建模</a:t>
            </a:r>
          </a:p>
          <a:p>
            <a:r>
              <a:rPr lang="zh-CN" altLang="en-US" dirty="0" smtClean="0"/>
              <a:t>的敏捷建模实践后</a:t>
            </a:r>
          </a:p>
          <a:p>
            <a:r>
              <a:rPr lang="zh-CN" altLang="en-US" dirty="0" smtClean="0"/>
              <a:t>这些互补的动态视图和静态视图时并行创建的</a:t>
            </a:r>
          </a:p>
          <a:p>
            <a:r>
              <a:rPr lang="zh-CN" altLang="en-US" dirty="0" smtClean="0"/>
              <a:t>两者交替进行；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46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首先介绍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应用：常用类图表示法 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//</a:t>
            </a:r>
          </a:p>
          <a:p>
            <a:r>
              <a:rPr lang="en-US" altLang="zh-CN" dirty="0" smtClean="0"/>
              <a:t>Generalization, Abstract Classes, Abstract Operations</a:t>
            </a:r>
          </a:p>
          <a:p>
            <a:r>
              <a:rPr lang="en-US" altLang="zh-CN" dirty="0" smtClean="0"/>
              <a:t>Dependency</a:t>
            </a:r>
          </a:p>
          <a:p>
            <a:r>
              <a:rPr lang="en-US" altLang="zh-CN" dirty="0" smtClean="0"/>
              <a:t>Association Class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Singleton Classes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</a:p>
          <a:p>
            <a:r>
              <a:rPr lang="en-US" altLang="zh-CN" dirty="0" smtClean="0"/>
              <a:t>Template Classes and Interfaces.</a:t>
            </a:r>
          </a:p>
          <a:p>
            <a:r>
              <a:rPr lang="en-US" altLang="zh-CN" dirty="0" smtClean="0"/>
              <a:t>Active Class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5948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准则：</a:t>
            </a:r>
            <a:r>
              <a:rPr lang="en-US" altLang="zh-CN" dirty="0" smtClean="0"/>
              <a:t>DCD</a:t>
            </a:r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DCD</a:t>
            </a:r>
            <a:r>
              <a:rPr lang="zh-CN" altLang="en-US" dirty="0" smtClean="0"/>
              <a:t>中使用关联表示属性时，要遵循这一风格</a:t>
            </a:r>
          </a:p>
          <a:p>
            <a:r>
              <a:rPr lang="zh-CN" altLang="en-US" dirty="0" smtClean="0"/>
              <a:t>这是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规范所建议的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对领域模型使用类图时</a:t>
            </a:r>
            <a:endParaRPr lang="en-US" altLang="zh-CN" dirty="0" smtClean="0"/>
          </a:p>
          <a:p>
            <a:r>
              <a:rPr lang="zh-CN" altLang="en-US" dirty="0" smtClean="0"/>
              <a:t>需要表示关联名称</a:t>
            </a:r>
            <a:endParaRPr lang="en-US" altLang="zh-CN" dirty="0" smtClean="0"/>
          </a:p>
          <a:p>
            <a:r>
              <a:rPr lang="zh-CN" altLang="en-US" dirty="0" smtClean="0"/>
              <a:t>但是要避免使用导航箭头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9859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16.5 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zh-CN" altLang="en-US" dirty="0" smtClean="0"/>
              <a:t>应用准则，以两种表示法展示属性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对数据类型对象使用属性文本表示法 </a:t>
            </a:r>
          </a:p>
          <a:p>
            <a:r>
              <a:rPr lang="zh-CN" altLang="en-US" dirty="0" smtClean="0"/>
              <a:t>对其它对象使用关联线</a:t>
            </a:r>
          </a:p>
          <a:p>
            <a:r>
              <a:rPr lang="zh-CN" altLang="en-US" dirty="0" smtClean="0"/>
              <a:t>两者的语义是等价的 如代码块所示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但是 在图中展示与另一个框图的关联线</a:t>
            </a:r>
            <a:endParaRPr lang="en-US" altLang="zh-CN" dirty="0" smtClean="0"/>
          </a:p>
          <a:p>
            <a:r>
              <a:rPr lang="zh-CN" altLang="en-US" dirty="0" smtClean="0"/>
              <a:t>能够在视觉上强调图中对象的类之间的连接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494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假设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当前版本中</a:t>
            </a:r>
            <a:endParaRPr lang="en-US" altLang="zh-CN" dirty="0" smtClean="0"/>
          </a:p>
          <a:p>
            <a:r>
              <a:rPr lang="zh-CN" altLang="en-US" dirty="0" smtClean="0"/>
              <a:t>包含了返回类型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如果没有表示可见性</a:t>
            </a:r>
            <a:endParaRPr lang="en-US" altLang="zh-CN" dirty="0" smtClean="0"/>
          </a:p>
          <a:p>
            <a:r>
              <a:rPr lang="zh-CN" altLang="en-US" dirty="0" smtClean="0"/>
              <a:t>则通常假设操作是公共的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在绘制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草图时</a:t>
            </a:r>
            <a:endParaRPr lang="en-US" altLang="zh-CN" dirty="0" smtClean="0"/>
          </a:p>
          <a:p>
            <a:r>
              <a:rPr lang="zh-CN" altLang="en-US" dirty="0" smtClean="0"/>
              <a:t>为了追求速度、简便性和创造性</a:t>
            </a:r>
            <a:endParaRPr lang="en-US" altLang="zh-CN" dirty="0" smtClean="0"/>
          </a:p>
          <a:p>
            <a:r>
              <a:rPr lang="zh-CN" altLang="en-US" dirty="0" smtClean="0"/>
              <a:t>建模者通常会</a:t>
            </a:r>
            <a:endParaRPr lang="en-US" altLang="zh-CN" dirty="0" smtClean="0"/>
          </a:p>
          <a:p>
            <a:r>
              <a:rPr lang="zh-CN" altLang="en-US" dirty="0" smtClean="0"/>
              <a:t>将关键字</a:t>
            </a:r>
            <a:r>
              <a:rPr lang="en-US" altLang="zh-CN" dirty="0" smtClean="0"/>
              <a:t>&lt;&lt;</a:t>
            </a:r>
            <a:r>
              <a:rPr lang="en-US" altLang="zh-CN" dirty="0" smtClean="0"/>
              <a:t>interface&gt;&gt;</a:t>
            </a:r>
          </a:p>
          <a:p>
            <a:r>
              <a:rPr lang="zh-CN" altLang="en-US" dirty="0" smtClean="0"/>
              <a:t>简化为类似</a:t>
            </a:r>
            <a:endParaRPr lang="en-US" altLang="zh-CN" dirty="0" smtClean="0"/>
          </a:p>
          <a:p>
            <a:r>
              <a:rPr lang="en-US" altLang="zh-CN" dirty="0" smtClean="0"/>
              <a:t>&lt;interface&gt;</a:t>
            </a:r>
            <a:r>
              <a:rPr lang="zh-CN" altLang="en-US" dirty="0" smtClean="0"/>
              <a:t>或</a:t>
            </a:r>
            <a:r>
              <a:rPr lang="en-US" altLang="zh-CN" dirty="0" smtClean="0"/>
              <a:t>&lt;I&gt;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在类图中</a:t>
            </a:r>
            <a:endParaRPr lang="en-US" altLang="zh-CN" dirty="0" smtClean="0"/>
          </a:p>
          <a:p>
            <a:r>
              <a:rPr lang="zh-CN" altLang="en-US" dirty="0" smtClean="0"/>
              <a:t>使用依赖线描述对象之间的</a:t>
            </a:r>
            <a:endParaRPr lang="en-US" altLang="zh-CN" dirty="0" smtClean="0"/>
          </a:p>
          <a:p>
            <a:r>
              <a:rPr lang="zh-CN" altLang="en-US" dirty="0" smtClean="0"/>
              <a:t>全局变量、参数变量、局部变量和静态方法的依赖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102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不要费心去使用聚合</a:t>
            </a:r>
            <a:endParaRPr lang="en-US" altLang="zh-CN" dirty="0" smtClean="0"/>
          </a:p>
          <a:p>
            <a:r>
              <a:rPr lang="zh-CN" altLang="en-US" dirty="0" smtClean="0"/>
              <a:t>相反 在适当的时候使用组合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组合中的关联名称</a:t>
            </a:r>
            <a:endParaRPr lang="en-US" altLang="zh-CN" dirty="0" smtClean="0"/>
          </a:p>
          <a:p>
            <a:r>
              <a:rPr lang="zh-CN" altLang="en-US" dirty="0" smtClean="0"/>
              <a:t>总是暗示“拥有</a:t>
            </a:r>
            <a:r>
              <a:rPr lang="en-US" altLang="zh-CN" dirty="0" smtClean="0"/>
              <a:t>-</a:t>
            </a:r>
            <a:r>
              <a:rPr lang="zh-CN" altLang="en-US" dirty="0" smtClean="0"/>
              <a:t>部分”的某些变体</a:t>
            </a:r>
            <a:endParaRPr lang="en-US" altLang="zh-CN" dirty="0" smtClean="0"/>
          </a:p>
          <a:p>
            <a:r>
              <a:rPr lang="zh-CN" altLang="en-US" dirty="0" smtClean="0"/>
              <a:t>因此不要费心对该关联显式地命名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好的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工具应支持对图的自动变更</a:t>
            </a:r>
          </a:p>
          <a:p>
            <a:r>
              <a:rPr lang="zh-CN" altLang="en-US" dirty="0" smtClean="0"/>
              <a:t>以反映在其他相关图中的修改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如果是在墙上绘制草图</a:t>
            </a:r>
            <a:endParaRPr lang="en-US" altLang="zh-CN" dirty="0" smtClean="0"/>
          </a:p>
          <a:p>
            <a:r>
              <a:rPr lang="zh-CN" altLang="en-US" dirty="0" smtClean="0"/>
              <a:t>那么应该使用一面墙绘制交互图 </a:t>
            </a:r>
            <a:endParaRPr lang="en-US" altLang="zh-CN" dirty="0" smtClean="0"/>
          </a:p>
          <a:p>
            <a:r>
              <a:rPr lang="zh-CN" altLang="en-US" dirty="0" smtClean="0"/>
              <a:t>同时在邻近的墙上绘制类图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1063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下面请大家 回顾一下本次课的知识内容</a:t>
            </a:r>
            <a:endParaRPr lang="en-US" altLang="zh-CN" dirty="0" smtClean="0"/>
          </a:p>
          <a:p>
            <a:r>
              <a:rPr lang="zh-CN" altLang="en-US" dirty="0" smtClean="0"/>
              <a:t>什么</a:t>
            </a:r>
            <a:r>
              <a:rPr lang="zh-CN" altLang="en-US" dirty="0" smtClean="0"/>
              <a:t>是类图？</a:t>
            </a:r>
            <a:endParaRPr lang="en-US" altLang="zh-CN" dirty="0" smtClean="0"/>
          </a:p>
          <a:p>
            <a:r>
              <a:rPr lang="zh-CN" altLang="en-US" dirty="0" smtClean="0"/>
              <a:t>什么是设计类图？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与操作和方法相关的</a:t>
            </a:r>
            <a:endParaRPr lang="en-US" altLang="zh-CN" dirty="0" smtClean="0"/>
          </a:p>
          <a:p>
            <a:r>
              <a:rPr lang="zh-CN" altLang="en-US" dirty="0" smtClean="0"/>
              <a:t>定义和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有哪些注释符号？</a:t>
            </a:r>
            <a:endParaRPr lang="en-US" altLang="zh-CN" dirty="0" smtClean="0"/>
          </a:p>
          <a:p>
            <a:r>
              <a:rPr lang="zh-CN" altLang="en-US" dirty="0" smtClean="0"/>
              <a:t>定义与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表示法：衍型，约束，标记和简档（</a:t>
            </a:r>
            <a:r>
              <a:rPr lang="en-US" altLang="zh-CN" dirty="0" smtClean="0"/>
              <a:t>profile</a:t>
            </a:r>
            <a:r>
              <a:rPr lang="zh-CN" altLang="en-US" dirty="0" smtClean="0"/>
              <a:t>）？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关系：依赖，接口，组合，聚合，限定关联等</a:t>
            </a:r>
            <a:endParaRPr lang="en-US" altLang="zh-CN" dirty="0" smtClean="0"/>
          </a:p>
          <a:p>
            <a:r>
              <a:rPr lang="zh-CN" altLang="en-US" dirty="0" smtClean="0"/>
              <a:t>定义与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表示法：</a:t>
            </a:r>
            <a:endParaRPr lang="en-US" altLang="zh-CN" dirty="0" smtClean="0"/>
          </a:p>
          <a:p>
            <a:r>
              <a:rPr lang="zh-CN" altLang="en-US" dirty="0" smtClean="0"/>
              <a:t>抽象类、关联类</a:t>
            </a:r>
            <a:endParaRPr lang="en-US" altLang="zh-CN" dirty="0" smtClean="0"/>
          </a:p>
          <a:p>
            <a:r>
              <a:rPr lang="zh-CN" altLang="en-US" dirty="0" smtClean="0"/>
              <a:t>单体类、模板类和接口 主动类等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60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最后，作为扩展知识域的学习</a:t>
            </a:r>
            <a:endParaRPr lang="en-US" altLang="zh-CN" dirty="0" smtClean="0"/>
          </a:p>
          <a:p>
            <a:r>
              <a:rPr lang="zh-CN" altLang="en-US" dirty="0" smtClean="0"/>
              <a:t>请大家课后学习</a:t>
            </a:r>
            <a:endParaRPr lang="en-US" altLang="zh-CN" dirty="0" smtClean="0"/>
          </a:p>
          <a:p>
            <a:r>
              <a:rPr lang="zh-CN" altLang="en-US" dirty="0" smtClean="0"/>
              <a:t>什么是设计类图与领域模型的区别与联系？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96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Microsoft JhengHei Light" panose="020B0304030504040204" pitchFamily="34" charset="-12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auto">
          <a:xfrm>
            <a:off x="828173" y="2132856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 baseline="0">
                <a:latin typeface="Microsoft JhengHei Light" panose="020B0304030504040204" pitchFamily="34" charset="-120"/>
                <a:ea typeface="+mn-ea"/>
                <a:cs typeface="Malgun Gothic Semilight" panose="020B0502040204020203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2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81075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41438"/>
            <a:ext cx="10515600" cy="4351337"/>
          </a:xfrm>
        </p:spPr>
        <p:txBody>
          <a:bodyPr/>
          <a:lstStyle>
            <a:lvl1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2pPr>
            <a:lvl3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3pPr>
            <a:lvl4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4pPr>
            <a:lvl5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44831" y="-27384"/>
            <a:ext cx="12099841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0"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664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6E0E08C0-E34A-41E9-8C60-04DBC2740B4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40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2AB90974-DD9F-401C-BCD5-5C52FB14960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45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49523" y="-27384"/>
            <a:ext cx="12167157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3564FCCF-ECFC-4384-BBB6-CBB436201AF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18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247C9950-AB1E-410B-AA3D-ED32C3E8627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9523" y="-27384"/>
            <a:ext cx="12095149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1B25AAC3-67D6-43A1-B13B-90A7556932A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4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81075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6811963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82633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E7D3CED3-13D6-4067-92F3-384BFE2D7B6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00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alt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82633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6A98F42C-13FA-4910-870C-46D85C5F2F0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00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CB0C8DD1-9D3B-42A1-84B1-8E869690B5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6326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56147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B0268A1A-ECCE-469A-91A9-370D3004D3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335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94038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Microsoft JhengHei Light" panose="020B0304030504040204" pitchFamily="34" charset="-12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auto">
          <a:xfrm>
            <a:off x="828173" y="2132856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 baseline="0">
                <a:latin typeface="Microsoft JhengHei Light" panose="020B0304030504040204" pitchFamily="34" charset="-120"/>
                <a:ea typeface="+mn-ea"/>
                <a:cs typeface="Malgun Gothic Semilight" panose="020B0502040204020203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541398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872" y="-27384"/>
            <a:ext cx="12115800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49262" y="1341438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 </a:t>
            </a:r>
            <a:r>
              <a:rPr lang="en-US" altLang="zh-CN" smtClean="0"/>
              <a:t>Enter your Theme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0965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zh-CN" altLang="en-US" sz="3600" b="1" kern="1200">
          <a:solidFill>
            <a:srgbClr val="FFFF9A"/>
          </a:solidFill>
          <a:latin typeface="Microsoft JhengHei Light" panose="020B0304030504040204" pitchFamily="34" charset="-120"/>
          <a:ea typeface="+mn-ea"/>
          <a:cs typeface="Malgun Gothic Semilight" panose="020B0502040204020203" pitchFamily="34" charset="-122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Wingdings" panose="05000000000000000000" pitchFamily="2" charset="2"/>
        <a:buChar char="u"/>
        <a:defRPr lang="zh-CN" altLang="en-US" sz="2800" b="1" kern="1200" dirty="0">
          <a:solidFill>
            <a:srgbClr val="E8E88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1pPr>
      <a:lvl2pPr marL="8001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18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#ch16fig08"/><Relationship Id="rId5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42" TargetMode="External"/><Relationship Id="rId4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ch16lev1sec15.html#ch16fig07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1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5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ch11lev1sec12.html#ch11lev1sec12" TargetMode="External"/><Relationship Id="rId4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ch11.html#ch1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3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3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22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04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mk:@MSITStore:D:\arnold%20&#20010;&#20154;&#36164;&#26009;\XY\&#25945;&#23398;&#25913;&#38761;&#39033;&#30446;\2015\MOOC\MOOC-LLN\&#21442;&#32771;&#20070;\AGILE\Applying%20UML%20and%20Patterns%20An%20Introduction%20to%20Object-Oriented%20Analysis%20and%20Design%20and%20Iterative%20Development%20(3rd%20Edition).chm::/0131489062/gloss01.html#gloss01entry15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886200"/>
            <a:ext cx="7315200" cy="1752600"/>
          </a:xfrm>
        </p:spPr>
        <p:txBody>
          <a:bodyPr/>
          <a:lstStyle/>
          <a:p>
            <a:r>
              <a:rPr lang="en-US" altLang="zh-CN" sz="3200" dirty="0" smtClean="0"/>
              <a:t>Chapter </a:t>
            </a:r>
            <a:r>
              <a:rPr lang="en-US" altLang="zh-CN" sz="3200" dirty="0"/>
              <a:t>4.7 </a:t>
            </a:r>
            <a:endParaRPr lang="en-US" altLang="zh-CN" sz="3200" dirty="0" smtClean="0"/>
          </a:p>
          <a:p>
            <a:r>
              <a:rPr lang="en-US" altLang="zh-CN" sz="3200" dirty="0" smtClean="0"/>
              <a:t>UML </a:t>
            </a:r>
            <a:r>
              <a:rPr lang="en-US" altLang="zh-CN" sz="3200" dirty="0"/>
              <a:t>Class Diagrams</a:t>
            </a:r>
            <a:endParaRPr lang="zh-CN" altLang="zh-CN" sz="3200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676401"/>
            <a:ext cx="10744200" cy="1924050"/>
          </a:xfrm>
        </p:spPr>
        <p:txBody>
          <a:bodyPr/>
          <a:lstStyle/>
          <a:p>
            <a:r>
              <a:rPr lang="en-US" altLang="zh-CN" sz="4800" dirty="0"/>
              <a:t>Software Requirements</a:t>
            </a:r>
            <a:r>
              <a:rPr lang="zh-CN" altLang="en-US" sz="4800" dirty="0"/>
              <a:t> </a:t>
            </a:r>
            <a:r>
              <a:rPr lang="en-US" altLang="zh-CN" sz="4800" dirty="0" smtClean="0"/>
              <a:t>Analysis</a:t>
            </a:r>
            <a:r>
              <a:rPr lang="en-US" altLang="zh-CN" sz="4800" dirty="0"/>
              <a:t>,</a:t>
            </a:r>
            <a:r>
              <a:rPr lang="en-US" altLang="zh-CN" sz="4800" dirty="0" smtClean="0"/>
              <a:t> Design </a:t>
            </a:r>
            <a:r>
              <a:rPr lang="en-US" altLang="zh-CN" sz="4800" dirty="0"/>
              <a:t>and </a:t>
            </a:r>
            <a:r>
              <a:rPr lang="en-US" altLang="zh-CN" sz="4800" dirty="0" smtClean="0"/>
              <a:t>Modeling</a:t>
            </a:r>
          </a:p>
        </p:txBody>
      </p:sp>
    </p:spTree>
    <p:custDataLst>
      <p:custData r:id="rId1"/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3"/>
    </mc:Choice>
    <mc:Fallback xmlns="">
      <p:transition spd="slow" advTm="571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Provide a reference for frequently used UML class diagram notation.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4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/>
              <a:t>Applying UML: Common Class Diagram Notation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Definitions and UML Notations</a:t>
            </a:r>
            <a:r>
              <a:rPr lang="zh-CN" altLang="en-US" dirty="0" smtClean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Class Diagram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Guidelines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UML Class Diagrams.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2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58615" y="133748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9447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UML includes class diagrams to illustrate classes, interfaces, and their associations. </a:t>
            </a:r>
            <a:endParaRPr lang="en-US" altLang="zh-CN" dirty="0" smtClean="0"/>
          </a:p>
          <a:p>
            <a:r>
              <a:rPr lang="en-US" altLang="zh-CN" dirty="0" smtClean="0"/>
              <a:t>They </a:t>
            </a:r>
            <a:r>
              <a:rPr lang="en-US" altLang="zh-CN" dirty="0"/>
              <a:t>are used for static object modeling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We've already introduced and used this UML diagram while domain modeling, applying class diagrams in a conceptual perspective. </a:t>
            </a:r>
            <a:endParaRPr lang="en-US" altLang="zh-CN" dirty="0" smtClean="0"/>
          </a:p>
          <a:p>
            <a:r>
              <a:rPr lang="en-US" altLang="zh-CN" dirty="0" smtClean="0"/>
              <a:t>This </a:t>
            </a:r>
            <a:r>
              <a:rPr lang="en-US" altLang="zh-CN" dirty="0"/>
              <a:t>chapter summarizes more of the notation, irrespective of the perspective (conceptual or software). </a:t>
            </a:r>
            <a:endParaRPr lang="en-US" altLang="zh-CN" dirty="0" smtClean="0"/>
          </a:p>
          <a:p>
            <a:r>
              <a:rPr lang="en-US" altLang="zh-CN" dirty="0" smtClean="0"/>
              <a:t>As </a:t>
            </a:r>
            <a:r>
              <a:rPr lang="en-US" altLang="zh-CN" dirty="0"/>
              <a:t>with the prior interaction diagram chapter, this is a reference.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What is Class Diagram?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67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50320" y="1341438"/>
            <a:ext cx="4831679" cy="46910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Applying UML: Common Class Diagram Notation</a:t>
            </a:r>
            <a:r>
              <a:rPr lang="en-US" altLang="zh-CN" dirty="0" smtClean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83671" y="3147774"/>
            <a:ext cx="23643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16.1. Common UML class diagram notation.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62250" y="1812175"/>
            <a:ext cx="990600" cy="129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59869" y="4296462"/>
            <a:ext cx="5626932" cy="149473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flipV="1">
            <a:off x="4409900" y="1377387"/>
            <a:ext cx="2328950" cy="504138"/>
          </a:xfrm>
          <a:prstGeom prst="rect">
            <a:avLst/>
          </a:prstGeom>
          <a:noFill/>
          <a:ln w="38100">
            <a:solidFill>
              <a:srgbClr val="3DE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4605250" y="4525062"/>
            <a:ext cx="2328950" cy="504138"/>
          </a:xfrm>
          <a:prstGeom prst="rect">
            <a:avLst/>
          </a:prstGeom>
          <a:noFill/>
          <a:ln w="38100">
            <a:solidFill>
              <a:srgbClr val="3DEA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23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47975" y="2297906"/>
            <a:ext cx="5886450" cy="24384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UML Class Diagrams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1" y="3038706"/>
            <a:ext cx="2133600" cy="92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16.2. UML class diagrams in two perspectives.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33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Applying UML: Common Class Diagram Notation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en-US" altLang="zh-CN" dirty="0"/>
              <a:t>Definitions and UML Notations</a:t>
            </a:r>
            <a:r>
              <a:rPr lang="zh-CN" altLang="en-US" dirty="0"/>
              <a:t>：</a:t>
            </a:r>
            <a:r>
              <a:rPr lang="en-US" altLang="zh-CN" dirty="0"/>
              <a:t>Class Diagram</a:t>
            </a:r>
            <a:r>
              <a:rPr lang="en-US" altLang="zh-CN" dirty="0"/>
              <a:t>.</a:t>
            </a:r>
          </a:p>
          <a:p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Guidelines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UML Class Diagram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6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44831" y="18288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193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00011" y="1341438"/>
            <a:ext cx="6982377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Ways to Show UML Attributes: Attribute Text and Association Lines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501443"/>
            <a:ext cx="16142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16.3. Attribute text versus association line notation for a UML attribute.</a:t>
            </a:r>
          </a:p>
        </p:txBody>
      </p:sp>
      <p:sp>
        <p:nvSpPr>
          <p:cNvPr id="8" name="矩形 7"/>
          <p:cNvSpPr/>
          <p:nvPr/>
        </p:nvSpPr>
        <p:spPr>
          <a:xfrm>
            <a:off x="4094014" y="1676400"/>
            <a:ext cx="2078186" cy="4058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324600" y="3334917"/>
            <a:ext cx="1490750" cy="364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249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0300" y="1593056"/>
            <a:ext cx="6781800" cy="38481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UML Notation for collection attribute </a:t>
            </a:r>
            <a:r>
              <a:rPr lang="en-US" altLang="zh-CN" dirty="0" smtClean="0"/>
              <a:t>and an </a:t>
            </a:r>
            <a:r>
              <a:rPr lang="en-US" altLang="zh-CN" dirty="0"/>
              <a:t>Association End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81000" y="2514600"/>
            <a:ext cx="1752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16.6. Two ways to show a collection attribute in the UML.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395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note symbol may represent several things, such as: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 </a:t>
            </a:r>
            <a:r>
              <a:rPr lang="en-US" altLang="zh-CN" dirty="0"/>
              <a:t>UML note or comment, which by definition have no semantic impact</a:t>
            </a:r>
          </a:p>
          <a:p>
            <a:pPr lvl="1"/>
            <a:r>
              <a:rPr lang="en-US" altLang="zh-CN" dirty="0"/>
              <a:t>a UML </a:t>
            </a:r>
            <a:r>
              <a:rPr lang="en-US" altLang="zh-CN" dirty="0">
                <a:hlinkClick r:id="rId3" action="ppaction://hlinkfile"/>
              </a:rPr>
              <a:t>constraint</a:t>
            </a:r>
            <a:r>
              <a:rPr lang="en-US" altLang="zh-CN" dirty="0"/>
              <a:t>, in which case it must be encased in braces '{…}' (see </a:t>
            </a:r>
            <a:r>
              <a:rPr lang="en-US" altLang="zh-CN" dirty="0">
                <a:hlinkClick r:id="rId4" action="ppaction://hlinkfile"/>
              </a:rPr>
              <a:t>Figure 16.14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dirty="0">
                <a:hlinkClick r:id="rId5" action="ppaction://hlinkfile"/>
              </a:rPr>
              <a:t>method</a:t>
            </a:r>
            <a:r>
              <a:rPr lang="en-US" altLang="zh-CN" dirty="0"/>
              <a:t> </a:t>
            </a:r>
            <a:r>
              <a:rPr lang="en-US" altLang="zh-CN" dirty="0" smtClean="0"/>
              <a:t>body the </a:t>
            </a:r>
            <a:r>
              <a:rPr lang="en-US" altLang="zh-CN" dirty="0"/>
              <a:t>implementation of a UML operation (see </a:t>
            </a:r>
            <a:r>
              <a:rPr lang="en-US" altLang="zh-CN" dirty="0">
                <a:hlinkClick r:id="rId6" action="ppaction://hlinkfile"/>
              </a:rPr>
              <a:t>Figure 16.7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 Symbols: Notes, Comments, Constraints, and Method Bodies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65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3400" y="1341439"/>
            <a:ext cx="6477000" cy="2925762"/>
          </a:xfrm>
        </p:spPr>
        <p:txBody>
          <a:bodyPr/>
          <a:lstStyle/>
          <a:p>
            <a:r>
              <a:rPr lang="en-US" altLang="zh-CN" sz="2400" dirty="0" smtClean="0"/>
              <a:t>A </a:t>
            </a:r>
            <a:r>
              <a:rPr lang="en-US" altLang="zh-CN" sz="2400" dirty="0"/>
              <a:t>UML </a:t>
            </a:r>
            <a:r>
              <a:rPr lang="en-US" altLang="zh-CN" sz="2400" dirty="0">
                <a:hlinkClick r:id="rId3" action="ppaction://hlinkfile"/>
              </a:rPr>
              <a:t>constraint</a:t>
            </a:r>
            <a:r>
              <a:rPr lang="en-US" altLang="zh-CN" sz="2400" dirty="0"/>
              <a:t> is a restriction or condition on a UML element. It is visualized in text between braces; for example: { size &gt;= 0 }. </a:t>
            </a:r>
            <a:endParaRPr lang="en-US" altLang="zh-CN" sz="2400" dirty="0" smtClean="0"/>
          </a:p>
          <a:p>
            <a:r>
              <a:rPr lang="en-US" altLang="zh-CN" sz="2400" dirty="0" smtClean="0"/>
              <a:t>The </a:t>
            </a:r>
            <a:r>
              <a:rPr lang="en-US" altLang="zh-CN" sz="2400" dirty="0"/>
              <a:t>text may be natural language or anything else, such as UML's formal specification language, the Object Constraint Language (OCL)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Constraints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1847366"/>
            <a:ext cx="4347439" cy="204013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2000" y="4685186"/>
            <a:ext cx="16594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Figure 16.14. </a:t>
            </a:r>
            <a:endParaRPr lang="en-US" altLang="zh-CN" b="1" dirty="0" smtClean="0"/>
          </a:p>
          <a:p>
            <a:r>
              <a:rPr lang="en-US" altLang="zh-CN" b="1" dirty="0" smtClean="0"/>
              <a:t>Constraints</a:t>
            </a:r>
            <a:endParaRPr lang="en-US" altLang="zh-CN" b="1" dirty="0"/>
          </a:p>
        </p:txBody>
      </p:sp>
      <p:sp>
        <p:nvSpPr>
          <p:cNvPr id="7" name="矩形 6"/>
          <p:cNvSpPr/>
          <p:nvPr/>
        </p:nvSpPr>
        <p:spPr>
          <a:xfrm>
            <a:off x="9555134" y="2673895"/>
            <a:ext cx="2103465" cy="297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229600" y="2438400"/>
            <a:ext cx="972588" cy="379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555134" y="3124201"/>
            <a:ext cx="2259905" cy="7633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20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48886"/>
            <a:ext cx="11125200" cy="4351337"/>
          </a:xfrm>
        </p:spPr>
        <p:txBody>
          <a:bodyPr/>
          <a:lstStyle/>
          <a:p>
            <a:r>
              <a:rPr lang="en-US" altLang="zh-CN" dirty="0" smtClean="0"/>
              <a:t>Official </a:t>
            </a:r>
            <a:r>
              <a:rPr lang="en-US" altLang="zh-CN" dirty="0"/>
              <a:t>format of the operation syntax is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visibility </a:t>
            </a:r>
            <a:r>
              <a:rPr lang="en-US" altLang="zh-CN" dirty="0"/>
              <a:t>name (parameter-list) {property-string</a:t>
            </a:r>
            <a:r>
              <a:rPr lang="en-US" altLang="zh-CN" dirty="0" smtClean="0"/>
              <a:t>}</a:t>
            </a:r>
          </a:p>
          <a:p>
            <a:pPr lvl="1"/>
            <a:r>
              <a:rPr lang="en-US" altLang="zh-CN" dirty="0"/>
              <a:t>visibility name (parameter-list) : return-type {property-string}</a:t>
            </a:r>
          </a:p>
          <a:p>
            <a:r>
              <a:rPr lang="en-US" altLang="zh-CN" dirty="0" smtClean="0"/>
              <a:t>The </a:t>
            </a:r>
            <a:r>
              <a:rPr lang="en-US" altLang="zh-CN" dirty="0"/>
              <a:t>UML allows the operation signature to be written in any programming language, such as Java, assuming the reader or tool is notified. For example, both expressions are possible:</a:t>
            </a:r>
            <a:endParaRPr lang="en-US" altLang="zh-CN" dirty="0" smtClean="0"/>
          </a:p>
          <a:p>
            <a:pPr lvl="1"/>
            <a:r>
              <a:rPr lang="en-US" altLang="zh-CN" dirty="0"/>
              <a:t>+ </a:t>
            </a:r>
            <a:r>
              <a:rPr lang="en-US" altLang="zh-CN" dirty="0" err="1"/>
              <a:t>getPlayer</a:t>
            </a:r>
            <a:r>
              <a:rPr lang="en-US" altLang="zh-CN" dirty="0"/>
              <a:t>( name : String ) : Player {exception </a:t>
            </a:r>
            <a:r>
              <a:rPr lang="en-US" altLang="zh-CN" dirty="0" err="1"/>
              <a:t>IOException</a:t>
            </a:r>
            <a:r>
              <a:rPr lang="en-US" altLang="zh-CN" dirty="0"/>
              <a:t>}</a:t>
            </a:r>
          </a:p>
          <a:p>
            <a:pPr lvl="1"/>
            <a:r>
              <a:rPr lang="en-US" altLang="zh-CN" dirty="0"/>
              <a:t>public Player </a:t>
            </a:r>
            <a:r>
              <a:rPr lang="en-US" altLang="zh-CN" dirty="0" err="1"/>
              <a:t>getPlayer</a:t>
            </a:r>
            <a:r>
              <a:rPr lang="en-US" altLang="zh-CN" dirty="0"/>
              <a:t>( String name ) throws </a:t>
            </a:r>
            <a:r>
              <a:rPr lang="en-US" altLang="zh-CN" dirty="0" err="1" smtClean="0"/>
              <a:t>IOException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Operations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75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248886"/>
            <a:ext cx="11125200" cy="4351337"/>
          </a:xfrm>
        </p:spPr>
        <p:txBody>
          <a:bodyPr/>
          <a:lstStyle/>
          <a:p>
            <a:r>
              <a:rPr lang="en-US" altLang="zh-CN" dirty="0"/>
              <a:t>An operation is not a method. </a:t>
            </a:r>
            <a:endParaRPr lang="en-US" altLang="zh-CN" dirty="0" smtClean="0"/>
          </a:p>
          <a:p>
            <a:r>
              <a:rPr lang="en-US" altLang="zh-CN" dirty="0" smtClean="0"/>
              <a:t>A </a:t>
            </a:r>
            <a:r>
              <a:rPr lang="en-US" altLang="zh-CN" dirty="0"/>
              <a:t>UML </a:t>
            </a:r>
            <a:r>
              <a:rPr lang="en-US" altLang="zh-CN" dirty="0">
                <a:hlinkClick r:id="rId3" action="ppaction://hlinkfile"/>
              </a:rPr>
              <a:t>operation</a:t>
            </a:r>
            <a:r>
              <a:rPr lang="en-US" altLang="zh-CN" dirty="0"/>
              <a:t> is a declaration, with a name, parameters, return type, exceptions list, and possibly a set of constraints of </a:t>
            </a:r>
            <a:r>
              <a:rPr lang="en-US" altLang="zh-CN" dirty="0" smtClean="0"/>
              <a:t>pre- and </a:t>
            </a:r>
            <a:r>
              <a:rPr lang="en-US" altLang="zh-CN" dirty="0"/>
              <a:t>post-conditions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But</a:t>
            </a:r>
            <a:r>
              <a:rPr lang="en-US" altLang="zh-CN" dirty="0"/>
              <a:t>, it isn't an </a:t>
            </a:r>
            <a:r>
              <a:rPr lang="en-US" altLang="zh-CN" dirty="0" smtClean="0"/>
              <a:t>implementation rather</a:t>
            </a:r>
            <a:r>
              <a:rPr lang="en-US" altLang="zh-CN" dirty="0"/>
              <a:t>, methods are </a:t>
            </a:r>
            <a:r>
              <a:rPr lang="en-US" altLang="zh-CN" dirty="0" smtClean="0"/>
              <a:t>implementations</a:t>
            </a:r>
            <a:r>
              <a:rPr lang="en-US" altLang="zh-CN" dirty="0"/>
              <a:t>. </a:t>
            </a:r>
            <a:endParaRPr lang="en-US" altLang="zh-CN" dirty="0" smtClean="0"/>
          </a:p>
          <a:p>
            <a:r>
              <a:rPr lang="en-US" altLang="zh-CN" dirty="0"/>
              <a:t>When we explored </a:t>
            </a:r>
            <a:r>
              <a:rPr lang="en-US" altLang="zh-CN" dirty="0">
                <a:hlinkClick r:id="rId4" action="ppaction://hlinkfile"/>
              </a:rPr>
              <a:t>operation </a:t>
            </a:r>
            <a:r>
              <a:rPr lang="en-US" altLang="zh-CN" dirty="0" smtClean="0">
                <a:hlinkClick r:id="rId4" action="ppaction://hlinkfile"/>
              </a:rPr>
              <a:t>contracts</a:t>
            </a:r>
            <a:r>
              <a:rPr lang="en-US" altLang="zh-CN" dirty="0" smtClean="0"/>
              <a:t>, </a:t>
            </a:r>
            <a:r>
              <a:rPr lang="en-US" altLang="zh-CN" dirty="0"/>
              <a:t>in UML terms we were exploring the definition of constraints for </a:t>
            </a:r>
            <a:r>
              <a:rPr lang="en-US" altLang="zh-CN" dirty="0">
                <a:hlinkClick r:id="rId5" action="ppaction://hlinkfile"/>
              </a:rPr>
              <a:t>UML operations</a:t>
            </a:r>
            <a:r>
              <a:rPr lang="en-US" altLang="zh-CN" dirty="0"/>
              <a:t>, as was discussed on (</a:t>
            </a:r>
            <a:r>
              <a:rPr lang="en-US" altLang="zh-CN" dirty="0"/>
              <a:t>chapter </a:t>
            </a:r>
            <a:r>
              <a:rPr lang="en-US" altLang="zh-CN" dirty="0" smtClean="0"/>
              <a:t>11.11).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Operations </a:t>
            </a:r>
            <a:r>
              <a:rPr lang="en-US" altLang="zh-CN" dirty="0"/>
              <a:t>and Methods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7851" y="1320237"/>
            <a:ext cx="11353800" cy="4351337"/>
          </a:xfrm>
        </p:spPr>
        <p:txBody>
          <a:bodyPr/>
          <a:lstStyle/>
          <a:p>
            <a:r>
              <a:rPr lang="en-US" altLang="zh-CN" dirty="0">
                <a:hlinkClick r:id="rId3" action="ppaction://hlinkfile"/>
              </a:rPr>
              <a:t>Generalization</a:t>
            </a:r>
            <a:r>
              <a:rPr lang="en-US" altLang="zh-CN" dirty="0"/>
              <a:t> </a:t>
            </a:r>
            <a:r>
              <a:rPr lang="en-US" altLang="zh-CN" dirty="0" smtClean="0"/>
              <a:t>A </a:t>
            </a:r>
            <a:r>
              <a:rPr lang="en-US" altLang="zh-CN" dirty="0"/>
              <a:t>taxonomic relationship between a more general classifier and a more specific classifier. Each instance of the specific classifier is also an indirect instance of the general classifier. Thus, the specific classifier indirectly has features of the more general classifier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Is this the same as OO programming language (OOPL) </a:t>
            </a:r>
            <a:r>
              <a:rPr lang="en-US" altLang="zh-CN" dirty="0">
                <a:hlinkClick r:id="rId4" action="ppaction://hlinkfile"/>
              </a:rPr>
              <a:t>inheritance</a:t>
            </a:r>
            <a:r>
              <a:rPr lang="en-US" altLang="zh-CN" dirty="0"/>
              <a:t>?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It </a:t>
            </a:r>
            <a:r>
              <a:rPr lang="en-US" altLang="zh-CN" dirty="0"/>
              <a:t>depends. In a domain model conceptual-perspective class diagram, the answer is no. </a:t>
            </a:r>
            <a:r>
              <a:rPr lang="en-US" altLang="zh-CN" dirty="0" smtClean="0"/>
              <a:t>Rather</a:t>
            </a:r>
            <a:r>
              <a:rPr lang="en-US" altLang="zh-CN" dirty="0"/>
              <a:t>, it implies the superclass is a superset and the subclass is a subset.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On </a:t>
            </a:r>
            <a:r>
              <a:rPr lang="en-US" altLang="zh-CN" dirty="0"/>
              <a:t>the other hand, in a DCD software-perspective class diagram, it implies OOPL inheritance from the superclass to subclass.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Generalization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97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8600" y="1066800"/>
            <a:ext cx="11658600" cy="4351337"/>
          </a:xfrm>
        </p:spPr>
        <p:txBody>
          <a:bodyPr/>
          <a:lstStyle/>
          <a:p>
            <a:r>
              <a:rPr lang="en-US" altLang="zh-CN" dirty="0" smtClean="0"/>
              <a:t>The </a:t>
            </a:r>
            <a:r>
              <a:rPr lang="en-US" altLang="zh-CN" dirty="0"/>
              <a:t>UML includes a general dependency relationship that indicates that a client element (of any kind, including classes, packages, use cases, and so on) has knowledge of another supplier element and that a change in the supplier could affect the client. That's a broad relationship</a:t>
            </a:r>
            <a:r>
              <a:rPr lang="en-US" altLang="zh-CN" dirty="0" smtClean="0"/>
              <a:t>!</a:t>
            </a:r>
          </a:p>
          <a:p>
            <a:r>
              <a:rPr lang="en-US" altLang="zh-CN" dirty="0"/>
              <a:t>Dependency can be viewed as another version of </a:t>
            </a:r>
            <a:r>
              <a:rPr lang="en-US" altLang="zh-CN" dirty="0">
                <a:hlinkClick r:id="rId3" action="ppaction://hlinkfile"/>
              </a:rPr>
              <a:t>coupling</a:t>
            </a:r>
            <a:r>
              <a:rPr lang="en-US" altLang="zh-CN" dirty="0"/>
              <a:t>, a traditional term in software development when an element is coupled to or depends on another.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Dependency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40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There are many kinds of dependency; here are some common types in terms of objects and class diagrams:</a:t>
            </a:r>
          </a:p>
          <a:p>
            <a:pPr lvl="1"/>
            <a:r>
              <a:rPr lang="en-US" altLang="zh-CN" dirty="0"/>
              <a:t>having an attribute of the supplier type</a:t>
            </a:r>
          </a:p>
          <a:p>
            <a:pPr lvl="1"/>
            <a:r>
              <a:rPr lang="en-US" altLang="zh-CN" dirty="0"/>
              <a:t>sending a message to a supplier; the visibility to the supplier could be:</a:t>
            </a:r>
          </a:p>
          <a:p>
            <a:pPr lvl="2"/>
            <a:r>
              <a:rPr lang="en-US" altLang="zh-CN" dirty="0"/>
              <a:t>an attribute, a parameter variable, a local variable, a global variable, or class visibility (invoking static or class methods)</a:t>
            </a:r>
          </a:p>
          <a:p>
            <a:pPr lvl="1"/>
            <a:r>
              <a:rPr lang="en-US" altLang="zh-CN" dirty="0"/>
              <a:t>receiving a parameter of the supplier type</a:t>
            </a:r>
          </a:p>
          <a:p>
            <a:pPr lvl="1"/>
            <a:r>
              <a:rPr lang="en-US" altLang="zh-CN" dirty="0"/>
              <a:t>the supplier is a superclass or interface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Dependency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24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2102604"/>
            <a:ext cx="6331414" cy="3278981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Example: Dependency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66800" y="1469743"/>
            <a:ext cx="419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16.9. Showing dependency.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65346"/>
            <a:ext cx="4924425" cy="15049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514601" y="2393428"/>
            <a:ext cx="4274014" cy="16682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902912" y="2472724"/>
            <a:ext cx="5203659" cy="2023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3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1400" y="1282137"/>
            <a:ext cx="6918896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Interfaces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3524" y="2819400"/>
            <a:ext cx="2667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16.12. Different notations to show interfaces in UML.</a:t>
            </a:r>
          </a:p>
        </p:txBody>
      </p:sp>
      <p:sp>
        <p:nvSpPr>
          <p:cNvPr id="7" name="矩形 6"/>
          <p:cNvSpPr/>
          <p:nvPr/>
        </p:nvSpPr>
        <p:spPr>
          <a:xfrm>
            <a:off x="4876800" y="4638101"/>
            <a:ext cx="3044328" cy="99537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54108" y="3962400"/>
            <a:ext cx="2446188" cy="17756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7696200" y="2114147"/>
            <a:ext cx="2537692" cy="139465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81400" y="2411437"/>
            <a:ext cx="1295400" cy="28463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21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3400" y="1066800"/>
            <a:ext cx="10515600" cy="4351337"/>
          </a:xfrm>
        </p:spPr>
        <p:txBody>
          <a:bodyPr/>
          <a:lstStyle/>
          <a:p>
            <a:r>
              <a:rPr lang="en-US" altLang="zh-CN" dirty="0">
                <a:hlinkClick r:id="rId3" action="ppaction://hlinkfile"/>
              </a:rPr>
              <a:t>Aggregation</a:t>
            </a:r>
            <a:r>
              <a:rPr lang="en-US" altLang="zh-CN" dirty="0"/>
              <a:t> is a vague kind of association in the UML that loosely suggests whole-part relationships (as do many ordinary associations). </a:t>
            </a:r>
            <a:endParaRPr lang="en-US" altLang="zh-CN" dirty="0" smtClean="0"/>
          </a:p>
          <a:p>
            <a:r>
              <a:rPr lang="en-US" altLang="zh-CN" dirty="0">
                <a:hlinkClick r:id="rId4" action="ppaction://hlinkfile"/>
              </a:rPr>
              <a:t>Composition</a:t>
            </a:r>
            <a:r>
              <a:rPr lang="en-US" altLang="zh-CN" dirty="0"/>
              <a:t>, also known as composite aggregation, is a strong kind of whole-part aggregation and is useful to show in some models. A composition relationship implies that </a:t>
            </a:r>
            <a:endParaRPr lang="en-US" altLang="zh-CN" dirty="0" smtClean="0"/>
          </a:p>
          <a:p>
            <a:pPr lvl="1"/>
            <a:r>
              <a:rPr lang="en-US" altLang="zh-CN" dirty="0"/>
              <a:t>1) an instance of the part </a:t>
            </a:r>
            <a:r>
              <a:rPr lang="en-US" altLang="zh-CN" dirty="0" smtClean="0"/>
              <a:t>belongs </a:t>
            </a:r>
            <a:r>
              <a:rPr lang="en-US" altLang="zh-CN" dirty="0"/>
              <a:t>to only one composite instance </a:t>
            </a:r>
            <a:r>
              <a:rPr lang="en-US" altLang="zh-CN" dirty="0" smtClean="0"/>
              <a:t>at </a:t>
            </a:r>
            <a:r>
              <a:rPr lang="en-US" altLang="zh-CN" dirty="0"/>
              <a:t>a time, </a:t>
            </a:r>
            <a:r>
              <a:rPr lang="en-US" altLang="zh-CN" dirty="0" smtClean="0"/>
              <a:t>2</a:t>
            </a:r>
            <a:r>
              <a:rPr lang="en-US" altLang="zh-CN" dirty="0"/>
              <a:t>) the part must always belong to a </a:t>
            </a:r>
            <a:r>
              <a:rPr lang="en-US" altLang="zh-CN" dirty="0" smtClean="0"/>
              <a:t>composite, </a:t>
            </a:r>
            <a:r>
              <a:rPr lang="en-US" altLang="zh-CN" dirty="0"/>
              <a:t>and </a:t>
            </a:r>
            <a:r>
              <a:rPr lang="en-US" altLang="zh-CN" dirty="0" smtClean="0"/>
              <a:t>3</a:t>
            </a:r>
            <a:r>
              <a:rPr lang="en-US" altLang="zh-CN" dirty="0"/>
              <a:t>) the composite is responsible for the creation and deletion of its </a:t>
            </a:r>
            <a:r>
              <a:rPr lang="en-US" altLang="zh-CN" dirty="0" smtClean="0"/>
              <a:t>parts either </a:t>
            </a:r>
            <a:r>
              <a:rPr lang="en-US" altLang="zh-CN" dirty="0"/>
              <a:t>by itself creating/deleting the parts, or by collaborating with other objects. Related to this constraint is that if the composite is destroyed, its parts must either be </a:t>
            </a:r>
            <a:r>
              <a:rPr lang="en-US" altLang="zh-CN" dirty="0" smtClean="0"/>
              <a:t>destroyed.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Composition Over Aggregation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91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2787" y="1981200"/>
            <a:ext cx="6310939" cy="2569369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Qualified Association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19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69221" y="2896552"/>
            <a:ext cx="19263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16.15. Qualified associations in the UML.</a:t>
            </a:r>
          </a:p>
        </p:txBody>
      </p:sp>
      <p:sp>
        <p:nvSpPr>
          <p:cNvPr id="7" name="矩形 6"/>
          <p:cNvSpPr/>
          <p:nvPr/>
        </p:nvSpPr>
        <p:spPr>
          <a:xfrm>
            <a:off x="7315200" y="1981200"/>
            <a:ext cx="914400" cy="25693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237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9000" y="2514600"/>
            <a:ext cx="6500133" cy="2007394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Association Class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6691" y="3068352"/>
            <a:ext cx="22775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16.16. Association classes in the UML.</a:t>
            </a:r>
          </a:p>
        </p:txBody>
      </p:sp>
      <p:sp>
        <p:nvSpPr>
          <p:cNvPr id="7" name="矩形 6"/>
          <p:cNvSpPr/>
          <p:nvPr/>
        </p:nvSpPr>
        <p:spPr>
          <a:xfrm>
            <a:off x="5715000" y="3068352"/>
            <a:ext cx="2286000" cy="14536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7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48100" y="2209800"/>
            <a:ext cx="7239000" cy="24860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Singleton Classes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56647" y="3079186"/>
            <a:ext cx="25199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16.17. Showing a singleton.</a:t>
            </a:r>
          </a:p>
        </p:txBody>
      </p:sp>
      <p:sp>
        <p:nvSpPr>
          <p:cNvPr id="7" name="矩形 6"/>
          <p:cNvSpPr/>
          <p:nvPr/>
        </p:nvSpPr>
        <p:spPr>
          <a:xfrm>
            <a:off x="8305800" y="1999169"/>
            <a:ext cx="2286000" cy="14536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113020" y="2688350"/>
            <a:ext cx="2697480" cy="390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265420" y="3581400"/>
            <a:ext cx="2697480" cy="390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9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90925" y="1752600"/>
            <a:ext cx="7753350" cy="37338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Template Classes and Interfaces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514600"/>
            <a:ext cx="2819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16.18. Templates in the UML.</a:t>
            </a:r>
          </a:p>
        </p:txBody>
      </p:sp>
    </p:spTree>
    <p:extLst>
      <p:ext uri="{BB962C8B-B14F-4D97-AF65-F5344CB8AC3E}">
        <p14:creationId xmlns:p14="http://schemas.microsoft.com/office/powerpoint/2010/main" val="19222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9000" y="2750344"/>
            <a:ext cx="4724400" cy="15335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Active Class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43000" y="2895600"/>
            <a:ext cx="16649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16.20. Active classes in the UML.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181600" y="2830226"/>
            <a:ext cx="2286000" cy="14536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6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62200" y="1524000"/>
            <a:ext cx="7743825" cy="40100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4831" y="-27383"/>
            <a:ext cx="11918569" cy="1094184"/>
          </a:xfrm>
        </p:spPr>
        <p:txBody>
          <a:bodyPr/>
          <a:lstStyle/>
          <a:p>
            <a:r>
              <a:rPr lang="en-US" altLang="zh-CN" dirty="0"/>
              <a:t>What's the Relationship Between Interaction and Class Diagrams?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81000" y="2590800"/>
            <a:ext cx="15382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16.21. The influence of interaction diagrams on class diagrams.</a:t>
            </a:r>
          </a:p>
        </p:txBody>
      </p:sp>
    </p:spTree>
    <p:extLst>
      <p:ext uri="{BB962C8B-B14F-4D97-AF65-F5344CB8AC3E}">
        <p14:creationId xmlns:p14="http://schemas.microsoft.com/office/powerpoint/2010/main" val="338336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Applying UML: Common Class Diagram Notation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Definitions and UML Notations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Class Diagram.</a:t>
            </a:r>
          </a:p>
          <a:p>
            <a:r>
              <a:rPr lang="en-US" altLang="zh-CN" dirty="0"/>
              <a:t>Guidelines</a:t>
            </a:r>
            <a:r>
              <a:rPr lang="en-US" altLang="zh-CN" dirty="0"/>
              <a:t>: </a:t>
            </a:r>
            <a:r>
              <a:rPr lang="en-US" altLang="zh-CN" dirty="0"/>
              <a:t>UML Class </a:t>
            </a:r>
            <a:r>
              <a:rPr lang="en-US" altLang="zh-CN" dirty="0" smtClean="0"/>
              <a:t>Diagrams.</a:t>
            </a:r>
            <a:endParaRPr lang="en-US" altLang="zh-CN" dirty="0"/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25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44831" y="22860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8588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47887" y="1759744"/>
            <a:ext cx="7286625" cy="35147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Guideline</a:t>
            </a:r>
            <a:r>
              <a:rPr lang="en-US" altLang="zh-CN" dirty="0" smtClean="0"/>
              <a:t>:</a:t>
            </a:r>
            <a:r>
              <a:rPr lang="en-US" altLang="zh-CN" dirty="0"/>
              <a:t> A</a:t>
            </a:r>
            <a:r>
              <a:rPr lang="en-US" altLang="zh-CN" dirty="0" smtClean="0"/>
              <a:t>ssociation Notation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04800" y="2590800"/>
            <a:ext cx="160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16.4. Idioms in association notation usage in different perspectives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715000" y="2819400"/>
            <a:ext cx="2133600" cy="58924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324600" y="4516152"/>
            <a:ext cx="2133600" cy="5892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8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5537" y="2340769"/>
            <a:ext cx="6791325" cy="23526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Guideline: When to Use Attribute Text versus Association Lines for Attributes?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57200" y="2501443"/>
            <a:ext cx="1600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16.5. Applying the guidelines to show attributes in two notations.</a:t>
            </a:r>
          </a:p>
        </p:txBody>
      </p:sp>
      <p:sp>
        <p:nvSpPr>
          <p:cNvPr id="7" name="矩形 6"/>
          <p:cNvSpPr/>
          <p:nvPr/>
        </p:nvSpPr>
        <p:spPr>
          <a:xfrm>
            <a:off x="3653442" y="3478875"/>
            <a:ext cx="2671158" cy="11037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530" y="2887759"/>
            <a:ext cx="2066925" cy="1143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372600" y="2501442"/>
            <a:ext cx="2590800" cy="17657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66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Guidelines</a:t>
            </a:r>
            <a:r>
              <a:rPr lang="en-US" altLang="zh-CN" dirty="0" smtClean="0"/>
              <a:t>: Operation</a:t>
            </a:r>
          </a:p>
          <a:p>
            <a:pPr lvl="1"/>
            <a:r>
              <a:rPr lang="en-US" altLang="zh-CN" dirty="0" smtClean="0"/>
              <a:t>Assume the </a:t>
            </a:r>
            <a:r>
              <a:rPr lang="en-US" altLang="zh-CN" dirty="0"/>
              <a:t>version that includes a return type</a:t>
            </a:r>
            <a:r>
              <a:rPr lang="en-US" altLang="zh-CN" dirty="0" smtClean="0"/>
              <a:t>.</a:t>
            </a:r>
          </a:p>
          <a:p>
            <a:pPr lvl="1"/>
            <a:r>
              <a:rPr lang="en-US" altLang="zh-CN" dirty="0"/>
              <a:t>Operations are usually assumed public if no visibility is shown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Guidelines: </a:t>
            </a:r>
            <a:r>
              <a:rPr lang="en-US" altLang="zh-CN" dirty="0" err="1" smtClean="0"/>
              <a:t>Keywrods</a:t>
            </a:r>
            <a:endParaRPr lang="en-US" altLang="zh-CN" dirty="0" smtClean="0"/>
          </a:p>
          <a:p>
            <a:pPr lvl="1"/>
            <a:r>
              <a:rPr lang="en-US" altLang="zh-CN" dirty="0"/>
              <a:t>When sketching </a:t>
            </a:r>
            <a:r>
              <a:rPr lang="en-US" altLang="zh-CN" dirty="0" smtClean="0"/>
              <a:t>UML when </a:t>
            </a:r>
            <a:r>
              <a:rPr lang="en-US" altLang="zh-CN" dirty="0"/>
              <a:t>we want speed, ease, and creative </a:t>
            </a:r>
            <a:r>
              <a:rPr lang="en-US" altLang="zh-CN" dirty="0" smtClean="0"/>
              <a:t>flow modelers </a:t>
            </a:r>
            <a:r>
              <a:rPr lang="en-US" altLang="zh-CN" dirty="0"/>
              <a:t>often simplify keywords </a:t>
            </a:r>
            <a:r>
              <a:rPr lang="en-US" altLang="zh-CN" dirty="0" smtClean="0"/>
              <a:t>like 《</a:t>
            </a:r>
            <a:r>
              <a:rPr lang="en-US" altLang="zh-CN" dirty="0" err="1" smtClean="0"/>
              <a:t>interface》to</a:t>
            </a:r>
            <a:r>
              <a:rPr lang="en-US" altLang="zh-CN" dirty="0" smtClean="0"/>
              <a:t> </a:t>
            </a:r>
            <a:r>
              <a:rPr lang="en-US" altLang="zh-CN" dirty="0"/>
              <a:t>something like '&lt;interface&gt;' or '&lt;I</a:t>
            </a:r>
            <a:r>
              <a:rPr lang="en-US" altLang="zh-CN" dirty="0" smtClean="0"/>
              <a:t>&gt;'.</a:t>
            </a:r>
          </a:p>
          <a:p>
            <a:r>
              <a:rPr lang="en-US" altLang="zh-CN" dirty="0"/>
              <a:t>Guidelines: </a:t>
            </a:r>
            <a:r>
              <a:rPr lang="en-US" altLang="zh-CN" dirty="0" smtClean="0"/>
              <a:t>Dependency </a:t>
            </a:r>
          </a:p>
          <a:p>
            <a:pPr lvl="1"/>
            <a:r>
              <a:rPr lang="en-US" altLang="zh-CN" dirty="0" smtClean="0"/>
              <a:t>In </a:t>
            </a:r>
            <a:r>
              <a:rPr lang="en-US" altLang="zh-CN" dirty="0"/>
              <a:t>class diagrams use the dependency line to depict global, parameter variable, local variable, and static-method (when a call is made to a static method of another class) dependency between objects.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Guidelines: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92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Guidelines</a:t>
            </a:r>
            <a:r>
              <a:rPr lang="en-US" altLang="zh-CN" dirty="0" smtClean="0"/>
              <a:t>: </a:t>
            </a:r>
            <a:r>
              <a:rPr lang="en-US" altLang="zh-CN" dirty="0"/>
              <a:t>Composition </a:t>
            </a:r>
            <a:endParaRPr lang="en-US" altLang="zh-CN" dirty="0" smtClean="0"/>
          </a:p>
          <a:p>
            <a:pPr lvl="1"/>
            <a:r>
              <a:rPr lang="en-US" altLang="zh-CN" dirty="0"/>
              <a:t>don't bother to use aggregation in the UML; rather, use composition when </a:t>
            </a:r>
            <a:r>
              <a:rPr lang="en-US" altLang="zh-CN" dirty="0" smtClean="0"/>
              <a:t>appropriate.</a:t>
            </a:r>
          </a:p>
          <a:p>
            <a:pPr lvl="1"/>
            <a:r>
              <a:rPr lang="en-US" altLang="zh-CN" dirty="0"/>
              <a:t>The association name in composition is always implicitly some variation of "Has-part," therefore don't bother to explicitly name the association</a:t>
            </a:r>
            <a:r>
              <a:rPr lang="en-US" altLang="zh-CN" dirty="0" smtClean="0"/>
              <a:t>.</a:t>
            </a:r>
          </a:p>
          <a:p>
            <a:r>
              <a:rPr lang="en-US" altLang="zh-CN" dirty="0"/>
              <a:t>Guidelines: Relationship Between Interaction and Class Diagrams</a:t>
            </a:r>
            <a:endParaRPr lang="en-US" altLang="zh-CN" dirty="0" smtClean="0"/>
          </a:p>
          <a:p>
            <a:pPr lvl="1"/>
            <a:r>
              <a:rPr lang="en-US" altLang="zh-CN" dirty="0"/>
              <a:t>A good UML tool should automatically support changes in one diagram being reflected in the other.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wall sketching, use one wall for interaction diagrams, and an adjacent wall for class diagrams</a:t>
            </a:r>
            <a:r>
              <a:rPr lang="en-US" altLang="zh-CN" dirty="0" smtClean="0"/>
              <a:t>.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Guidelines: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99418" y="4043989"/>
            <a:ext cx="3733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8600" y="1330242"/>
            <a:ext cx="11811000" cy="4079958"/>
          </a:xfrm>
        </p:spPr>
        <p:txBody>
          <a:bodyPr/>
          <a:lstStyle/>
          <a:p>
            <a:r>
              <a:rPr lang="en-US" altLang="zh-CN" dirty="0"/>
              <a:t>What is a </a:t>
            </a:r>
            <a:r>
              <a:rPr lang="en-US" altLang="zh-CN" dirty="0"/>
              <a:t>Class Diagram? </a:t>
            </a:r>
            <a:r>
              <a:rPr lang="en-US" altLang="zh-CN" dirty="0" smtClean="0"/>
              <a:t>What is </a:t>
            </a:r>
            <a:r>
              <a:rPr lang="en-US" altLang="zh-CN" dirty="0" smtClean="0"/>
              <a:t>Design </a:t>
            </a:r>
            <a:r>
              <a:rPr lang="en-US" altLang="zh-CN" dirty="0"/>
              <a:t>Class Diagram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r>
              <a:rPr lang="en-US" altLang="zh-CN" dirty="0"/>
              <a:t>Ways to Show UML Attributes</a:t>
            </a:r>
            <a:r>
              <a:rPr lang="en-US" altLang="zh-CN" dirty="0" smtClean="0"/>
              <a:t>?</a:t>
            </a:r>
            <a:endParaRPr lang="en-US" altLang="zh-CN" dirty="0" smtClean="0"/>
          </a:p>
          <a:p>
            <a:r>
              <a:rPr lang="en-US" altLang="zh-CN" dirty="0" smtClean="0"/>
              <a:t>Definitions </a:t>
            </a:r>
            <a:r>
              <a:rPr lang="en-US" altLang="zh-CN" dirty="0"/>
              <a:t>and UML Notations: </a:t>
            </a:r>
            <a:r>
              <a:rPr lang="en-US" altLang="zh-CN" dirty="0" smtClean="0"/>
              <a:t>Operations </a:t>
            </a:r>
            <a:r>
              <a:rPr lang="en-US" altLang="zh-CN" dirty="0"/>
              <a:t>and </a:t>
            </a:r>
            <a:r>
              <a:rPr lang="en-US" altLang="zh-CN" dirty="0" smtClean="0"/>
              <a:t>Methods</a:t>
            </a:r>
            <a:r>
              <a:rPr lang="en-US" altLang="zh-CN" dirty="0"/>
              <a:t>?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r>
              <a:rPr lang="en-US" altLang="zh-CN" dirty="0" smtClean="0"/>
              <a:t>What are Note </a:t>
            </a:r>
            <a:r>
              <a:rPr lang="en-US" altLang="zh-CN" dirty="0"/>
              <a:t>Symbols?</a:t>
            </a:r>
          </a:p>
          <a:p>
            <a:r>
              <a:rPr lang="en-US" altLang="zh-CN" dirty="0" smtClean="0"/>
              <a:t>Definitions and UML Notations: Stereotypes , Constraints, Tags and Profiles?</a:t>
            </a:r>
            <a:endParaRPr lang="en-US" altLang="zh-CN" dirty="0" smtClean="0"/>
          </a:p>
          <a:p>
            <a:r>
              <a:rPr lang="en-US" altLang="zh-CN" dirty="0" smtClean="0"/>
              <a:t>Relationships: Dependency</a:t>
            </a:r>
            <a:r>
              <a:rPr lang="en-US" altLang="zh-CN" dirty="0"/>
              <a:t>,</a:t>
            </a:r>
            <a:r>
              <a:rPr lang="en-US" altLang="zh-CN" dirty="0" smtClean="0"/>
              <a:t> Interfaces, Composition, Aggregation, </a:t>
            </a:r>
            <a:r>
              <a:rPr lang="en-US" altLang="zh-CN" dirty="0"/>
              <a:t>Qualified Association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r>
              <a:rPr lang="en-US" altLang="zh-CN" dirty="0"/>
              <a:t>Definitions and UML Notations: </a:t>
            </a:r>
            <a:r>
              <a:rPr lang="en-US" altLang="zh-CN" dirty="0" smtClean="0"/>
              <a:t>Abstract Class, Association Class,</a:t>
            </a:r>
            <a:r>
              <a:rPr lang="en-US" altLang="zh-CN" dirty="0"/>
              <a:t> Singleton </a:t>
            </a:r>
            <a:r>
              <a:rPr lang="en-US" altLang="zh-CN" dirty="0" smtClean="0"/>
              <a:t>Classes, </a:t>
            </a:r>
            <a:r>
              <a:rPr lang="en-US" altLang="zh-CN" dirty="0"/>
              <a:t>Template Classes and </a:t>
            </a:r>
            <a:r>
              <a:rPr lang="en-US" altLang="zh-CN" dirty="0" smtClean="0"/>
              <a:t>Interfaces, </a:t>
            </a:r>
            <a:r>
              <a:rPr lang="en-US" altLang="zh-CN" dirty="0"/>
              <a:t>Active </a:t>
            </a:r>
            <a:r>
              <a:rPr lang="en-US" altLang="zh-CN" dirty="0" smtClean="0"/>
              <a:t>Class.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Review : </a:t>
            </a:r>
            <a:r>
              <a:rPr lang="en-US" altLang="zh-CN" sz="3200" dirty="0"/>
              <a:t>UML Class Diagrams</a:t>
            </a:r>
            <a:endParaRPr lang="zh-CN" altLang="zh-CN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7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342595"/>
            <a:ext cx="10515600" cy="4351338"/>
          </a:xfrm>
        </p:spPr>
        <p:txBody>
          <a:bodyPr/>
          <a:lstStyle/>
          <a:p>
            <a:r>
              <a:rPr lang="en-US" altLang="zh-CN" dirty="0" smtClean="0"/>
              <a:t>What is the </a:t>
            </a:r>
            <a:r>
              <a:rPr lang="en-US" altLang="zh-CN" dirty="0"/>
              <a:t>distinction </a:t>
            </a:r>
            <a:r>
              <a:rPr lang="en-US" altLang="zh-CN" dirty="0" smtClean="0"/>
              <a:t>and relation between Design Class Diagram and Domain Model?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Special Topics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2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CUSTOMXMLID" val="{1BA977A9-C848-4B99-853C-D423CC37C4DC}"/>
  <p:tag name="ATHENA.CUSTOMXMLCONTENT" val="&lt;?xml version=&quot;1.0&quot;?&gt;&lt;athena xmlns=&quot;http://schemas.microsoft.com/edu/athena&quot; version=&quot;0.1.3885.0&quot;&gt;&lt;timings duration=&quot;1799&quot;/&gt;&lt;/athena&gt;"/>
</p:tagLst>
</file>

<file path=ppt/theme/theme1.xml><?xml version="1.0" encoding="utf-8"?>
<a:theme xmlns:a="http://schemas.openxmlformats.org/drawingml/2006/main" name="MOOC1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1">
      <a:majorFont>
        <a:latin typeface="Microsoft JhengHei Light"/>
        <a:ea typeface="宋体"/>
        <a:cs typeface=""/>
      </a:majorFont>
      <a:minorFont>
        <a:latin typeface="Microsoft JhengHei Light"/>
        <a:ea typeface="宋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47F42896-E946-4BA2-AE8A-BB0F9E22AB7F}" vid="{41889D29-1765-4963-89B1-6E31CFD5ACF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athena xmlns="http://schemas.microsoft.com/edu/athena" version="0.1.3885.0">
  <timings duration="47057"/>
</athena>
</file>

<file path=customXml/item2.xml><?xml version="1.0" encoding="utf-8"?>
<athena xmlns="http://schemas.microsoft.com/edu/athena" version="0.1.3885.0">
  <ink scale="0.5600933">AAEAAAD/////AQAAAAAAAAAMAgAAAE9BdXRob3JQUFQsIFZlcnNpb249MC4xLjM4ODUuMCwgQ3VsdHVyZT1uZXV0cmFsLCBQdWJsaWNLZXlUb2tlbj0zMWJmMzg1NmFkMzY0ZTM1BQEAAAALSW5rTWF0dGVyVjEDAAAADUxpc3RgMStfaXRlbXMMTGlzdGAxK19zaXplD0xpc3RgMStfdmVyc2lvbgQAABdTaGFyZWQuSW5raW5nLklua0F0b21bXQIAAAAICAIAAAAJAwAAAAUAAAAZAAAABwMAAAAAAQAAAAgAAAAECUlua0F0b21WMQIAAAAJBAAAAAkFAAAACQYAAAAJBwAAAAkIAAAADQMFBAAAAAtQZW5TdHJva2VWMQQAAAAKQXR0cmlidXRlcwVUcmFjZQlTdGFydFRpbWUEVHlwZQQEAAQPUGVuQXR0cmlidXRlc1YxAgAAAApJbmtUcmFjZVYxAgAAABAMQWN0aW9uVHlwZVYxAgAAAAIAAAAJCQAAAAkKAAAAnPYBAAAAAAAF9f///wxBY3Rpb25UeXBlVjEBAAAAB3ZhbHVlX18ACAIAAAAAAAAAAQUAAAAEAAAACQwAAAAJDQAAABn9AQAAAAAAAfL////1////AAAAAAEGAAAABAAAAAkPAAAACRAAAAAbAwIAAAAAAAHv////9f///wAAAAABBwAAAAQAAAAJEgAAAAkTAAAA0q8CAAAAAAAB7P////X///8AAAAABQgAAAANQ2xlYXJDYW52YXNWMQIAAAAJU3RhcnRUaW1lBFR5cGUABBAMQWN0aW9uVHlwZVYxAgAAAAIAAADMUQQAAAAAAAHr////9f///wAAAAAFCQAAAA9QZW5BdHRyaWJ1dGVzVjEKAAAAB19jb2xvckEHX2NvbG9yUgdfY29sb3JHB19jb2xvckIKRml0VG9DdXJ2ZQZIZWlnaHQOSWdub3JlUHJlc3N1cmUNSXNIaWdobGlnaHRlcgVTaGFwZQVXaWR0aAAAAAAAAAAABAACAgICAQYBAQxCcnVzaFNoYXBlVjECAAAABgIAAAD//wAAAAAAAAAAAAhAAAAF6v///wxCcnVzaFNoYXBlVjEBAAAAB3ZhbHVlX18ACAIAAAABAAAAAAAAAAAACEAFCgAAAApJbmtUcmFjZVYxAwAAAA1MaXN0YDErX2l0ZW1zDExpc3RgMStfc2l6ZQ9MaXN0YDErX3ZlcnNpb24EAAAYU2hhcmVkLklua2luZy5JbmtQb2ludFtdAgAAAAgIAgAAAAkXAAAAYAAAAGAAAAABDAAAAAkAAAD//wAAAAAAAAAAAAhAAAAB6P///+r///8BAAAAAAAAAAAACEABDQAAAAoAAAAJGQAAAEcAAABHAAAAAQ8AAAAJAAAA//8AAAAAAAAAAAAIQAAAAeb////q////AQAAAAAAAAAAAAhAARAAAAAKAAAACRsAAAApAAAAKQAAAAESAAAACQAAAP//AAAAAAAAAAAACEAAAAHk////6v///wEAAAAAAAAAAAAIQAETAAAACgAAAAkdAAAAOwAAADsAAAAHFwAAAAABAAAAgAAAAAQKSW5rUG9pbnRWMQI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NIAcZAAAAAAEAAACAAAAABApJbmtQb2ludFYxAgAAAAl+AAAACX8AAAAJgAAAAAmB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NOQcbAAAAAAEAAABAAAAABApJbmtQb2ludFYxAgAAAAnFAAAACcYAAAAJxwAAAAnIAAAACckAAAAJygAAAAnLAAAACcwAAAAJzQAAAAnOAAAACc8AAAAJ0AAAAAnRAAAACdIAAAAJ0wAAAAnUAAAACdUAAAAJ1gAAAAnXAAAACdgAAAAJ2QAAAAnaAAAACdsAAAAJ3AAAAAndAAAACd4AAAAJ3wAAAAngAAAACeEAAAAJ4gAAAAnjAAAACeQAAAAJ5QAAAAnmAAAACecAAAAJ6AAAAAnpAAAACeoAAAAJ6wAAAAnsAAAACe0AAAANFwcdAAAAAAEAAABAAAAABApJbmtQb2ludFYxAgAAAAnuAAAACe8AAAAJ8AAAAAnxAAAACfIAAAAJ8wAAAAn0AAAACfUAAAAJ9gAAAAn3AAAACfgAAAAJ+QAAAAn6AAAACfsAAAAJ/AAAAAn9AAAACf4AAAAJ/wAAAAkAAQAACQEBAAAJAgEAAAkDAQAACQQBAAAJBQEAAAkGAQAACQcBAAAJCAEAAAkJAQAACQoBAAAJCwEAAAkMAQAACQ0BAAAJDgEAAAkPAQAACRABAAAJEQEAAAkSAQAACRMBAAAJFAEAAAkVAQAACRYBAAAJFwEAAAkYAQAACRkBAAAJGgEAAAkbAQAACRwBAAAJHQEAAAkeAQAACR8BAAAJIAEAAAkhAQAACSIBAAAJIwEAAAkkAQAACSUBAAAJJgEAAAknAQAACSgBAAANBQUeAAAACklua1BvaW50VjEEAAAAAVgBWQ5QcmVzc3VyZUZhY3RvcglUaW1lU3RhbXAAAAAABgYLEAIAAABAljnCBS2aP+B9a2R1GdY/AAAAPwAAAAAAAAAAAR8AAAAeAAAAgP4KsxpFnD+8sZkGzlXWPwAAAD8AAAAAAAAAAAEgAAAAHgAAAIBm3KMvXZ4/qsuwV/pz1j8AAAA/AAAAAAAAAAABIQAAAB4AAACgTyg7t1KiP5jlx6gmktY/AAAAPw8AAAAAAAAAASIAAAAeAAAAwAORs8Feoz+G/975UrDWPwAAAD8PAAAAAAAAAAEjAAAAHgAAAOAfyxzhgqY/YjMNnKvs1j8AAAA/HwAAAAAAAAABJAAAAB4AAABgpNZ2Fb+rPz5nOz4EKdc/AAAAPx8AAAAAAAAAASUAAAAeAAAAcBRx6KR9sD8sgVKPMEfXPwAAAD8vAAAAAAAAAAEmAAAAHgAAALAwq1HEobM/CrWAMYmD1z8AAAA/LwAAAAAAAAABJwAAAB4AAAAATeW648W2P9QCxiQO3tc/AAAAPz4AAAAAAAAAASgAAAAeAAAAMA/r5/1juT/CHN11OvzXPwAAAD8+AAAAAAAAAAEpAAAAHgAAAJCT9kEyoL4/nlALGJM42D8AAAA/XQAAAAAAAAABKgAAAB4AAADwV5jVKOLAP55QCxiTONg/AAAAP10AAAAAAAAAASsAAAAeAAAAGJNPKDu3wj+eUAsYkzjYPwAAAD9dAAAAAAAAAAEsAAAAHgAAAGCCb/NXmMU/nlALGJM42D8AAAA/fQAAAAAAAAABLQAAAB4AAAB4NthrYqTGP55QCxiTONg/AAAAP30AAAAAAAAAAS4AAAAeAAAAoHGPvnR5yD+eUAsYkzjYPwAAAD99AAAAAAAAAAEvAAAAHgAAAPDn/WOZI8w/nlALGJM42D8AAAA/jAAAAAAAAAABMAAAAB4AAAAQUM9UrjvOP55QCxiTONg/AAAAP5wAAAAAAAAAATEAAAAeAAAApEXDU2AI0D+eUAsYkzjYPwAAAD+rAAAAAAAAAAEyAAAAHgAAALj5K8xqFNE/nlALGJM42D8AAAA/qwAAAAAAAAABMwAAAB4AAABMl4f18/7RP7A29MZmGtg/AAAAP7sAAAAAAAAAATQAAAAeAAAAbHgKDAFO0z/m6K7T4b/XPwAAAD+7AAAAAAAAAAE1AAAAHgAAABTKzq2URNU/UE0k7dcK1z8AAAA/ywAAAAAAAAABNgAAAB4AAAAY9+hLl4fVP3QZ9kp/ztY/AAAAP8sAAAAAAAAAATcAAAAeAAAAKFEdiJwN1j+Y5ceoJpLWPwAAAD/aAAAAAAAAAAE4AAAAHgAAAChRHYicDdY/qsuwV/pz1j8AAAA/2gAAAAAAAAABOQAAAB4AAAAwfjcmn1DWP+B9a2R1GdY/AAAAP+oAAAAAAAAAAToAAAAeAAAAMH43Jp9Q1j8WMCZx8L7VPwAAAD/5AAAAAAAAAAE7AAAAHgAAADB+NyafUNY/XsjJLD9G1T8AAAA/+QAAAAAAAAABPAAAAB4AAAAwfjcmn1DWP5R6hDm669Q/AAAAP/kAAAAAAAAAAT0AAAAeAAAAMH43Jp9Q1j+4RlaXYa/UPwAAAD8JAQAAAAAAAAE+AAAAHgAAADB+NyafUNY/7vgQpNxU1D8AAAA/GQEAAAAAAAABPwAAAB4AAAAwfjcmn1DWPySry7BX+tM/AAAAPxkBAAAAAAAAAUAAAAAeAAAAMH43Jp9Q1j9qQ29spoHTPwAAAD8oAQAAAAAAAAFBAAAAHgAAADB+NyafUNY/oPUpeSEn0z8AAAA/KAEAAAAAAAABQgAAAB4AAACoZyrXHS/WP9an5IWczNI/AAAAPzgBAAAAAAAAAUMAAAAeAAAAoDoQORvs1T8MWp+SF3LSPwAAAD84AQAAAAAAAAFEAAAAHgAAAJgN9poYqdU/MCZx8L410j8AAAA/RwEAAAAAAAABRQAAAB4AAAAMnbQPkgHVP3a+FKwNvdE/AAAAP0cBAAAAAAAAAUYAAAAeAAAAiFmNIg6d1D++VrhnXETRPwAAAD9XAQAAAAAAAAFHAAAAHgAAAHTSPkgG1NM/Bu9bI6vL0D8AAAA/VwEAAAAAAAABSAAAAB4AAABseAoMAU7TPyq7LYFSj9A/AAAAP2cBAAAAAAAAAUkAAAAeAAAAWPG7MfmE0j9ibeiNzTTQPwAAAD92AQAAAAAAAAFKAAAAHgAAAERqbVfxu9E/CHN01+nwzz8AAAA/dgEAAAAAAAABSwAAAB4AAAA44x596fLQP1ALGJM4eM8/AAAAP3YBAAAAAAAAAUwAAAAeAAAApEXDU2AI0D+8b42sLsPOPwAAAD+GAQAAAAAAAAFNAAAAHgAAACB96fKwfs4/KNQCxiQOzj8AAAA/lQEAAAAAAAABTgAAAB4AAADw5/1jmSPMP3BspoFzlc0/AAAAP5UBAAAAAAAAAU8AAAAeAAAAyKxGEYdOyj/c0BubaeDMPwAAAD+VAQAAAAAAAAFQAAAAHgAAAJDqQORssMc/RDWRtF8rzD8AAAA/pQEAAAAAAAABUQAAAB4AAABo3KMvXR7GP2gBYxIH78s/AAAAP7UBAAAAAAAAAVIAAAAeAAAAOHTSPkgGxD/UZdgr/TnLPwAAAD+1AQAAAAAAAAFTAAAAHgAAABhmNYo4dMI/+DGqiaT9yj8AAAA/tQEAAAAAAAABVAAAAB4AAADo/WOZI1zAP0DKTUXzhMo/AAAAP8QBAAAAAAAAAVUAAAAeAAAAoN+NySeUvT9Ayk1F84TKPwAAAD/EAQAAAAAAAAFWAAAAHgAAAGB3vNgSfLs/QMpNRfOEyj8AAAA/1AEAAAAAAAABVwAAAB4AAAAQW4Jv81e4P0DKTUXzhMo/AAAAP+MBAAAAAAAAAVgAAAAeAAAAAE3luuPFtj9Ayk1F84TKPwAAAD/jAQAAAAAAAAFZAAAAHgAAAMDkE8rOrbQ/QMpNRfOEyj8AAAA/4wEAAAAAAAABWgAAAB4AAACw1nYVvxuzP0DKTUXzhMo/AAAAP/MBAAAAAAAAAVsAAAAeAAAAkCIOnbQPsj9Ayk1F84TKPwAAAD/zAQAAAAAAAAFcAAAAHgAAAHAUceikfbA/QMpNRfOEyj8AAAA/AwIAAAAAAAABXQAAAB4AAACgDKhnKtetPxz+e+dLwco/AAAAPwMCAAAAAAAAAV4AAAAeAAAAIIicDfaaqD+wmQbOVXbLPwAAAD8SAgAAAAAAAAFfAAAAHgAAAOAfyxzhgqY/jM00cK6yyz8AAAA/IgIAAAAAAAABYAAAAB4AAADAA5GzwV6jPyBpv1a4Z8w/AAAAPyICAAAAAAAAAWEAAAAeAAAAoE8oO7dSoj/8nO34EKTMPwAAAD8iAgAAAAAAAAFiAAAAHgAAAICbv8KsRqE/lDh43xpZzT8AAAA/MQIAAAAAAAABYwAAAB4AAACAZtyjL12eP0yg1CPM0c0/AAAAP0ECAAAAAAAAAWQAAAAeAAAAgP4KsxpFnD8ECDFofUrOPwAAAD9BAgAAAAAAAAFlAAAAHgAAAEAuaNHwFJg/mKO7Tof/zj8AAAA/QQIAAAAAAAABZgAAAB4AAABALmjR8BSYP3TX6fDfO88/AAAAP2ACAAAAAAAAAWcAAAAeAAAAAMaW4Nv8lT8sP0Y1kbTPPwAAAD9gAgAAAAAAAAFoAAAAHgAAAADGluDb/JU/CHN01+nwzz8AAAA/YAIAAAAAAAABaQAAAB4AAAAAxpbg2/yVPyq7LYFSj9A/AAAAP3ACAAAAAAAAAWoAAAAeAAAAAMaW4Nv8lT/0CHN01+nQPwAAAD9/AgAAAAAAAAFrAAAAHgAAAADGluDb/JU/vla4Z1xE0T8AAAA/fwIAAAAAAAABbAAAAB4AAAAAxpbg2/yVP4ik/VrhntE/AAAAP48CAAAAAAAAAW0AAAAeAAAAAMaW4Nv8lT9k2Cv9OdvRPwAAAD+PAgAAAAAAAAFuAAAAHgAAAADGluDb/JU/HkCIQetT0j8AAAA/nwIAAAAAAAABbwAAAB4AAAAAxpbg2/yVP9an5IWczNI/AAAAP58CAAAAAAAAAXAAAAAeAAAAQJY5wgUtmj+OD0HKTUXTPwAAAD+uAgAAAAAAAAFxAAAAHgAAAGDnVkqiOqA/NpG0Xyvc0z8AAAA/rgIAAAAAAAABcgAAAB4AAACAm7/CrEahPxLF4gGEGNQ/AAAAP7kCAAAAAAAAAXMAAAAeAAAAoE8oO7dSoj8A3/lSsDbUPwAAAD+5AgAAAAAAAAF0AAAAHgAAAKBPKDu3UqI/yiw/RjWR1D8AAAA/yAIAAAAAAAABdQAAAB4AAADgt/krzGqkP7hGVpdhr9Q/AAAAP9gCAAAAAAAAAXYAAAAeAAAA4Lf5K8xqpD+mYG3ojc3UPwAAAD/YAgAAAAAAAAF3AAAAHgAAAOAfyxzhgqY/gpSbiuYJ1T8AAAA/9wIAAAAAAAABeAAAAB4AAAAgiJwN9pqoP17IySw/RtU/AAAAP/cCAAAAAAAAAXkAAAAeAAAAYKTWdhW/qz9M4uB9a2TVPwAAAD/3AgAAAAAAAAF6AAAAHgAAAKDAEOA0464/Ovz3zpeC1T8AAAA/FgMAAAAAAAABewAAAB4AAABwFHHopH2wPygWDyDEoNU/AAAAPxYDAAAAAAAAAXwAAAAeAAAAkCIOnbQPsj8WMCZx8L7VPwAAAD8WAwAAAAAAAAF9AAAAHgAAAKB8Qtm5lbI/BEo9whzd1T8AAAA/NgMAAAAAAAABfgAAAB4AAACQZY5wQYvmP/hrhXvGRaQ/AAAAPwAAAAAAAAAAAX8AAAAeAAAAzMP6ef9Y5j/4a4V7xkWkPwAAAD8QAAAAAAAAAAGAAAAAHgAAAEit7Sp+N+Y/2Ar3jIsopj8AAAA/EAAAAAAAAAABgQAAAB4AAADEluDb/BXmPwgYkzh436o/AAAAPxAAAAAAAAAAAYIAAAAeAAAARIDTjHv05T/otgRKPcKsPwAAAD8gAAAAAAAAAAGDAAAAHgAAAMBpxj360uU/OCUv5GSWrz8AAAA/IAAAAAAAAAABhAAAAB4AAACA3j+WOcLlP8jJLD9GNbE/AAAAPy8AAAAAAAAAAYUAAAAeAAAAPFO57nix5T+oaJ5QCxizPwAAAD8vAAAAAAAAAAGGAAAAHgAAAPzHMke4oOU/0J+zHR+CtD8AAAA/PwAAAAAAAAABhwAAAB4AAAD8xzJHuKDlP/jWyOoy7LU/AAAAP04AAAAAAAAAAYgAAAAeAAAA/McyR7ig5T+0PiUv5GS2PwAAAD9OAAAAAAAAAAGJAAAAHgAAAPzHMke4oOU/3HU6/PfOtz8AAAA/TgAAAAAAAAABigAAAB4AAADAacY9+tLlP3R8CFJuKro/AAAAP2wAAAAAAAAAAYsAAAAeAAAAhAtaNDwF5j8Mg9an5IW8PwAAAD9sAAAAAAAAAAGMAAAAHgAAAEit7Sp+N+Y/9CFIualovj8AAAA/ewAAAAAAAAABjQAAAB4AAACcv8KsRhHnPyBIualonsA/AAAAP4sAAAAAAAAAAY4AAAAeAAAAJAPqmcp15z+040OQclPBPwAAAD+LAAAAAAAAAAGPAAAAHgAAAGi7it+Nyec/bEug1CPMwT8AAAA/iwAAAAAAAAABkAAAAB4AAAB4Fb8bk0/oPwTnKrstgcI/AAAAP5oAAAAAAAAAAZEAAAAeAAAAQORssNfE6D/gGlldhr3CPwAAAD+qAAAAAAAAAAGSAAAAHgAAAEw+oezcSuk/mIK1oTc2wz8AAAA/qgAAAAAAAAABkwAAAB4AAABYmNUo4tDpP1DqEeborsM/AAAAP7oAAAAAAAAAAZQAAAAeAAAAnFB2bqUk6j8IUm4qmifEPwAAAD+6AAAAAAAAAAGVAAAAHgAAADDBt/krzOo/CFJuKponxD8AAAA/yQAAAAAAAAABlgAAAB4AAAA4G+w1MVLrPwhSbiqaJ8Q/AAAAP8kAAAAAAAAAAZcAAAAeAAAARHUgcjbY6z8IUm4qmifEPwAAAD/ZAAAAAAAAAAGYAAAAHgAAAJRa21X8buw/CFJuKponxD8AAAA/2QAAAAAAAAABmQAAAB4AAABcKYnqQOTsPwhSbiqaJ8Q/AAAAP+gAAAAAAAAAAZoAAAAeAAAApOEpMAQ47T8IUm4qmifEPwAAAD/oAAAAAAAAAAGbAAAAHgAAAKgORM4Ge+0/LB5AiEHrwz8AAAA/+AAAAAAAAAABnAAAAB4AAABssNfESK3tP3S240OQcsM/AAAAP/gAAAAAAAAAAZ0AAAAeAAAAMFJru4rf7T8E5yq7LYHCPwAAAD8IAQAAAAAAAAGeAAAAHgAAALRoeAoMAe4/SH/OdnwIwj8AAAA/FwEAAAAAAAABnwAAAB4AAAC0aHgKDAHuP2xLoNQjzME/AAAAPxcBAAAAAAAAAaAAAAAeAAAAOH+FWY0i7j8gSLmpaJ7APwAAAD82AQAAAAAAAAGhAAAAHgAAAHgKDAFOM+4/auBcZbclwD8AAAA/NgEAAAAAAAABogAAAB4AAAD4IBlQz1TuP/QhSLmpaL4/AAAAPzYBAAAAAAAAAaMAAAAeAAAA+CAZUM9U7j9UG3pjMw28PwAAAD9WAQAAAAAAAAGkAAAAHgAAAPggGVDPVO4/LORklh+juj8AAAA/VgEAAAAAAAABpQAAAB4AAAD4IBlQz1TuPwStT8kLObk/AAAAP1YBAAAAAAAAAaYAAAAeAAAA+CAZUM9U7j+IBxBi0Pq0PwAAAD91AQAAAAAAAAGnAAAAHgAAAPggGVDPVO4/GDhX2W0JtD8AAAA/dQEAAAAAAAABqAAAAB4AAAB4CgwBTjPuP/AAQgxan7I/AAAAP4QBAAAAAAAAAakAAAAeAAAAOH+FWY0i7j+AMYmD962xPwAAAD+EAQAAAAAAAAGqAAAAHgAAADBSa7uK3+0/WIa90p+zrT8AAAA/lAEAAAAAAAABqwAAAB4AAADwxuQTys7tP3jnS8Ha0Ks/AAAAP5QBAAAAAAAAAawAAAAeAAAArDtebAm+7T+YSNqvFe6pPwAAAD+UAQAAAAAAAAGtAAAAHgAAACwlUR2InO0/2Ar3jIsopj8AAAA/pAEAAAAAAAABrgAAAB4AAACoDkTOBnvtP/hrhXvGRaQ/AAAAP7MBAAAAAAAAAa8AAAAeAAAA5Gyw18RI7T+g/VrhnnGhPwAAAD+zAQAAAAAAAAGwAAAAHgAAAGRWo4hDJ+0/gL3Sn7Mdnz8AAAA/wwEAAAAAAAABsQAAAB4AAADgP5Y5wgXtP8B/73wpWJs/AAAAP8MBAAAAAAAAAbIAAAAeAAAAVPxuTD6h7D/wQQxan5KXPwAAAD/SAQAAAAAAAAGzAAAAHgAAAJRa21X8buw/EKOaSNqvlT8AAAA/0gEAAAAAAAABtAAAAB4AAAAIF7RoeArsP4DGRRSLB5A/AAAAP+IBAAAAAAAAAbUAAAAeAAAAgNOMe/Sl6z9AT6gFjEmMPwAAAD/iAQAAAAAAAAG2AAAAHgAAADDu0ZcuD+s/oNPhv3e+hD8AAAA/8gEAAAAAAAABtwAAAB4AAACsqqqqqqrqP0CwNvTGZno/AAAAPwECAAAAAAAAAbgAAAAeAAAAnFB2bqUk6j+AclPRPKFmPwAAAD8RAgAAAAAAAAG5AAAAHgAAAJwjXNCi4ek/gHJT0TyhZj8AAAA/EQIAAAAAAAABugAAAB4AAAAYDU+BIcDpP4ByU9E8oWY/AAAAPyACAAAAAAAAAbsAAAAeAAAAEOA04x596T+AclPRPKFmPwAAAD8gAgAAAAAAAAG8AAAAHgAAAEw+oezcSuk/gHJT0TyhZj8AAAA/MAIAAAAAAAABvQAAAB4AAACInA32mhjpP4ByU9E8oWY/AAAAP0ACAAAAAAAAAb4AAAAeAAAAhG/zV5jV6D+AclPRPKFmPwAAAD9AAgAAAAAAAAG/AAAAHgAAAEDkbLDXxOg/gHJT0TyhZj8AAAA/QAIAAAAAAAABwAAAAB4AAAB8Qtm5lZLoP4ByU9E8oWY/AAAAP08CAAAAAAAAAcEAAAAeAAAAuKBFw1Ng6D+AclPRPKFmPwAAAD9fAgAAAAAAAAHCAAAAHgAAAHgVvxuTT+g/gHJT0TyhZj8AAAA/XwIAAAAAAAABwwAAAB4AAAA4ijh00j7oP4ByU9E8oWY/AAAAP18CAAAAAAAAAcQAAAAeAAAA9P6xzBEu6D+AclPRPKFmPwAAAD9uAgAAAAAAAAHFAAAAHgAAAHixJfg2f+U/tcI94yKK5T8AAAA/AAAAAAAAAAABxgAAAB4AAAB4sSX4Nn/lP61PyQs5meU/AAAAPw8AAAAAAAAAAccAAAAeAAAAeLEl+DZ/5T9tKpon1ALmPwAAAD8fAAAAAAAAAAHIAAAAHgAAAHixJfg2f+U/N3jfGlld5j8AAAA/LwAAAAAAAAAByQAAAB4AAAB4sSX4Nn/lPxOsDb2xmeY/AAAAPy8AAAAAAAAAAcoAAAAeAAAAeLEl+DZ/5T/Xht7YTAPnPwAAAD8+AAAAAAAAAAHLAAAAHgAAAHixJfg2f+U/qUeYo7tO5z8AAAA/TgAAAAAAAAABzAAAAB4AAAB4sSX4Nn/lP3OV3ZZAqec/AAAAP04AAAAAAAAAAc0AAAAeAAAAeLEl+DZ/5T8zcK6y2xLoPwAAAD9OAAAAAAAAAAHOAAAAHgAAAHixJfg2f+U/BzFofUpe6D8AAAA/XQAAAAAAAAABzwAAAB4AAAB4sSX4Nn/lP+3XCveMi+g/AAAAP20AAAAAAAAAAdAAAAAeAAAAeLEl+DZ/5T/Tfq1wz7joPwAAAD9tAAAAAAAAAAHRAAAAHgAAAHixJfg2f+U/wZjEwfvW6D8AAAA/fQAAAAAAAAAB0gAAAB4AAAB4sSX4Nn/lP7clUOoR5ug/AAAAP30AAAAAAAAAAdMAAAAeAAAAeLEl+DZ/5T+vstsSKPXoPwAAAD99AAAAAAAAAAHUAAAAHgAAAHixJfg2f+U/pT9nOz4E6T8AAAA/igAAAAAAAAAB1QAAAB4AAAC8PKyf94/lP53M8mNUE+k/AAAAP6kAAAAAAAAAAdYAAAAeAAAAPFO57nix5T+dzPJjVBPpPwAAAD/JAAAAAAAAAAHXAAAAHgAAAAT1TOW64+U/pT9nOz4E6T8AAAA/yQAAAAAAAAAB2AAAAB4AAABIre0qfjfmP8GYxMH71ug/AAAAP9gAAAAAAAAAAdkAAAAeAAAA1PAUGAKc5j/b8SFIuanoPwAAAD/oAAAAAAAAAAHaAAAAHgAAAFg0PAWGAOc/9Up/znZ86D8AAAA/6AAAAAAAAAAB2wAAAB4AAADopH2QDKjnPxkXUSweQOg/AAAAP+gAAAAAAAAAAdwAAAAeAAAAtHMrJVEd6D9FVpdhr/TnPwAAAD/3AAAAAAAAAAHdAAAAHgAAAMT6ef9Y5ug/fQhSbiqa5z8AAAA/9wAAAAAAAAAB3gAAAB4AAABQa7uK343pP7O6DHulP+c/AAAAPwcBAAAAAAAAAd8AAAAeAAAAnFB2bqUk6j/x3ztfCtbmPwAAAD8XAQAAAAAAAAHgAAAAHgAAALQE3+avMOs/W0SxeAAh5j8AAAA/FwEAAAAAAAAB4QAAAB4AAACA04x79KXrP4mD962R1eU/AAAAPyYBAAAAAAAAAeIAAAAeAAAAzLhHX7o87D+tT8kLOZnlPwAAAD8mAQAAAAAAAAHjAAAAHgAAAFT8bkw+oew/4wGEGLQ+5T8AAAA/NgEAAAAAAAAB5AAAAB4AAABkVqOIQyftP/1a4Z5xEeU/AAAAPzYBAAAAAAAAAeUAAAAeAAAA6JnKdceL7T8hJ7P8GNXkPwAAAD9FAQAAAAAAAAHmAAAAHgAAADBSa7uK3+0/O4AQg9an5D8AAAA/VQEAAAAAAAAB5wAAAB4AAAD4IBlQz1TuP01m+TGqieQ/AAAAP1UBAAAAAAAAAegAAAAeAAAARNm5lZKo7j9xMsuPUU3kPwAAAD9VAQAAAAAAAAHpAAAAHgAAAEgG1DOV6+4/e6U/Zzs+5D8AAAA/ZQEAAAAAAAAB6gAAAB4AAADQSfsgGVDvP5b+nO34EOQ/AAAAP3QBAAAAAAAAAesAAAAeAAAAlOuOF1uC7z+W/pzt+BDkPwAAAD90AQAAAAAAAAHsAAAAHgAAAJwYqbVdxe8/n3ERxeIB5D8AAAA/dAEAAAAAAAAB7QAAAB4AAAAcL7YE3+bvP7FX+nO24+M/AAAAP4QBAAAAAAAAAe4AAAAeAAAAABIuaNHwdD+VvJCTWX7sPwAAAD8AAAAAAAAAAAHvAAAAHgAAAADi0En7IGk/lbyQk1l+7D8AAAA/DwAAAAAAAAAB8AAAAB4AAAAA4tBJ+yBpP4PWp+SFnOw/AAAAPx8AAAAAAAAAAfEAAAAeAAAAAOLQSfsgaT9x8L41srrsPwAAAD8fAAAAAAAAAAHyAAAAHgAAAADi0En7IGk/TSTt1wr37D8AAAA/LgAAAAAAAAAB8wAAAB4AAAAA4tBJ+yBpPzs+BCk3Fe0/AAAAPz4AAAAAAAAAAfQAAAAeAAAAAOLQSfsgaT8f5aaieULtPwAAAD8+AAAAAAAAAAH1AAAAHgAAAADi0En7IGk/86VgbeiN7T8AAAA/XQAAAAAAAAAB9gAAAB4AAAAA4tBJ+yBpP9dMA+cqu+0/AAAAP10AAAAAAAAAAfcAAAAeAAAAAOLQSfsgaT+tDb2xmQbuPwAAAD9tAAAAAAAAAAH4AAAAHgAAAADi0En7IGk/kbRfK9wz7j8AAAA/bQAAAAAAAAAB+QAAAB4AAAAA4tBJ+yBpP23ojc00cO4/AAAAP20AAAAAAAAAAfoAAAAeAAAAAOLQSfsgaT9JHLxvjazuPwAAAD98AAAAAAAAAAH7AAAAHgAAAADi0En7IGk/G911Ovz37j8AAAA/jAAAAAAAAAAB/AAAAB4AAAAA4tBJ+yBpP/cQpNxUNO8/AAAAP4wAAAAAAAAAAf0AAAAeAAAAAOLQSfsgaT/TRNJ+rXDvPwAAAD+MAAAAAAAAAAH+AAAAHgAAAADi0En7IGk/y9Fdp8N/7z8AAAA/nAAAAAAAAAAB/wAAAB4AAAAAEi5o0fB0P7vrdPjvne8/AAAAP6sAAAAAAAAAAQABAAAeAAAAALNzKyVRfT+xeAAhBq3vPwAAAD/qAAAAAAAAAAEBAQAAHgAAAICpXHe82II/sXgAIQat7z8AAAA/+QAAAAAAAAABAgEAAB4AAACAqVx3vNiCP6kFjEkcvO8/AAAAPxgBAAAAAAAAAQMBAAAeAAAAAHr/WOYIhz+fkhdyMsvvPwAAAD8YAQAAAAAAAAEEAQAAHgAAAIBKojoQOYs/lx+jmkja7z8AAAA/KAEAAAAAAAABBQEAAB4AAACAGkUcOmmPP5cfo5pI2u8/AAAAPzgBAAAAAAAAAQYBAAAeAAAAAMaW4Nv8lT+NrC7DXunvPwAAAD84AQAAAAAAAAEHAQAAHgAAAIBm3KMvXZ4/jawuw17p7z8AAAA/RwEAAAAAAAABCAEAAB4AAACgTyg7t1KiP42sLsNe6e8/AAAAP0cBAAAAAAAAAQkBAAAeAAAAANQzleuOpz+NrC7DXunvPwAAAD9XAQAAAAAAAAEKAQAAHgAAAGDwbf4Ks6o/jawuw17p7z8AAAA/VwEAAAAAAAABCwEAAB4AAABwFHHopH2wP42sLsNe6e8/AAAAP2YBAAAAAAAAAQwBAAAeAAAAwOQTys6ttD+fkhdyMsvvPwAAAD92AQAAAAAAAAENAQAAHgAAADAP6+f9Y7k/wV7pz9mO7z8AAAA/dgEAAAAAAAABDgEAAB4AAACg343JJ5S9P923RlaXYe8/AAAAP3YBAAAAAAAAAQ8BAAAeAAAAOHTSPkgGxD8lUOoR5ujuPwAAAD+VAQAAAAAAAAEQAQAAHgAAAGgJvs1fYcY/NzbTwLnK7j8AAAA/lQEAAAAAAAABEQEAAB4AAACgcY++dHnIP0GpR5iju+4/AAAAP5UBAAAAAAAAARIBAAAeAAAAuH8sc4QLyj9bAqUeYY7uPwAAAD+lAQAAAAAAAAETAQAAHgAAAOCNySeUncs/beiNzTRw7j8AAAA/tAEAAAAAAAABFAEAAB4AAAAIyYB6pnLNP4lB61PyQu4/AAAAP7QBAAAAAAAAARUBAAAeAAAAMNcdL7YEzz+RtF8r3DPuPwAAAD+0AQAAAAAAAAEWAQAAHgAAADw9U7nueNE/x2YaOFfZ7T8AAAA/1AEAAAAAAAABFwEAAB4AAABQxKGT9kHSP+G/d74UrO0/AAAAP9QBAAAAAAAAARgBAAAeAAAAYB7Wz/vH0j/zpWBt6I3tPwAAAD/UAQAAAAAAAAEZAQAAHgAAAGx4CgwBTtM/Df+986Vg7T8AAAA/4wEAAAAAAAABGgEAAB4AAAD0uzH5hLLTPxdyMsuPUe0/AAAAP/MBAAAAAAAAARsBAAAeAAAAgCxzhAta1D8xy49RTSTtPwAAAD/zAQAAAAAAAAEcAQAAHgAAAIhZjSIOndQ/Q7F4ACEG7T8AAAA/8wEAAAAAAAABHQEAAB4AAACUs8FeEyPVP1WXYa/05+w/AAAAPwICAAAAAAAAAR4BAAAeAAAAFMrOrZRE1T9fCtaG3tjsPwAAAD8SAgAAAAAAAAEfAQAAHgAAACAkA+qZytU/eWMzDZyr7D8AAAA/EgIAAAAAAAABIAEAAB4AAACgOhA5G+zVP3ljMw2cq+w/AAAAPyICAAAAAAAAASEBAAAeAAAAKFEdiJwN1j95YzMNnKvsPwAAAD8xAgAAAAAAAAEiAQAAHgAAAChRHYicDdY/g9an5IWc7D8AAAA/MQIAAAAAAAABIwEAAB4AAAAwfjcmn1DWP5W8kJNZfuw/AAAAP0ECAAAAAAAAASQBAAAeAAAAsJREdSBy1j+VvJCTWX7sPwAAAD9QAgAAAAAAAAElAQAAHgAAADirUcShk9Y/nS8Fa0Nv7D8AAAA/UAIAAAAAAAABJgEAAB4AAACwwV4TI7XWP6eieUItYOw/AAAAP1ACAAAAAAAAAScBAAAeAAAAuO54sSX41j+nonlCLWDsPwAAAD9gAgAAAAAAAAEoAQAAHgAAALjueLEl+NY/rxXuGRdR7D8AAAA/cAIAAAAAAAAL</ink>
</athena>
</file>

<file path=customXml/item3.xml><?xml version="1.0" encoding="utf-8"?>
<athena xmlns="http://schemas.microsoft.com/edu/athena" version="0.1.3885.0">
  <timings duration="1799"/>
</athena>
</file>

<file path=customXml/item4.xml><?xml version="1.0" encoding="utf-8"?>
<athena xmlns="http://schemas.microsoft.com/edu/athena" version="0.1.3885.0">
  <timings duration="47057"/>
</athena>
</file>

<file path=customXml/itemProps1.xml><?xml version="1.0" encoding="utf-8"?>
<ds:datastoreItem xmlns:ds="http://schemas.openxmlformats.org/officeDocument/2006/customXml" ds:itemID="{6D3ED6D0-F7E1-4181-B1E2-C28D3C20349A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BAE01004-4DA3-4373-9643-492AA1ED0C85}">
  <ds:schemaRefs>
    <ds:schemaRef ds:uri="http://schemas.microsoft.com/edu/athena"/>
  </ds:schemaRefs>
</ds:datastoreItem>
</file>

<file path=customXml/itemProps3.xml><?xml version="1.0" encoding="utf-8"?>
<ds:datastoreItem xmlns:ds="http://schemas.openxmlformats.org/officeDocument/2006/customXml" ds:itemID="{1BA977A9-C848-4B99-853C-D423CC37C4DC}">
  <ds:schemaRefs>
    <ds:schemaRef ds:uri="http://schemas.microsoft.com/edu/athena"/>
  </ds:schemaRefs>
</ds:datastoreItem>
</file>

<file path=customXml/itemProps4.xml><?xml version="1.0" encoding="utf-8"?>
<ds:datastoreItem xmlns:ds="http://schemas.openxmlformats.org/officeDocument/2006/customXml" ds:itemID="{C6B7C09F-4BEE-4936-84B5-5391F3D8659D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V2</Template>
  <TotalTime>29949</TotalTime>
  <Words>3381</Words>
  <Application>Microsoft Office PowerPoint</Application>
  <PresentationFormat>宽屏</PresentationFormat>
  <Paragraphs>545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1" baseType="lpstr">
      <vt:lpstr>Malgun Gothic Semilight</vt:lpstr>
      <vt:lpstr>Microsoft JhengHei Light</vt:lpstr>
      <vt:lpstr>宋体</vt:lpstr>
      <vt:lpstr>Arial</vt:lpstr>
      <vt:lpstr>Calibri</vt:lpstr>
      <vt:lpstr>Calibri Light</vt:lpstr>
      <vt:lpstr>Times New Roman</vt:lpstr>
      <vt:lpstr>Wingdings</vt:lpstr>
      <vt:lpstr>MOOC1</vt:lpstr>
      <vt:lpstr>Software Requirements Analysis, Design and Modeling</vt:lpstr>
      <vt:lpstr>Objectives</vt:lpstr>
      <vt:lpstr>Content Outline</vt:lpstr>
      <vt:lpstr>What is Class Diagram?</vt:lpstr>
      <vt:lpstr>Applying UML: Common Class Diagram Notation.</vt:lpstr>
      <vt:lpstr>UML Class Diagrams</vt:lpstr>
      <vt:lpstr>Content Outline</vt:lpstr>
      <vt:lpstr>Ways to Show UML Attributes: Attribute Text and Association Lines</vt:lpstr>
      <vt:lpstr>The UML Notation for collection attribute and an Association End</vt:lpstr>
      <vt:lpstr>Note Symbols: Notes, Comments, Constraints, and Method Bodies</vt:lpstr>
      <vt:lpstr>Constraints</vt:lpstr>
      <vt:lpstr>Operations</vt:lpstr>
      <vt:lpstr>Operations and Methods</vt:lpstr>
      <vt:lpstr>Generalization</vt:lpstr>
      <vt:lpstr>Dependency</vt:lpstr>
      <vt:lpstr>Dependency</vt:lpstr>
      <vt:lpstr>Example: Dependency</vt:lpstr>
      <vt:lpstr>Interfaces</vt:lpstr>
      <vt:lpstr>Composition Over Aggregation</vt:lpstr>
      <vt:lpstr>Qualified Association</vt:lpstr>
      <vt:lpstr>Association Class</vt:lpstr>
      <vt:lpstr>Singleton Classes</vt:lpstr>
      <vt:lpstr>Template Classes and Interfaces</vt:lpstr>
      <vt:lpstr>Active Class</vt:lpstr>
      <vt:lpstr>What's the Relationship Between Interaction and Class Diagrams?</vt:lpstr>
      <vt:lpstr>Content Outline</vt:lpstr>
      <vt:lpstr>Guideline: Association Notation </vt:lpstr>
      <vt:lpstr>Guideline: When to Use Attribute Text versus Association Lines for Attributes?</vt:lpstr>
      <vt:lpstr>Guidelines:</vt:lpstr>
      <vt:lpstr>Guidelines:</vt:lpstr>
      <vt:lpstr>Review : UML Class Diagrams</vt:lpstr>
      <vt:lpstr>Special Topics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Dmitri Korzh</dc:creator>
  <cp:lastModifiedBy>dell</cp:lastModifiedBy>
  <cp:revision>3317</cp:revision>
  <dcterms:created xsi:type="dcterms:W3CDTF">2004-11-24T03:27:20Z</dcterms:created>
  <dcterms:modified xsi:type="dcterms:W3CDTF">2016-03-02T05:40:49Z</dcterms:modified>
</cp:coreProperties>
</file>