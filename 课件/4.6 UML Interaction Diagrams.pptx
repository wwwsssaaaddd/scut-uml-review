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bookmarkIdSeed="2">
  <p:sldMasterIdLst>
    <p:sldMasterId id="2147483824" r:id="rId5"/>
  </p:sldMasterIdLst>
  <p:notesMasterIdLst>
    <p:notesMasterId r:id="rId46"/>
  </p:notesMasterIdLst>
  <p:handoutMasterIdLst>
    <p:handoutMasterId r:id="rId47"/>
  </p:handoutMasterIdLst>
  <p:sldIdLst>
    <p:sldId id="256" r:id="rId6"/>
    <p:sldId id="406" r:id="rId7"/>
    <p:sldId id="422" r:id="rId8"/>
    <p:sldId id="410" r:id="rId9"/>
    <p:sldId id="412" r:id="rId10"/>
    <p:sldId id="413" r:id="rId11"/>
    <p:sldId id="417" r:id="rId12"/>
    <p:sldId id="421" r:id="rId13"/>
    <p:sldId id="414" r:id="rId14"/>
    <p:sldId id="415" r:id="rId15"/>
    <p:sldId id="416" r:id="rId16"/>
    <p:sldId id="418" r:id="rId17"/>
    <p:sldId id="419" r:id="rId18"/>
    <p:sldId id="423" r:id="rId19"/>
    <p:sldId id="424" r:id="rId20"/>
    <p:sldId id="425" r:id="rId21"/>
    <p:sldId id="426" r:id="rId22"/>
    <p:sldId id="427" r:id="rId23"/>
    <p:sldId id="428" r:id="rId24"/>
    <p:sldId id="429" r:id="rId25"/>
    <p:sldId id="430" r:id="rId26"/>
    <p:sldId id="431" r:id="rId27"/>
    <p:sldId id="432" r:id="rId28"/>
    <p:sldId id="433" r:id="rId29"/>
    <p:sldId id="434" r:id="rId30"/>
    <p:sldId id="435" r:id="rId31"/>
    <p:sldId id="436" r:id="rId32"/>
    <p:sldId id="437" r:id="rId33"/>
    <p:sldId id="438" r:id="rId34"/>
    <p:sldId id="439" r:id="rId35"/>
    <p:sldId id="440" r:id="rId36"/>
    <p:sldId id="441" r:id="rId37"/>
    <p:sldId id="442" r:id="rId38"/>
    <p:sldId id="443" r:id="rId39"/>
    <p:sldId id="444" r:id="rId40"/>
    <p:sldId id="445" r:id="rId41"/>
    <p:sldId id="446" r:id="rId42"/>
    <p:sldId id="447" r:id="rId43"/>
    <p:sldId id="333" r:id="rId44"/>
    <p:sldId id="273" r:id="rId45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DEAF3"/>
    <a:srgbClr val="5B9BD5"/>
    <a:srgbClr val="000000"/>
    <a:srgbClr val="5583AC"/>
    <a:srgbClr val="C9C9C9"/>
    <a:srgbClr val="F2F2F2"/>
    <a:srgbClr val="DDDDDD"/>
    <a:srgbClr val="7F9EB8"/>
    <a:srgbClr val="4286BF"/>
    <a:srgbClr val="739F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中度样式 1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浅色样式 1 - 强调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6D9F66E-5EB9-4882-86FB-DCBF35E3C3E4}" styleName="中度样式 4 - 强调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97" autoAdjust="0"/>
    <p:restoredTop sz="47350" autoAdjust="0"/>
  </p:normalViewPr>
  <p:slideViewPr>
    <p:cSldViewPr>
      <p:cViewPr varScale="1">
        <p:scale>
          <a:sx n="55" d="100"/>
          <a:sy n="55" d="100"/>
        </p:scale>
        <p:origin x="1794" y="66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100" d="100"/>
        <a:sy n="100" d="100"/>
      </p:scale>
      <p:origin x="0" y="-7266"/>
    </p:cViewPr>
  </p:sorterViewPr>
  <p:notesViewPr>
    <p:cSldViewPr>
      <p:cViewPr varScale="1">
        <p:scale>
          <a:sx n="92" d="100"/>
          <a:sy n="92" d="100"/>
        </p:scale>
        <p:origin x="373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8EA1D00-F704-410D-8822-8E7F2FD0F3F4}" type="datetimeFigureOut">
              <a:rPr lang="zh-CN" altLang="en-US"/>
              <a:pPr>
                <a:defRPr/>
              </a:pPr>
              <a:t>2016/3/2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310FA45-57B3-46FF-9187-A5D22EEEA9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0340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5814F6A-3EEF-4727-864D-CF28325BAA64}" type="datetimeFigureOut">
              <a:rPr lang="zh-CN" altLang="en-US"/>
              <a:pPr>
                <a:defRPr/>
              </a:pPr>
              <a:t>2016/3/2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EE2F72D-D5C7-4DF3-B4ED-3587E774A38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819198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这节课，我们一起学习</a:t>
            </a:r>
            <a:endParaRPr lang="en-US" altLang="zh-CN" dirty="0" smtClean="0"/>
          </a:p>
          <a:p>
            <a:r>
              <a:rPr lang="zh-CN" altLang="en-US" dirty="0" smtClean="0"/>
              <a:t>第 </a:t>
            </a:r>
            <a:r>
              <a:rPr lang="en-US" altLang="zh-CN" dirty="0" smtClean="0"/>
              <a:t>4.6 </a:t>
            </a:r>
            <a:r>
              <a:rPr lang="zh-CN" altLang="en-US" dirty="0" smtClean="0"/>
              <a:t>章节 第 </a:t>
            </a:r>
            <a:r>
              <a:rPr lang="en-US" altLang="zh-CN" dirty="0" smtClean="0"/>
              <a:t>14 </a:t>
            </a:r>
            <a:r>
              <a:rPr lang="zh-CN" altLang="en-US" dirty="0" smtClean="0"/>
              <a:t>个知识域，</a:t>
            </a:r>
            <a:r>
              <a:rPr lang="en-US" altLang="zh-CN" dirty="0" smtClean="0"/>
              <a:t>UML </a:t>
            </a:r>
            <a:r>
              <a:rPr lang="zh-CN" altLang="en-US" dirty="0" smtClean="0"/>
              <a:t>交互图</a:t>
            </a:r>
            <a:endParaRPr lang="en-US" altLang="zh-CN" dirty="0" smtClean="0">
              <a:solidFill>
                <a:srgbClr val="FF0000"/>
              </a:solidFill>
            </a:endParaRPr>
          </a:p>
          <a:p>
            <a:endParaRPr lang="en-US" altLang="zh-CN" baseline="0" dirty="0" smtClean="0">
              <a:solidFill>
                <a:srgbClr val="FF0000"/>
              </a:solidFill>
            </a:endParaRPr>
          </a:p>
          <a:p>
            <a:r>
              <a:rPr lang="en-US" altLang="zh-CN" baseline="0" dirty="0" smtClean="0">
                <a:solidFill>
                  <a:srgbClr val="FF0000"/>
                </a:solidFill>
              </a:rPr>
              <a:t>//</a:t>
            </a:r>
            <a:r>
              <a:rPr lang="zh-CN" altLang="en-US" baseline="0" dirty="0" smtClean="0">
                <a:solidFill>
                  <a:srgbClr val="FF0000"/>
                </a:solidFill>
              </a:rPr>
              <a:t>下面是备注</a:t>
            </a:r>
            <a:endParaRPr lang="en-US" altLang="zh-CN" baseline="0" dirty="0" smtClean="0">
              <a:solidFill>
                <a:srgbClr val="FF0000"/>
              </a:solidFill>
            </a:endParaRPr>
          </a:p>
          <a:p>
            <a:r>
              <a:rPr lang="zh-CN" altLang="en-US" dirty="0" smtClean="0"/>
              <a:t>对应课本第 </a:t>
            </a:r>
            <a:r>
              <a:rPr lang="en-US" altLang="zh-CN" dirty="0" smtClean="0"/>
              <a:t>15 </a:t>
            </a:r>
            <a:r>
              <a:rPr lang="zh-CN" altLang="en-US" dirty="0" smtClean="0"/>
              <a:t>章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P161-175 </a:t>
            </a:r>
          </a:p>
          <a:p>
            <a:endParaRPr lang="en-US" altLang="zh-CN" baseline="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49402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为快速使用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交互</a:t>
            </a:r>
            <a:r>
              <a:rPr lang="zh-CN" altLang="en-US" dirty="0" smtClean="0"/>
              <a:t>图表示法 提供参考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交互图包括顺序图和通信图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0835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首先介绍</a:t>
            </a:r>
            <a:endParaRPr lang="en-US" altLang="zh-CN" dirty="0" smtClean="0"/>
          </a:p>
          <a:p>
            <a:r>
              <a:rPr lang="zh-CN" altLang="en-US" dirty="0" smtClean="0"/>
              <a:t>交互图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387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交互图这一术语是</a:t>
            </a:r>
            <a:endParaRPr lang="en-US" altLang="zh-CN" dirty="0" smtClean="0"/>
          </a:p>
          <a:p>
            <a:r>
              <a:rPr lang="zh-CN" altLang="en-US" dirty="0" smtClean="0"/>
              <a:t>对以下两种更为特化的</a:t>
            </a:r>
            <a:r>
              <a:rPr lang="en-US" altLang="zh-CN" dirty="0" smtClean="0"/>
              <a:t>UML</a:t>
            </a:r>
            <a:r>
              <a:rPr lang="zh-CN" altLang="en-US" dirty="0" smtClean="0"/>
              <a:t>图</a:t>
            </a:r>
            <a:endParaRPr lang="en-US" altLang="zh-CN" dirty="0" smtClean="0"/>
          </a:p>
          <a:p>
            <a:r>
              <a:rPr lang="zh-CN" altLang="en-US" dirty="0" smtClean="0"/>
              <a:t>的统称 顺序图 通信图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使用交互图来描述对象间通过消息的交互</a:t>
            </a:r>
            <a:endParaRPr lang="en-US" altLang="zh-CN" dirty="0" smtClean="0"/>
          </a:p>
          <a:p>
            <a:r>
              <a:rPr lang="zh-CN" altLang="en-US" dirty="0" smtClean="0"/>
              <a:t>交互图可以用于动态对象建模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在后续的各章中，将使用交互图来</a:t>
            </a:r>
            <a:endParaRPr lang="en-US" altLang="zh-CN" dirty="0" smtClean="0"/>
          </a:p>
          <a:p>
            <a:r>
              <a:rPr lang="zh-CN" altLang="en-US" dirty="0" smtClean="0"/>
              <a:t>解释和阐述对象设计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7858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如图</a:t>
            </a:r>
            <a:r>
              <a:rPr lang="en-US" altLang="zh-CN" dirty="0" smtClean="0"/>
              <a:t>15.1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顺序图以一种栅栏格式描述交互</a:t>
            </a:r>
            <a:endParaRPr lang="en-US" altLang="zh-CN" dirty="0" smtClean="0"/>
          </a:p>
          <a:p>
            <a:r>
              <a:rPr lang="zh-CN" altLang="en-US" dirty="0" smtClean="0"/>
              <a:t>其中在右侧添加新创建的对象 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这个图形的代码可以表示成</a:t>
            </a:r>
            <a:endParaRPr lang="en-US" altLang="zh-CN" dirty="0" smtClean="0"/>
          </a:p>
          <a:p>
            <a:r>
              <a:rPr lang="zh-CN" altLang="en-US" dirty="0" smtClean="0"/>
              <a:t>类</a:t>
            </a:r>
            <a:r>
              <a:rPr lang="en-US" altLang="zh-CN" dirty="0" smtClean="0"/>
              <a:t>A</a:t>
            </a:r>
            <a:r>
              <a:rPr lang="zh-CN" altLang="en-US" dirty="0" smtClean="0"/>
              <a:t>具有名为 </a:t>
            </a:r>
            <a:r>
              <a:rPr lang="en-US" altLang="zh-CN" dirty="0" err="1" smtClean="0"/>
              <a:t>doOne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的方法</a:t>
            </a:r>
            <a:endParaRPr lang="en-US" altLang="zh-CN" dirty="0" smtClean="0"/>
          </a:p>
          <a:p>
            <a:r>
              <a:rPr lang="zh-CN" altLang="en-US" dirty="0" smtClean="0"/>
              <a:t>和类型为</a:t>
            </a:r>
            <a:r>
              <a:rPr lang="en-US" altLang="zh-CN" dirty="0" smtClean="0"/>
              <a:t>B</a:t>
            </a:r>
            <a:r>
              <a:rPr lang="zh-CN" altLang="en-US" dirty="0" smtClean="0"/>
              <a:t>的属性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同时，类 </a:t>
            </a:r>
            <a:r>
              <a:rPr lang="en-US" altLang="zh-CN" dirty="0" smtClean="0"/>
              <a:t>B </a:t>
            </a:r>
            <a:r>
              <a:rPr lang="zh-CN" altLang="en-US" dirty="0" smtClean="0"/>
              <a:t>具有名为 </a:t>
            </a:r>
            <a:r>
              <a:rPr lang="en-US" altLang="zh-CN" dirty="0" err="1" smtClean="0"/>
              <a:t>doTwo</a:t>
            </a:r>
            <a:r>
              <a:rPr lang="en-US" altLang="zh-CN" dirty="0" smtClean="0"/>
              <a:t> </a:t>
            </a:r>
            <a:r>
              <a:rPr lang="zh-CN" altLang="en-US" dirty="0" smtClean="0"/>
              <a:t>和 </a:t>
            </a:r>
            <a:r>
              <a:rPr lang="en-US" altLang="zh-CN" dirty="0" err="1" smtClean="0"/>
              <a:t>doThree</a:t>
            </a:r>
            <a:r>
              <a:rPr lang="en-US" altLang="zh-CN" dirty="0" smtClean="0"/>
              <a:t> </a:t>
            </a:r>
            <a:r>
              <a:rPr lang="zh-CN" altLang="en-US" dirty="0" smtClean="0"/>
              <a:t>的方法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具体如</a:t>
            </a:r>
            <a:r>
              <a:rPr lang="zh-CN" altLang="en-US" dirty="0" smtClean="0"/>
              <a:t>类 </a:t>
            </a:r>
            <a:r>
              <a:rPr lang="en-US" altLang="zh-CN" dirty="0" smtClean="0"/>
              <a:t>A</a:t>
            </a:r>
            <a:r>
              <a:rPr lang="zh-CN" altLang="en-US" dirty="0" smtClean="0"/>
              <a:t>的定义片段 图示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</a:t>
            </a:r>
            <a:r>
              <a:rPr lang="en-US" altLang="zh-CN" dirty="0" smtClean="0"/>
              <a:t>15.2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通信图以图或网格格式描述对象交互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其中对象可以置于图中的任何位置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其中的编号：</a:t>
            </a:r>
            <a:r>
              <a:rPr lang="en-US" altLang="zh-CN" dirty="0" smtClean="0"/>
              <a:t>1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2 </a:t>
            </a:r>
            <a:r>
              <a:rPr lang="zh-CN" altLang="en-US" dirty="0" smtClean="0"/>
              <a:t>表示消息的顺序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143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类别</a:t>
            </a:r>
            <a:endParaRPr lang="en-US" altLang="zh-CN" dirty="0" smtClean="0"/>
          </a:p>
          <a:p>
            <a:r>
              <a:rPr lang="zh-CN" altLang="en-US" dirty="0" smtClean="0"/>
              <a:t>顺序图</a:t>
            </a:r>
            <a:endParaRPr lang="en-US" altLang="zh-CN" dirty="0" smtClean="0"/>
          </a:p>
          <a:p>
            <a:r>
              <a:rPr lang="zh-CN" altLang="en-US" dirty="0" smtClean="0"/>
              <a:t>优点：能够清晰表示信息的顺序和时间排序</a:t>
            </a:r>
            <a:endParaRPr lang="en-US" altLang="zh-CN" dirty="0" smtClean="0"/>
          </a:p>
          <a:p>
            <a:r>
              <a:rPr lang="zh-CN" altLang="en-US" dirty="0" smtClean="0"/>
              <a:t>          大量详细的表示法选项</a:t>
            </a:r>
            <a:endParaRPr lang="en-US" altLang="zh-CN" dirty="0" smtClean="0"/>
          </a:p>
          <a:p>
            <a:r>
              <a:rPr lang="zh-CN" altLang="en-US" dirty="0" smtClean="0"/>
              <a:t>缺点：强制在右侧增加新对象</a:t>
            </a:r>
            <a:r>
              <a:rPr lang="zh-CN" altLang="en-US" baseline="0" dirty="0" smtClean="0"/>
              <a:t> 消耗水平空间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通信图</a:t>
            </a:r>
            <a:endParaRPr lang="en-US" altLang="zh-CN" dirty="0" smtClean="0"/>
          </a:p>
          <a:p>
            <a:r>
              <a:rPr lang="zh-CN" altLang="en-US" dirty="0" smtClean="0"/>
              <a:t>优点：空间效用好，能够在二维空间内</a:t>
            </a:r>
            <a:endParaRPr lang="en-US" altLang="zh-CN" dirty="0" smtClean="0"/>
          </a:p>
          <a:p>
            <a:r>
              <a:rPr lang="zh-CN" altLang="en-US" dirty="0" smtClean="0"/>
              <a:t>灵活地增加新对象</a:t>
            </a:r>
            <a:endParaRPr lang="en-US" altLang="zh-CN" dirty="0" smtClean="0"/>
          </a:p>
          <a:p>
            <a:r>
              <a:rPr lang="zh-CN" altLang="en-US" dirty="0" smtClean="0"/>
              <a:t>在头脑风暴时，易于使用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缺点：不易查阅消息的顺序</a:t>
            </a:r>
            <a:endParaRPr lang="en-US" altLang="zh-CN" dirty="0" smtClean="0"/>
          </a:p>
          <a:p>
            <a:r>
              <a:rPr lang="zh-CN" altLang="en-US" dirty="0" smtClean="0"/>
              <a:t>表示法选项较少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252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15.3</a:t>
            </a:r>
            <a:r>
              <a:rPr lang="zh-CN" altLang="en-US" dirty="0" smtClean="0"/>
              <a:t>的顺序图的含义如下</a:t>
            </a:r>
            <a:endParaRPr lang="en-US" altLang="zh-CN" dirty="0" smtClean="0"/>
          </a:p>
          <a:p>
            <a:r>
              <a:rPr lang="en-US" altLang="zh-CN" b="0" dirty="0" smtClean="0"/>
              <a:t>1</a:t>
            </a:r>
            <a:r>
              <a:rPr lang="zh-CN" altLang="en-US" b="0" dirty="0" smtClean="0"/>
              <a:t>）</a:t>
            </a:r>
            <a:r>
              <a:rPr lang="en-US" altLang="zh-CN" b="0" dirty="0" err="1" smtClean="0"/>
              <a:t>makePayment</a:t>
            </a:r>
            <a:r>
              <a:rPr lang="en-US" altLang="zh-CN" b="0" dirty="0" smtClean="0"/>
              <a:t> </a:t>
            </a:r>
            <a:r>
              <a:rPr lang="zh-CN" altLang="en-US" b="0" dirty="0" smtClean="0"/>
              <a:t>消息被发送到</a:t>
            </a:r>
            <a:endParaRPr lang="en-US" altLang="zh-CN" b="0" dirty="0" smtClean="0"/>
          </a:p>
          <a:p>
            <a:r>
              <a:rPr lang="en-US" altLang="zh-CN" b="0" dirty="0" smtClean="0"/>
              <a:t>Register</a:t>
            </a:r>
            <a:r>
              <a:rPr lang="zh-CN" altLang="en-US" b="0" dirty="0" smtClean="0"/>
              <a:t>的一个实例中</a:t>
            </a:r>
            <a:endParaRPr lang="en-US" altLang="zh-CN" b="0" dirty="0" smtClean="0"/>
          </a:p>
          <a:p>
            <a:r>
              <a:rPr lang="en-US" altLang="zh-CN" b="0" dirty="0" smtClean="0"/>
              <a:t>2</a:t>
            </a:r>
            <a:r>
              <a:rPr lang="zh-CN" altLang="en-US" b="0" dirty="0" smtClean="0"/>
              <a:t>）</a:t>
            </a:r>
            <a:r>
              <a:rPr lang="en-US" altLang="zh-CN" b="0" dirty="0" smtClean="0"/>
              <a:t>Register</a:t>
            </a:r>
            <a:r>
              <a:rPr lang="zh-CN" altLang="en-US" b="0" dirty="0" smtClean="0"/>
              <a:t>实例将</a:t>
            </a:r>
            <a:r>
              <a:rPr lang="en-US" altLang="zh-CN" dirty="0" err="1" smtClean="0"/>
              <a:t>makePayment</a:t>
            </a:r>
            <a:r>
              <a:rPr lang="zh-CN" altLang="en-US" b="0" dirty="0" smtClean="0"/>
              <a:t>消息</a:t>
            </a:r>
            <a:endParaRPr lang="en-US" altLang="zh-CN" b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 smtClean="0"/>
              <a:t>发送到</a:t>
            </a:r>
            <a:r>
              <a:rPr lang="en-US" altLang="zh-CN" b="0" dirty="0" smtClean="0"/>
              <a:t>Sale</a:t>
            </a:r>
            <a:r>
              <a:rPr lang="zh-CN" altLang="en-US" b="0" dirty="0" smtClean="0"/>
              <a:t>的一个实例中</a:t>
            </a:r>
            <a:endParaRPr lang="en-US" altLang="zh-CN" b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0" dirty="0" smtClean="0"/>
              <a:t>3</a:t>
            </a:r>
            <a:r>
              <a:rPr lang="zh-CN" altLang="en-US" b="0" dirty="0" smtClean="0"/>
              <a:t>）</a:t>
            </a:r>
            <a:r>
              <a:rPr lang="en-US" altLang="zh-CN" b="0" dirty="0" smtClean="0"/>
              <a:t>Sale</a:t>
            </a:r>
            <a:r>
              <a:rPr lang="zh-CN" altLang="en-US" b="0" dirty="0" smtClean="0"/>
              <a:t>实例创建</a:t>
            </a:r>
            <a:r>
              <a:rPr lang="en-US" altLang="zh-CN" dirty="0" smtClean="0"/>
              <a:t>Payment</a:t>
            </a:r>
            <a:r>
              <a:rPr lang="zh-CN" altLang="en-US" b="0" dirty="0" smtClean="0"/>
              <a:t>实例</a:t>
            </a:r>
            <a:endParaRPr lang="en-US" altLang="zh-CN" b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 smtClean="0"/>
              <a:t>根据图</a:t>
            </a:r>
            <a:r>
              <a:rPr lang="en-US" altLang="zh-CN" b="0" dirty="0" smtClean="0"/>
              <a:t>15.3</a:t>
            </a:r>
            <a:r>
              <a:rPr lang="zh-CN" altLang="en-US" b="0" dirty="0" smtClean="0"/>
              <a:t>的语义，</a:t>
            </a:r>
            <a:r>
              <a:rPr lang="en-US" altLang="zh-CN" b="0" dirty="0" smtClean="0"/>
              <a:t>Sale</a:t>
            </a:r>
            <a:r>
              <a:rPr lang="zh-CN" altLang="en-US" b="0" dirty="0" smtClean="0"/>
              <a:t>类及其</a:t>
            </a:r>
            <a:r>
              <a:rPr lang="en-US" altLang="zh-CN" dirty="0" err="1" smtClean="0"/>
              <a:t>makePayment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 smtClean="0"/>
              <a:t>方法相关的代码</a:t>
            </a:r>
            <a:r>
              <a:rPr lang="zh-CN" altLang="en-US" b="0" dirty="0" smtClean="0"/>
              <a:t>如图示</a:t>
            </a:r>
            <a:endParaRPr lang="en-US" altLang="zh-CN" b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 smtClean="0"/>
              <a:t>图</a:t>
            </a:r>
            <a:r>
              <a:rPr lang="en-US" altLang="zh-CN" b="0" dirty="0" smtClean="0"/>
              <a:t>15.4</a:t>
            </a:r>
            <a:r>
              <a:rPr lang="zh-CN" altLang="en-US" b="0" dirty="0" smtClean="0"/>
              <a:t>的语义与图</a:t>
            </a:r>
            <a:r>
              <a:rPr lang="en-US" altLang="zh-CN" b="0" dirty="0" smtClean="0"/>
              <a:t>15.3</a:t>
            </a:r>
            <a:r>
              <a:rPr lang="zh-CN" altLang="en-US" b="0" dirty="0" smtClean="0"/>
              <a:t>的语义相同</a:t>
            </a:r>
            <a:endParaRPr lang="en-US" altLang="zh-CN" b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 smtClean="0"/>
              <a:t>只是语法形式是通信图</a:t>
            </a:r>
            <a:endParaRPr lang="en-US" altLang="zh-CN" b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="0" dirty="0" smtClean="0"/>
          </a:p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34423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下面介绍</a:t>
            </a:r>
            <a:endParaRPr lang="en-US" altLang="zh-CN" dirty="0" smtClean="0"/>
          </a:p>
          <a:p>
            <a:r>
              <a:rPr lang="zh-CN" altLang="en-US" dirty="0" smtClean="0"/>
              <a:t>常用的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交互图表示法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08108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如图</a:t>
            </a:r>
            <a:r>
              <a:rPr lang="en-US" altLang="zh-CN" dirty="0" smtClean="0"/>
              <a:t>15.5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用 生命</a:t>
            </a:r>
            <a:r>
              <a:rPr lang="zh-CN" altLang="en-US" dirty="0" smtClean="0"/>
              <a:t>线框</a:t>
            </a:r>
            <a:r>
              <a:rPr lang="zh-CN" altLang="en-US" dirty="0" smtClean="0"/>
              <a:t>图 表示</a:t>
            </a:r>
            <a:r>
              <a:rPr lang="zh-CN" altLang="en-US" dirty="0" smtClean="0"/>
              <a:t>参与者</a:t>
            </a:r>
            <a:endParaRPr lang="en-US" altLang="zh-CN" dirty="0" smtClean="0"/>
          </a:p>
          <a:p>
            <a:r>
              <a:rPr lang="zh-CN" altLang="en-US" dirty="0" smtClean="0"/>
              <a:t>简言之，该生命线表示</a:t>
            </a:r>
            <a:r>
              <a:rPr lang="en-US" altLang="zh-CN" dirty="0" smtClean="0"/>
              <a:t>Sale</a:t>
            </a:r>
            <a:r>
              <a:rPr lang="zh-CN" altLang="en-US" dirty="0" smtClean="0"/>
              <a:t>实例</a:t>
            </a:r>
            <a:endParaRPr lang="en-US" altLang="zh-CN" dirty="0" smtClean="0"/>
          </a:p>
          <a:p>
            <a:r>
              <a:rPr lang="zh-CN" altLang="en-US" dirty="0" smtClean="0"/>
              <a:t>该图还显示了生命线框图表示参与者</a:t>
            </a:r>
            <a:endParaRPr lang="en-US" altLang="zh-CN" dirty="0" smtClean="0"/>
          </a:p>
          <a:p>
            <a:r>
              <a:rPr lang="zh-CN" altLang="en-US" dirty="0" smtClean="0"/>
              <a:t>的更多可选情况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9940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交互图展示了对象之间的消息</a:t>
            </a:r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对于这些消息表达式具有标准语法</a:t>
            </a:r>
            <a:endParaRPr lang="en-US" altLang="zh-CN" dirty="0" smtClean="0"/>
          </a:p>
          <a:p>
            <a:r>
              <a:rPr lang="zh-CN" altLang="en-US" dirty="0" smtClean="0"/>
              <a:t>如下等式所示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没有参数</a:t>
            </a:r>
            <a:r>
              <a:rPr lang="zh-CN" altLang="en-US" dirty="0" smtClean="0"/>
              <a:t>时 可以</a:t>
            </a:r>
            <a:r>
              <a:rPr lang="zh-CN" altLang="en-US" dirty="0" smtClean="0"/>
              <a:t>省略圆括号，这是合法的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如果</a:t>
            </a:r>
            <a:r>
              <a:rPr lang="zh-CN" altLang="en-US" dirty="0" smtClean="0"/>
              <a:t>明显或者不</a:t>
            </a:r>
            <a:r>
              <a:rPr lang="zh-CN" altLang="en-US" dirty="0" smtClean="0"/>
              <a:t>重要</a:t>
            </a:r>
            <a:endParaRPr lang="en-US" altLang="zh-CN" dirty="0" smtClean="0"/>
          </a:p>
          <a:p>
            <a:r>
              <a:rPr lang="zh-CN" altLang="en-US" dirty="0" smtClean="0"/>
              <a:t>可以</a:t>
            </a:r>
            <a:r>
              <a:rPr lang="zh-CN" altLang="en-US" dirty="0" smtClean="0"/>
              <a:t>不</a:t>
            </a:r>
            <a:r>
              <a:rPr lang="zh-CN" altLang="en-US" dirty="0" smtClean="0"/>
              <a:t>包含类型信息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例如下面的实例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4999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en-US" altLang="zh-CN" dirty="0" smtClean="0"/>
              <a:t>OO</a:t>
            </a:r>
            <a:r>
              <a:rPr lang="zh-CN" altLang="en-US" dirty="0" smtClean="0"/>
              <a:t>设计模式的世界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r>
              <a:rPr lang="zh-CN" altLang="en-US" dirty="0" smtClean="0"/>
              <a:t>有</a:t>
            </a:r>
            <a:r>
              <a:rPr lang="zh-CN" altLang="en-US" dirty="0" smtClean="0"/>
              <a:t>一种特别常用的模式</a:t>
            </a:r>
            <a:endParaRPr lang="en-US" altLang="zh-CN" dirty="0" smtClean="0"/>
          </a:p>
          <a:p>
            <a:r>
              <a:rPr lang="zh-CN" altLang="en-US" dirty="0" smtClean="0"/>
              <a:t>称为单实例类模式</a:t>
            </a:r>
            <a:endParaRPr lang="en-US" altLang="zh-CN" dirty="0" smtClean="0"/>
          </a:p>
          <a:p>
            <a:r>
              <a:rPr lang="zh-CN" altLang="en-US" dirty="0" smtClean="0"/>
              <a:t>该模式暗含的意思是</a:t>
            </a:r>
            <a:endParaRPr lang="en-US" altLang="zh-CN" dirty="0" smtClean="0"/>
          </a:p>
          <a:p>
            <a:r>
              <a:rPr lang="zh-CN" altLang="en-US" dirty="0" smtClean="0"/>
              <a:t>对类进行实例化时</a:t>
            </a:r>
            <a:endParaRPr lang="en-US" altLang="zh-CN" dirty="0" smtClean="0"/>
          </a:p>
          <a:p>
            <a:r>
              <a:rPr lang="zh-CN" altLang="en-US" dirty="0" smtClean="0"/>
              <a:t>只能存在一个实例</a:t>
            </a:r>
            <a:endParaRPr lang="en-US" altLang="zh-CN" dirty="0" smtClean="0"/>
          </a:p>
          <a:p>
            <a:r>
              <a:rPr lang="zh-CN" altLang="en-US" dirty="0" smtClean="0"/>
              <a:t>而决不能是两个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交互图</a:t>
            </a:r>
            <a:r>
              <a:rPr lang="zh-CN" altLang="en-US" dirty="0" smtClean="0"/>
              <a:t>中</a:t>
            </a:r>
            <a:endParaRPr lang="en-US" altLang="zh-CN" dirty="0" smtClean="0"/>
          </a:p>
          <a:p>
            <a:r>
              <a:rPr lang="zh-CN" altLang="en-US" dirty="0" smtClean="0"/>
              <a:t>遇到</a:t>
            </a:r>
            <a:r>
              <a:rPr lang="zh-CN" altLang="en-US" dirty="0" smtClean="0"/>
              <a:t>此类对象</a:t>
            </a:r>
            <a:r>
              <a:rPr lang="zh-CN" altLang="en-US" dirty="0" smtClean="0"/>
              <a:t>时</a:t>
            </a:r>
            <a:endParaRPr lang="en-US" altLang="zh-CN" dirty="0" smtClean="0"/>
          </a:p>
          <a:p>
            <a:r>
              <a:rPr lang="zh-CN" altLang="en-US" dirty="0" smtClean="0"/>
              <a:t>要</a:t>
            </a:r>
            <a:r>
              <a:rPr lang="zh-CN" altLang="en-US" dirty="0" smtClean="0"/>
              <a:t>在生命线框图右上角标记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1 </a:t>
            </a:r>
          </a:p>
          <a:p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95887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下面介绍</a:t>
            </a:r>
            <a:endParaRPr lang="en-US" altLang="zh-CN" dirty="0" smtClean="0"/>
          </a:p>
          <a:p>
            <a:r>
              <a:rPr lang="zh-CN" altLang="en-US" dirty="0" smtClean="0"/>
              <a:t>基本概念和</a:t>
            </a:r>
            <a:r>
              <a:rPr lang="en-US" altLang="zh-CN" dirty="0" smtClean="0"/>
              <a:t>UML</a:t>
            </a:r>
            <a:r>
              <a:rPr lang="zh-CN" altLang="en-US" dirty="0" smtClean="0"/>
              <a:t>表示法：顺序图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5181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 smtClean="0"/>
              <a:t>图</a:t>
            </a:r>
            <a:r>
              <a:rPr lang="en-US" altLang="zh-CN" b="0" dirty="0" smtClean="0"/>
              <a:t>15.7</a:t>
            </a:r>
            <a:r>
              <a:rPr lang="zh-CN" altLang="en-US" b="0" dirty="0" smtClean="0"/>
              <a:t>显示了</a:t>
            </a:r>
            <a:endParaRPr lang="en-US" altLang="zh-CN" b="0" dirty="0" smtClean="0"/>
          </a:p>
          <a:p>
            <a:r>
              <a:rPr lang="zh-CN" altLang="en-US" b="0" dirty="0" smtClean="0"/>
              <a:t>消息和控制期的执行规格条</a:t>
            </a:r>
            <a:endParaRPr lang="en-US" altLang="zh-CN" b="0" dirty="0" smtClean="0"/>
          </a:p>
          <a:p>
            <a:endParaRPr lang="en-US" altLang="zh-CN" b="0" dirty="0" smtClean="0"/>
          </a:p>
          <a:p>
            <a:r>
              <a:rPr lang="zh-CN" altLang="en-US" b="0" dirty="0" smtClean="0"/>
              <a:t>如图所示</a:t>
            </a:r>
            <a:endParaRPr lang="en-US" altLang="zh-CN" b="0" dirty="0" smtClean="0"/>
          </a:p>
          <a:p>
            <a:r>
              <a:rPr lang="zh-CN" altLang="en-US" b="0" dirty="0" smtClean="0"/>
              <a:t>与</a:t>
            </a:r>
            <a:r>
              <a:rPr lang="zh-CN" altLang="en-US" b="0" dirty="0" smtClean="0"/>
              <a:t>通信图相比，顺序图中的生命线框图包括框图之下的</a:t>
            </a:r>
            <a:endParaRPr lang="en-US" altLang="zh-CN" b="0" dirty="0" smtClean="0"/>
          </a:p>
          <a:p>
            <a:r>
              <a:rPr lang="zh-CN" altLang="en-US" b="0" dirty="0" smtClean="0"/>
              <a:t>垂直延伸线，这是实际的生命线</a:t>
            </a:r>
            <a:endParaRPr lang="en-US" altLang="zh-CN" b="0" dirty="0" smtClean="0"/>
          </a:p>
          <a:p>
            <a:r>
              <a:rPr lang="zh-CN" altLang="en-US" b="0" dirty="0" smtClean="0"/>
              <a:t>通常用虚线表示</a:t>
            </a:r>
            <a:endParaRPr lang="en-US" altLang="zh-CN" b="0" dirty="0" smtClean="0"/>
          </a:p>
          <a:p>
            <a:endParaRPr lang="en-US" altLang="zh-CN" b="0" dirty="0" smtClean="0"/>
          </a:p>
          <a:p>
            <a:r>
              <a:rPr lang="zh-CN" altLang="en-US" b="0" dirty="0" smtClean="0"/>
              <a:t>在</a:t>
            </a:r>
            <a:r>
              <a:rPr lang="zh-CN" altLang="en-US" b="0" dirty="0" smtClean="0"/>
              <a:t>垂直生命线之间</a:t>
            </a:r>
            <a:endParaRPr lang="en-US" altLang="zh-CN" b="0" dirty="0" smtClean="0"/>
          </a:p>
          <a:p>
            <a:r>
              <a:rPr lang="zh-CN" altLang="en-US" b="0" dirty="0" smtClean="0"/>
              <a:t>用带实心箭头的实线</a:t>
            </a:r>
            <a:endParaRPr lang="en-US" altLang="zh-CN" b="0" dirty="0" smtClean="0"/>
          </a:p>
          <a:p>
            <a:r>
              <a:rPr lang="zh-CN" altLang="en-US" b="0" dirty="0" smtClean="0"/>
              <a:t>并附以消息表达式的方式表示对象间的</a:t>
            </a:r>
            <a:endParaRPr lang="en-US" altLang="zh-CN" b="0" dirty="0" smtClean="0"/>
          </a:p>
          <a:p>
            <a:r>
              <a:rPr lang="zh-CN" altLang="en-US" b="0" dirty="0" smtClean="0"/>
              <a:t>每个消息（典型的同步消息）</a:t>
            </a:r>
            <a:endParaRPr lang="en-US" altLang="zh-CN" b="0" dirty="0" smtClean="0"/>
          </a:p>
          <a:p>
            <a:endParaRPr lang="en-US" altLang="zh-CN" b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dirty="0" smtClean="0"/>
              <a:t>在</a:t>
            </a:r>
            <a:r>
              <a:rPr lang="zh-CN" altLang="en-US" b="0" dirty="0" smtClean="0"/>
              <a:t>顺序图中可以使用执行规格条</a:t>
            </a:r>
            <a:endParaRPr lang="en-US" altLang="zh-CN" b="0" dirty="0" smtClean="0"/>
          </a:p>
          <a:p>
            <a:r>
              <a:rPr lang="zh-CN" altLang="en-US" b="0" dirty="0" smtClean="0"/>
              <a:t>来表示控制期</a:t>
            </a:r>
            <a:r>
              <a:rPr lang="en-US" altLang="zh-CN" b="0" dirty="0" smtClean="0"/>
              <a:t>(focus</a:t>
            </a:r>
            <a:r>
              <a:rPr lang="en-US" altLang="zh-CN" b="0" baseline="0" dirty="0" smtClean="0"/>
              <a:t> of control</a:t>
            </a:r>
            <a:r>
              <a:rPr lang="en-US" altLang="zh-CN" b="0" dirty="0" smtClean="0"/>
              <a:t>)</a:t>
            </a:r>
          </a:p>
          <a:p>
            <a:endParaRPr lang="en-US" altLang="zh-CN" b="0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61275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</a:t>
            </a:r>
            <a:r>
              <a:rPr lang="zh-CN" altLang="en-US" dirty="0" smtClean="0"/>
              <a:t>图所示</a:t>
            </a:r>
            <a:r>
              <a:rPr lang="en-US" altLang="zh-CN" dirty="0" smtClean="0"/>
              <a:t>15.8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可以用以下两种方式</a:t>
            </a:r>
            <a:endParaRPr lang="en-US" altLang="zh-CN" dirty="0" smtClean="0"/>
          </a:p>
          <a:p>
            <a:r>
              <a:rPr lang="zh-CN" altLang="en-US" dirty="0" smtClean="0"/>
              <a:t>表示消息</a:t>
            </a:r>
            <a:r>
              <a:rPr lang="zh-CN" altLang="en-US" dirty="0" smtClean="0"/>
              <a:t>的</a:t>
            </a:r>
            <a:r>
              <a:rPr lang="zh-CN" altLang="en-US" b="0" dirty="0" smtClean="0"/>
              <a:t>应答和</a:t>
            </a:r>
            <a:r>
              <a:rPr lang="zh-CN" altLang="en-US" dirty="0" smtClean="0"/>
              <a:t>返回</a:t>
            </a:r>
            <a:r>
              <a:rPr lang="zh-CN" altLang="en-US" dirty="0" smtClean="0"/>
              <a:t>结果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</a:t>
            </a:r>
            <a:r>
              <a:rPr lang="en-US" altLang="zh-CN" dirty="0" smtClean="0"/>
              <a:t>15.9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发送给“自身”的消息</a:t>
            </a:r>
            <a:endParaRPr lang="en-US" altLang="zh-CN" dirty="0" smtClean="0"/>
          </a:p>
          <a:p>
            <a:r>
              <a:rPr lang="zh-CN" altLang="en-US" dirty="0" smtClean="0"/>
              <a:t>可以使用嵌套的活动条</a:t>
            </a:r>
            <a:endParaRPr lang="en-US" altLang="zh-CN" dirty="0" smtClean="0"/>
          </a:p>
          <a:p>
            <a:r>
              <a:rPr lang="zh-CN" altLang="en-US" dirty="0" smtClean="0"/>
              <a:t>表示对象发送给自身的消息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81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 smtClean="0"/>
              <a:t>如</a:t>
            </a:r>
            <a:r>
              <a:rPr lang="zh-CN" altLang="en-US" b="0" dirty="0" smtClean="0"/>
              <a:t>图</a:t>
            </a:r>
            <a:r>
              <a:rPr lang="zh-CN" altLang="en-US" b="0" baseline="0" dirty="0" smtClean="0"/>
              <a:t> </a:t>
            </a:r>
            <a:r>
              <a:rPr lang="en-US" altLang="zh-CN" b="0" dirty="0" smtClean="0"/>
              <a:t>15.10 </a:t>
            </a:r>
            <a:r>
              <a:rPr lang="zh-CN" altLang="en-US" b="0" dirty="0" smtClean="0"/>
              <a:t>所</a:t>
            </a:r>
            <a:r>
              <a:rPr lang="zh-CN" altLang="en-US" b="0" dirty="0" smtClean="0"/>
              <a:t>示</a:t>
            </a:r>
          </a:p>
          <a:p>
            <a:r>
              <a:rPr lang="zh-CN" altLang="en-US" b="0" dirty="0" smtClean="0"/>
              <a:t>实例的创建和对象的生命线</a:t>
            </a:r>
            <a:endParaRPr lang="en-US" altLang="zh-CN" b="0" dirty="0" smtClean="0"/>
          </a:p>
          <a:p>
            <a:endParaRPr lang="zh-CN" altLang="en-US" b="0" dirty="0" smtClean="0"/>
          </a:p>
          <a:p>
            <a:r>
              <a:rPr lang="en-US" altLang="zh-CN" b="0" dirty="0" smtClean="0"/>
              <a:t>UML </a:t>
            </a:r>
            <a:r>
              <a:rPr lang="zh-CN" altLang="en-US" b="0" dirty="0" smtClean="0"/>
              <a:t>要求</a:t>
            </a:r>
            <a:r>
              <a:rPr lang="zh-CN" altLang="en-US" b="0" dirty="0" smtClean="0"/>
              <a:t>采用虚线，实心箭头</a:t>
            </a:r>
          </a:p>
          <a:p>
            <a:r>
              <a:rPr lang="zh-CN" altLang="en-US" b="0" dirty="0" smtClean="0"/>
              <a:t>消息名称常常使用</a:t>
            </a:r>
            <a:r>
              <a:rPr lang="en-US" altLang="zh-CN" b="0" dirty="0" smtClean="0"/>
              <a:t>create</a:t>
            </a:r>
          </a:p>
          <a:p>
            <a:r>
              <a:rPr lang="zh-CN" altLang="en-US" b="0" dirty="0" smtClean="0"/>
              <a:t>注意，新创建的对象被置于其</a:t>
            </a:r>
            <a:r>
              <a:rPr lang="zh-CN" altLang="en-US" b="0" dirty="0" smtClean="0"/>
              <a:t>创建“高度”</a:t>
            </a:r>
            <a:r>
              <a:rPr lang="zh-CN" altLang="en-US" b="0" dirty="0" smtClean="0"/>
              <a:t>上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44668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对象生命线和对象的销毁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</a:t>
            </a:r>
            <a:r>
              <a:rPr lang="zh-CN" altLang="en-US" dirty="0" smtClean="0"/>
              <a:t>某些情况下，需要显示地表示</a:t>
            </a:r>
            <a:endParaRPr lang="en-US" altLang="zh-CN" dirty="0" smtClean="0"/>
          </a:p>
          <a:p>
            <a:r>
              <a:rPr lang="zh-CN" altLang="en-US" dirty="0" smtClean="0"/>
              <a:t>对象的销毁</a:t>
            </a:r>
            <a:endParaRPr lang="en-US" altLang="zh-CN" dirty="0" smtClean="0"/>
          </a:p>
          <a:p>
            <a:r>
              <a:rPr lang="en-US" altLang="zh-CN" dirty="0" smtClean="0"/>
              <a:t>《destroy》</a:t>
            </a:r>
            <a:r>
              <a:rPr lang="zh-CN" altLang="en-US" dirty="0" smtClean="0"/>
              <a:t>构造原型消息</a:t>
            </a:r>
            <a:endParaRPr lang="en-US" altLang="zh-CN" dirty="0" smtClean="0"/>
          </a:p>
          <a:p>
            <a:r>
              <a:rPr lang="zh-CN" altLang="en-US" dirty="0" smtClean="0"/>
              <a:t>用大 </a:t>
            </a:r>
            <a:r>
              <a:rPr lang="en-US" altLang="zh-CN" dirty="0" smtClean="0"/>
              <a:t>X </a:t>
            </a:r>
            <a:r>
              <a:rPr lang="zh-CN" altLang="en-US" dirty="0" smtClean="0"/>
              <a:t>和短生命线</a:t>
            </a:r>
            <a:endParaRPr lang="en-US" altLang="zh-CN" dirty="0" smtClean="0"/>
          </a:p>
          <a:p>
            <a:r>
              <a:rPr lang="zh-CN" altLang="en-US" dirty="0" smtClean="0"/>
              <a:t>指明了对象的显式销毁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1678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如图 </a:t>
            </a:r>
            <a:r>
              <a:rPr lang="en-US" altLang="zh-CN" dirty="0" smtClean="0"/>
              <a:t>15.12 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为了</a:t>
            </a:r>
            <a:r>
              <a:rPr lang="zh-CN" altLang="en-US" dirty="0" smtClean="0"/>
              <a:t>支持有条件和循环的构造</a:t>
            </a:r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使用图框</a:t>
            </a:r>
            <a:r>
              <a:rPr lang="en-US" altLang="zh-CN" dirty="0" smtClean="0"/>
              <a:t>(frame</a:t>
            </a:r>
            <a:r>
              <a:rPr lang="en-US" altLang="zh-CN" dirty="0" smtClean="0"/>
              <a:t>)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图框是图的区域或片段</a:t>
            </a:r>
            <a:endParaRPr lang="en-US" altLang="zh-CN" dirty="0" smtClean="0"/>
          </a:p>
          <a:p>
            <a:r>
              <a:rPr lang="zh-CN" altLang="en-US" dirty="0" smtClean="0"/>
              <a:t>在图框中具有操作符或</a:t>
            </a:r>
            <a:r>
              <a:rPr lang="zh-CN" altLang="en-US" dirty="0" smtClean="0"/>
              <a:t>标签</a:t>
            </a:r>
            <a:endParaRPr lang="en-US" altLang="zh-CN" dirty="0" smtClean="0"/>
          </a:p>
          <a:p>
            <a:r>
              <a:rPr lang="zh-CN" altLang="en-US" dirty="0" smtClean="0"/>
              <a:t>例如 </a:t>
            </a:r>
            <a:r>
              <a:rPr lang="en-US" altLang="zh-CN" dirty="0" smtClean="0"/>
              <a:t>loop</a:t>
            </a:r>
            <a:r>
              <a:rPr lang="zh-CN" altLang="en-US" dirty="0" smtClean="0"/>
              <a:t>和</a:t>
            </a:r>
            <a:r>
              <a:rPr lang="zh-CN" altLang="en-US" dirty="0" smtClean="0"/>
              <a:t>保护消息（条件子句）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6388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有条件消息</a:t>
            </a:r>
            <a:endParaRPr lang="en-US" altLang="zh-CN" dirty="0" smtClean="0"/>
          </a:p>
          <a:p>
            <a:r>
              <a:rPr lang="zh-CN" altLang="en-US" dirty="0" smtClean="0"/>
              <a:t>如图</a:t>
            </a:r>
            <a:r>
              <a:rPr lang="en-US" altLang="zh-CN" dirty="0" smtClean="0"/>
              <a:t>15.13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en-US" altLang="zh-CN" dirty="0" smtClean="0"/>
              <a:t>OPT</a:t>
            </a:r>
            <a:r>
              <a:rPr lang="zh-CN" altLang="en-US" dirty="0" smtClean="0"/>
              <a:t>图框位于一个或多个消息周围</a:t>
            </a:r>
            <a:endParaRPr lang="en-US" altLang="zh-CN" dirty="0" smtClean="0"/>
          </a:p>
          <a:p>
            <a:r>
              <a:rPr lang="zh-CN" altLang="en-US" dirty="0" smtClean="0"/>
              <a:t>注意其中的保护信息要置于相关的生命线之上</a:t>
            </a:r>
            <a:endParaRPr lang="en-US" altLang="zh-CN" dirty="0" smtClean="0"/>
          </a:p>
          <a:p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</a:t>
            </a:r>
            <a:r>
              <a:rPr lang="en-US" altLang="zh-CN" dirty="0" smtClean="0"/>
              <a:t>15.4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可以采用 </a:t>
            </a:r>
            <a:r>
              <a:rPr lang="en-US" altLang="zh-CN" dirty="0" smtClean="0"/>
              <a:t>UML1.X </a:t>
            </a:r>
            <a:r>
              <a:rPr lang="zh-CN" altLang="en-US" dirty="0" smtClean="0"/>
              <a:t>的简化形式表示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788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互斥的有条件消息</a:t>
            </a:r>
            <a:endParaRPr lang="en-US" altLang="zh-CN" dirty="0" smtClean="0"/>
          </a:p>
          <a:p>
            <a:r>
              <a:rPr lang="en-US" altLang="zh-CN" dirty="0" smtClean="0"/>
              <a:t>ALT</a:t>
            </a:r>
            <a:r>
              <a:rPr lang="zh-CN" altLang="en-US" dirty="0" smtClean="0"/>
              <a:t>框放置于互斥的可选条件周围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56962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对集合中所有成员进行迭代的常用算法</a:t>
            </a:r>
            <a:endParaRPr lang="en-US" altLang="zh-CN" dirty="0" smtClean="0"/>
          </a:p>
          <a:p>
            <a:r>
              <a:rPr lang="zh-CN" altLang="en-US" dirty="0" smtClean="0"/>
              <a:t>是向每个成员发送同</a:t>
            </a:r>
            <a:r>
              <a:rPr lang="en-US" altLang="zh-CN" dirty="0" smtClean="0"/>
              <a:t>1</a:t>
            </a:r>
            <a:r>
              <a:rPr lang="zh-CN" altLang="en-US" dirty="0" smtClean="0"/>
              <a:t>条消息</a:t>
            </a:r>
            <a:endParaRPr lang="en-US" altLang="zh-CN" dirty="0" smtClean="0"/>
          </a:p>
          <a:p>
            <a:r>
              <a:rPr lang="zh-CN" altLang="en-US" dirty="0" smtClean="0"/>
              <a:t>在这种情况</a:t>
            </a:r>
            <a:r>
              <a:rPr lang="zh-CN" altLang="en-US" dirty="0" smtClean="0"/>
              <a:t>下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通常最终</a:t>
            </a:r>
            <a:r>
              <a:rPr lang="zh-CN" altLang="en-US" dirty="0" smtClean="0"/>
              <a:t>会</a:t>
            </a:r>
            <a:r>
              <a:rPr lang="zh-CN" altLang="en-US" dirty="0" smtClean="0"/>
              <a:t>使用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某种迭代器（</a:t>
            </a:r>
            <a:r>
              <a:rPr lang="zh-CN" altLang="en-US" dirty="0" smtClean="0"/>
              <a:t>也叫遍历器）</a:t>
            </a:r>
            <a:r>
              <a:rPr lang="en-US" altLang="zh-CN" dirty="0" smtClean="0"/>
              <a:t>iterator</a:t>
            </a:r>
            <a:r>
              <a:rPr lang="zh-CN" altLang="en-US" dirty="0" smtClean="0"/>
              <a:t>对象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对此，图</a:t>
            </a:r>
            <a:r>
              <a:rPr lang="en-US" altLang="zh-CN" dirty="0" smtClean="0"/>
              <a:t>15.16</a:t>
            </a:r>
            <a:r>
              <a:rPr lang="zh-CN" altLang="en-US" dirty="0" smtClean="0"/>
              <a:t>和图</a:t>
            </a:r>
            <a:r>
              <a:rPr lang="en-US" altLang="zh-CN" dirty="0" smtClean="0"/>
              <a:t>15.17</a:t>
            </a:r>
          </a:p>
          <a:p>
            <a:r>
              <a:rPr lang="zh-CN" altLang="en-US" dirty="0" smtClean="0"/>
              <a:t>给出了两种可选的</a:t>
            </a:r>
            <a:r>
              <a:rPr lang="en-US" altLang="zh-CN" dirty="0" smtClean="0"/>
              <a:t>UML</a:t>
            </a:r>
            <a:r>
              <a:rPr lang="zh-CN" altLang="en-US" dirty="0" smtClean="0"/>
              <a:t>表达方式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72308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图</a:t>
            </a:r>
            <a:r>
              <a:rPr lang="en-US" altLang="zh-CN" dirty="0" smtClean="0"/>
              <a:t>15.19</a:t>
            </a:r>
            <a:r>
              <a:rPr lang="zh-CN" altLang="en-US" dirty="0" smtClean="0"/>
              <a:t>显示</a:t>
            </a:r>
            <a:endParaRPr lang="en-US" altLang="zh-CN" dirty="0" smtClean="0"/>
          </a:p>
          <a:p>
            <a:r>
              <a:rPr lang="zh-CN" altLang="en-US" dirty="0" smtClean="0"/>
              <a:t>交互</a:t>
            </a:r>
            <a:r>
              <a:rPr lang="zh-CN" altLang="en-US" dirty="0" smtClean="0"/>
              <a:t>具体值的示例 </a:t>
            </a:r>
            <a:r>
              <a:rPr lang="en-US" altLang="zh-CN" dirty="0" err="1" smtClean="0"/>
              <a:t>sd</a:t>
            </a:r>
            <a:r>
              <a:rPr lang="en-US" altLang="zh-CN" dirty="0" smtClean="0"/>
              <a:t> </a:t>
            </a:r>
            <a:r>
              <a:rPr lang="zh-CN" altLang="en-US" dirty="0" smtClean="0"/>
              <a:t>和 </a:t>
            </a:r>
            <a:r>
              <a:rPr lang="en-US" altLang="zh-CN" dirty="0" smtClean="0"/>
              <a:t>ref </a:t>
            </a:r>
            <a:r>
              <a:rPr lang="zh-CN" altLang="en-US" dirty="0" smtClean="0"/>
              <a:t>框图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交互具体值（</a:t>
            </a:r>
            <a:r>
              <a:rPr lang="en-US" altLang="zh-CN" dirty="0" smtClean="0"/>
              <a:t>interaction occurrence or use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r>
              <a:rPr lang="zh-CN" altLang="en-US" dirty="0" smtClean="0"/>
              <a:t>当想要简化顺序图时</a:t>
            </a:r>
            <a:endParaRPr lang="en-US" altLang="zh-CN" dirty="0" smtClean="0"/>
          </a:p>
          <a:p>
            <a:r>
              <a:rPr lang="zh-CN" altLang="en-US" dirty="0" smtClean="0"/>
              <a:t>将其中的一部分分解到另一个顺序图中</a:t>
            </a:r>
            <a:endParaRPr lang="en-US" altLang="zh-CN" dirty="0" smtClean="0"/>
          </a:p>
          <a:p>
            <a:r>
              <a:rPr lang="zh-CN" altLang="en-US" dirty="0" smtClean="0"/>
              <a:t>或者存在可复用的交互具体值时</a:t>
            </a:r>
            <a:endParaRPr lang="en-US" altLang="zh-CN" dirty="0" smtClean="0"/>
          </a:p>
          <a:p>
            <a:r>
              <a:rPr lang="zh-CN" altLang="en-US" dirty="0" smtClean="0"/>
              <a:t>这种做法十分有效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在整个顺序图</a:t>
            </a:r>
            <a:r>
              <a:rPr lang="zh-CN" altLang="en-US" dirty="0" smtClean="0"/>
              <a:t>周围放置图框</a:t>
            </a:r>
            <a:endParaRPr lang="en-US" altLang="zh-CN" dirty="0" smtClean="0"/>
          </a:p>
          <a:p>
            <a:r>
              <a:rPr lang="zh-CN" altLang="en-US" dirty="0" smtClean="0"/>
              <a:t>并加上</a:t>
            </a:r>
            <a:r>
              <a:rPr lang="en-US" altLang="zh-CN" dirty="0" err="1" smtClean="0"/>
              <a:t>sd</a:t>
            </a:r>
            <a:r>
              <a:rPr lang="zh-CN" altLang="en-US" dirty="0" smtClean="0"/>
              <a:t>标记和诸如</a:t>
            </a:r>
            <a:r>
              <a:rPr lang="en-US" altLang="zh-CN" dirty="0" err="1" smtClean="0"/>
              <a:t>AuthenticateUser</a:t>
            </a:r>
            <a:r>
              <a:rPr lang="zh-CN" altLang="en-US" dirty="0" smtClean="0"/>
              <a:t>这样的名称</a:t>
            </a:r>
            <a:endParaRPr lang="en-US" altLang="zh-CN" dirty="0" smtClean="0"/>
          </a:p>
          <a:p>
            <a:r>
              <a:rPr lang="zh-CN" altLang="en-US" dirty="0" smtClean="0"/>
              <a:t>标记为</a:t>
            </a:r>
            <a:r>
              <a:rPr lang="en-US" altLang="zh-CN" dirty="0" smtClean="0"/>
              <a:t>ref</a:t>
            </a:r>
            <a:r>
              <a:rPr lang="zh-CN" altLang="en-US" dirty="0" smtClean="0"/>
              <a:t>的图框称为引用</a:t>
            </a:r>
            <a:endParaRPr lang="en-US" altLang="zh-CN" dirty="0" smtClean="0"/>
          </a:p>
          <a:p>
            <a:r>
              <a:rPr lang="zh-CN" altLang="en-US" dirty="0" smtClean="0"/>
              <a:t>该引用指另一个已命名顺序图</a:t>
            </a:r>
            <a:endParaRPr lang="en-US" altLang="zh-CN" dirty="0" smtClean="0"/>
          </a:p>
          <a:p>
            <a:r>
              <a:rPr lang="zh-CN" altLang="en-US" dirty="0" smtClean="0"/>
              <a:t>所指顺序图是实际的交互具体值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3266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同学们可以通过使用生命线框图标记</a:t>
            </a:r>
            <a:endParaRPr lang="en-US" altLang="zh-CN" dirty="0" smtClean="0"/>
          </a:p>
          <a:p>
            <a:r>
              <a:rPr lang="zh-CN" altLang="en-US" dirty="0" smtClean="0"/>
              <a:t>来表示对类和静态方法的调用</a:t>
            </a:r>
            <a:endParaRPr lang="en-US" altLang="zh-CN" dirty="0" smtClean="0"/>
          </a:p>
          <a:p>
            <a:r>
              <a:rPr lang="zh-CN" altLang="en-US" dirty="0" smtClean="0"/>
              <a:t>其中的生命线框图表示接受消息的对象</a:t>
            </a:r>
            <a:endParaRPr lang="en-US" altLang="zh-CN" dirty="0" smtClean="0"/>
          </a:p>
          <a:p>
            <a:r>
              <a:rPr lang="zh-CN" altLang="en-US" dirty="0" smtClean="0"/>
              <a:t>是类</a:t>
            </a:r>
            <a:r>
              <a:rPr lang="zh-CN" altLang="en-US" dirty="0" smtClean="0"/>
              <a:t>或者 更加</a:t>
            </a:r>
            <a:r>
              <a:rPr lang="zh-CN" altLang="en-US" dirty="0" smtClean="0"/>
              <a:t>准确地</a:t>
            </a:r>
            <a:r>
              <a:rPr lang="zh-CN" altLang="en-US" dirty="0" smtClean="0"/>
              <a:t>说 是元</a:t>
            </a:r>
            <a:r>
              <a:rPr lang="zh-CN" altLang="en-US" dirty="0" smtClean="0"/>
              <a:t>类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metaclass</a:t>
            </a:r>
            <a:r>
              <a:rPr lang="en-US" altLang="zh-CN" dirty="0" smtClean="0"/>
              <a:t>)</a:t>
            </a:r>
            <a:r>
              <a:rPr lang="zh-CN" altLang="en-US" dirty="0" smtClean="0"/>
              <a:t>的示例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7059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多态消息和案例</a:t>
            </a:r>
            <a:endParaRPr lang="en-US" altLang="zh-CN" dirty="0" smtClean="0"/>
          </a:p>
          <a:p>
            <a:r>
              <a:rPr lang="zh-CN" altLang="en-US" dirty="0" smtClean="0"/>
              <a:t>多态性是</a:t>
            </a:r>
            <a:r>
              <a:rPr lang="en-US" altLang="zh-CN" dirty="0" smtClean="0"/>
              <a:t>OO</a:t>
            </a:r>
            <a:r>
              <a:rPr lang="zh-CN" altLang="en-US" dirty="0" smtClean="0"/>
              <a:t>设计的基础</a:t>
            </a:r>
            <a:endParaRPr lang="en-US" altLang="zh-CN" dirty="0" smtClean="0"/>
          </a:p>
          <a:p>
            <a:r>
              <a:rPr lang="zh-CN" altLang="en-US" dirty="0" smtClean="0"/>
              <a:t>如何在顺序图中表示多态性呢？</a:t>
            </a:r>
            <a:endParaRPr lang="en-US" altLang="zh-CN" dirty="0" smtClean="0"/>
          </a:p>
          <a:p>
            <a:r>
              <a:rPr lang="zh-CN" altLang="en-US" dirty="0" smtClean="0"/>
              <a:t>这是常见的</a:t>
            </a:r>
            <a:r>
              <a:rPr lang="en-US" altLang="zh-CN" dirty="0" smtClean="0"/>
              <a:t>UML</a:t>
            </a:r>
            <a:r>
              <a:rPr lang="zh-CN" altLang="en-US" dirty="0" smtClean="0"/>
              <a:t>问题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</a:t>
            </a:r>
            <a:r>
              <a:rPr lang="en-US" altLang="zh-CN" dirty="0" smtClean="0"/>
              <a:t>15.21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一种方法是使用多个顺序图</a:t>
            </a:r>
            <a:endParaRPr lang="en-US" altLang="zh-CN" dirty="0" smtClean="0"/>
          </a:p>
          <a:p>
            <a:r>
              <a:rPr lang="zh-CN" altLang="en-US" dirty="0" smtClean="0"/>
              <a:t>其中一个表示到抽象超类</a:t>
            </a:r>
            <a:endParaRPr lang="en-US" altLang="zh-CN" dirty="0" smtClean="0"/>
          </a:p>
          <a:p>
            <a:r>
              <a:rPr lang="zh-CN" altLang="en-US" dirty="0" smtClean="0"/>
              <a:t>或接口对象的多态消息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其余的顺序图分别详细表示每一种多态案例</a:t>
            </a:r>
            <a:endParaRPr lang="en-US" altLang="zh-CN" dirty="0" smtClean="0"/>
          </a:p>
          <a:p>
            <a:r>
              <a:rPr lang="zh-CN" altLang="en-US" dirty="0" smtClean="0"/>
              <a:t>其中每个顺序图都以初始的多态消息作为起点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0930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异步和同步调用</a:t>
            </a:r>
            <a:endParaRPr lang="en-US" altLang="zh-CN" dirty="0" smtClean="0"/>
          </a:p>
          <a:p>
            <a:r>
              <a:rPr lang="zh-CN" altLang="en-US" dirty="0" smtClean="0"/>
              <a:t>异步消息调用不等待响应，不会阻塞</a:t>
            </a:r>
            <a:endParaRPr lang="en-US" altLang="zh-CN" dirty="0" smtClean="0"/>
          </a:p>
          <a:p>
            <a:r>
              <a:rPr lang="zh-CN" altLang="en-US" dirty="0" smtClean="0"/>
              <a:t>异步消息可以在多线程环境下使用</a:t>
            </a:r>
            <a:endParaRPr lang="en-US" altLang="zh-CN" dirty="0" smtClean="0"/>
          </a:p>
          <a:p>
            <a:r>
              <a:rPr lang="zh-CN" altLang="en-US" dirty="0" smtClean="0"/>
              <a:t>因此能够创建和初始化新的执行线程</a:t>
            </a:r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利用刺形箭头消息表示异步调用</a:t>
            </a:r>
            <a:endParaRPr lang="en-US" altLang="zh-CN" dirty="0" smtClean="0"/>
          </a:p>
          <a:p>
            <a:r>
              <a:rPr lang="zh-CN" altLang="en-US" dirty="0" smtClean="0"/>
              <a:t>常规同步调用用实箭头表示</a:t>
            </a:r>
            <a:r>
              <a:rPr lang="en-US" altLang="zh-CN" dirty="0" smtClean="0"/>
              <a:t>(</a:t>
            </a:r>
            <a:r>
              <a:rPr lang="zh-CN" altLang="en-US" dirty="0" smtClean="0"/>
              <a:t>如图</a:t>
            </a:r>
            <a:r>
              <a:rPr lang="en-US" altLang="zh-CN" dirty="0" smtClean="0"/>
              <a:t>15.22</a:t>
            </a:r>
            <a:r>
              <a:rPr lang="zh-CN" altLang="en-US" dirty="0" smtClean="0"/>
              <a:t>所示</a:t>
            </a:r>
            <a:r>
              <a:rPr lang="en-US" altLang="zh-CN" dirty="0" smtClean="0"/>
              <a:t>)</a:t>
            </a:r>
          </a:p>
          <a:p>
            <a:endParaRPr lang="en-US" altLang="zh-CN" dirty="0" smtClean="0"/>
          </a:p>
          <a:p>
            <a:r>
              <a:rPr lang="zh-CN" altLang="en-US" dirty="0" smtClean="0"/>
              <a:t>图中的对象</a:t>
            </a:r>
            <a:r>
              <a:rPr lang="en-US" altLang="zh-CN" dirty="0" smtClean="0"/>
              <a:t>Clock</a:t>
            </a:r>
          </a:p>
          <a:p>
            <a:r>
              <a:rPr lang="zh-CN" altLang="en-US" dirty="0" smtClean="0"/>
              <a:t>也</a:t>
            </a:r>
            <a:r>
              <a:rPr lang="zh-CN" altLang="en-US" dirty="0" smtClean="0"/>
              <a:t>称为主动对象</a:t>
            </a:r>
            <a:r>
              <a:rPr lang="en-US" altLang="zh-CN" dirty="0" smtClean="0"/>
              <a:t>active</a:t>
            </a:r>
            <a:r>
              <a:rPr lang="en-US" altLang="zh-CN" baseline="0" dirty="0" smtClean="0"/>
              <a:t> object</a:t>
            </a:r>
          </a:p>
          <a:p>
            <a:r>
              <a:rPr lang="zh-CN" altLang="en-US" baseline="0" dirty="0" smtClean="0"/>
              <a:t>即在其自己的执行线程中运行</a:t>
            </a:r>
            <a:endParaRPr lang="en-US" altLang="zh-CN" baseline="0" dirty="0" smtClean="0"/>
          </a:p>
          <a:p>
            <a:r>
              <a:rPr lang="zh-CN" altLang="en-US" baseline="0" dirty="0" smtClean="0"/>
              <a:t>或控制自己的执行线程的实例</a:t>
            </a:r>
            <a:endParaRPr lang="en-US" altLang="zh-CN" baseline="0" dirty="0" smtClean="0"/>
          </a:p>
          <a:p>
            <a:endParaRPr lang="en-US" altLang="zh-CN" baseline="0" dirty="0" smtClean="0"/>
          </a:p>
          <a:p>
            <a:r>
              <a:rPr lang="en-US" altLang="zh-CN" baseline="0" dirty="0" smtClean="0"/>
              <a:t>UML</a:t>
            </a:r>
            <a:r>
              <a:rPr lang="zh-CN" altLang="en-US" baseline="0" dirty="0" smtClean="0"/>
              <a:t>中，在生命线框图的两侧</a:t>
            </a:r>
            <a:endParaRPr lang="en-US" altLang="zh-CN" baseline="0" dirty="0" smtClean="0"/>
          </a:p>
          <a:p>
            <a:r>
              <a:rPr lang="zh-CN" altLang="en-US" baseline="0" dirty="0" smtClean="0"/>
              <a:t>加双竖线来表示主动对象</a:t>
            </a:r>
            <a:endParaRPr lang="en-US" altLang="zh-CN" baseline="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24800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下面介绍</a:t>
            </a:r>
            <a:endParaRPr lang="en-US" altLang="zh-CN" dirty="0" smtClean="0"/>
          </a:p>
          <a:p>
            <a:r>
              <a:rPr lang="zh-CN" altLang="en-US" dirty="0" smtClean="0"/>
              <a:t>基本概念和</a:t>
            </a:r>
            <a:r>
              <a:rPr lang="en-US" altLang="zh-CN" dirty="0" smtClean="0"/>
              <a:t>UML</a:t>
            </a:r>
            <a:r>
              <a:rPr lang="zh-CN" altLang="en-US" dirty="0" smtClean="0"/>
              <a:t>表示法：通信图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67440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链</a:t>
            </a:r>
            <a:endParaRPr lang="en-US" altLang="zh-CN" dirty="0" smtClean="0"/>
          </a:p>
          <a:p>
            <a:r>
              <a:rPr lang="zh-CN" altLang="en-US" dirty="0" smtClean="0"/>
              <a:t>链</a:t>
            </a:r>
            <a:r>
              <a:rPr lang="en-US" altLang="zh-CN" dirty="0" smtClean="0"/>
              <a:t>(link)</a:t>
            </a:r>
            <a:r>
              <a:rPr lang="zh-CN" altLang="en-US" dirty="0" smtClean="0"/>
              <a:t>是连接两个对象的路径</a:t>
            </a:r>
            <a:endParaRPr lang="en-US" altLang="zh-CN" dirty="0" smtClean="0"/>
          </a:p>
          <a:p>
            <a:r>
              <a:rPr lang="zh-CN" altLang="en-US" dirty="0" smtClean="0"/>
              <a:t>它指明了对象间某种可能的导航和可见性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更正式地说，链是关联的</a:t>
            </a:r>
            <a:r>
              <a:rPr lang="zh-CN" altLang="en-US" baseline="0" dirty="0" smtClean="0"/>
              <a:t>实例</a:t>
            </a:r>
            <a:endParaRPr lang="en-US" altLang="zh-CN" baseline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baseline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 smtClean="0"/>
              <a:t>如图所示</a:t>
            </a:r>
            <a:endParaRPr lang="en-US" altLang="zh-CN" baseline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 smtClean="0"/>
              <a:t>从</a:t>
            </a:r>
            <a:r>
              <a:rPr lang="en-US" altLang="zh-CN" baseline="0" dirty="0" smtClean="0"/>
              <a:t>Register</a:t>
            </a:r>
            <a:r>
              <a:rPr lang="zh-CN" altLang="en-US" baseline="0" dirty="0" smtClean="0"/>
              <a:t>到</a:t>
            </a:r>
            <a:r>
              <a:rPr lang="en-US" altLang="zh-CN" baseline="0" dirty="0" smtClean="0"/>
              <a:t>Sale</a:t>
            </a:r>
            <a:r>
              <a:rPr lang="zh-CN" altLang="en-US" baseline="0" dirty="0" smtClean="0"/>
              <a:t>之间有一条链</a:t>
            </a:r>
            <a:endParaRPr lang="en-US" altLang="zh-CN" baseline="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aseline="0" dirty="0" smtClean="0"/>
              <a:t>消息会沿此链流转，例如</a:t>
            </a:r>
            <a:r>
              <a:rPr lang="en-US" altLang="zh-CN" baseline="0" dirty="0" err="1" smtClean="0"/>
              <a:t>makePayment</a:t>
            </a:r>
            <a:r>
              <a:rPr lang="zh-CN" altLang="en-US" baseline="0" dirty="0" smtClean="0"/>
              <a:t>消息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7398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消息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</a:t>
            </a:r>
            <a:r>
              <a:rPr lang="zh-CN" altLang="en-US" dirty="0" smtClean="0"/>
              <a:t>图</a:t>
            </a:r>
            <a:r>
              <a:rPr lang="en-US" altLang="zh-CN" dirty="0" smtClean="0"/>
              <a:t>15.24</a:t>
            </a:r>
            <a:r>
              <a:rPr lang="zh-CN" altLang="en-US" dirty="0" smtClean="0"/>
              <a:t>所</a:t>
            </a:r>
            <a:r>
              <a:rPr lang="zh-CN" altLang="en-US" dirty="0" smtClean="0"/>
              <a:t>示</a:t>
            </a:r>
            <a:endParaRPr lang="en-US" altLang="zh-CN" dirty="0" smtClean="0"/>
          </a:p>
          <a:p>
            <a:r>
              <a:rPr lang="zh-CN" altLang="en-US" dirty="0" smtClean="0"/>
              <a:t>对象间的每个消息</a:t>
            </a:r>
            <a:endParaRPr lang="en-US" altLang="zh-CN" dirty="0" smtClean="0"/>
          </a:p>
          <a:p>
            <a:r>
              <a:rPr lang="zh-CN" altLang="en-US" dirty="0" smtClean="0"/>
              <a:t>都可以使用消息表达式</a:t>
            </a:r>
            <a:endParaRPr lang="en-US" altLang="zh-CN" dirty="0" smtClean="0"/>
          </a:p>
          <a:p>
            <a:r>
              <a:rPr lang="zh-CN" altLang="en-US" dirty="0" smtClean="0"/>
              <a:t>和指明消息方向的小箭头表示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许多消息会沿着此链传输</a:t>
            </a:r>
            <a:endParaRPr lang="en-US" altLang="zh-CN" dirty="0" smtClean="0"/>
          </a:p>
          <a:p>
            <a:r>
              <a:rPr lang="zh-CN" altLang="en-US" dirty="0" smtClean="0"/>
              <a:t>可以增加顺序编号</a:t>
            </a:r>
            <a:endParaRPr lang="en-US" altLang="zh-CN" dirty="0" smtClean="0"/>
          </a:p>
          <a:p>
            <a:r>
              <a:rPr lang="zh-CN" altLang="en-US" dirty="0" smtClean="0"/>
              <a:t>以表示当前控制线程中消息的次序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需要注意所有的消息在同一链上流转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70158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对象可以向自身发送消息</a:t>
            </a:r>
            <a:endParaRPr lang="en-US" altLang="zh-CN" dirty="0" smtClean="0"/>
          </a:p>
          <a:p>
            <a:r>
              <a:rPr lang="zh-CN" altLang="en-US" dirty="0" smtClean="0"/>
              <a:t>在这种情况下，使用到自身的链来表示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消息将沿着此链传输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59846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实例的创建</a:t>
            </a:r>
            <a:endParaRPr lang="en-US" altLang="zh-CN" dirty="0" smtClean="0"/>
          </a:p>
          <a:p>
            <a:r>
              <a:rPr lang="zh-CN" altLang="en-US" dirty="0" smtClean="0"/>
              <a:t>如图</a:t>
            </a:r>
            <a:r>
              <a:rPr lang="en-US" altLang="zh-CN" dirty="0" smtClean="0"/>
              <a:t>15.26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任何消息都可以用来创建实例</a:t>
            </a:r>
            <a:endParaRPr lang="en-US" altLang="zh-CN" dirty="0" smtClean="0"/>
          </a:p>
          <a:p>
            <a:r>
              <a:rPr lang="zh-CN" altLang="en-US" dirty="0" smtClean="0"/>
              <a:t>但是在</a:t>
            </a:r>
            <a:r>
              <a:rPr lang="en-US" altLang="zh-CN" dirty="0" smtClean="0"/>
              <a:t>UML</a:t>
            </a:r>
            <a:r>
              <a:rPr lang="zh-CN" altLang="en-US" dirty="0" smtClean="0"/>
              <a:t>中约定使用名为</a:t>
            </a:r>
            <a:r>
              <a:rPr lang="en-US" altLang="zh-CN" dirty="0" smtClean="0"/>
              <a:t>create</a:t>
            </a:r>
          </a:p>
          <a:p>
            <a:r>
              <a:rPr lang="zh-CN" altLang="en-US" dirty="0" smtClean="0"/>
              <a:t>的消息来实现这一目的（有人使用</a:t>
            </a:r>
            <a:r>
              <a:rPr lang="en-US" altLang="zh-CN" dirty="0" smtClean="0"/>
              <a:t>new</a:t>
            </a:r>
            <a:r>
              <a:rPr lang="zh-CN" altLang="en-US" dirty="0" smtClean="0"/>
              <a:t>）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如果使用不明显的消息名称</a:t>
            </a:r>
            <a:endParaRPr lang="en-US" altLang="zh-CN" dirty="0" smtClean="0"/>
          </a:p>
          <a:p>
            <a:r>
              <a:rPr lang="zh-CN" altLang="en-US" dirty="0" smtClean="0"/>
              <a:t>则需要对消息使用</a:t>
            </a:r>
            <a:r>
              <a:rPr lang="en-US" altLang="zh-CN" dirty="0" smtClean="0"/>
              <a:t>UML</a:t>
            </a:r>
            <a:r>
              <a:rPr lang="zh-CN" altLang="en-US" dirty="0" smtClean="0"/>
              <a:t>构造型加以解释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46582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消息的顺序编号</a:t>
            </a:r>
            <a:endParaRPr lang="en-US" altLang="zh-CN" dirty="0" smtClean="0"/>
          </a:p>
          <a:p>
            <a:r>
              <a:rPr lang="zh-CN" altLang="en-US" dirty="0" smtClean="0"/>
              <a:t>消息的顺序使用顺序编号来表示</a:t>
            </a:r>
            <a:endParaRPr lang="en-US" altLang="zh-CN" dirty="0" smtClean="0"/>
          </a:p>
          <a:p>
            <a:r>
              <a:rPr lang="zh-CN" altLang="en-US" dirty="0" smtClean="0"/>
              <a:t>如图</a:t>
            </a:r>
            <a:r>
              <a:rPr lang="en-US" altLang="zh-CN" dirty="0" smtClean="0"/>
              <a:t>15.27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编号方案是：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1</a:t>
            </a:r>
            <a:r>
              <a:rPr lang="zh-CN" altLang="en-US" dirty="0" smtClean="0"/>
              <a:t>）不为第一个消息编号 因此，</a:t>
            </a:r>
            <a:r>
              <a:rPr lang="en-US" altLang="zh-CN" dirty="0" smtClean="0"/>
              <a:t>msg1</a:t>
            </a:r>
            <a:r>
              <a:rPr lang="zh-CN" altLang="en-US" dirty="0" smtClean="0"/>
              <a:t>是未编号的；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2</a:t>
            </a:r>
            <a:r>
              <a:rPr lang="zh-CN" altLang="en-US" dirty="0" smtClean="0"/>
              <a:t>）使用合法编号方案来表示后续消息的顺序和嵌套，其中的嵌套消息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要使用附加数字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通过在外部消息编号后附加引入消息编号来表示嵌套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</a:t>
            </a:r>
            <a:r>
              <a:rPr lang="en-US" altLang="zh-CN" dirty="0" smtClean="0"/>
              <a:t>15.28</a:t>
            </a:r>
            <a:r>
              <a:rPr lang="zh-CN" altLang="en-US" dirty="0" smtClean="0"/>
              <a:t>显示了更加复杂的情况</a:t>
            </a:r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如图</a:t>
            </a:r>
            <a:r>
              <a:rPr lang="en-US" altLang="zh-CN" dirty="0" smtClean="0"/>
              <a:t>1.2</a:t>
            </a:r>
          </a:p>
          <a:p>
            <a:r>
              <a:rPr lang="en-US" altLang="zh-CN" dirty="0" smtClean="0"/>
              <a:t>1</a:t>
            </a:r>
            <a:r>
              <a:rPr lang="zh-CN" altLang="en-US" dirty="0" smtClean="0"/>
              <a:t>）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92848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如图</a:t>
            </a:r>
            <a:r>
              <a:rPr lang="en-US" altLang="zh-CN" dirty="0" smtClean="0"/>
              <a:t>15.29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有</a:t>
            </a:r>
            <a:r>
              <a:rPr lang="zh-CN" altLang="en-US" dirty="0" smtClean="0"/>
              <a:t>条件消息</a:t>
            </a:r>
            <a:endParaRPr lang="en-US" altLang="zh-CN" dirty="0" smtClean="0"/>
          </a:p>
          <a:p>
            <a:r>
              <a:rPr lang="zh-CN" altLang="en-US" dirty="0" smtClean="0"/>
              <a:t>和迭代子句类似</a:t>
            </a:r>
            <a:endParaRPr lang="en-US" altLang="zh-CN" dirty="0" smtClean="0"/>
          </a:p>
          <a:p>
            <a:r>
              <a:rPr lang="zh-CN" altLang="en-US" dirty="0" smtClean="0"/>
              <a:t>可以在顺序编号后</a:t>
            </a:r>
            <a:endParaRPr lang="en-US" altLang="zh-CN" dirty="0" smtClean="0"/>
          </a:p>
          <a:p>
            <a:r>
              <a:rPr lang="zh-CN" altLang="en-US" dirty="0" smtClean="0"/>
              <a:t>使用带方括号的条件子句</a:t>
            </a:r>
            <a:endParaRPr lang="en-US" altLang="zh-CN" dirty="0" smtClean="0"/>
          </a:p>
          <a:p>
            <a:r>
              <a:rPr lang="zh-CN" altLang="en-US" dirty="0" smtClean="0"/>
              <a:t>来表示有条件消息</a:t>
            </a:r>
            <a:endParaRPr lang="en-US" altLang="zh-CN" dirty="0" smtClean="0"/>
          </a:p>
          <a:p>
            <a:r>
              <a:rPr lang="zh-CN" altLang="en-US" dirty="0" smtClean="0"/>
              <a:t>只有在条件子句为真时</a:t>
            </a:r>
            <a:endParaRPr lang="en-US" altLang="zh-CN" dirty="0" smtClean="0"/>
          </a:p>
          <a:p>
            <a:r>
              <a:rPr lang="zh-CN" altLang="en-US" dirty="0" smtClean="0"/>
              <a:t>才发送该消息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28856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互斥的有条件路径</a:t>
            </a:r>
            <a:endParaRPr lang="en-US" altLang="zh-CN" dirty="0" smtClean="0"/>
          </a:p>
          <a:p>
            <a:r>
              <a:rPr lang="zh-CN" altLang="en-US" dirty="0" smtClean="0"/>
              <a:t>图</a:t>
            </a:r>
            <a:r>
              <a:rPr lang="en-US" altLang="zh-CN" dirty="0" smtClean="0"/>
              <a:t>15.30</a:t>
            </a:r>
            <a:r>
              <a:rPr lang="zh-CN" altLang="en-US" dirty="0" smtClean="0"/>
              <a:t>中的示例表示了带有互斥条件路径的顺序编号</a:t>
            </a:r>
            <a:endParaRPr lang="en-US" altLang="zh-CN" dirty="0" smtClean="0"/>
          </a:p>
          <a:p>
            <a:r>
              <a:rPr lang="zh-CN" altLang="en-US" dirty="0" smtClean="0"/>
              <a:t>在这种情况下，我们必须使用条件路径字幕修改顺序编号</a:t>
            </a:r>
            <a:endParaRPr lang="en-US" altLang="zh-CN" dirty="0" smtClean="0"/>
          </a:p>
          <a:p>
            <a:r>
              <a:rPr lang="zh-CN" altLang="en-US" dirty="0" smtClean="0"/>
              <a:t>作为约定，第一个字母是</a:t>
            </a:r>
            <a:r>
              <a:rPr lang="en-US" altLang="zh-CN" dirty="0" smtClean="0"/>
              <a:t>a</a:t>
            </a:r>
          </a:p>
          <a:p>
            <a:r>
              <a:rPr lang="zh-CN" altLang="en-US" dirty="0" smtClean="0"/>
              <a:t>图</a:t>
            </a:r>
            <a:r>
              <a:rPr lang="en-US" altLang="zh-CN" dirty="0" smtClean="0"/>
              <a:t>15.30</a:t>
            </a:r>
            <a:r>
              <a:rPr lang="zh-CN" altLang="en-US" dirty="0" smtClean="0"/>
              <a:t>表明</a:t>
            </a:r>
            <a:r>
              <a:rPr lang="en-US" altLang="zh-CN" dirty="0" smtClean="0"/>
              <a:t>mag1</a:t>
            </a:r>
            <a:r>
              <a:rPr lang="zh-CN" altLang="en-US" dirty="0" smtClean="0"/>
              <a:t>之后</a:t>
            </a:r>
            <a:endParaRPr lang="en-US" altLang="zh-CN" dirty="0" smtClean="0"/>
          </a:p>
          <a:p>
            <a:r>
              <a:rPr lang="zh-CN" altLang="en-US" dirty="0" smtClean="0"/>
              <a:t>可能执行</a:t>
            </a:r>
            <a:r>
              <a:rPr lang="en-US" altLang="zh-CN" dirty="0" smtClean="0"/>
              <a:t>1a</a:t>
            </a:r>
            <a:r>
              <a:rPr lang="zh-CN" altLang="en-US" dirty="0" smtClean="0"/>
              <a:t>或</a:t>
            </a:r>
            <a:r>
              <a:rPr lang="en-US" altLang="zh-CN" dirty="0" smtClean="0"/>
              <a:t>1b</a:t>
            </a:r>
          </a:p>
          <a:p>
            <a:r>
              <a:rPr lang="zh-CN" altLang="en-US" dirty="0" smtClean="0"/>
              <a:t>因为两者可能是第一个内部消息</a:t>
            </a:r>
            <a:endParaRPr lang="en-US" altLang="zh-CN" dirty="0" smtClean="0"/>
          </a:p>
          <a:p>
            <a:r>
              <a:rPr lang="zh-CN" altLang="en-US" dirty="0" smtClean="0"/>
              <a:t>所以都用数字</a:t>
            </a:r>
            <a:r>
              <a:rPr lang="en-US" altLang="zh-CN" dirty="0" smtClean="0"/>
              <a:t>1</a:t>
            </a:r>
            <a:r>
              <a:rPr lang="zh-CN" altLang="en-US" dirty="0" smtClean="0"/>
              <a:t>编号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注意，后续的嵌套消息</a:t>
            </a:r>
            <a:endParaRPr lang="en-US" altLang="zh-CN" dirty="0" smtClean="0"/>
          </a:p>
          <a:p>
            <a:r>
              <a:rPr lang="zh-CN" altLang="en-US" dirty="0" smtClean="0"/>
              <a:t>仍然沿用并附加外部消息的顺序编号</a:t>
            </a:r>
            <a:endParaRPr lang="en-US" altLang="zh-CN" dirty="0" smtClean="0"/>
          </a:p>
          <a:p>
            <a:r>
              <a:rPr lang="zh-CN" altLang="en-US" dirty="0" smtClean="0"/>
              <a:t>因此</a:t>
            </a:r>
            <a:r>
              <a:rPr lang="en-US" altLang="zh-CN" dirty="0" smtClean="0"/>
              <a:t>1b.1</a:t>
            </a:r>
            <a:r>
              <a:rPr lang="zh-CN" altLang="en-US" dirty="0" smtClean="0"/>
              <a:t>是</a:t>
            </a:r>
            <a:r>
              <a:rPr lang="en-US" altLang="zh-CN" dirty="0" smtClean="0"/>
              <a:t>1b</a:t>
            </a:r>
            <a:r>
              <a:rPr lang="zh-CN" altLang="en-US" dirty="0" smtClean="0"/>
              <a:t>中的嵌套消息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8482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迭代和循环</a:t>
            </a:r>
            <a:endParaRPr lang="en-US" altLang="zh-CN" dirty="0" smtClean="0"/>
          </a:p>
          <a:p>
            <a:r>
              <a:rPr lang="zh-CN" altLang="en-US" dirty="0" smtClean="0"/>
              <a:t>如图</a:t>
            </a:r>
            <a:r>
              <a:rPr lang="en-US" altLang="zh-CN" dirty="0" smtClean="0"/>
              <a:t>15.32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对集合的所有成员进行迭代的常见算法</a:t>
            </a:r>
            <a:endParaRPr lang="en-US" altLang="zh-CN" dirty="0" smtClean="0"/>
          </a:p>
          <a:p>
            <a:r>
              <a:rPr lang="zh-CN" altLang="en-US" dirty="0" smtClean="0"/>
              <a:t>是给每个成员发送相同的消息，在通信图中</a:t>
            </a:r>
            <a:endParaRPr lang="en-US" altLang="zh-CN" dirty="0" smtClean="0"/>
          </a:p>
          <a:p>
            <a:r>
              <a:rPr lang="zh-CN" altLang="en-US" dirty="0" smtClean="0"/>
              <a:t>可以用该图进行概括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在顺序号之后</a:t>
            </a:r>
            <a:endParaRPr lang="en-US" altLang="zh-CN" dirty="0" smtClean="0"/>
          </a:p>
          <a:p>
            <a:r>
              <a:rPr lang="zh-CN" altLang="en-US" dirty="0" smtClean="0"/>
              <a:t>用*和可选的迭代子句</a:t>
            </a:r>
            <a:endParaRPr lang="en-US" altLang="zh-CN" dirty="0" smtClean="0"/>
          </a:p>
          <a:p>
            <a:r>
              <a:rPr lang="zh-CN" altLang="en-US" dirty="0" smtClean="0"/>
              <a:t>来表示迭代</a:t>
            </a:r>
            <a:endParaRPr lang="en-US" altLang="zh-CN" dirty="0" smtClean="0"/>
          </a:p>
          <a:p>
            <a:r>
              <a:rPr lang="zh-CN" altLang="en-US" dirty="0" smtClean="0"/>
              <a:t>如果迭代子句对建模而言不重要</a:t>
            </a:r>
            <a:endParaRPr lang="en-US" altLang="zh-CN" dirty="0" smtClean="0"/>
          </a:p>
          <a:p>
            <a:r>
              <a:rPr lang="zh-CN" altLang="en-US" dirty="0" smtClean="0"/>
              <a:t>则可以使用*对其简化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67373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对类调用静态（类）方法的消息</a:t>
            </a:r>
            <a:endParaRPr lang="en-US" altLang="zh-CN" dirty="0" smtClean="0"/>
          </a:p>
          <a:p>
            <a:r>
              <a:rPr lang="zh-CN" altLang="en-US" dirty="0" smtClean="0"/>
              <a:t>为理解</a:t>
            </a:r>
            <a:r>
              <a:rPr lang="en-US" altLang="zh-CN" dirty="0" smtClean="0"/>
              <a:t>15.33</a:t>
            </a:r>
            <a:r>
              <a:rPr lang="zh-CN" altLang="en-US" dirty="0" smtClean="0"/>
              <a:t>中的示例</a:t>
            </a:r>
            <a:endParaRPr lang="en-US" altLang="zh-CN" dirty="0" smtClean="0"/>
          </a:p>
          <a:p>
            <a:r>
              <a:rPr lang="zh-CN" altLang="en-US" dirty="0" smtClean="0"/>
              <a:t>请参见在顺序图中对元类的讨论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11555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如图</a:t>
            </a:r>
            <a:r>
              <a:rPr lang="en-US" altLang="zh-CN" dirty="0" smtClean="0"/>
              <a:t>15.34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和顺序图类似，可以使用多个通信图</a:t>
            </a:r>
            <a:endParaRPr lang="en-US" altLang="zh-CN" dirty="0" smtClean="0"/>
          </a:p>
          <a:p>
            <a:r>
              <a:rPr lang="zh-CN" altLang="en-US" dirty="0" smtClean="0"/>
              <a:t>来表示每种具体的多态案例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458270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异步和同步</a:t>
            </a:r>
            <a:r>
              <a:rPr lang="zh-CN" altLang="en-US" dirty="0" smtClean="0"/>
              <a:t>调用</a:t>
            </a:r>
            <a:endParaRPr lang="en-US" altLang="zh-CN" dirty="0" smtClean="0"/>
          </a:p>
          <a:p>
            <a:r>
              <a:rPr lang="zh-CN" altLang="en-US" dirty="0" smtClean="0"/>
              <a:t>如图</a:t>
            </a:r>
            <a:r>
              <a:rPr lang="en-US" altLang="zh-CN" dirty="0" smtClean="0"/>
              <a:t>15.35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r>
              <a:rPr lang="zh-CN" altLang="en-US" dirty="0" smtClean="0"/>
              <a:t>异步消息调用不等待响应，不会阻塞</a:t>
            </a:r>
            <a:endParaRPr lang="en-US" altLang="zh-CN" dirty="0" smtClean="0"/>
          </a:p>
          <a:p>
            <a:r>
              <a:rPr lang="zh-CN" altLang="en-US" dirty="0" smtClean="0"/>
              <a:t>异步消息可以在多线程环境中使用</a:t>
            </a:r>
            <a:endParaRPr lang="en-US" altLang="zh-CN" dirty="0" smtClean="0"/>
          </a:p>
          <a:p>
            <a:r>
              <a:rPr lang="zh-CN" altLang="en-US" dirty="0" smtClean="0"/>
              <a:t>因此能够创建和初始化新的执行线程</a:t>
            </a:r>
            <a:endParaRPr lang="en-US" altLang="zh-CN" dirty="0" smtClean="0"/>
          </a:p>
          <a:p>
            <a:r>
              <a:rPr lang="en-US" altLang="zh-CN" dirty="0" smtClean="0"/>
              <a:t>UML</a:t>
            </a:r>
            <a:r>
              <a:rPr lang="zh-CN" altLang="en-US" dirty="0" smtClean="0"/>
              <a:t>能够用刺形箭头消息表示异步调用</a:t>
            </a:r>
            <a:endParaRPr lang="en-US" altLang="zh-CN" dirty="0" smtClean="0"/>
          </a:p>
          <a:p>
            <a:r>
              <a:rPr lang="zh-CN" altLang="en-US" dirty="0" smtClean="0"/>
              <a:t>常规同步调用使用实心箭头表示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40778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最后介绍</a:t>
            </a:r>
            <a:endParaRPr lang="en-US" altLang="zh-CN" dirty="0" smtClean="0"/>
          </a:p>
          <a:p>
            <a:r>
              <a:rPr lang="zh-CN" altLang="en-US" dirty="0" smtClean="0"/>
              <a:t>准则：交互图</a:t>
            </a:r>
            <a:endParaRPr lang="en-US" altLang="zh-CN" dirty="0" smtClean="0"/>
          </a:p>
          <a:p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87256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应该花费时间使用交互图进行动态对象建模 </a:t>
            </a:r>
            <a:endParaRPr lang="en-US" altLang="zh-CN" dirty="0" smtClean="0"/>
          </a:p>
          <a:p>
            <a:r>
              <a:rPr lang="zh-CN" altLang="en-US" dirty="0" smtClean="0"/>
              <a:t>而不仅仅是使用类图进行静态建模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zh-CN" altLang="en-US" dirty="0" smtClean="0"/>
              <a:t>通常在使用</a:t>
            </a:r>
            <a:r>
              <a:rPr lang="en-US" altLang="zh-CN" dirty="0" smtClean="0"/>
              <a:t>UML</a:t>
            </a:r>
            <a:r>
              <a:rPr lang="en-US" altLang="zh-CN" baseline="0" dirty="0" smtClean="0"/>
              <a:t> CASE</a:t>
            </a:r>
            <a:r>
              <a:rPr lang="zh-CN" altLang="en-US" baseline="0" dirty="0" smtClean="0"/>
              <a:t>工具</a:t>
            </a:r>
            <a:endParaRPr lang="en-US" altLang="zh-CN" baseline="0" dirty="0" smtClean="0"/>
          </a:p>
          <a:p>
            <a:r>
              <a:rPr lang="zh-CN" altLang="en-US" baseline="0" dirty="0" smtClean="0"/>
              <a:t>会经常绘制执行规格条（通常是自动的）</a:t>
            </a:r>
            <a:endParaRPr lang="en-US" altLang="zh-CN" baseline="0" dirty="0" smtClean="0"/>
          </a:p>
          <a:p>
            <a:r>
              <a:rPr lang="zh-CN" altLang="en-US" baseline="0" dirty="0" smtClean="0"/>
              <a:t>但在绘制草图时 往往不会绘制执行规格条</a:t>
            </a:r>
            <a:endParaRPr lang="en-US" altLang="zh-CN" baseline="0" dirty="0" smtClean="0"/>
          </a:p>
          <a:p>
            <a:endParaRPr lang="en-US" altLang="zh-CN" baseline="0" dirty="0" smtClean="0"/>
          </a:p>
          <a:p>
            <a:r>
              <a:rPr lang="zh-CN" altLang="en-US" baseline="0" dirty="0" smtClean="0"/>
              <a:t>任何顺序图都可以使用</a:t>
            </a:r>
            <a:r>
              <a:rPr lang="en-US" altLang="zh-CN" baseline="0" dirty="0" err="1" smtClean="0"/>
              <a:t>sd</a:t>
            </a:r>
            <a:r>
              <a:rPr lang="zh-CN" altLang="en-US" baseline="0" dirty="0" smtClean="0"/>
              <a:t>框图围绕起来，并对其命名</a:t>
            </a:r>
            <a:endParaRPr lang="en-US" altLang="zh-CN" baseline="0" dirty="0" smtClean="0"/>
          </a:p>
          <a:p>
            <a:r>
              <a:rPr lang="zh-CN" altLang="en-US" baseline="0" dirty="0" smtClean="0"/>
              <a:t>当你想要引用相应名字的</a:t>
            </a:r>
            <a:r>
              <a:rPr lang="en-US" altLang="zh-CN" baseline="0" dirty="0" err="1" smtClean="0"/>
              <a:t>sd</a:t>
            </a:r>
            <a:r>
              <a:rPr lang="zh-CN" altLang="en-US" baseline="0" dirty="0" smtClean="0"/>
              <a:t>框图时 </a:t>
            </a:r>
            <a:r>
              <a:rPr lang="zh-CN" altLang="en-US" baseline="0" dirty="0" smtClean="0"/>
              <a:t>可以使用</a:t>
            </a:r>
            <a:r>
              <a:rPr lang="en-US" altLang="zh-CN" baseline="0" dirty="0" smtClean="0"/>
              <a:t>ref</a:t>
            </a:r>
            <a:r>
              <a:rPr lang="zh-CN" altLang="en-US" baseline="0" dirty="0" smtClean="0"/>
              <a:t>图框</a:t>
            </a:r>
            <a:endParaRPr lang="en-US" altLang="zh-CN" baseline="0" dirty="0" smtClean="0"/>
          </a:p>
          <a:p>
            <a:endParaRPr lang="en-US" altLang="zh-CN" baseline="0" dirty="0" smtClean="0"/>
          </a:p>
          <a:p>
            <a:r>
              <a:rPr lang="zh-CN" altLang="en-US" baseline="0" dirty="0" smtClean="0"/>
              <a:t>但在绘制草图时，通常使用刺形箭头表示同步调用</a:t>
            </a:r>
            <a:endParaRPr lang="en-US" altLang="zh-CN" baseline="0" dirty="0" smtClean="0"/>
          </a:p>
          <a:p>
            <a:r>
              <a:rPr lang="zh-CN" altLang="en-US" baseline="0" dirty="0" smtClean="0"/>
              <a:t>因为这样对绘制来说更为简便</a:t>
            </a:r>
            <a:endParaRPr lang="en-US" altLang="zh-CN" baseline="0" dirty="0" smtClean="0"/>
          </a:p>
          <a:p>
            <a:r>
              <a:rPr lang="zh-CN" altLang="en-US" baseline="0" dirty="0" smtClean="0"/>
              <a:t>因此在阅读</a:t>
            </a:r>
            <a:r>
              <a:rPr lang="en-US" altLang="zh-CN" baseline="0" dirty="0" smtClean="0"/>
              <a:t>UML</a:t>
            </a:r>
            <a:r>
              <a:rPr lang="zh-CN" altLang="en-US" baseline="0" dirty="0" smtClean="0"/>
              <a:t>交互时，不要假设箭头的形状是正确的</a:t>
            </a:r>
            <a:endParaRPr lang="en-US" altLang="zh-CN" baseline="0" dirty="0" smtClean="0"/>
          </a:p>
          <a:p>
            <a:endParaRPr lang="en-US" altLang="zh-CN" baseline="0" dirty="0" smtClean="0"/>
          </a:p>
          <a:p>
            <a:r>
              <a:rPr lang="zh-CN" altLang="en-US" baseline="0" dirty="0" smtClean="0"/>
              <a:t>不要为起始消息编号</a:t>
            </a:r>
            <a:endParaRPr lang="en-US" altLang="zh-CN" baseline="0" dirty="0" smtClean="0"/>
          </a:p>
          <a:p>
            <a:r>
              <a:rPr lang="zh-CN" altLang="en-US" baseline="0" dirty="0" smtClean="0"/>
              <a:t>虽然这样做合法</a:t>
            </a:r>
            <a:endParaRPr lang="en-US" altLang="zh-CN" baseline="0" dirty="0" smtClean="0"/>
          </a:p>
          <a:p>
            <a:r>
              <a:rPr lang="zh-CN" altLang="en-US" baseline="0" dirty="0" smtClean="0"/>
              <a:t>但是如果不这样做</a:t>
            </a:r>
            <a:endParaRPr lang="en-US" altLang="zh-CN" baseline="0" dirty="0" smtClean="0"/>
          </a:p>
          <a:p>
            <a:r>
              <a:rPr lang="zh-CN" altLang="en-US" baseline="0" dirty="0" smtClean="0"/>
              <a:t>可以简化整个编号 </a:t>
            </a:r>
            <a:endParaRPr lang="en-US" altLang="zh-CN" baseline="0" dirty="0" smtClean="0"/>
          </a:p>
          <a:p>
            <a:endParaRPr lang="en-US" altLang="zh-CN" baseline="0" dirty="0" smtClean="0"/>
          </a:p>
          <a:p>
            <a:endParaRPr lang="en-US" altLang="zh-CN" baseline="0" dirty="0" smtClean="0"/>
          </a:p>
          <a:p>
            <a:endParaRPr lang="en-US" altLang="zh-CN" baseline="0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93117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下面请大家 回顾一下本次课的知识内容</a:t>
            </a:r>
            <a:endParaRPr lang="en-US" altLang="zh-CN" dirty="0" smtClean="0"/>
          </a:p>
          <a:p>
            <a:r>
              <a:rPr lang="zh-CN" altLang="en-US" smtClean="0"/>
              <a:t>顺序图和通信图的优点和缺点是什么？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0660295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最后，作为扩展知识域的学习</a:t>
            </a:r>
            <a:endParaRPr lang="en-US" altLang="zh-CN" dirty="0" smtClean="0"/>
          </a:p>
          <a:p>
            <a:r>
              <a:rPr lang="zh-CN" altLang="en-US" dirty="0" smtClean="0"/>
              <a:t>请大家课后学习</a:t>
            </a:r>
            <a:endParaRPr lang="en-US" altLang="zh-CN" dirty="0" smtClean="0"/>
          </a:p>
          <a:p>
            <a:r>
              <a:rPr lang="zh-CN" altLang="en-US" dirty="0" smtClean="0"/>
              <a:t>什么时候，如何</a:t>
            </a:r>
            <a:r>
              <a:rPr lang="zh-CN" altLang="en-US" dirty="0" smtClean="0"/>
              <a:t>使用 交互</a:t>
            </a:r>
            <a:r>
              <a:rPr lang="zh-CN" altLang="en-US" dirty="0" smtClean="0"/>
              <a:t>图与 </a:t>
            </a:r>
            <a:r>
              <a:rPr lang="en-US" altLang="zh-CN" dirty="0" smtClean="0"/>
              <a:t>CRC </a:t>
            </a:r>
            <a:r>
              <a:rPr lang="zh-CN" altLang="en-US" dirty="0" smtClean="0"/>
              <a:t>卡？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EE2F72D-D5C7-4DF3-B4ED-3587E774A382}" type="slidenum">
              <a:rPr lang="zh-CN" altLang="en-US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964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Microsoft JhengHei Light" panose="020B0304030504040204" pitchFamily="34" charset="-12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 bwMode="auto">
          <a:xfrm>
            <a:off x="828173" y="2132856"/>
            <a:ext cx="10535653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b="1" baseline="0">
                <a:latin typeface="Microsoft JhengHei Light" panose="020B0304030504040204" pitchFamily="34" charset="-120"/>
                <a:ea typeface="+mn-ea"/>
                <a:cs typeface="Malgun Gothic Semilight" panose="020B0502040204020203" pitchFamily="34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62522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81075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341438"/>
            <a:ext cx="10515600" cy="4351337"/>
          </a:xfrm>
        </p:spPr>
        <p:txBody>
          <a:bodyPr/>
          <a:lstStyle>
            <a:lvl1pPr>
              <a:defRPr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1pPr>
            <a:lvl2pPr>
              <a:defRPr>
                <a:solidFill>
                  <a:schemeClr val="tx1"/>
                </a:solidFill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2pPr>
            <a:lvl3pPr>
              <a:defRPr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3pPr>
            <a:lvl4pPr>
              <a:defRPr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4pPr>
            <a:lvl5pPr>
              <a:defRPr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 bwMode="auto">
          <a:xfrm>
            <a:off x="44831" y="-27384"/>
            <a:ext cx="12099841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aseline="0">
                <a:latin typeface="Microsoft JhengHei Light" panose="020B0304030504040204" pitchFamily="34" charset="-12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16643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8872" y="-27384"/>
            <a:ext cx="12115800" cy="1309687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6E0E08C0-E34A-41E9-8C60-04DBC2740B40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84006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2" y="-27384"/>
            <a:ext cx="12115800" cy="13096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2AB90974-DD9F-401C-BCD5-5C52FB14960C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74538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 bwMode="auto">
          <a:xfrm>
            <a:off x="49523" y="-27384"/>
            <a:ext cx="12167157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3564FCCF-ECFC-4384-BBB6-CBB436201AF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6186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872" y="-27384"/>
            <a:ext cx="12115800" cy="13096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247C9950-AB1E-410B-AA3D-ED32C3E8627F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22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0" y="6802438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Title Placeholder 1"/>
          <p:cNvSpPr>
            <a:spLocks noGrp="1"/>
          </p:cNvSpPr>
          <p:nvPr>
            <p:ph type="title"/>
          </p:nvPr>
        </p:nvSpPr>
        <p:spPr bwMode="auto">
          <a:xfrm>
            <a:off x="49523" y="-27384"/>
            <a:ext cx="12095149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1B25AAC3-67D6-43A1-B13B-90A7556932A2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4455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0" y="981075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0" y="6811963"/>
            <a:ext cx="12192000" cy="1587"/>
          </a:xfrm>
          <a:prstGeom prst="line">
            <a:avLst/>
          </a:prstGeom>
          <a:ln w="3175"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57800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82633" y="8021"/>
            <a:ext cx="10535653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E7D3CED3-13D6-4067-92F3-384BFE2D7B63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007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57800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en-US" alt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 bwMode="auto">
          <a:xfrm>
            <a:off x="82633" y="8021"/>
            <a:ext cx="10535653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6A98F42C-13FA-4910-870C-46D85C5F2F08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10002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CB0C8DD1-9D3B-42A1-84B1-8E869690B5F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511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/>
          <p:cNvCxnSpPr/>
          <p:nvPr/>
        </p:nvCxnSpPr>
        <p:spPr>
          <a:xfrm>
            <a:off x="0" y="990600"/>
            <a:ext cx="12192000" cy="1588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6326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 bwMode="auto">
          <a:xfrm>
            <a:off x="56147" y="8021"/>
            <a:ext cx="10535653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4724400" y="6492875"/>
            <a:ext cx="2743200" cy="36512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lvl1pPr algn="ctr">
              <a:defRPr lang="en-US" altLang="zh-CN" sz="800">
                <a:solidFill>
                  <a:srgbClr val="00B0F0"/>
                </a:solidFill>
                <a:ea typeface="+mn-ea"/>
              </a:defRPr>
            </a:lvl1pPr>
          </a:lstStyle>
          <a:p>
            <a:pPr>
              <a:defRPr/>
            </a:pPr>
            <a:fld id="{B0268A1A-ECCE-469A-91A9-370D3004D396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13353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8872" y="-27384"/>
            <a:ext cx="12115800" cy="130968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294038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 baseline="0">
                <a:latin typeface="Microsoft JhengHei Light" panose="020B0304030504040204" pitchFamily="34" charset="-12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12" name="Title Placeholder 1"/>
          <p:cNvSpPr>
            <a:spLocks noGrp="1"/>
          </p:cNvSpPr>
          <p:nvPr>
            <p:ph type="title"/>
          </p:nvPr>
        </p:nvSpPr>
        <p:spPr bwMode="auto">
          <a:xfrm>
            <a:off x="828173" y="2132856"/>
            <a:ext cx="10535653" cy="13095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b="1" baseline="0">
                <a:latin typeface="Microsoft JhengHei Light" panose="020B0304030504040204" pitchFamily="34" charset="-120"/>
                <a:ea typeface="+mn-ea"/>
                <a:cs typeface="Malgun Gothic Semilight" panose="020B0502040204020203" pitchFamily="34" charset="-122"/>
              </a:defRPr>
            </a:lvl1pPr>
          </a:lstStyle>
          <a:p>
            <a:pPr lvl="0"/>
            <a:r>
              <a:rPr lang="zh-CN" altLang="en-US" smtClean="0"/>
              <a:t>单击此处编辑母版标题样式</a:t>
            </a:r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5413989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28872" y="-27384"/>
            <a:ext cx="12115800" cy="1309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49262" y="1341438"/>
            <a:ext cx="10515600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 </a:t>
            </a:r>
            <a:r>
              <a:rPr lang="en-US" altLang="zh-CN" smtClean="0"/>
              <a:t>Enter your Theme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109653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5" r:id="rId1"/>
    <p:sldLayoutId id="2147483826" r:id="rId2"/>
    <p:sldLayoutId id="2147483827" r:id="rId3"/>
    <p:sldLayoutId id="2147483828" r:id="rId4"/>
    <p:sldLayoutId id="2147483829" r:id="rId5"/>
    <p:sldLayoutId id="2147483830" r:id="rId6"/>
    <p:sldLayoutId id="2147483831" r:id="rId7"/>
    <p:sldLayoutId id="2147483832" r:id="rId8"/>
    <p:sldLayoutId id="2147483833" r:id="rId9"/>
    <p:sldLayoutId id="2147483834" r:id="rId10"/>
    <p:sldLayoutId id="2147483835" r:id="rId11"/>
    <p:sldLayoutId id="2147483836" r:id="rId12"/>
    <p:sldLayoutId id="2147483837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zh-CN" altLang="en-US" sz="3600" b="1" kern="1200">
          <a:solidFill>
            <a:srgbClr val="FFFF9A"/>
          </a:solidFill>
          <a:latin typeface="Microsoft JhengHei Light" panose="020B0304030504040204" pitchFamily="34" charset="-120"/>
          <a:ea typeface="+mn-ea"/>
          <a:cs typeface="Malgun Gothic Semilight" panose="020B0502040204020203" pitchFamily="34" charset="-122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FFFF9A"/>
          </a:solidFill>
          <a:latin typeface="Microsoft JhengHei Light" panose="020B0304030504040204" pitchFamily="34" charset="-120"/>
          <a:ea typeface="宋体" panose="02010600030101010101" pitchFamily="2" charset="-122"/>
          <a:cs typeface="Malgun Gothic Semilight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FFFF9A"/>
          </a:solidFill>
          <a:latin typeface="Microsoft JhengHei Light" panose="020B0304030504040204" pitchFamily="34" charset="-120"/>
          <a:ea typeface="宋体" panose="02010600030101010101" pitchFamily="2" charset="-122"/>
          <a:cs typeface="Malgun Gothic Semilight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FFFF9A"/>
          </a:solidFill>
          <a:latin typeface="Microsoft JhengHei Light" panose="020B0304030504040204" pitchFamily="34" charset="-120"/>
          <a:ea typeface="宋体" panose="02010600030101010101" pitchFamily="2" charset="-122"/>
          <a:cs typeface="Malgun Gothic Semilight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FFFF9A"/>
          </a:solidFill>
          <a:latin typeface="Microsoft JhengHei Light" panose="020B0304030504040204" pitchFamily="34" charset="-120"/>
          <a:ea typeface="宋体" panose="02010600030101010101" pitchFamily="2" charset="-122"/>
          <a:cs typeface="Malgun Gothic Semilight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EA9C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EA9C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EA9C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rgbClr val="FFEA9C"/>
          </a:solidFill>
          <a:latin typeface="Calibri Light" panose="020F0302020204030204" pitchFamily="34" charset="0"/>
        </a:defRPr>
      </a:lvl9pPr>
    </p:titleStyle>
    <p:bodyStyle>
      <a:lvl1pPr marL="457200" indent="-4572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Wingdings" panose="05000000000000000000" pitchFamily="2" charset="2"/>
        <a:buChar char="u"/>
        <a:defRPr lang="zh-CN" altLang="en-US" sz="2800" b="1" kern="1200" dirty="0">
          <a:solidFill>
            <a:srgbClr val="E8E88C"/>
          </a:solidFill>
          <a:latin typeface="Microsoft JhengHei Light" panose="020B0304030504040204" pitchFamily="34" charset="-120"/>
          <a:ea typeface="+mn-ea"/>
          <a:cs typeface="Times New Roman" panose="02020603050405020304" pitchFamily="18" charset="0"/>
        </a:defRPr>
      </a:lvl1pPr>
      <a:lvl2pPr marL="800100" indent="-3429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Wingdings" panose="05000000000000000000" pitchFamily="2" charset="2"/>
        <a:buChar char="n"/>
        <a:defRPr sz="2400" b="1" kern="1200">
          <a:solidFill>
            <a:srgbClr val="FFEA9C"/>
          </a:solidFill>
          <a:latin typeface="Microsoft JhengHei Light" panose="020B0304030504040204" pitchFamily="34" charset="-120"/>
          <a:ea typeface="+mn-ea"/>
          <a:cs typeface="Times New Roman" panose="02020603050405020304" pitchFamily="18" charset="0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rgbClr val="FFEA9C"/>
          </a:solidFill>
          <a:latin typeface="Microsoft JhengHei Light" panose="020B0304030504040204" pitchFamily="34" charset="-120"/>
          <a:ea typeface="+mn-ea"/>
          <a:cs typeface="Times New Roman" panose="02020603050405020304" pitchFamily="18" charset="0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rgbClr val="FFEA9C"/>
          </a:solidFill>
          <a:latin typeface="Microsoft JhengHei Light" panose="020B0304030504040204" pitchFamily="34" charset="-120"/>
          <a:ea typeface="+mn-ea"/>
          <a:cs typeface="Times New Roman" panose="02020603050405020304" pitchFamily="18" charset="0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b="1" kern="1200">
          <a:solidFill>
            <a:srgbClr val="FFEA9C"/>
          </a:solidFill>
          <a:latin typeface="Microsoft JhengHei Light" panose="020B0304030504040204" pitchFamily="34" charset="-12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.xml"/><Relationship Id="rId1" Type="http://schemas.openxmlformats.org/officeDocument/2006/relationships/customXml" Target="../../customXml/item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886200"/>
            <a:ext cx="7315200" cy="1752600"/>
          </a:xfrm>
        </p:spPr>
        <p:txBody>
          <a:bodyPr/>
          <a:lstStyle/>
          <a:p>
            <a:r>
              <a:rPr lang="en-US" altLang="zh-CN" sz="3200" dirty="0" smtClean="0"/>
              <a:t>Chapter </a:t>
            </a:r>
            <a:r>
              <a:rPr lang="en-US" altLang="zh-CN" sz="3200" dirty="0"/>
              <a:t>4.6 </a:t>
            </a:r>
            <a:endParaRPr lang="en-US" altLang="zh-CN" sz="3200" dirty="0" smtClean="0"/>
          </a:p>
          <a:p>
            <a:r>
              <a:rPr lang="en-US" altLang="zh-CN" sz="3200" dirty="0" smtClean="0"/>
              <a:t>UML </a:t>
            </a:r>
            <a:r>
              <a:rPr lang="en-US" altLang="zh-CN" sz="3200" dirty="0"/>
              <a:t>Interaction Diagrams </a:t>
            </a:r>
            <a:endParaRPr lang="zh-CN" altLang="zh-CN" sz="3200" dirty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676401"/>
            <a:ext cx="10744200" cy="1924050"/>
          </a:xfrm>
        </p:spPr>
        <p:txBody>
          <a:bodyPr/>
          <a:lstStyle/>
          <a:p>
            <a:r>
              <a:rPr lang="en-US" altLang="zh-CN" sz="4800" dirty="0"/>
              <a:t>Software Requirements</a:t>
            </a:r>
            <a:r>
              <a:rPr lang="zh-CN" altLang="en-US" sz="4800" dirty="0"/>
              <a:t> </a:t>
            </a:r>
            <a:r>
              <a:rPr lang="en-US" altLang="zh-CN" sz="4800" dirty="0" smtClean="0"/>
              <a:t>Analysis</a:t>
            </a:r>
            <a:r>
              <a:rPr lang="en-US" altLang="zh-CN" sz="4800" dirty="0"/>
              <a:t>,</a:t>
            </a:r>
            <a:r>
              <a:rPr lang="en-US" altLang="zh-CN" sz="4800" dirty="0" smtClean="0"/>
              <a:t> Design </a:t>
            </a:r>
            <a:r>
              <a:rPr lang="en-US" altLang="zh-CN" sz="4800" dirty="0"/>
              <a:t>and </a:t>
            </a:r>
            <a:r>
              <a:rPr lang="en-US" altLang="zh-CN" sz="4800" dirty="0" smtClean="0"/>
              <a:t>Modeling</a:t>
            </a:r>
          </a:p>
        </p:txBody>
      </p:sp>
    </p:spTree>
    <p:custDataLst>
      <p:custData r:id="rId1"/>
      <p:tags r:id="rId2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13"/>
    </mc:Choice>
    <mc:Fallback xmlns="">
      <p:transition spd="slow" advTm="5713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Provide </a:t>
            </a:r>
            <a:r>
              <a:rPr lang="en-US" altLang="zh-CN" dirty="0"/>
              <a:t>a reference for frequently used UML interaction diagram </a:t>
            </a:r>
            <a:r>
              <a:rPr lang="en-US" altLang="zh-CN" dirty="0" smtClean="0"/>
              <a:t>notation sequence </a:t>
            </a:r>
            <a:r>
              <a:rPr lang="en-US" altLang="zh-CN" dirty="0"/>
              <a:t>and communication diagrams.</a:t>
            </a: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Objectives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7343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800" y="1337480"/>
            <a:ext cx="10515600" cy="4351337"/>
          </a:xfrm>
        </p:spPr>
        <p:txBody>
          <a:bodyPr/>
          <a:lstStyle/>
          <a:p>
            <a:r>
              <a:rPr lang="en-US" altLang="zh-CN" dirty="0"/>
              <a:t>Interaction Diagram.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Common UML Interaction Diagram Notation. 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Basic Definitions and UML Notations: Sequence. Diagram.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Basic Definitions and UML Notations: Communication Diagram. 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Guidelines: Interaction Diagram. </a:t>
            </a:r>
          </a:p>
          <a:p>
            <a:endParaRPr lang="en-US" altLang="zh-CN" dirty="0" smtClean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 Outline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9D5952-B418-4B8D-AD2C-D98A402A865E}" type="slidenum">
              <a:rPr lang="en-US" altLang="zh-CN" smtClean="0"/>
              <a:pPr>
                <a:defRPr/>
              </a:pPr>
              <a:t>2</a:t>
            </a:fld>
            <a:endParaRPr lang="zh-CN" altLang="en-US"/>
          </a:p>
        </p:txBody>
      </p:sp>
      <p:sp>
        <p:nvSpPr>
          <p:cNvPr id="5" name="五角星 4"/>
          <p:cNvSpPr/>
          <p:nvPr/>
        </p:nvSpPr>
        <p:spPr>
          <a:xfrm>
            <a:off x="76915" y="1294169"/>
            <a:ext cx="474785" cy="474785"/>
          </a:xfrm>
          <a:prstGeom prst="star5">
            <a:avLst/>
          </a:prstGeom>
          <a:solidFill>
            <a:srgbClr val="E8E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189092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The term interaction diagram is a generalization of two more specialized UML diagram types:</a:t>
            </a:r>
          </a:p>
          <a:p>
            <a:pPr lvl="1"/>
            <a:r>
              <a:rPr lang="en-US" altLang="zh-CN" dirty="0"/>
              <a:t>sequence diagrams</a:t>
            </a:r>
          </a:p>
          <a:p>
            <a:pPr lvl="1"/>
            <a:r>
              <a:rPr lang="en-US" altLang="zh-CN" dirty="0"/>
              <a:t>communication diagrams</a:t>
            </a:r>
          </a:p>
          <a:p>
            <a:r>
              <a:rPr lang="en-US" altLang="zh-CN" dirty="0"/>
              <a:t>The UML includes interaction diagrams to illustrate how objects interact via messages. They are used for dynamic object modeling. </a:t>
            </a:r>
            <a:endParaRPr lang="en-US" altLang="zh-CN" dirty="0" smtClean="0"/>
          </a:p>
          <a:p>
            <a:r>
              <a:rPr lang="en-US" altLang="zh-CN" dirty="0"/>
              <a:t>In the following chapters, interaction diagrams are applied to help explain and demonstrate object design. </a:t>
            </a: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Interaction Diagram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69026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13054" y="1539005"/>
            <a:ext cx="4667250" cy="20859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Communication Diagrams vs. Sequence Diagrams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4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559941" y="2133600"/>
            <a:ext cx="236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15.1. Sequence diagram.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537189"/>
            <a:ext cx="2295417" cy="208779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1308" y="4038600"/>
            <a:ext cx="4933950" cy="193357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559941" y="4572000"/>
            <a:ext cx="2362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15.2. Communication diagram.</a:t>
            </a:r>
          </a:p>
        </p:txBody>
      </p:sp>
    </p:spTree>
    <p:extLst>
      <p:ext uri="{BB962C8B-B14F-4D97-AF65-F5344CB8AC3E}">
        <p14:creationId xmlns:p14="http://schemas.microsoft.com/office/powerpoint/2010/main" val="3091899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内容占位符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1174077"/>
              </p:ext>
            </p:extLst>
          </p:nvPr>
        </p:nvGraphicFramePr>
        <p:xfrm>
          <a:off x="533400" y="1282137"/>
          <a:ext cx="10591800" cy="4215219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981200"/>
                <a:gridCol w="5486400"/>
                <a:gridCol w="3124200"/>
              </a:tblGrid>
              <a:tr h="51209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Type</a:t>
                      </a:r>
                    </a:p>
                    <a:p>
                      <a:pPr algn="ctr"/>
                      <a:endParaRPr lang="zh-CN" altLang="en-US" sz="2400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Strengths</a:t>
                      </a:r>
                    </a:p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400" dirty="0" smtClean="0"/>
                        <a:t>Weaknesses</a:t>
                      </a:r>
                    </a:p>
                    <a:p>
                      <a:pPr algn="ctr"/>
                      <a:endParaRPr lang="zh-CN" altLang="en-US" sz="2400" dirty="0"/>
                    </a:p>
                  </a:txBody>
                  <a:tcPr/>
                </a:tc>
              </a:tr>
              <a:tr h="14581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sequence</a:t>
                      </a:r>
                    </a:p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800" dirty="0" smtClean="0"/>
                        <a:t>clearly shows sequence or time ordering of messages</a:t>
                      </a: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zh-CN" sz="1800" dirty="0" smtClean="0"/>
                        <a:t>large set of detailed notation options</a:t>
                      </a:r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forced to extend to the right when adding new objects; consumes horizontal space</a:t>
                      </a:r>
                    </a:p>
                    <a:p>
                      <a:endParaRPr lang="zh-CN" altLang="en-US" sz="1800" dirty="0"/>
                    </a:p>
                  </a:txBody>
                  <a:tcPr/>
                </a:tc>
              </a:tr>
              <a:tr h="192921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dirty="0" smtClean="0"/>
                        <a:t>communication</a:t>
                      </a:r>
                    </a:p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800" dirty="0" smtClean="0"/>
                        <a:t>space economical flexibility to add new objects in two dimensions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800" dirty="0" smtClean="0"/>
                        <a:t>Easier to use for brainstorming sessions</a:t>
                      </a:r>
                    </a:p>
                    <a:p>
                      <a:endParaRPr lang="zh-CN" alt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/>
                        <a:t>more difficult to see sequence of messages</a:t>
                      </a:r>
                    </a:p>
                    <a:p>
                      <a:r>
                        <a:rPr lang="en-US" altLang="zh-CN" sz="1800" dirty="0" smtClean="0"/>
                        <a:t>fewer notation options</a:t>
                      </a:r>
                    </a:p>
                    <a:p>
                      <a:endParaRPr lang="zh-CN" altLang="en-US" sz="18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Communication Diagrams vs. Sequence Diagrams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8570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Example Sequence Diagram: </a:t>
            </a:r>
            <a:r>
              <a:rPr lang="en-US" altLang="zh-CN" dirty="0" err="1"/>
              <a:t>makePayment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6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1600200"/>
            <a:ext cx="5604164" cy="17526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914400" y="1918759"/>
            <a:ext cx="2057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15.3. Sequence diagram.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1600200"/>
            <a:ext cx="3533775" cy="17145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42411" y="3924300"/>
            <a:ext cx="6510338" cy="2452254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685800" y="4267200"/>
            <a:ext cx="152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15.4. Communication diagram.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0911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800" y="1337480"/>
            <a:ext cx="10515600" cy="4351337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Interaction Diagram.</a:t>
            </a:r>
          </a:p>
          <a:p>
            <a:r>
              <a:rPr lang="en-US" altLang="zh-CN" dirty="0"/>
              <a:t>Common UML Interaction Diagram Notation. 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Basic Definitions and UML Notations: Sequence. Diagram.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Basic Definitions and UML Notations: Communication Diagram. 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Guidelines: Interaction Diagram. </a:t>
            </a:r>
          </a:p>
          <a:p>
            <a:endParaRPr lang="en-US" altLang="zh-CN" dirty="0" smtClean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 Outline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9D5952-B418-4B8D-AD2C-D98A402A865E}" type="slidenum">
              <a:rPr lang="en-US" altLang="zh-CN" smtClean="0"/>
              <a:pPr>
                <a:defRPr/>
              </a:pPr>
              <a:t>7</a:t>
            </a:fld>
            <a:endParaRPr lang="zh-CN" altLang="en-US"/>
          </a:p>
        </p:txBody>
      </p:sp>
      <p:sp>
        <p:nvSpPr>
          <p:cNvPr id="5" name="五角星 4"/>
          <p:cNvSpPr/>
          <p:nvPr/>
        </p:nvSpPr>
        <p:spPr>
          <a:xfrm>
            <a:off x="64884" y="1752600"/>
            <a:ext cx="474785" cy="474785"/>
          </a:xfrm>
          <a:prstGeom prst="star5">
            <a:avLst/>
          </a:prstGeom>
          <a:solidFill>
            <a:srgbClr val="E8E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948634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29000" y="1371600"/>
            <a:ext cx="7035553" cy="435133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Common UML Interaction Diagram Notation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8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7200" y="2438400"/>
            <a:ext cx="2362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15.5. Common UML Interaction Diagram Notation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3276600" y="2286000"/>
            <a:ext cx="1600200" cy="1143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3676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Interaction diagrams show messages between objects; the UML has a standard syntax for these message expressions</a:t>
            </a:r>
            <a:r>
              <a:rPr lang="en-US" altLang="zh-CN" dirty="0" smtClean="0"/>
              <a:t>:</a:t>
            </a:r>
            <a:endParaRPr lang="en-US" altLang="zh-CN" baseline="30000" dirty="0" smtClean="0"/>
          </a:p>
          <a:p>
            <a:pPr lvl="1"/>
            <a:r>
              <a:rPr lang="en-US" altLang="zh-CN" dirty="0" smtClean="0"/>
              <a:t>return = message(parameter : </a:t>
            </a:r>
            <a:r>
              <a:rPr lang="en-US" altLang="zh-CN" dirty="0" err="1" smtClean="0"/>
              <a:t>parameterType</a:t>
            </a:r>
            <a:r>
              <a:rPr lang="en-US" altLang="zh-CN" dirty="0" smtClean="0"/>
              <a:t>) : </a:t>
            </a:r>
            <a:r>
              <a:rPr lang="en-US" altLang="zh-CN" dirty="0" err="1" smtClean="0"/>
              <a:t>returnType</a:t>
            </a:r>
            <a:endParaRPr lang="en-US" altLang="zh-CN" dirty="0" smtClean="0"/>
          </a:p>
          <a:p>
            <a:pPr lvl="1"/>
            <a:r>
              <a:rPr lang="en-US" altLang="zh-CN" dirty="0"/>
              <a:t>Parentheses are usually excluded if there are no parameters, though still legal.</a:t>
            </a:r>
          </a:p>
          <a:p>
            <a:pPr lvl="1"/>
            <a:r>
              <a:rPr lang="en-US" altLang="zh-CN" dirty="0"/>
              <a:t>Type information may be excluded if obvious or unimportant.</a:t>
            </a:r>
          </a:p>
          <a:p>
            <a:pPr marL="457200" lvl="1" indent="0">
              <a:buNone/>
            </a:pPr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Basic Message Expression Syntax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9</a:t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4343400"/>
            <a:ext cx="6540748" cy="177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225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94908" y="2895600"/>
            <a:ext cx="6791325" cy="14097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Singleton Objects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025802" y="4878958"/>
            <a:ext cx="53783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Figure 15.6. Singletons in interaction diagrams.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667000" y="160454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/>
              <a:t>In the world of OO design patterns, there is one that is especially common, called the Singleton pattern.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6889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800" y="1337480"/>
            <a:ext cx="10515600" cy="4351337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Interaction Diagram.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Common UML Interaction Diagram Notation. </a:t>
            </a:r>
          </a:p>
          <a:p>
            <a:r>
              <a:rPr lang="en-US" altLang="zh-CN" dirty="0"/>
              <a:t>Basic </a:t>
            </a:r>
            <a:r>
              <a:rPr lang="en-US" altLang="zh-CN" dirty="0" smtClean="0"/>
              <a:t>Definitions </a:t>
            </a:r>
            <a:r>
              <a:rPr lang="en-US" altLang="zh-CN" dirty="0"/>
              <a:t>and UML Notations: </a:t>
            </a:r>
            <a:r>
              <a:rPr lang="en-US" altLang="zh-CN" dirty="0" smtClean="0"/>
              <a:t>Sequence. Diagram.</a:t>
            </a:r>
            <a:endParaRPr lang="en-US" altLang="zh-CN" dirty="0"/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Basic Definitions and UML Notations: Communication Diagram. </a:t>
            </a:r>
          </a:p>
          <a:p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Guidelines: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Interaction Diagram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. 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 smtClean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 Outline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9D5952-B418-4B8D-AD2C-D98A402A865E}" type="slidenum">
              <a:rPr lang="en-US" altLang="zh-CN" smtClean="0"/>
              <a:pPr>
                <a:defRPr/>
              </a:pPr>
              <a:t>11</a:t>
            </a:fld>
            <a:endParaRPr lang="zh-CN" altLang="en-US"/>
          </a:p>
        </p:txBody>
      </p:sp>
      <p:sp>
        <p:nvSpPr>
          <p:cNvPr id="5" name="五角星 4"/>
          <p:cNvSpPr/>
          <p:nvPr/>
        </p:nvSpPr>
        <p:spPr>
          <a:xfrm>
            <a:off x="44831" y="2362200"/>
            <a:ext cx="474785" cy="474785"/>
          </a:xfrm>
          <a:prstGeom prst="star5">
            <a:avLst/>
          </a:prstGeom>
          <a:solidFill>
            <a:srgbClr val="E8E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35851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Lifeline Boxes and Lifelines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12</a:t>
            </a:fld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990600" y="2667000"/>
            <a:ext cx="2590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15.7. Messages and focus of control with execution specification bar.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905000"/>
            <a:ext cx="5038725" cy="32004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410200" y="1840832"/>
            <a:ext cx="1600200" cy="6096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477000" y="2561271"/>
            <a:ext cx="1600200" cy="16297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414211" y="2658979"/>
            <a:ext cx="910389" cy="168442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9611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00275" y="2390775"/>
            <a:ext cx="5048250" cy="207645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Illustrating Reply or Returns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13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5800" y="2718636"/>
            <a:ext cx="2667000" cy="17526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24000" y="46482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/>
              <a:t>Figure 15.8. Two ways to show a return result from a message.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8077200" y="4786699"/>
            <a:ext cx="36728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Figure 15.9. Messages to "this."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3733800" y="3581400"/>
            <a:ext cx="2933700" cy="685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733800" y="2775786"/>
            <a:ext cx="2933700" cy="6858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9601200" y="3276600"/>
            <a:ext cx="1295400" cy="1143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022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24112" y="1926431"/>
            <a:ext cx="6734175" cy="318135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Creation of Instances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14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228600" y="2667000"/>
            <a:ext cx="20647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15.10. Instance creation and object lifelines.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943600" y="2895599"/>
            <a:ext cx="2971800" cy="9717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0627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257550" y="2612231"/>
            <a:ext cx="5067300" cy="180975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Object Lifelines and Object Destruction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15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54539" y="3147774"/>
            <a:ext cx="17886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15.11. Object destruction.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3810000" y="3657599"/>
            <a:ext cx="2362200" cy="5334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044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95525" y="2193131"/>
            <a:ext cx="6991350" cy="264795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Diagram Frames in UML Sequence Diagrams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16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32969" y="2895600"/>
            <a:ext cx="14958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15.12. Example UML frame.</a:t>
            </a:r>
          </a:p>
        </p:txBody>
      </p:sp>
      <p:sp>
        <p:nvSpPr>
          <p:cNvPr id="8" name="矩形 7"/>
          <p:cNvSpPr/>
          <p:nvPr/>
        </p:nvSpPr>
        <p:spPr>
          <a:xfrm>
            <a:off x="2295525" y="2819401"/>
            <a:ext cx="6391275" cy="144779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3810000" y="2854570"/>
            <a:ext cx="1752600" cy="65063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6885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66800" y="2514600"/>
            <a:ext cx="5124450" cy="20574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Conditional Messages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462212"/>
            <a:ext cx="4962525" cy="216217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519088" y="4800600"/>
            <a:ext cx="42198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Figure 15.13. A conditional message.</a:t>
            </a:r>
          </a:p>
        </p:txBody>
      </p:sp>
      <p:sp>
        <p:nvSpPr>
          <p:cNvPr id="8" name="矩形 7"/>
          <p:cNvSpPr/>
          <p:nvPr/>
        </p:nvSpPr>
        <p:spPr>
          <a:xfrm>
            <a:off x="6400800" y="4886107"/>
            <a:ext cx="5410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15.14. A conditional message in UML 1.x </a:t>
            </a:r>
            <a:r>
              <a:rPr lang="en-US" altLang="zh-CN" b="1" dirty="0" smtClean="0"/>
              <a:t>notation a </a:t>
            </a:r>
            <a:r>
              <a:rPr lang="en-US" altLang="zh-CN" b="1" dirty="0"/>
              <a:t>simple style.</a:t>
            </a:r>
          </a:p>
        </p:txBody>
      </p:sp>
    </p:spTree>
    <p:extLst>
      <p:ext uri="{BB962C8B-B14F-4D97-AF65-F5344CB8AC3E}">
        <p14:creationId xmlns:p14="http://schemas.microsoft.com/office/powerpoint/2010/main" val="362823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190875" y="2216944"/>
            <a:ext cx="5200650" cy="260032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Mutually Exclusive Conditional Messages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18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 flipH="1">
            <a:off x="609600" y="2667000"/>
            <a:ext cx="2209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15.15. Mutually exclusive conditional messages.</a:t>
            </a:r>
          </a:p>
        </p:txBody>
      </p:sp>
      <p:sp>
        <p:nvSpPr>
          <p:cNvPr id="7" name="矩形 6"/>
          <p:cNvSpPr/>
          <p:nvPr/>
        </p:nvSpPr>
        <p:spPr>
          <a:xfrm>
            <a:off x="3190876" y="2667001"/>
            <a:ext cx="5200650" cy="1981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67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458842" y="1745769"/>
            <a:ext cx="5841360" cy="2059781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Iteration Over a Collection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19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842" y="4269183"/>
            <a:ext cx="5019675" cy="201930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457200" y="2057400"/>
            <a:ext cx="2667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15.16. Iteration over a collection using relatively explicit notation.</a:t>
            </a:r>
          </a:p>
        </p:txBody>
      </p:sp>
      <p:sp>
        <p:nvSpPr>
          <p:cNvPr id="8" name="矩形 7"/>
          <p:cNvSpPr/>
          <p:nvPr/>
        </p:nvSpPr>
        <p:spPr>
          <a:xfrm>
            <a:off x="372979" y="4678668"/>
            <a:ext cx="262913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15.17. Iteration over a collection leaving things more implicit.</a:t>
            </a:r>
          </a:p>
        </p:txBody>
      </p:sp>
    </p:spTree>
    <p:extLst>
      <p:ext uri="{BB962C8B-B14F-4D97-AF65-F5344CB8AC3E}">
        <p14:creationId xmlns:p14="http://schemas.microsoft.com/office/powerpoint/2010/main" val="6161306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07190" y="1341438"/>
            <a:ext cx="7368020" cy="435133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Relate Interaction Diagrams?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4831" y="2438400"/>
            <a:ext cx="193636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15.19. Example interaction occurrence, </a:t>
            </a:r>
            <a:r>
              <a:rPr lang="en-US" altLang="zh-CN" b="1" dirty="0" err="1"/>
              <a:t>sd</a:t>
            </a:r>
            <a:r>
              <a:rPr lang="en-US" altLang="zh-CN" b="1" dirty="0"/>
              <a:t> and ref frames.</a:t>
            </a:r>
          </a:p>
        </p:txBody>
      </p:sp>
      <p:sp>
        <p:nvSpPr>
          <p:cNvPr id="7" name="矩形 6"/>
          <p:cNvSpPr/>
          <p:nvPr/>
        </p:nvSpPr>
        <p:spPr>
          <a:xfrm>
            <a:off x="6019800" y="1393574"/>
            <a:ext cx="3455410" cy="42211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657600" y="2821952"/>
            <a:ext cx="2236210" cy="12407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4411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62400" y="2629052"/>
            <a:ext cx="4548188" cy="1971224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Messages to Classes to Invoke Static (or Class) Methods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21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06905" y="2677180"/>
            <a:ext cx="253841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15.20. Invoking class or static methods; showing a class object as an instance of a </a:t>
            </a:r>
            <a:r>
              <a:rPr lang="en-US" altLang="zh-CN" b="1" dirty="0" err="1"/>
              <a:t>metaclass</a:t>
            </a:r>
            <a:r>
              <a:rPr lang="en-US" altLang="zh-CN" b="1" dirty="0"/>
              <a:t>.</a:t>
            </a:r>
          </a:p>
        </p:txBody>
      </p:sp>
      <p:sp>
        <p:nvSpPr>
          <p:cNvPr id="7" name="矩形 6"/>
          <p:cNvSpPr/>
          <p:nvPr/>
        </p:nvSpPr>
        <p:spPr>
          <a:xfrm>
            <a:off x="6769768" y="3224464"/>
            <a:ext cx="1728788" cy="12407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682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73170" y="1408343"/>
            <a:ext cx="5156430" cy="435133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Polymorphic Messages and Cases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22</a:t>
            </a:fld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85800" y="2362200"/>
            <a:ext cx="19812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15.21. An approach to modeling polymorphic cases in sequence diagrams.</a:t>
            </a:r>
          </a:p>
        </p:txBody>
      </p:sp>
      <p:sp>
        <p:nvSpPr>
          <p:cNvPr id="9" name="矩形 8"/>
          <p:cNvSpPr/>
          <p:nvPr/>
        </p:nvSpPr>
        <p:spPr>
          <a:xfrm>
            <a:off x="4648200" y="2667000"/>
            <a:ext cx="3581400" cy="1524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 flipV="1">
            <a:off x="2667000" y="4393525"/>
            <a:ext cx="5638800" cy="108006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810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881187" y="1859756"/>
            <a:ext cx="7820025" cy="33147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Asynchronous and Synchronous Calls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23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8208" y="2362200"/>
            <a:ext cx="155819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15.22. Asynchronous calls and active objects.</a:t>
            </a:r>
          </a:p>
        </p:txBody>
      </p:sp>
      <p:sp>
        <p:nvSpPr>
          <p:cNvPr id="7" name="矩形 6"/>
          <p:cNvSpPr/>
          <p:nvPr/>
        </p:nvSpPr>
        <p:spPr>
          <a:xfrm flipV="1">
            <a:off x="6629401" y="3733800"/>
            <a:ext cx="2590800" cy="38272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 flipH="1">
            <a:off x="8077200" y="3124199"/>
            <a:ext cx="990600" cy="190500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566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800" y="1337480"/>
            <a:ext cx="10515600" cy="4351337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Interaction Diagram.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Common UML Interaction Diagram Notation. 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Basic Definitions and UML Notations: Sequence. Diagram.</a:t>
            </a:r>
          </a:p>
          <a:p>
            <a:r>
              <a:rPr lang="en-US" altLang="zh-CN" dirty="0"/>
              <a:t>Basic Definitions and UML Notations: Communication Diagram. </a:t>
            </a:r>
          </a:p>
          <a:p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Guidelines: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Interaction Diagram</a:t>
            </a:r>
            <a:r>
              <a:rPr lang="en-US" altLang="zh-CN" dirty="0" smtClean="0">
                <a:solidFill>
                  <a:schemeClr val="tx1">
                    <a:lumMod val="50000"/>
                  </a:schemeClr>
                </a:solidFill>
              </a:rPr>
              <a:t>. 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 smtClean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 Outline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9D5952-B418-4B8D-AD2C-D98A402A865E}" type="slidenum">
              <a:rPr lang="en-US" altLang="zh-CN" smtClean="0"/>
              <a:pPr>
                <a:defRPr/>
              </a:pPr>
              <a:t>24</a:t>
            </a:fld>
            <a:endParaRPr lang="zh-CN" altLang="en-US"/>
          </a:p>
        </p:txBody>
      </p:sp>
      <p:sp>
        <p:nvSpPr>
          <p:cNvPr id="5" name="五角星 4"/>
          <p:cNvSpPr/>
          <p:nvPr/>
        </p:nvSpPr>
        <p:spPr>
          <a:xfrm>
            <a:off x="16757" y="3200400"/>
            <a:ext cx="474785" cy="474785"/>
          </a:xfrm>
          <a:prstGeom prst="star5">
            <a:avLst/>
          </a:prstGeom>
          <a:solidFill>
            <a:srgbClr val="E8E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53165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19487" y="2783681"/>
            <a:ext cx="4543425" cy="146685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Links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25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14401" y="3147774"/>
            <a:ext cx="2286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15.23. Link lines.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2596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76575" y="2588419"/>
            <a:ext cx="5429250" cy="18573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Messages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26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14400" y="3200400"/>
            <a:ext cx="182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15.24. Messages.</a:t>
            </a:r>
          </a:p>
        </p:txBody>
      </p:sp>
    </p:spTree>
    <p:extLst>
      <p:ext uri="{BB962C8B-B14F-4D97-AF65-F5344CB8AC3E}">
        <p14:creationId xmlns:p14="http://schemas.microsoft.com/office/powerpoint/2010/main" val="1514857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724400" y="2602025"/>
            <a:ext cx="3367088" cy="2489411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Messages to "self" or "this"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27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905000" y="3200400"/>
            <a:ext cx="2362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15.25. Messages to "this."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5899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25265" y="1341438"/>
            <a:ext cx="7531869" cy="435133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Creation of Instances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28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7200" y="2971800"/>
            <a:ext cx="1295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15.26. Instance creation.</a:t>
            </a:r>
          </a:p>
        </p:txBody>
      </p:sp>
    </p:spTree>
    <p:extLst>
      <p:ext uri="{BB962C8B-B14F-4D97-AF65-F5344CB8AC3E}">
        <p14:creationId xmlns:p14="http://schemas.microsoft.com/office/powerpoint/2010/main" val="3021236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81400" y="3276600"/>
            <a:ext cx="4724400" cy="2908507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Message Number Sequencing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29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14400" y="3962400"/>
            <a:ext cx="180684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15.28. Complex sequence numbering.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7389" y="1282137"/>
            <a:ext cx="5210175" cy="14668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762000" y="1725370"/>
            <a:ext cx="259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15.27. Sequence numbering.</a:t>
            </a:r>
          </a:p>
        </p:txBody>
      </p:sp>
    </p:spTree>
    <p:extLst>
      <p:ext uri="{BB962C8B-B14F-4D97-AF65-F5344CB8AC3E}">
        <p14:creationId xmlns:p14="http://schemas.microsoft.com/office/powerpoint/2010/main" val="277498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90925" y="2759869"/>
            <a:ext cx="4400550" cy="15144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Conditional Messages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30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90600" y="3124200"/>
            <a:ext cx="2209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15.29. Conditional message.</a:t>
            </a:r>
          </a:p>
        </p:txBody>
      </p:sp>
    </p:spTree>
    <p:extLst>
      <p:ext uri="{BB962C8B-B14F-4D97-AF65-F5344CB8AC3E}">
        <p14:creationId xmlns:p14="http://schemas.microsoft.com/office/powerpoint/2010/main" val="40457600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57387" y="1712119"/>
            <a:ext cx="7667625" cy="360997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Mutually Exclusive Conditional Paths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31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81001" y="2743200"/>
            <a:ext cx="13716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15.30. Mutually exclusive messages.</a:t>
            </a:r>
          </a:p>
        </p:txBody>
      </p:sp>
      <p:sp>
        <p:nvSpPr>
          <p:cNvPr id="7" name="矩形 6"/>
          <p:cNvSpPr/>
          <p:nvPr/>
        </p:nvSpPr>
        <p:spPr>
          <a:xfrm flipV="1">
            <a:off x="5105400" y="2971800"/>
            <a:ext cx="2895600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 flipV="1">
            <a:off x="4191000" y="3886200"/>
            <a:ext cx="2895600" cy="7620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259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62175" y="1440656"/>
            <a:ext cx="7258050" cy="41529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Iteration or Looping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32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7200" y="2667000"/>
            <a:ext cx="1600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15.32. Iteration over a collection.</a:t>
            </a:r>
          </a:p>
        </p:txBody>
      </p:sp>
      <p:sp>
        <p:nvSpPr>
          <p:cNvPr id="7" name="矩形 6"/>
          <p:cNvSpPr/>
          <p:nvPr/>
        </p:nvSpPr>
        <p:spPr>
          <a:xfrm flipV="1">
            <a:off x="4646951" y="1358817"/>
            <a:ext cx="991849" cy="62238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 flipV="1">
            <a:off x="4953000" y="3962399"/>
            <a:ext cx="1447800" cy="685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2166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Messages to a Classes to Invoke Static (Class) Methods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33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381000" y="2971800"/>
            <a:ext cx="25908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15.33. Messages to a class object (static method invocation).</a:t>
            </a: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2526" y="2939716"/>
            <a:ext cx="5124450" cy="150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30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67000" y="1600200"/>
            <a:ext cx="7839075" cy="38481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Polymorphic Messages and Cases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34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457200" y="2333856"/>
            <a:ext cx="1828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15.34. An approach to modeling polymorphic cases in communication diagrams.</a:t>
            </a:r>
          </a:p>
        </p:txBody>
      </p:sp>
    </p:spTree>
    <p:extLst>
      <p:ext uri="{BB962C8B-B14F-4D97-AF65-F5344CB8AC3E}">
        <p14:creationId xmlns:p14="http://schemas.microsoft.com/office/powerpoint/2010/main" val="276584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28987" y="2564606"/>
            <a:ext cx="4924425" cy="19050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Asynchronous and Synchronous Calls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35</a:t>
            </a:fld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990600" y="2870775"/>
            <a:ext cx="20574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Figure 15.35. Asynchronous call in a communication diagram.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23870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685800" y="1337480"/>
            <a:ext cx="10515600" cy="4351337"/>
          </a:xfrm>
        </p:spPr>
        <p:txBody>
          <a:bodyPr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Interaction Diagram.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Common UML Interaction Diagram Notation. 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Basic Definitions and UML Notations: Sequence. Diagram.</a:t>
            </a: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Basic Definitions and UML Notations: Communication Diagram. </a:t>
            </a:r>
          </a:p>
          <a:p>
            <a:r>
              <a:rPr lang="en-US" altLang="zh-CN" dirty="0"/>
              <a:t>Guidelines: Interaction Diagram. </a:t>
            </a:r>
          </a:p>
          <a:p>
            <a:endParaRPr lang="en-US" altLang="zh-CN" dirty="0" smtClean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Content Outline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89D5952-B418-4B8D-AD2C-D98A402A865E}" type="slidenum">
              <a:rPr lang="en-US" altLang="zh-CN" smtClean="0"/>
              <a:pPr>
                <a:defRPr/>
              </a:pPr>
              <a:t>36</a:t>
            </a:fld>
            <a:endParaRPr lang="zh-CN" altLang="en-US"/>
          </a:p>
        </p:txBody>
      </p:sp>
      <p:sp>
        <p:nvSpPr>
          <p:cNvPr id="5" name="五角星 4"/>
          <p:cNvSpPr/>
          <p:nvPr/>
        </p:nvSpPr>
        <p:spPr>
          <a:xfrm>
            <a:off x="-12032" y="4114800"/>
            <a:ext cx="474785" cy="474785"/>
          </a:xfrm>
          <a:prstGeom prst="star5">
            <a:avLst/>
          </a:prstGeom>
          <a:solidFill>
            <a:srgbClr val="E8E8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808519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533400" y="1143000"/>
            <a:ext cx="11125200" cy="4351337"/>
          </a:xfrm>
        </p:spPr>
        <p:txBody>
          <a:bodyPr/>
          <a:lstStyle/>
          <a:p>
            <a:r>
              <a:rPr lang="en-US" altLang="zh-CN" sz="2400" dirty="0"/>
              <a:t>Spend time doing dynamic object modeling with interaction diagrams, not just static object modeling with class diagrams.</a:t>
            </a:r>
          </a:p>
          <a:p>
            <a:r>
              <a:rPr lang="en-US" altLang="zh-CN" sz="2400" dirty="0"/>
              <a:t>Drawing the bar is more common (and often automatic) when using a UML CASE tool, and less common when wall sketching</a:t>
            </a:r>
            <a:r>
              <a:rPr lang="en-US" altLang="zh-CN" sz="2400" dirty="0" smtClean="0"/>
              <a:t>.</a:t>
            </a:r>
          </a:p>
          <a:p>
            <a:r>
              <a:rPr lang="en-US" altLang="zh-CN" sz="2400" dirty="0"/>
              <a:t>Any sequence diagram can be surrounded with an </a:t>
            </a:r>
            <a:r>
              <a:rPr lang="en-US" altLang="zh-CN" sz="2400" dirty="0" err="1"/>
              <a:t>sd</a:t>
            </a:r>
            <a:r>
              <a:rPr lang="en-US" altLang="zh-CN" sz="2400" dirty="0"/>
              <a:t> frame, to name it. Frame and name one when you want to refer to it using a ref frame</a:t>
            </a:r>
            <a:r>
              <a:rPr lang="en-US" altLang="zh-CN" sz="2400" dirty="0" smtClean="0"/>
              <a:t>.</a:t>
            </a:r>
          </a:p>
          <a:p>
            <a:r>
              <a:rPr lang="en-US" altLang="zh-CN" sz="2400" dirty="0" smtClean="0"/>
              <a:t>And </a:t>
            </a:r>
            <a:r>
              <a:rPr lang="en-US" altLang="zh-CN" sz="2400" dirty="0"/>
              <a:t>when wall sketching UML, it is common to use a stick arrow to mean a synchronous call because it's easier to draw. Therefore, when reading a UML interaction diagram don't assume the shape of the arrow is correct</a:t>
            </a:r>
            <a:r>
              <a:rPr lang="en-US" altLang="zh-CN" sz="2400" dirty="0" smtClean="0"/>
              <a:t>!</a:t>
            </a:r>
          </a:p>
          <a:p>
            <a:r>
              <a:rPr lang="en-US" altLang="zh-CN" sz="2400" dirty="0"/>
              <a:t>Don't number the starting message. It's legal to do so, but simplifies the overall numbering if you don't.</a:t>
            </a:r>
          </a:p>
          <a:p>
            <a:endParaRPr lang="en-US" altLang="zh-CN" sz="2400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Guidelines: Interaction </a:t>
            </a:r>
            <a:r>
              <a:rPr lang="en-US" altLang="zh-CN" dirty="0" smtClean="0"/>
              <a:t>Diagram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579146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8399418" y="4043989"/>
            <a:ext cx="3733800" cy="2743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28600" y="1330242"/>
            <a:ext cx="11811000" cy="4079958"/>
          </a:xfrm>
        </p:spPr>
        <p:txBody>
          <a:bodyPr/>
          <a:lstStyle/>
          <a:p>
            <a:r>
              <a:rPr lang="en-US" altLang="zh-CN" dirty="0"/>
              <a:t>What are the Strengths and Weaknesses of Sequence vs. Communication Diagrams</a:t>
            </a:r>
            <a:r>
              <a:rPr lang="en-US" altLang="zh-CN" dirty="0" smtClean="0"/>
              <a:t>?</a:t>
            </a:r>
          </a:p>
          <a:p>
            <a:endParaRPr lang="en-US" altLang="zh-CN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200" dirty="0" smtClean="0"/>
              <a:t>Review : </a:t>
            </a:r>
            <a:r>
              <a:rPr lang="en-US" altLang="zh-CN" sz="3200" dirty="0"/>
              <a:t>UML Interaction Diagrams </a:t>
            </a:r>
            <a:endParaRPr lang="zh-CN" altLang="zh-CN" sz="32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5768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4800" y="1342595"/>
            <a:ext cx="11582400" cy="4351338"/>
          </a:xfrm>
        </p:spPr>
        <p:txBody>
          <a:bodyPr/>
          <a:lstStyle/>
          <a:p>
            <a:r>
              <a:rPr lang="en-US" altLang="zh-CN" dirty="0" smtClean="0"/>
              <a:t>When and How to use interaction diagrams with </a:t>
            </a:r>
          </a:p>
          <a:p>
            <a:pPr marL="0" indent="0">
              <a:buNone/>
            </a:pPr>
            <a:r>
              <a:rPr lang="en-US" altLang="zh-CN" dirty="0" smtClean="0"/>
              <a:t>    CRC cards?</a:t>
            </a:r>
            <a:endParaRPr lang="zh-CN" altLang="en-US" dirty="0"/>
          </a:p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Special Topics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2FF13E5-C1A9-42CB-8AE4-222DCECB0FC2}" type="slidenum">
              <a:rPr lang="en-US" altLang="zh-CN" smtClean="0"/>
              <a:pPr>
                <a:defRPr/>
              </a:pPr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428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CUSTOMXMLID" val="{1BA977A9-C848-4B99-853C-D423CC37C4DC}"/>
  <p:tag name="ATHENA.CUSTOMXMLCONTENT" val="&lt;?xml version=&quot;1.0&quot;?&gt;&lt;athena xmlns=&quot;http://schemas.microsoft.com/edu/athena&quot; version=&quot;0.1.3885.0&quot;&gt;&lt;timings duration=&quot;1799&quot;/&gt;&lt;/athena&gt;"/>
</p:tagLst>
</file>

<file path=ppt/theme/theme1.xml><?xml version="1.0" encoding="utf-8"?>
<a:theme xmlns:a="http://schemas.openxmlformats.org/drawingml/2006/main" name="MOOC1">
  <a:themeElements>
    <a:clrScheme name="黄色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自定义 1">
      <a:majorFont>
        <a:latin typeface="Microsoft JhengHei Light"/>
        <a:ea typeface="宋体"/>
        <a:cs typeface=""/>
      </a:majorFont>
      <a:minorFont>
        <a:latin typeface="Microsoft JhengHei Light"/>
        <a:ea typeface="宋体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47F42896-E946-4BA2-AE8A-BB0F9E22AB7F}" vid="{41889D29-1765-4963-89B1-6E31CFD5ACF9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athena xmlns="http://schemas.microsoft.com/edu/athena" version="0.1.3885.0">
  <timings duration="1799"/>
</athena>
</file>

<file path=customXml/item2.xml><?xml version="1.0" encoding="utf-8"?>
<athena xmlns="http://schemas.microsoft.com/edu/athena" version="0.1.3885.0">
  <ink scale="0.5600933">AAEAAAD/////AQAAAAAAAAAMAgAAAE9BdXRob3JQUFQsIFZlcnNpb249MC4xLjM4ODUuMCwgQ3VsdHVyZT1uZXV0cmFsLCBQdWJsaWNLZXlUb2tlbj0zMWJmMzg1NmFkMzY0ZTM1BQEAAAALSW5rTWF0dGVyVjEDAAAADUxpc3RgMStfaXRlbXMMTGlzdGAxK19zaXplD0xpc3RgMStfdmVyc2lvbgQAABdTaGFyZWQuSW5raW5nLklua0F0b21bXQIAAAAICAIAAAAJAwAAAAUAAAAZAAAABwMAAAAAAQAAAAgAAAAECUlua0F0b21WMQIAAAAJBAAAAAkFAAAACQYAAAAJBwAAAAkIAAAADQMFBAAAAAtQZW5TdHJva2VWMQQAAAAKQXR0cmlidXRlcwVUcmFjZQlTdGFydFRpbWUEVHlwZQQEAAQPUGVuQXR0cmlidXRlc1YxAgAAAApJbmtUcmFjZVYxAgAAABAMQWN0aW9uVHlwZVYxAgAAAAIAAAAJCQAAAAkKAAAAnPYBAAAAAAAF9f///wxBY3Rpb25UeXBlVjEBAAAAB3ZhbHVlX18ACAIAAAAAAAAAAQUAAAAEAAAACQwAAAAJDQAAABn9AQAAAAAAAfL////1////AAAAAAEGAAAABAAAAAkPAAAACRAAAAAbAwIAAAAAAAHv////9f///wAAAAABBwAAAAQAAAAJEgAAAAkTAAAA0q8CAAAAAAAB7P////X///8AAAAABQgAAAANQ2xlYXJDYW52YXNWMQIAAAAJU3RhcnRUaW1lBFR5cGUABBAMQWN0aW9uVHlwZVYxAgAAAAIAAADMUQQAAAAAAAHr////9f///wAAAAAFCQAAAA9QZW5BdHRyaWJ1dGVzVjEKAAAAB19jb2xvckEHX2NvbG9yUgdfY29sb3JHB19jb2xvckIKRml0VG9DdXJ2ZQZIZWlnaHQOSWdub3JlUHJlc3N1cmUNSXNIaWdobGlnaHRlcgVTaGFwZQVXaWR0aAAAAAAAAAAABAACAgICAQYBAQxCcnVzaFNoYXBlVjECAAAABgIAAAD//wAAAAAAAAAAAAhAAAAF6v///wxCcnVzaFNoYXBlVjEBAAAAB3ZhbHVlX18ACAIAAAABAAAAAAAAAAAACEAFCgAAAApJbmtUcmFjZVYxAwAAAA1MaXN0YDErX2l0ZW1zDExpc3RgMStfc2l6ZQ9MaXN0YDErX3ZlcnNpb24EAAAYU2hhcmVkLklua2luZy5JbmtQb2ludFtdAgAAAAgIAgAAAAkXAAAAYAAAAGAAAAABDAAAAAkAAAD//wAAAAAAAAAAAAhAAAAB6P///+r///8BAAAAAAAAAAAACEABDQAAAAoAAAAJGQAAAEcAAABHAAAAAQ8AAAAJAAAA//8AAAAAAAAAAAAIQAAAAeb////q////AQAAAAAAAAAAAAhAARAAAAAKAAAACRsAAAApAAAAKQAAAAESAAAACQAAAP//AAAAAAAAAAAACEAAAAHk////6v///wEAAAAAAAAAAAAIQAETAAAACgAAAAkdAAAAOwAAADsAAAAHFwAAAAABAAAAgAAAAAQKSW5rUG9pbnRWMQIAAAAJHgAAAAkfAAAACSAAAAAJIQAAAAkiAAAACSMAAAAJJAAAAAklAAAACSYAAAAJJwAAAAkoAAAACSkAAAAJKgAAAAkrAAAACSwAAAAJLQAAAAkuAAAACS8AAAAJMAAAAAkxAAAACTIAAAAJMwAAAAk0AAAACTUAAAAJNgAAAAk3AAAACTgAAAAJOQAAAAk6AAAACTsAAAAJPAAAAAk9AAAACT4AAAAJPwAAAAlAAAAACUEAAAAJQgAAAAlDAAAACUQAAAAJRQAAAAlGAAAACUcAAAAJSAAAAAlJAAAACUoAAAAJSwAAAAlMAAAACU0AAAAJTgAAAAlPAAAACVAAAAAJUQAAAAlSAAAACVMAAAAJVAAAAAlVAAAACVYAAAAJVwAAAAlYAAAACVkAAAAJWgAAAAlbAAAACVwAAAAJXQAAAAleAAAACV8AAAAJYAAAAAlhAAAACWIAAAAJYwAAAAlkAAAACWUAAAAJZgAAAAlnAAAACWgAAAAJaQAAAAlqAAAACWsAAAAJbAAAAAltAAAACW4AAAAJbwAAAAlwAAAACXEAAAAJcgAAAAlzAAAACXQAAAAJdQAAAAl2AAAACXcAAAAJeAAAAAl5AAAACXoAAAAJewAAAAl8AAAACX0AAAANIAcZAAAAAAEAAACAAAAABApJbmtQb2ludFYxAgAAAAl+AAAACX8AAAAJgAAAAAmBAAAACYIAAAAJgwAAAAmEAAAACYUAAAAJhgAAAAmHAAAACYgAAAAJiQAAAAmKAAAACYsAAAAJjAAAAAmNAAAACY4AAAAJjwAAAAmQAAAACZEAAAAJkgAAAAmTAAAACZQAAAAJlQAAAAmWAAAACZcAAAAJmAAAAAmZAAAACZoAAAAJmwAAAAmcAAAACZ0AAAAJngAAAAmfAAAACaAAAAAJoQAAAAmiAAAACaMAAAAJpAAAAAmlAAAACaYAAAAJpwAAAAmoAAAACakAAAAJqgAAAAmrAAAACawAAAAJrQAAAAmuAAAACa8AAAAJsAAAAAmxAAAACbIAAAAJswAAAAm0AAAACbUAAAAJtgAAAAm3AAAACbgAAAAJuQAAAAm6AAAACbsAAAAJvAAAAAm9AAAACb4AAAAJvwAAAAnAAAAACcEAAAAJwgAAAAnDAAAACcQAAAANOQcbAAAAAAEAAABAAAAABApJbmtQb2ludFYxAgAAAAnFAAAACcYAAAAJxwAAAAnIAAAACckAAAAJygAAAAnLAAAACcwAAAAJzQAAAAnOAAAACc8AAAAJ0AAAAAnRAAAACdIAAAAJ0wAAAAnUAAAACdUAAAAJ1gAAAAnXAAAACdgAAAAJ2QAAAAnaAAAACdsAAAAJ3AAAAAndAAAACd4AAAAJ3wAAAAngAAAACeEAAAAJ4gAAAAnjAAAACeQAAAAJ5QAAAAnmAAAACecAAAAJ6AAAAAnpAAAACeoAAAAJ6wAAAAnsAAAACe0AAAANFwcdAAAAAAEAAABAAAAABApJbmtQb2ludFYxAgAAAAnuAAAACe8AAAAJ8AAAAAnxAAAACfIAAAAJ8wAAAAn0AAAACfUAAAAJ9gAAAAn3AAAACfgAAAAJ+QAAAAn6AAAACfsAAAAJ/AAAAAn9AAAACf4AAAAJ/wAAAAkAAQAACQEBAAAJAgEAAAkDAQAACQQBAAAJBQEAAAkGAQAACQcBAAAJCAEAAAkJAQAACQoBAAAJCwEAAAkMAQAACQ0BAAAJDgEAAAkPAQAACRABAAAJEQEAAAkSAQAACRMBAAAJFAEAAAkVAQAACRYBAAAJFwEAAAkYAQAACRkBAAAJGgEAAAkbAQAACRwBAAAJHQEAAAkeAQAACR8BAAAJIAEAAAkhAQAACSIBAAAJIwEAAAkkAQAACSUBAAAJJgEAAAknAQAACSgBAAANBQUeAAAACklua1BvaW50VjEEAAAAAVgBWQ5QcmVzc3VyZUZhY3RvcglUaW1lU3RhbXAAAAAABgYLEAIAAABAljnCBS2aP+B9a2R1GdY/AAAAPwAAAAAAAAAAAR8AAAAeAAAAgP4KsxpFnD+8sZkGzlXWPwAAAD8AAAAAAAAAAAEgAAAAHgAAAIBm3KMvXZ4/qsuwV/pz1j8AAAA/AAAAAAAAAAABIQAAAB4AAACgTyg7t1KiP5jlx6gmktY/AAAAPw8AAAAAAAAAASIAAAAeAAAAwAORs8Feoz+G/975UrDWPwAAAD8PAAAAAAAAAAEjAAAAHgAAAOAfyxzhgqY/YjMNnKvs1j8AAAA/HwAAAAAAAAABJAAAAB4AAABgpNZ2Fb+rPz5nOz4EKdc/AAAAPx8AAAAAAAAAASUAAAAeAAAAcBRx6KR9sD8sgVKPMEfXPwAAAD8vAAAAAAAAAAEmAAAAHgAAALAwq1HEobM/CrWAMYmD1z8AAAA/LwAAAAAAAAABJwAAAB4AAAAATeW648W2P9QCxiQO3tc/AAAAPz4AAAAAAAAAASgAAAAeAAAAMA/r5/1juT/CHN11OvzXPwAAAD8+AAAAAAAAAAEpAAAAHgAAAJCT9kEyoL4/nlALGJM42D8AAAA/XQAAAAAAAAABKgAAAB4AAADwV5jVKOLAP55QCxiTONg/AAAAP10AAAAAAAAAASsAAAAeAAAAGJNPKDu3wj+eUAsYkzjYPwAAAD9dAAAAAAAAAAEsAAAAHgAAAGCCb/NXmMU/nlALGJM42D8AAAA/fQAAAAAAAAABLQAAAB4AAAB4NthrYqTGP55QCxiTONg/AAAAP30AAAAAAAAAAS4AAAAeAAAAoHGPvnR5yD+eUAsYkzjYPwAAAD99AAAAAAAAAAEvAAAAHgAAAPDn/WOZI8w/nlALGJM42D8AAAA/jAAAAAAAAAABMAAAAB4AAAAQUM9UrjvOP55QCxiTONg/AAAAP5wAAAAAAAAAATEAAAAeAAAApEXDU2AI0D+eUAsYkzjYPwAAAD+rAAAAAAAAAAEyAAAAHgAAALj5K8xqFNE/nlALGJM42D8AAAA/qwAAAAAAAAABMwAAAB4AAABMl4f18/7RP7A29MZmGtg/AAAAP7sAAAAAAAAAATQAAAAeAAAAbHgKDAFO0z/m6K7T4b/XPwAAAD+7AAAAAAAAAAE1AAAAHgAAABTKzq2URNU/UE0k7dcK1z8AAAA/ywAAAAAAAAABNgAAAB4AAAAY9+hLl4fVP3QZ9kp/ztY/AAAAP8sAAAAAAAAAATcAAAAeAAAAKFEdiJwN1j+Y5ceoJpLWPwAAAD/aAAAAAAAAAAE4AAAAHgAAAChRHYicDdY/qsuwV/pz1j8AAAA/2gAAAAAAAAABOQAAAB4AAAAwfjcmn1DWP+B9a2R1GdY/AAAAP+oAAAAAAAAAAToAAAAeAAAAMH43Jp9Q1j8WMCZx8L7VPwAAAD/5AAAAAAAAAAE7AAAAHgAAADB+NyafUNY/XsjJLD9G1T8AAAA/+QAAAAAAAAABPAAAAB4AAAAwfjcmn1DWP5R6hDm669Q/AAAAP/kAAAAAAAAAAT0AAAAeAAAAMH43Jp9Q1j+4RlaXYa/UPwAAAD8JAQAAAAAAAAE+AAAAHgAAADB+NyafUNY/7vgQpNxU1D8AAAA/GQEAAAAAAAABPwAAAB4AAAAwfjcmn1DWPySry7BX+tM/AAAAPxkBAAAAAAAAAUAAAAAeAAAAMH43Jp9Q1j9qQ29spoHTPwAAAD8oAQAAAAAAAAFBAAAAHgAAADB+NyafUNY/oPUpeSEn0z8AAAA/KAEAAAAAAAABQgAAAB4AAACoZyrXHS/WP9an5IWczNI/AAAAPzgBAAAAAAAAAUMAAAAeAAAAoDoQORvs1T8MWp+SF3LSPwAAAD84AQAAAAAAAAFEAAAAHgAAAJgN9poYqdU/MCZx8L410j8AAAA/RwEAAAAAAAABRQAAAB4AAAAMnbQPkgHVP3a+FKwNvdE/AAAAP0cBAAAAAAAAAUYAAAAeAAAAiFmNIg6d1D++VrhnXETRPwAAAD9XAQAAAAAAAAFHAAAAHgAAAHTSPkgG1NM/Bu9bI6vL0D8AAAA/VwEAAAAAAAABSAAAAB4AAABseAoMAU7TPyq7LYFSj9A/AAAAP2cBAAAAAAAAAUkAAAAeAAAAWPG7MfmE0j9ibeiNzTTQPwAAAD92AQAAAAAAAAFKAAAAHgAAAERqbVfxu9E/CHN01+nwzz8AAAA/dgEAAAAAAAABSwAAAB4AAAA44x596fLQP1ALGJM4eM8/AAAAP3YBAAAAAAAAAUwAAAAeAAAApEXDU2AI0D+8b42sLsPOPwAAAD+GAQAAAAAAAAFNAAAAHgAAACB96fKwfs4/KNQCxiQOzj8AAAA/lQEAAAAAAAABTgAAAB4AAADw5/1jmSPMP3BspoFzlc0/AAAAP5UBAAAAAAAAAU8AAAAeAAAAyKxGEYdOyj/c0BubaeDMPwAAAD+VAQAAAAAAAAFQAAAAHgAAAJDqQORssMc/RDWRtF8rzD8AAAA/pQEAAAAAAAABUQAAAB4AAABo3KMvXR7GP2gBYxIH78s/AAAAP7UBAAAAAAAAAVIAAAAeAAAAOHTSPkgGxD/UZdgr/TnLPwAAAD+1AQAAAAAAAAFTAAAAHgAAABhmNYo4dMI/+DGqiaT9yj8AAAA/tQEAAAAAAAABVAAAAB4AAADo/WOZI1zAP0DKTUXzhMo/AAAAP8QBAAAAAAAAAVUAAAAeAAAAoN+NySeUvT9Ayk1F84TKPwAAAD/EAQAAAAAAAAFWAAAAHgAAAGB3vNgSfLs/QMpNRfOEyj8AAAA/1AEAAAAAAAABVwAAAB4AAAAQW4Jv81e4P0DKTUXzhMo/AAAAP+MBAAAAAAAAAVgAAAAeAAAAAE3luuPFtj9Ayk1F84TKPwAAAD/jAQAAAAAAAAFZAAAAHgAAAMDkE8rOrbQ/QMpNRfOEyj8AAAA/4wEAAAAAAAABWgAAAB4AAACw1nYVvxuzP0DKTUXzhMo/AAAAP/MBAAAAAAAAAVsAAAAeAAAAkCIOnbQPsj9Ayk1F84TKPwAAAD/zAQAAAAAAAAFcAAAAHgAAAHAUceikfbA/QMpNRfOEyj8AAAA/AwIAAAAAAAABXQAAAB4AAACgDKhnKtetPxz+e+dLwco/AAAAPwMCAAAAAAAAAV4AAAAeAAAAIIicDfaaqD+wmQbOVXbLPwAAAD8SAgAAAAAAAAFfAAAAHgAAAOAfyxzhgqY/jM00cK6yyz8AAAA/IgIAAAAAAAABYAAAAB4AAADAA5GzwV6jPyBpv1a4Z8w/AAAAPyICAAAAAAAAAWEAAAAeAAAAoE8oO7dSoj/8nO34EKTMPwAAAD8iAgAAAAAAAAFiAAAAHgAAAICbv8KsRqE/lDh43xpZzT8AAAA/MQIAAAAAAAABYwAAAB4AAACAZtyjL12eP0yg1CPM0c0/AAAAP0ECAAAAAAAAAWQAAAAeAAAAgP4KsxpFnD8ECDFofUrOPwAAAD9BAgAAAAAAAAFlAAAAHgAAAEAuaNHwFJg/mKO7Tof/zj8AAAA/QQIAAAAAAAABZgAAAB4AAABALmjR8BSYP3TX6fDfO88/AAAAP2ACAAAAAAAAAWcAAAAeAAAAAMaW4Nv8lT8sP0Y1kbTPPwAAAD9gAgAAAAAAAAFoAAAAHgAAAADGluDb/JU/CHN01+nwzz8AAAA/YAIAAAAAAAABaQAAAB4AAAAAxpbg2/yVPyq7LYFSj9A/AAAAP3ACAAAAAAAAAWoAAAAeAAAAAMaW4Nv8lT/0CHN01+nQPwAAAD9/AgAAAAAAAAFrAAAAHgAAAADGluDb/JU/vla4Z1xE0T8AAAA/fwIAAAAAAAABbAAAAB4AAAAAxpbg2/yVP4ik/VrhntE/AAAAP48CAAAAAAAAAW0AAAAeAAAAAMaW4Nv8lT9k2Cv9OdvRPwAAAD+PAgAAAAAAAAFuAAAAHgAAAADGluDb/JU/HkCIQetT0j8AAAA/nwIAAAAAAAABbwAAAB4AAAAAxpbg2/yVP9an5IWczNI/AAAAP58CAAAAAAAAAXAAAAAeAAAAQJY5wgUtmj+OD0HKTUXTPwAAAD+uAgAAAAAAAAFxAAAAHgAAAGDnVkqiOqA/NpG0Xyvc0z8AAAA/rgIAAAAAAAABcgAAAB4AAACAm7/CrEahPxLF4gGEGNQ/AAAAP7kCAAAAAAAAAXMAAAAeAAAAoE8oO7dSoj8A3/lSsDbUPwAAAD+5AgAAAAAAAAF0AAAAHgAAAKBPKDu3UqI/yiw/RjWR1D8AAAA/yAIAAAAAAAABdQAAAB4AAADgt/krzGqkP7hGVpdhr9Q/AAAAP9gCAAAAAAAAAXYAAAAeAAAA4Lf5K8xqpD+mYG3ojc3UPwAAAD/YAgAAAAAAAAF3AAAAHgAAAOAfyxzhgqY/gpSbiuYJ1T8AAAA/9wIAAAAAAAABeAAAAB4AAAAgiJwN9pqoP17IySw/RtU/AAAAP/cCAAAAAAAAAXkAAAAeAAAAYKTWdhW/qz9M4uB9a2TVPwAAAD/3AgAAAAAAAAF6AAAAHgAAAKDAEOA0464/Ovz3zpeC1T8AAAA/FgMAAAAAAAABewAAAB4AAABwFHHopH2wPygWDyDEoNU/AAAAPxYDAAAAAAAAAXwAAAAeAAAAkCIOnbQPsj8WMCZx8L7VPwAAAD8WAwAAAAAAAAF9AAAAHgAAAKB8Qtm5lbI/BEo9whzd1T8AAAA/NgMAAAAAAAABfgAAAB4AAACQZY5wQYvmP/hrhXvGRaQ/AAAAPwAAAAAAAAAAAX8AAAAeAAAAzMP6ef9Y5j/4a4V7xkWkPwAAAD8QAAAAAAAAAAGAAAAAHgAAAEit7Sp+N+Y/2Ar3jIsopj8AAAA/EAAAAAAAAAABgQAAAB4AAADEluDb/BXmPwgYkzh436o/AAAAPxAAAAAAAAAAAYIAAAAeAAAARIDTjHv05T/otgRKPcKsPwAAAD8gAAAAAAAAAAGDAAAAHgAAAMBpxj360uU/OCUv5GSWrz8AAAA/IAAAAAAAAAABhAAAAB4AAACA3j+WOcLlP8jJLD9GNbE/AAAAPy8AAAAAAAAAAYUAAAAeAAAAPFO57nix5T+oaJ5QCxizPwAAAD8vAAAAAAAAAAGGAAAAHgAAAPzHMke4oOU/0J+zHR+CtD8AAAA/PwAAAAAAAAABhwAAAB4AAAD8xzJHuKDlP/jWyOoy7LU/AAAAP04AAAAAAAAAAYgAAAAeAAAA/McyR7ig5T+0PiUv5GS2PwAAAD9OAAAAAAAAAAGJAAAAHgAAAPzHMke4oOU/3HU6/PfOtz8AAAA/TgAAAAAAAAABigAAAB4AAADAacY9+tLlP3R8CFJuKro/AAAAP2wAAAAAAAAAAYsAAAAeAAAAhAtaNDwF5j8Mg9an5IW8PwAAAD9sAAAAAAAAAAGMAAAAHgAAAEit7Sp+N+Y/9CFIualovj8AAAA/ewAAAAAAAAABjQAAAB4AAACcv8KsRhHnPyBIualonsA/AAAAP4sAAAAAAAAAAY4AAAAeAAAAJAPqmcp15z+040OQclPBPwAAAD+LAAAAAAAAAAGPAAAAHgAAAGi7it+Nyec/bEug1CPMwT8AAAA/iwAAAAAAAAABkAAAAB4AAAB4Fb8bk0/oPwTnKrstgcI/AAAAP5oAAAAAAAAAAZEAAAAeAAAAQORssNfE6D/gGlldhr3CPwAAAD+qAAAAAAAAAAGSAAAAHgAAAEw+oezcSuk/mIK1oTc2wz8AAAA/qgAAAAAAAAABkwAAAB4AAABYmNUo4tDpP1DqEeborsM/AAAAP7oAAAAAAAAAAZQAAAAeAAAAnFB2bqUk6j8IUm4qmifEPwAAAD+6AAAAAAAAAAGVAAAAHgAAADDBt/krzOo/CFJuKponxD8AAAA/yQAAAAAAAAABlgAAAB4AAAA4G+w1MVLrPwhSbiqaJ8Q/AAAAP8kAAAAAAAAAAZcAAAAeAAAARHUgcjbY6z8IUm4qmifEPwAAAD/ZAAAAAAAAAAGYAAAAHgAAAJRa21X8buw/CFJuKponxD8AAAA/2QAAAAAAAAABmQAAAB4AAABcKYnqQOTsPwhSbiqaJ8Q/AAAAP+gAAAAAAAAAAZoAAAAeAAAApOEpMAQ47T8IUm4qmifEPwAAAD/oAAAAAAAAAAGbAAAAHgAAAKgORM4Ge+0/LB5AiEHrwz8AAAA/+AAAAAAAAAABnAAAAB4AAABssNfESK3tP3S240OQcsM/AAAAP/gAAAAAAAAAAZ0AAAAeAAAAMFJru4rf7T8E5yq7LYHCPwAAAD8IAQAAAAAAAAGeAAAAHgAAALRoeAoMAe4/SH/OdnwIwj8AAAA/FwEAAAAAAAABnwAAAB4AAAC0aHgKDAHuP2xLoNQjzME/AAAAPxcBAAAAAAAAAaAAAAAeAAAAOH+FWY0i7j8gSLmpaJ7APwAAAD82AQAAAAAAAAGhAAAAHgAAAHgKDAFOM+4/auBcZbclwD8AAAA/NgEAAAAAAAABogAAAB4AAAD4IBlQz1TuP/QhSLmpaL4/AAAAPzYBAAAAAAAAAaMAAAAeAAAA+CAZUM9U7j9UG3pjMw28PwAAAD9WAQAAAAAAAAGkAAAAHgAAAPggGVDPVO4/LORklh+juj8AAAA/VgEAAAAAAAABpQAAAB4AAAD4IBlQz1TuPwStT8kLObk/AAAAP1YBAAAAAAAAAaYAAAAeAAAA+CAZUM9U7j+IBxBi0Pq0PwAAAD91AQAAAAAAAAGnAAAAHgAAAPggGVDPVO4/GDhX2W0JtD8AAAA/dQEAAAAAAAABqAAAAB4AAAB4CgwBTjPuP/AAQgxan7I/AAAAP4QBAAAAAAAAAakAAAAeAAAAOH+FWY0i7j+AMYmD962xPwAAAD+EAQAAAAAAAAGqAAAAHgAAADBSa7uK3+0/WIa90p+zrT8AAAA/lAEAAAAAAAABqwAAAB4AAADwxuQTys7tP3jnS8Ha0Ks/AAAAP5QBAAAAAAAAAawAAAAeAAAArDtebAm+7T+YSNqvFe6pPwAAAD+UAQAAAAAAAAGtAAAAHgAAACwlUR2InO0/2Ar3jIsopj8AAAA/pAEAAAAAAAABrgAAAB4AAACoDkTOBnvtP/hrhXvGRaQ/AAAAP7MBAAAAAAAAAa8AAAAeAAAA5Gyw18RI7T+g/VrhnnGhPwAAAD+zAQAAAAAAAAGwAAAAHgAAAGRWo4hDJ+0/gL3Sn7Mdnz8AAAA/wwEAAAAAAAABsQAAAB4AAADgP5Y5wgXtP8B/73wpWJs/AAAAP8MBAAAAAAAAAbIAAAAeAAAAVPxuTD6h7D/wQQxan5KXPwAAAD/SAQAAAAAAAAGzAAAAHgAAAJRa21X8buw/EKOaSNqvlT8AAAA/0gEAAAAAAAABtAAAAB4AAAAIF7RoeArsP4DGRRSLB5A/AAAAP+IBAAAAAAAAAbUAAAAeAAAAgNOMe/Sl6z9AT6gFjEmMPwAAAD/iAQAAAAAAAAG2AAAAHgAAADDu0ZcuD+s/oNPhv3e+hD8AAAA/8gEAAAAAAAABtwAAAB4AAACsqqqqqqrqP0CwNvTGZno/AAAAPwECAAAAAAAAAbgAAAAeAAAAnFB2bqUk6j+AclPRPKFmPwAAAD8RAgAAAAAAAAG5AAAAHgAAAJwjXNCi4ek/gHJT0TyhZj8AAAA/EQIAAAAAAAABugAAAB4AAAAYDU+BIcDpP4ByU9E8oWY/AAAAPyACAAAAAAAAAbsAAAAeAAAAEOA04x596T+AclPRPKFmPwAAAD8gAgAAAAAAAAG8AAAAHgAAAEw+oezcSuk/gHJT0TyhZj8AAAA/MAIAAAAAAAABvQAAAB4AAACInA32mhjpP4ByU9E8oWY/AAAAP0ACAAAAAAAAAb4AAAAeAAAAhG/zV5jV6D+AclPRPKFmPwAAAD9AAgAAAAAAAAG/AAAAHgAAAEDkbLDXxOg/gHJT0TyhZj8AAAA/QAIAAAAAAAABwAAAAB4AAAB8Qtm5lZLoP4ByU9E8oWY/AAAAP08CAAAAAAAAAcEAAAAeAAAAuKBFw1Ng6D+AclPRPKFmPwAAAD9fAgAAAAAAAAHCAAAAHgAAAHgVvxuTT+g/gHJT0TyhZj8AAAA/XwIAAAAAAAABwwAAAB4AAAA4ijh00j7oP4ByU9E8oWY/AAAAP18CAAAAAAAAAcQAAAAeAAAA9P6xzBEu6D+AclPRPKFmPwAAAD9uAgAAAAAAAAHFAAAAHgAAAHixJfg2f+U/tcI94yKK5T8AAAA/AAAAAAAAAAABxgAAAB4AAAB4sSX4Nn/lP61PyQs5meU/AAAAPw8AAAAAAAAAAccAAAAeAAAAeLEl+DZ/5T9tKpon1ALmPwAAAD8fAAAAAAAAAAHIAAAAHgAAAHixJfg2f+U/N3jfGlld5j8AAAA/LwAAAAAAAAAByQAAAB4AAAB4sSX4Nn/lPxOsDb2xmeY/AAAAPy8AAAAAAAAAAcoAAAAeAAAAeLEl+DZ/5T/Xht7YTAPnPwAAAD8+AAAAAAAAAAHLAAAAHgAAAHixJfg2f+U/qUeYo7tO5z8AAAA/TgAAAAAAAAABzAAAAB4AAAB4sSX4Nn/lP3OV3ZZAqec/AAAAP04AAAAAAAAAAc0AAAAeAAAAeLEl+DZ/5T8zcK6y2xLoPwAAAD9OAAAAAAAAAAHOAAAAHgAAAHixJfg2f+U/BzFofUpe6D8AAAA/XQAAAAAAAAABzwAAAB4AAAB4sSX4Nn/lP+3XCveMi+g/AAAAP20AAAAAAAAAAdAAAAAeAAAAeLEl+DZ/5T/Tfq1wz7joPwAAAD9tAAAAAAAAAAHRAAAAHgAAAHixJfg2f+U/wZjEwfvW6D8AAAA/fQAAAAAAAAAB0gAAAB4AAAB4sSX4Nn/lP7clUOoR5ug/AAAAP30AAAAAAAAAAdMAAAAeAAAAeLEl+DZ/5T+vstsSKPXoPwAAAD99AAAAAAAAAAHUAAAAHgAAAHixJfg2f+U/pT9nOz4E6T8AAAA/igAAAAAAAAAB1QAAAB4AAAC8PKyf94/lP53M8mNUE+k/AAAAP6kAAAAAAAAAAdYAAAAeAAAAPFO57nix5T+dzPJjVBPpPwAAAD/JAAAAAAAAAAHXAAAAHgAAAAT1TOW64+U/pT9nOz4E6T8AAAA/yQAAAAAAAAAB2AAAAB4AAABIre0qfjfmP8GYxMH71ug/AAAAP9gAAAAAAAAAAdkAAAAeAAAA1PAUGAKc5j/b8SFIuanoPwAAAD/oAAAAAAAAAAHaAAAAHgAAAFg0PAWGAOc/9Up/znZ86D8AAAA/6AAAAAAAAAAB2wAAAB4AAADopH2QDKjnPxkXUSweQOg/AAAAP+gAAAAAAAAAAdwAAAAeAAAAtHMrJVEd6D9FVpdhr/TnPwAAAD/3AAAAAAAAAAHdAAAAHgAAAMT6ef9Y5ug/fQhSbiqa5z8AAAA/9wAAAAAAAAAB3gAAAB4AAABQa7uK343pP7O6DHulP+c/AAAAPwcBAAAAAAAAAd8AAAAeAAAAnFB2bqUk6j/x3ztfCtbmPwAAAD8XAQAAAAAAAAHgAAAAHgAAALQE3+avMOs/W0SxeAAh5j8AAAA/FwEAAAAAAAAB4QAAAB4AAACA04x79KXrP4mD962R1eU/AAAAPyYBAAAAAAAAAeIAAAAeAAAAzLhHX7o87D+tT8kLOZnlPwAAAD8mAQAAAAAAAAHjAAAAHgAAAFT8bkw+oew/4wGEGLQ+5T8AAAA/NgEAAAAAAAAB5AAAAB4AAABkVqOIQyftP/1a4Z5xEeU/AAAAPzYBAAAAAAAAAeUAAAAeAAAA6JnKdceL7T8hJ7P8GNXkPwAAAD9FAQAAAAAAAAHmAAAAHgAAADBSa7uK3+0/O4AQg9an5D8AAAA/VQEAAAAAAAAB5wAAAB4AAAD4IBlQz1TuP01m+TGqieQ/AAAAP1UBAAAAAAAAAegAAAAeAAAARNm5lZKo7j9xMsuPUU3kPwAAAD9VAQAAAAAAAAHpAAAAHgAAAEgG1DOV6+4/e6U/Zzs+5D8AAAA/ZQEAAAAAAAAB6gAAAB4AAADQSfsgGVDvP5b+nO34EOQ/AAAAP3QBAAAAAAAAAesAAAAeAAAAlOuOF1uC7z+W/pzt+BDkPwAAAD90AQAAAAAAAAHsAAAAHgAAAJwYqbVdxe8/n3ERxeIB5D8AAAA/dAEAAAAAAAAB7QAAAB4AAAAcL7YE3+bvP7FX+nO24+M/AAAAP4QBAAAAAAAAAe4AAAAeAAAAABIuaNHwdD+VvJCTWX7sPwAAAD8AAAAAAAAAAAHvAAAAHgAAAADi0En7IGk/lbyQk1l+7D8AAAA/DwAAAAAAAAAB8AAAAB4AAAAA4tBJ+yBpP4PWp+SFnOw/AAAAPx8AAAAAAAAAAfEAAAAeAAAAAOLQSfsgaT9x8L41srrsPwAAAD8fAAAAAAAAAAHyAAAAHgAAAADi0En7IGk/TSTt1wr37D8AAAA/LgAAAAAAAAAB8wAAAB4AAAAA4tBJ+yBpPzs+BCk3Fe0/AAAAPz4AAAAAAAAAAfQAAAAeAAAAAOLQSfsgaT8f5aaieULtPwAAAD8+AAAAAAAAAAH1AAAAHgAAAADi0En7IGk/86VgbeiN7T8AAAA/XQAAAAAAAAAB9gAAAB4AAAAA4tBJ+yBpP9dMA+cqu+0/AAAAP10AAAAAAAAAAfcAAAAeAAAAAOLQSfsgaT+tDb2xmQbuPwAAAD9tAAAAAAAAAAH4AAAAHgAAAADi0En7IGk/kbRfK9wz7j8AAAA/bQAAAAAAAAAB+QAAAB4AAAAA4tBJ+yBpP23ojc00cO4/AAAAP20AAAAAAAAAAfoAAAAeAAAAAOLQSfsgaT9JHLxvjazuPwAAAD98AAAAAAAAAAH7AAAAHgAAAADi0En7IGk/G911Ovz37j8AAAA/jAAAAAAAAAAB/AAAAB4AAAAA4tBJ+yBpP/cQpNxUNO8/AAAAP4wAAAAAAAAAAf0AAAAeAAAAAOLQSfsgaT/TRNJ+rXDvPwAAAD+MAAAAAAAAAAH+AAAAHgAAAADi0En7IGk/y9Fdp8N/7z8AAAA/nAAAAAAAAAAB/wAAAB4AAAAAEi5o0fB0P7vrdPjvne8/AAAAP6sAAAAAAAAAAQABAAAeAAAAALNzKyVRfT+xeAAhBq3vPwAAAD/qAAAAAAAAAAEBAQAAHgAAAICpXHe82II/sXgAIQat7z8AAAA/+QAAAAAAAAABAgEAAB4AAACAqVx3vNiCP6kFjEkcvO8/AAAAPxgBAAAAAAAAAQMBAAAeAAAAAHr/WOYIhz+fkhdyMsvvPwAAAD8YAQAAAAAAAAEEAQAAHgAAAIBKojoQOYs/lx+jmkja7z8AAAA/KAEAAAAAAAABBQEAAB4AAACAGkUcOmmPP5cfo5pI2u8/AAAAPzgBAAAAAAAAAQYBAAAeAAAAAMaW4Nv8lT+NrC7DXunvPwAAAD84AQAAAAAAAAEHAQAAHgAAAIBm3KMvXZ4/jawuw17p7z8AAAA/RwEAAAAAAAABCAEAAB4AAACgTyg7t1KiP42sLsNe6e8/AAAAP0cBAAAAAAAAAQkBAAAeAAAAANQzleuOpz+NrC7DXunvPwAAAD9XAQAAAAAAAAEKAQAAHgAAAGDwbf4Ks6o/jawuw17p7z8AAAA/VwEAAAAAAAABCwEAAB4AAABwFHHopH2wP42sLsNe6e8/AAAAP2YBAAAAAAAAAQwBAAAeAAAAwOQTys6ttD+fkhdyMsvvPwAAAD92AQAAAAAAAAENAQAAHgAAADAP6+f9Y7k/wV7pz9mO7z8AAAA/dgEAAAAAAAABDgEAAB4AAACg343JJ5S9P923RlaXYe8/AAAAP3YBAAAAAAAAAQ8BAAAeAAAAOHTSPkgGxD8lUOoR5ujuPwAAAD+VAQAAAAAAAAEQAQAAHgAAAGgJvs1fYcY/NzbTwLnK7j8AAAA/lQEAAAAAAAABEQEAAB4AAACgcY++dHnIP0GpR5iju+4/AAAAP5UBAAAAAAAAARIBAAAeAAAAuH8sc4QLyj9bAqUeYY7uPwAAAD+lAQAAAAAAAAETAQAAHgAAAOCNySeUncs/beiNzTRw7j8AAAA/tAEAAAAAAAABFAEAAB4AAAAIyYB6pnLNP4lB61PyQu4/AAAAP7QBAAAAAAAAARUBAAAeAAAAMNcdL7YEzz+RtF8r3DPuPwAAAD+0AQAAAAAAAAEWAQAAHgAAADw9U7nueNE/x2YaOFfZ7T8AAAA/1AEAAAAAAAABFwEAAB4AAABQxKGT9kHSP+G/d74UrO0/AAAAP9QBAAAAAAAAARgBAAAeAAAAYB7Wz/vH0j/zpWBt6I3tPwAAAD/UAQAAAAAAAAEZAQAAHgAAAGx4CgwBTtM/Df+986Vg7T8AAAA/4wEAAAAAAAABGgEAAB4AAAD0uzH5hLLTPxdyMsuPUe0/AAAAP/MBAAAAAAAAARsBAAAeAAAAgCxzhAta1D8xy49RTSTtPwAAAD/zAQAAAAAAAAEcAQAAHgAAAIhZjSIOndQ/Q7F4ACEG7T8AAAA/8wEAAAAAAAABHQEAAB4AAACUs8FeEyPVP1WXYa/05+w/AAAAPwICAAAAAAAAAR4BAAAeAAAAFMrOrZRE1T9fCtaG3tjsPwAAAD8SAgAAAAAAAAEfAQAAHgAAACAkA+qZytU/eWMzDZyr7D8AAAA/EgIAAAAAAAABIAEAAB4AAACgOhA5G+zVP3ljMw2cq+w/AAAAPyICAAAAAAAAASEBAAAeAAAAKFEdiJwN1j95YzMNnKvsPwAAAD8xAgAAAAAAAAEiAQAAHgAAAChRHYicDdY/g9an5IWc7D8AAAA/MQIAAAAAAAABIwEAAB4AAAAwfjcmn1DWP5W8kJNZfuw/AAAAP0ECAAAAAAAAASQBAAAeAAAAsJREdSBy1j+VvJCTWX7sPwAAAD9QAgAAAAAAAAElAQAAHgAAADirUcShk9Y/nS8Fa0Nv7D8AAAA/UAIAAAAAAAABJgEAAB4AAACwwV4TI7XWP6eieUItYOw/AAAAP1ACAAAAAAAAAScBAAAeAAAAuO54sSX41j+nonlCLWDsPwAAAD9gAgAAAAAAAAEoAQAAHgAAALjueLEl+NY/rxXuGRdR7D8AAAA/cAIAAAAAAAAL</ink>
</athena>
</file>

<file path=customXml/item3.xml><?xml version="1.0" encoding="utf-8"?>
<athena xmlns="http://schemas.microsoft.com/edu/athena" version="0.1.3885.0">
  <timings duration="47057"/>
</athena>
</file>

<file path=customXml/item4.xml><?xml version="1.0" encoding="utf-8"?>
<athena xmlns="http://schemas.microsoft.com/edu/athena" version="0.1.3885.0">
  <timings duration="47057"/>
</athena>
</file>

<file path=customXml/itemProps1.xml><?xml version="1.0" encoding="utf-8"?>
<ds:datastoreItem xmlns:ds="http://schemas.openxmlformats.org/officeDocument/2006/customXml" ds:itemID="{1BA977A9-C848-4B99-853C-D423CC37C4DC}">
  <ds:schemaRefs>
    <ds:schemaRef ds:uri="http://schemas.microsoft.com/edu/athena"/>
  </ds:schemaRefs>
</ds:datastoreItem>
</file>

<file path=customXml/itemProps2.xml><?xml version="1.0" encoding="utf-8"?>
<ds:datastoreItem xmlns:ds="http://schemas.openxmlformats.org/officeDocument/2006/customXml" ds:itemID="{BAE01004-4DA3-4373-9643-492AA1ED0C85}">
  <ds:schemaRefs>
    <ds:schemaRef ds:uri="http://schemas.microsoft.com/edu/athena"/>
  </ds:schemaRefs>
</ds:datastoreItem>
</file>

<file path=customXml/itemProps3.xml><?xml version="1.0" encoding="utf-8"?>
<ds:datastoreItem xmlns:ds="http://schemas.openxmlformats.org/officeDocument/2006/customXml" ds:itemID="{C6B7C09F-4BEE-4936-84B5-5391F3D8659D}">
  <ds:schemaRefs>
    <ds:schemaRef ds:uri="http://schemas.microsoft.com/edu/athena"/>
  </ds:schemaRefs>
</ds:datastoreItem>
</file>

<file path=customXml/itemProps4.xml><?xml version="1.0" encoding="utf-8"?>
<ds:datastoreItem xmlns:ds="http://schemas.openxmlformats.org/officeDocument/2006/customXml" ds:itemID="{6D3ED6D0-F7E1-4181-B1E2-C28D3C20349A}">
  <ds:schemaRefs>
    <ds:schemaRef ds:uri="http://schemas.microsoft.com/edu/athen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V2</Template>
  <TotalTime>28770</TotalTime>
  <Words>3009</Words>
  <Application>Microsoft Office PowerPoint</Application>
  <PresentationFormat>宽屏</PresentationFormat>
  <Paragraphs>522</Paragraphs>
  <Slides>40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9" baseType="lpstr">
      <vt:lpstr>Malgun Gothic Semilight</vt:lpstr>
      <vt:lpstr>Microsoft JhengHei Light</vt:lpstr>
      <vt:lpstr>宋体</vt:lpstr>
      <vt:lpstr>Arial</vt:lpstr>
      <vt:lpstr>Calibri</vt:lpstr>
      <vt:lpstr>Calibri Light</vt:lpstr>
      <vt:lpstr>Times New Roman</vt:lpstr>
      <vt:lpstr>Wingdings</vt:lpstr>
      <vt:lpstr>MOOC1</vt:lpstr>
      <vt:lpstr>Software Requirements Analysis, Design and Modeling</vt:lpstr>
      <vt:lpstr>Objectives</vt:lpstr>
      <vt:lpstr>Content Outline</vt:lpstr>
      <vt:lpstr>Interaction Diagram</vt:lpstr>
      <vt:lpstr>Communication Diagrams vs. Sequence Diagrams</vt:lpstr>
      <vt:lpstr>Communication Diagrams vs. Sequence Diagrams</vt:lpstr>
      <vt:lpstr>Example Sequence Diagram: makePayment</vt:lpstr>
      <vt:lpstr>Content Outline</vt:lpstr>
      <vt:lpstr>Common UML Interaction Diagram Notation</vt:lpstr>
      <vt:lpstr>Basic Message Expression Syntax</vt:lpstr>
      <vt:lpstr>Singleton Objects</vt:lpstr>
      <vt:lpstr>Content Outline</vt:lpstr>
      <vt:lpstr>Lifeline Boxes and Lifelines</vt:lpstr>
      <vt:lpstr>Illustrating Reply or Returns</vt:lpstr>
      <vt:lpstr>Creation of Instances</vt:lpstr>
      <vt:lpstr>Object Lifelines and Object Destruction</vt:lpstr>
      <vt:lpstr>Diagram Frames in UML Sequence Diagrams</vt:lpstr>
      <vt:lpstr>Conditional Messages</vt:lpstr>
      <vt:lpstr>Mutually Exclusive Conditional Messages</vt:lpstr>
      <vt:lpstr>Iteration Over a Collection</vt:lpstr>
      <vt:lpstr>How to Relate Interaction Diagrams?</vt:lpstr>
      <vt:lpstr>Messages to Classes to Invoke Static (or Class) Methods</vt:lpstr>
      <vt:lpstr>Polymorphic Messages and Cases</vt:lpstr>
      <vt:lpstr>Asynchronous and Synchronous Calls</vt:lpstr>
      <vt:lpstr>Content Outline</vt:lpstr>
      <vt:lpstr>Links</vt:lpstr>
      <vt:lpstr>Messages</vt:lpstr>
      <vt:lpstr>Messages to "self" or "this"</vt:lpstr>
      <vt:lpstr>Creation of Instances</vt:lpstr>
      <vt:lpstr>Message Number Sequencing</vt:lpstr>
      <vt:lpstr>Conditional Messages</vt:lpstr>
      <vt:lpstr>Mutually Exclusive Conditional Paths</vt:lpstr>
      <vt:lpstr>Iteration or Looping</vt:lpstr>
      <vt:lpstr>Messages to a Classes to Invoke Static (Class) Methods</vt:lpstr>
      <vt:lpstr>Polymorphic Messages and Cases</vt:lpstr>
      <vt:lpstr>Asynchronous and Synchronous Calls</vt:lpstr>
      <vt:lpstr>Content Outline</vt:lpstr>
      <vt:lpstr>Guidelines: Interaction Diagram</vt:lpstr>
      <vt:lpstr>Review : UML Interaction Diagrams </vt:lpstr>
      <vt:lpstr>Special Topics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Dmitri Korzh</dc:creator>
  <cp:lastModifiedBy>dell</cp:lastModifiedBy>
  <cp:revision>3288</cp:revision>
  <dcterms:created xsi:type="dcterms:W3CDTF">2004-11-24T03:27:20Z</dcterms:created>
  <dcterms:modified xsi:type="dcterms:W3CDTF">2016-03-02T07:05:36Z</dcterms:modified>
</cp:coreProperties>
</file>